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417320" cy="219456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1100" b="1">
                <a:solidFill>
                  <a:srgbClr val="8B1723"/>
                </a:solidFill>
                <a:latin typeface="Malgun Gothic"/>
              </a:rPr>
              <a:t>A.T. Kearney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719072" y="283464"/>
            <a:ext cx="7004304" cy="0"/>
          </a:xfrm>
          <a:prstGeom prst="line">
            <a:avLst/>
          </a:prstGeom>
          <a:ln w="7620">
            <a:solidFill>
              <a:srgbClr val="8B1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887968" y="173736"/>
            <a:ext cx="2880360" cy="173736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600" b="0">
                <a:solidFill>
                  <a:srgbClr val="6A7484"/>
                </a:solidFill>
                <a:latin typeface="Malgun Gothic"/>
              </a:rPr>
              <a:t>S m a r t e r   Y i e l d ,   S t r o n g e r   T o m o r r o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66928"/>
            <a:ext cx="6629400" cy="41148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2800" b="1">
                <a:solidFill>
                  <a:srgbClr val="0C1E37"/>
                </a:solidFill>
                <a:latin typeface="Malgun Gothic"/>
              </a:rPr>
              <a:t>SOP to 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987552"/>
            <a:ext cx="8046720" cy="237744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1220" b="0">
                <a:solidFill>
                  <a:srgbClr val="6A7484"/>
                </a:solidFill>
                <a:latin typeface="Malgun Gothic"/>
              </a:rPr>
              <a:t>Same analysis, faster insight — with human expertise where it matters.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0104120" y="676656"/>
            <a:ext cx="91440" cy="630936"/>
          </a:xfrm>
          <a:prstGeom prst="line">
            <a:avLst/>
          </a:prstGeom>
          <a:ln w="16510">
            <a:solidFill>
              <a:srgbClr val="8B1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369296" y="621792"/>
            <a:ext cx="1444752" cy="676656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1050" b="0">
                <a:solidFill>
                  <a:srgbClr val="8B1723"/>
                </a:solidFill>
                <a:latin typeface="Malgun Gothic"/>
              </a:rPr>
              <a:t>Higher Yield.
Faster Decisions.
Greater Impact.</a:t>
            </a:r>
          </a:p>
        </p:txBody>
      </p:sp>
      <p:sp>
        <p:nvSpPr>
          <p:cNvPr id="9" name="Chevron 8"/>
          <p:cNvSpPr/>
          <p:nvPr/>
        </p:nvSpPr>
        <p:spPr>
          <a:xfrm>
            <a:off x="1417320" y="1600200"/>
            <a:ext cx="1993392" cy="566928"/>
          </a:xfrm>
          <a:prstGeom prst="chevron">
            <a:avLst/>
          </a:prstGeom>
          <a:solidFill>
            <a:srgbClr val="E2EBF4"/>
          </a:solidFill>
          <a:ln w="1524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81912" y="1719072"/>
            <a:ext cx="365760" cy="365760"/>
          </a:xfrm>
          <a:prstGeom prst="ellipse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1912" y="1719072"/>
            <a:ext cx="365760" cy="36576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737360"/>
            <a:ext cx="1216152" cy="36576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1300" b="1">
                <a:solidFill>
                  <a:srgbClr val="0C1E37"/>
                </a:solidFill>
                <a:latin typeface="Malgun Gothic"/>
              </a:rPr>
              <a:t>이상 탐지</a:t>
            </a:r>
          </a:p>
        </p:txBody>
      </p:sp>
      <p:sp>
        <p:nvSpPr>
          <p:cNvPr id="13" name="Chevron 12"/>
          <p:cNvSpPr/>
          <p:nvPr/>
        </p:nvSpPr>
        <p:spPr>
          <a:xfrm>
            <a:off x="3310128" y="1600200"/>
            <a:ext cx="1993392" cy="566928"/>
          </a:xfrm>
          <a:prstGeom prst="chevron">
            <a:avLst/>
          </a:prstGeom>
          <a:solidFill>
            <a:srgbClr val="E2EBF4"/>
          </a:solidFill>
          <a:ln w="1524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1719072"/>
            <a:ext cx="365760" cy="365760"/>
          </a:xfrm>
          <a:prstGeom prst="ellipse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719072"/>
            <a:ext cx="365760" cy="36576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1737360"/>
            <a:ext cx="1216152" cy="36576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1300" b="1">
                <a:solidFill>
                  <a:srgbClr val="0C1E37"/>
                </a:solidFill>
                <a:latin typeface="Malgun Gothic"/>
              </a:rPr>
              <a:t>불량 정의</a:t>
            </a:r>
          </a:p>
        </p:txBody>
      </p:sp>
      <p:sp>
        <p:nvSpPr>
          <p:cNvPr id="17" name="Chevron 16"/>
          <p:cNvSpPr/>
          <p:nvPr/>
        </p:nvSpPr>
        <p:spPr>
          <a:xfrm>
            <a:off x="5202936" y="1600200"/>
            <a:ext cx="2359152" cy="566928"/>
          </a:xfrm>
          <a:prstGeom prst="chevron">
            <a:avLst/>
          </a:prstGeom>
          <a:solidFill>
            <a:srgbClr val="E2EBF4"/>
          </a:solidFill>
          <a:ln w="1524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67528" y="1719072"/>
            <a:ext cx="365760" cy="365760"/>
          </a:xfrm>
          <a:prstGeom prst="ellipse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1719072"/>
            <a:ext cx="365760" cy="36576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1737360"/>
            <a:ext cx="1581912" cy="36576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1300" b="1">
                <a:solidFill>
                  <a:srgbClr val="0C1E37"/>
                </a:solidFill>
                <a:latin typeface="Malgun Gothic"/>
              </a:rPr>
              <a:t>분석</a:t>
            </a:r>
          </a:p>
        </p:txBody>
      </p:sp>
      <p:sp>
        <p:nvSpPr>
          <p:cNvPr id="21" name="Chevron 20"/>
          <p:cNvSpPr/>
          <p:nvPr/>
        </p:nvSpPr>
        <p:spPr>
          <a:xfrm>
            <a:off x="7443216" y="1600200"/>
            <a:ext cx="2167128" cy="566928"/>
          </a:xfrm>
          <a:prstGeom prst="chevron">
            <a:avLst/>
          </a:prstGeom>
          <a:solidFill>
            <a:srgbClr val="E2EBF4"/>
          </a:solidFill>
          <a:ln w="1524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07808" y="1719072"/>
            <a:ext cx="365760" cy="365760"/>
          </a:xfrm>
          <a:prstGeom prst="ellipse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719072"/>
            <a:ext cx="365760" cy="36576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1737360"/>
            <a:ext cx="1389888" cy="36576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1300" b="1">
                <a:solidFill>
                  <a:srgbClr val="0C1E37"/>
                </a:solidFill>
                <a:latin typeface="Malgun Gothic"/>
              </a:rPr>
              <a:t>원인 도출</a:t>
            </a:r>
          </a:p>
        </p:txBody>
      </p:sp>
      <p:sp>
        <p:nvSpPr>
          <p:cNvPr id="25" name="Chevron 24"/>
          <p:cNvSpPr/>
          <p:nvPr/>
        </p:nvSpPr>
        <p:spPr>
          <a:xfrm>
            <a:off x="9500616" y="1600200"/>
            <a:ext cx="1993392" cy="566928"/>
          </a:xfrm>
          <a:prstGeom prst="chevron">
            <a:avLst/>
          </a:prstGeom>
          <a:solidFill>
            <a:srgbClr val="8B1723"/>
          </a:solidFill>
          <a:ln w="1524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2952" y="1737360"/>
            <a:ext cx="1490472" cy="36576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◎  수율 개선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" y="2240280"/>
            <a:ext cx="11567160" cy="1847088"/>
          </a:xfrm>
          <a:prstGeom prst="roundRect">
            <a:avLst/>
          </a:prstGeom>
          <a:solidFill>
            <a:srgbClr val="E7F0F8"/>
          </a:solidFill>
          <a:ln w="6350"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" y="4187952"/>
            <a:ext cx="11567160" cy="1444752"/>
          </a:xfrm>
          <a:prstGeom prst="roundRect">
            <a:avLst/>
          </a:prstGeom>
          <a:solidFill>
            <a:srgbClr val="FCEEEC"/>
          </a:solidFill>
          <a:ln w="6350">
            <a:solidFill>
              <a:srgbClr val="FC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6032" y="2240280"/>
            <a:ext cx="1115568" cy="1847088"/>
          </a:xfrm>
          <a:prstGeom prst="roundRect">
            <a:avLst/>
          </a:prstGeom>
          <a:solidFill>
            <a:srgbClr val="DAE9F7"/>
          </a:solidFill>
          <a:ln w="6350">
            <a:solidFill>
              <a:srgbClr val="DA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5683" y="2681020"/>
            <a:ext cx="378561" cy="312724"/>
          </a:xfrm>
          <a:prstGeom prst="roundRect">
            <a:avLst/>
          </a:prstGeom>
          <a:solidFill>
            <a:srgbClr val="1F5082"/>
          </a:solidFill>
          <a:ln w="6350"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2668" y="2549347"/>
            <a:ext cx="98755" cy="98755"/>
          </a:xfrm>
          <a:prstGeom prst="ellipse">
            <a:avLst/>
          </a:prstGeom>
          <a:solidFill>
            <a:srgbClr val="1F5082"/>
          </a:solidFill>
          <a:ln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22045" y="2639872"/>
            <a:ext cx="0" cy="57608"/>
          </a:xfrm>
          <a:prstGeom prst="line">
            <a:avLst/>
          </a:prstGeom>
          <a:ln w="16510">
            <a:solidFill>
              <a:srgbClr val="1F5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47979" y="2812694"/>
            <a:ext cx="41148" cy="411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0800" y="2812694"/>
            <a:ext cx="41148" cy="411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2771546"/>
            <a:ext cx="82296" cy="148132"/>
          </a:xfrm>
          <a:prstGeom prst="roundRect">
            <a:avLst/>
          </a:prstGeom>
          <a:solidFill>
            <a:srgbClr val="1F5082"/>
          </a:solidFill>
          <a:ln w="6350"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60704" y="2771546"/>
            <a:ext cx="82296" cy="148132"/>
          </a:xfrm>
          <a:prstGeom prst="roundRect">
            <a:avLst/>
          </a:prstGeom>
          <a:solidFill>
            <a:srgbClr val="1F5082"/>
          </a:solidFill>
          <a:ln w="6350"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" y="3072384"/>
            <a:ext cx="713232" cy="25603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400" b="1">
                <a:solidFill>
                  <a:srgbClr val="0C1E37"/>
                </a:solidFill>
                <a:latin typeface="Malgun Gothic"/>
              </a:rPr>
              <a:t>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3383280"/>
            <a:ext cx="868680" cy="219456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800" b="0">
                <a:solidFill>
                  <a:srgbClr val="1F5082"/>
                </a:solidFill>
                <a:latin typeface="Malgun Gothic"/>
              </a:rPr>
              <a:t>자동 분석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" y="4187952"/>
            <a:ext cx="1115568" cy="1444752"/>
          </a:xfrm>
          <a:prstGeom prst="roundRect">
            <a:avLst/>
          </a:prstGeom>
          <a:solidFill>
            <a:srgbClr val="FBE8E5"/>
          </a:solidFill>
          <a:ln w="6350">
            <a:solidFill>
              <a:srgbClr val="FB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9808" y="4480560"/>
            <a:ext cx="191109" cy="191109"/>
          </a:xfrm>
          <a:prstGeom prst="ellipse">
            <a:avLst/>
          </a:prstGeom>
          <a:solidFill>
            <a:srgbClr val="8B1723"/>
          </a:solidFill>
          <a:ln>
            <a:solidFill>
              <a:srgbClr val="8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c 40"/>
          <p:cNvSpPr/>
          <p:nvPr/>
        </p:nvSpPr>
        <p:spPr>
          <a:xfrm>
            <a:off x="593445" y="4697730"/>
            <a:ext cx="503834" cy="364845"/>
          </a:xfrm>
          <a:prstGeom prst="arc">
            <a:avLst/>
          </a:prstGeom>
          <a:ln w="96520">
            <a:solidFill>
              <a:srgbClr val="8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4892040"/>
            <a:ext cx="731520" cy="237744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300" b="1">
                <a:solidFill>
                  <a:srgbClr val="8B1723"/>
                </a:solidFill>
                <a:latin typeface="Malgun Gothic"/>
              </a:rPr>
              <a:t>Human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" y="5166360"/>
            <a:ext cx="932688" cy="201168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750" b="0">
                <a:solidFill>
                  <a:srgbClr val="8B1723"/>
                </a:solidFill>
                <a:latin typeface="Malgun Gothic"/>
              </a:rPr>
              <a:t>판단·지정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00200" y="2423160"/>
            <a:ext cx="1572768" cy="135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1783080" y="2606040"/>
            <a:ext cx="0" cy="941832"/>
          </a:xfrm>
          <a:prstGeom prst="line">
            <a:avLst/>
          </a:prstGeom>
          <a:ln w="12700">
            <a:solidFill>
              <a:srgbClr val="9BA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783080" y="3547872"/>
            <a:ext cx="1207007" cy="0"/>
          </a:xfrm>
          <a:prstGeom prst="line">
            <a:avLst/>
          </a:prstGeom>
          <a:ln w="12700">
            <a:solidFill>
              <a:srgbClr val="9BA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810512" y="3209544"/>
            <a:ext cx="228600" cy="128016"/>
          </a:xfrm>
          <a:prstGeom prst="line">
            <a:avLst/>
          </a:prstGeom>
          <a:ln w="20320">
            <a:solidFill>
              <a:srgbClr val="0C1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039112" y="3209544"/>
            <a:ext cx="219456" cy="182880"/>
          </a:xfrm>
          <a:prstGeom prst="line">
            <a:avLst/>
          </a:prstGeom>
          <a:ln w="20320">
            <a:solidFill>
              <a:srgbClr val="0C1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258568" y="3118104"/>
            <a:ext cx="274320" cy="274320"/>
          </a:xfrm>
          <a:prstGeom prst="line">
            <a:avLst/>
          </a:prstGeom>
          <a:ln w="20320">
            <a:solidFill>
              <a:srgbClr val="0C1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532888" y="3118104"/>
            <a:ext cx="256032" cy="219456"/>
          </a:xfrm>
          <a:prstGeom prst="line">
            <a:avLst/>
          </a:prstGeom>
          <a:ln w="20320">
            <a:solidFill>
              <a:srgbClr val="0C1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88920" y="3063239"/>
            <a:ext cx="237744" cy="274321"/>
          </a:xfrm>
          <a:prstGeom prst="line">
            <a:avLst/>
          </a:prstGeom>
          <a:ln w="20320">
            <a:solidFill>
              <a:srgbClr val="0C1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2697479" y="2651760"/>
            <a:ext cx="274320" cy="274320"/>
          </a:xfrm>
          <a:prstGeom prst="ellipse">
            <a:avLst/>
          </a:prstGeom>
          <a:solidFill>
            <a:srgbClr val="A72633"/>
          </a:solidFill>
          <a:ln>
            <a:solidFill>
              <a:srgbClr val="A7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97479" y="2651760"/>
            <a:ext cx="274320" cy="27432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45920" y="3483864"/>
            <a:ext cx="1481328" cy="219456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940" b="1">
                <a:solidFill>
                  <a:srgbClr val="0C1E37"/>
                </a:solidFill>
                <a:latin typeface="Malgun Gothic"/>
              </a:rPr>
              <a:t>이상 탐지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03320" y="2423160"/>
            <a:ext cx="1572768" cy="135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06240" y="2606040"/>
            <a:ext cx="530352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361688" y="2752344"/>
            <a:ext cx="530352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4462272" y="2898648"/>
            <a:ext cx="320040" cy="0"/>
          </a:xfrm>
          <a:prstGeom prst="line">
            <a:avLst/>
          </a:prstGeom>
          <a:ln w="12700">
            <a:solidFill>
              <a:srgbClr val="1F5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62272" y="3044952"/>
            <a:ext cx="320040" cy="0"/>
          </a:xfrm>
          <a:prstGeom prst="line">
            <a:avLst/>
          </a:prstGeom>
          <a:ln w="12700">
            <a:solidFill>
              <a:srgbClr val="1F5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62272" y="3191256"/>
            <a:ext cx="320040" cy="0"/>
          </a:xfrm>
          <a:prstGeom prst="line">
            <a:avLst/>
          </a:prstGeom>
          <a:ln w="12700">
            <a:solidFill>
              <a:srgbClr val="8B1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818888" y="3008376"/>
            <a:ext cx="256032" cy="256032"/>
          </a:xfrm>
          <a:prstGeom prst="ellipse">
            <a:avLst/>
          </a:prstGeom>
          <a:solidFill>
            <a:srgbClr val="A72633"/>
          </a:solidFill>
          <a:ln>
            <a:solidFill>
              <a:srgbClr val="A7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18888" y="3008376"/>
            <a:ext cx="256032" cy="25603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!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49039" y="3483864"/>
            <a:ext cx="1481328" cy="219456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940" b="1">
                <a:solidFill>
                  <a:srgbClr val="0C1E37"/>
                </a:solidFill>
                <a:latin typeface="Malgun Gothic"/>
              </a:rPr>
              <a:t>불량 후보 도출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50992" y="2377440"/>
            <a:ext cx="2212848" cy="14447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788152" y="2514600"/>
            <a:ext cx="804672" cy="521207"/>
          </a:xfrm>
          <a:prstGeom prst="roundRect">
            <a:avLst/>
          </a:prstGeom>
          <a:solidFill>
            <a:srgbClr val="F1F6FB"/>
          </a:solidFill>
          <a:ln w="6350">
            <a:solidFill>
              <a:srgbClr val="F1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88152" y="2862072"/>
            <a:ext cx="804672" cy="11887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680" b="1">
                <a:solidFill>
                  <a:srgbClr val="0C1E37"/>
                </a:solidFill>
                <a:latin typeface="Malgun Gothic"/>
              </a:rPr>
              <a:t>Map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48272" y="2514600"/>
            <a:ext cx="804672" cy="521207"/>
          </a:xfrm>
          <a:prstGeom prst="roundRect">
            <a:avLst/>
          </a:prstGeom>
          <a:solidFill>
            <a:srgbClr val="F1F6FB"/>
          </a:solidFill>
          <a:ln w="6350">
            <a:solidFill>
              <a:srgbClr val="F1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48272" y="2862072"/>
            <a:ext cx="804672" cy="11887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680" b="1">
                <a:solidFill>
                  <a:srgbClr val="0C1E37"/>
                </a:solidFill>
                <a:latin typeface="Malgun Gothic"/>
              </a:rPr>
              <a:t>불량 이력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788152" y="3154680"/>
            <a:ext cx="804672" cy="521207"/>
          </a:xfrm>
          <a:prstGeom prst="roundRect">
            <a:avLst/>
          </a:prstGeom>
          <a:solidFill>
            <a:srgbClr val="F1F6FB"/>
          </a:solidFill>
          <a:ln w="6350">
            <a:solidFill>
              <a:srgbClr val="F1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88152" y="3502152"/>
            <a:ext cx="804672" cy="11887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680" b="1">
                <a:solidFill>
                  <a:srgbClr val="0C1E37"/>
                </a:solidFill>
                <a:latin typeface="Malgun Gothic"/>
              </a:rPr>
              <a:t>특이 랏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748272" y="3154680"/>
            <a:ext cx="804672" cy="521207"/>
          </a:xfrm>
          <a:prstGeom prst="roundRect">
            <a:avLst/>
          </a:prstGeom>
          <a:solidFill>
            <a:srgbClr val="F1F6FB"/>
          </a:solidFill>
          <a:ln w="6350">
            <a:solidFill>
              <a:srgbClr val="F1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48272" y="3502152"/>
            <a:ext cx="804672" cy="11887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680" b="1">
                <a:solidFill>
                  <a:srgbClr val="0C1E37"/>
                </a:solidFill>
                <a:latin typeface="Malgun Gothic"/>
              </a:rPr>
              <a:t>Response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61888" y="2587752"/>
            <a:ext cx="73152" cy="73152"/>
          </a:xfrm>
          <a:prstGeom prst="rect">
            <a:avLst/>
          </a:prstGeom>
          <a:solidFill>
            <a:srgbClr val="376FAA"/>
          </a:solidFill>
          <a:ln w="2540">
            <a:solidFill>
              <a:srgbClr val="376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71616" y="2587752"/>
            <a:ext cx="73152" cy="73152"/>
          </a:xfrm>
          <a:prstGeom prst="rect">
            <a:avLst/>
          </a:prstGeom>
          <a:solidFill>
            <a:srgbClr val="A2BEDA"/>
          </a:solidFill>
          <a:ln w="2540">
            <a:solidFill>
              <a:srgbClr val="A2B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81344" y="2587752"/>
            <a:ext cx="73152" cy="73152"/>
          </a:xfrm>
          <a:prstGeom prst="rect">
            <a:avLst/>
          </a:prstGeom>
          <a:solidFill>
            <a:srgbClr val="A2BEDA"/>
          </a:solidFill>
          <a:ln w="2540">
            <a:solidFill>
              <a:srgbClr val="A2B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1072" y="2587752"/>
            <a:ext cx="73152" cy="73152"/>
          </a:xfrm>
          <a:prstGeom prst="rect">
            <a:avLst/>
          </a:prstGeom>
          <a:solidFill>
            <a:srgbClr val="376FAA"/>
          </a:solidFill>
          <a:ln w="2540">
            <a:solidFill>
              <a:srgbClr val="376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961888" y="2688336"/>
            <a:ext cx="73152" cy="73152"/>
          </a:xfrm>
          <a:prstGeom prst="rect">
            <a:avLst/>
          </a:prstGeom>
          <a:solidFill>
            <a:srgbClr val="A2BEDA"/>
          </a:solidFill>
          <a:ln w="2540">
            <a:solidFill>
              <a:srgbClr val="A2B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071616" y="2688336"/>
            <a:ext cx="73152" cy="73152"/>
          </a:xfrm>
          <a:prstGeom prst="rect">
            <a:avLst/>
          </a:prstGeom>
          <a:solidFill>
            <a:srgbClr val="A2BEDA"/>
          </a:solidFill>
          <a:ln w="2540">
            <a:solidFill>
              <a:srgbClr val="A2B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81344" y="2688336"/>
            <a:ext cx="73152" cy="73152"/>
          </a:xfrm>
          <a:prstGeom prst="rect">
            <a:avLst/>
          </a:prstGeom>
          <a:solidFill>
            <a:srgbClr val="376FAA"/>
          </a:solidFill>
          <a:ln w="2540">
            <a:solidFill>
              <a:srgbClr val="376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91072" y="2688336"/>
            <a:ext cx="73152" cy="73152"/>
          </a:xfrm>
          <a:prstGeom prst="rect">
            <a:avLst/>
          </a:prstGeom>
          <a:solidFill>
            <a:srgbClr val="A2BEDA"/>
          </a:solidFill>
          <a:ln w="2540">
            <a:solidFill>
              <a:srgbClr val="A2B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961888" y="2788920"/>
            <a:ext cx="73152" cy="73152"/>
          </a:xfrm>
          <a:prstGeom prst="rect">
            <a:avLst/>
          </a:prstGeom>
          <a:solidFill>
            <a:srgbClr val="A2BEDA"/>
          </a:solidFill>
          <a:ln w="2540">
            <a:solidFill>
              <a:srgbClr val="A2B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071616" y="2788920"/>
            <a:ext cx="73152" cy="73152"/>
          </a:xfrm>
          <a:prstGeom prst="rect">
            <a:avLst/>
          </a:prstGeom>
          <a:solidFill>
            <a:srgbClr val="376FAA"/>
          </a:solidFill>
          <a:ln w="2540">
            <a:solidFill>
              <a:srgbClr val="376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81344" y="2788920"/>
            <a:ext cx="73152" cy="73152"/>
          </a:xfrm>
          <a:prstGeom prst="rect">
            <a:avLst/>
          </a:prstGeom>
          <a:solidFill>
            <a:srgbClr val="A2BEDA"/>
          </a:solidFill>
          <a:ln w="2540">
            <a:solidFill>
              <a:srgbClr val="A2B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291072" y="2788920"/>
            <a:ext cx="73152" cy="73152"/>
          </a:xfrm>
          <a:prstGeom prst="rect">
            <a:avLst/>
          </a:prstGeom>
          <a:solidFill>
            <a:srgbClr val="A2BEDA"/>
          </a:solidFill>
          <a:ln w="2540">
            <a:solidFill>
              <a:srgbClr val="A2B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986016" y="2606040"/>
            <a:ext cx="292608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205472" y="2816352"/>
            <a:ext cx="182880" cy="1828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035040" y="3264408"/>
            <a:ext cx="320040" cy="82296"/>
          </a:xfrm>
          <a:prstGeom prst="roundRect">
            <a:avLst/>
          </a:prstGeom>
          <a:solidFill>
            <a:srgbClr val="A4BED6"/>
          </a:solidFill>
          <a:ln w="6350"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035040" y="3355848"/>
            <a:ext cx="320040" cy="82296"/>
          </a:xfrm>
          <a:prstGeom prst="roundRect">
            <a:avLst/>
          </a:prstGeom>
          <a:solidFill>
            <a:srgbClr val="A4BED6"/>
          </a:solidFill>
          <a:ln w="6350"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035040" y="3447288"/>
            <a:ext cx="320040" cy="82296"/>
          </a:xfrm>
          <a:prstGeom prst="roundRect">
            <a:avLst/>
          </a:prstGeom>
          <a:solidFill>
            <a:srgbClr val="A4BED6"/>
          </a:solidFill>
          <a:ln w="6350"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 flipV="1">
            <a:off x="6858000" y="3328416"/>
            <a:ext cx="192024" cy="146304"/>
          </a:xfrm>
          <a:prstGeom prst="line">
            <a:avLst/>
          </a:prstGeom>
          <a:ln w="15240">
            <a:solidFill>
              <a:srgbClr val="376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050024" y="3328416"/>
            <a:ext cx="173735" cy="100584"/>
          </a:xfrm>
          <a:prstGeom prst="line">
            <a:avLst/>
          </a:prstGeom>
          <a:ln w="15240">
            <a:solidFill>
              <a:srgbClr val="376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223759" y="3236976"/>
            <a:ext cx="192024" cy="192024"/>
          </a:xfrm>
          <a:prstGeom prst="line">
            <a:avLst/>
          </a:prstGeom>
          <a:ln w="15240">
            <a:solidFill>
              <a:srgbClr val="376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858000" y="3474720"/>
            <a:ext cx="192024" cy="64008"/>
          </a:xfrm>
          <a:prstGeom prst="line">
            <a:avLst/>
          </a:prstGeom>
          <a:ln w="15240">
            <a:solidFill>
              <a:srgbClr val="8B1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050024" y="3328416"/>
            <a:ext cx="173735" cy="146304"/>
          </a:xfrm>
          <a:prstGeom prst="line">
            <a:avLst/>
          </a:prstGeom>
          <a:ln w="15240">
            <a:solidFill>
              <a:srgbClr val="8B1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223759" y="3328416"/>
            <a:ext cx="192024" cy="118872"/>
          </a:xfrm>
          <a:prstGeom prst="line">
            <a:avLst/>
          </a:prstGeom>
          <a:ln w="15240">
            <a:solidFill>
              <a:srgbClr val="8B1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8247888" y="2423160"/>
            <a:ext cx="1572768" cy="135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586215" y="2743200"/>
            <a:ext cx="530352" cy="530352"/>
          </a:xfrm>
          <a:prstGeom prst="ellipse">
            <a:avLst/>
          </a:prstGeom>
          <a:noFill/>
          <a:ln w="27940"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9006840" y="3172968"/>
            <a:ext cx="292608" cy="274320"/>
          </a:xfrm>
          <a:prstGeom prst="line">
            <a:avLst/>
          </a:prstGeom>
          <a:ln w="29209">
            <a:solidFill>
              <a:srgbClr val="0C1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9262872" y="3063239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262872" y="3063239"/>
            <a:ext cx="420624" cy="420624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700" b="0">
                <a:solidFill>
                  <a:srgbClr val="1F5082"/>
                </a:solidFill>
                <a:latin typeface="Malgun Gothic"/>
              </a:rPr>
              <a:t>⚙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93608" y="3483864"/>
            <a:ext cx="1481328" cy="219456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940" b="1">
                <a:solidFill>
                  <a:srgbClr val="0C1E37"/>
                </a:solidFill>
                <a:latin typeface="Malgun Gothic"/>
              </a:rPr>
              <a:t>원인 후보 도출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195560" y="2423160"/>
            <a:ext cx="1417320" cy="135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607040" y="3154680"/>
            <a:ext cx="182880" cy="274320"/>
          </a:xfrm>
          <a:prstGeom prst="rect">
            <a:avLst/>
          </a:prstGeom>
          <a:solidFill>
            <a:srgbClr val="A72633"/>
          </a:solidFill>
          <a:ln w="2540">
            <a:solidFill>
              <a:srgbClr val="A7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908792" y="2953512"/>
            <a:ext cx="182880" cy="475488"/>
          </a:xfrm>
          <a:prstGeom prst="rect">
            <a:avLst/>
          </a:prstGeom>
          <a:solidFill>
            <a:srgbClr val="A72633"/>
          </a:solidFill>
          <a:ln w="2540">
            <a:solidFill>
              <a:srgbClr val="A7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210544" y="2697480"/>
            <a:ext cx="182880" cy="731520"/>
          </a:xfrm>
          <a:prstGeom prst="rect">
            <a:avLst/>
          </a:prstGeom>
          <a:solidFill>
            <a:srgbClr val="A72633"/>
          </a:solidFill>
          <a:ln w="2540">
            <a:solidFill>
              <a:srgbClr val="A7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10533888" y="2743200"/>
            <a:ext cx="1014984" cy="521208"/>
          </a:xfrm>
          <a:prstGeom prst="line">
            <a:avLst/>
          </a:prstGeom>
          <a:ln w="25400">
            <a:solidFill>
              <a:srgbClr val="A7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0241280" y="3483864"/>
            <a:ext cx="1325880" cy="219456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940" b="1">
                <a:solidFill>
                  <a:srgbClr val="0C1E37"/>
                </a:solidFill>
                <a:latin typeface="Malgun Gothic"/>
              </a:rPr>
              <a:t>수율 개선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06440" y="2468880"/>
            <a:ext cx="1883664" cy="201168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919" b="1">
                <a:solidFill>
                  <a:srgbClr val="0C1E37"/>
                </a:solidFill>
                <a:latin typeface="Malgun Gothic"/>
              </a:rPr>
              <a:t>4가지 분석 모듈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3172968" y="3136392"/>
            <a:ext cx="493776" cy="0"/>
          </a:xfrm>
          <a:prstGeom prst="line">
            <a:avLst/>
          </a:prstGeom>
          <a:ln w="17780">
            <a:solidFill>
              <a:srgbClr val="9BA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276088" y="3136392"/>
            <a:ext cx="320040" cy="0"/>
          </a:xfrm>
          <a:prstGeom prst="line">
            <a:avLst/>
          </a:prstGeom>
          <a:ln w="17780">
            <a:solidFill>
              <a:srgbClr val="9BA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882127" y="3136392"/>
            <a:ext cx="329185" cy="0"/>
          </a:xfrm>
          <a:prstGeom prst="line">
            <a:avLst/>
          </a:prstGeom>
          <a:ln w="17780">
            <a:solidFill>
              <a:srgbClr val="9BA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820656" y="3136392"/>
            <a:ext cx="329184" cy="0"/>
          </a:xfrm>
          <a:prstGeom prst="line">
            <a:avLst/>
          </a:prstGeom>
          <a:ln w="17780">
            <a:solidFill>
              <a:srgbClr val="9BA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627632" y="4910328"/>
            <a:ext cx="1773936" cy="0"/>
          </a:xfrm>
          <a:prstGeom prst="line">
            <a:avLst/>
          </a:prstGeom>
          <a:ln w="15240">
            <a:solidFill>
              <a:srgbClr val="B0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440680" y="4910328"/>
            <a:ext cx="2679192" cy="0"/>
          </a:xfrm>
          <a:prstGeom prst="line">
            <a:avLst/>
          </a:prstGeom>
          <a:ln w="15240">
            <a:solidFill>
              <a:srgbClr val="B0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195560" y="4910328"/>
            <a:ext cx="1280160" cy="0"/>
          </a:xfrm>
          <a:prstGeom prst="line">
            <a:avLst/>
          </a:prstGeom>
          <a:ln w="15240">
            <a:solidFill>
              <a:srgbClr val="B0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3474720" y="4425696"/>
            <a:ext cx="1865376" cy="896112"/>
          </a:xfrm>
          <a:prstGeom prst="roundRect">
            <a:avLst/>
          </a:prstGeom>
          <a:solidFill>
            <a:srgbClr val="FFF7F6"/>
          </a:solidFill>
          <a:ln w="6350">
            <a:solidFill>
              <a:srgbClr val="FF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882542" y="4617720"/>
            <a:ext cx="156911" cy="156911"/>
          </a:xfrm>
          <a:prstGeom prst="ellipse">
            <a:avLst/>
          </a:prstGeom>
          <a:solidFill>
            <a:srgbClr val="8B1723"/>
          </a:solidFill>
          <a:ln>
            <a:solidFill>
              <a:srgbClr val="8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Arc 117"/>
          <p:cNvSpPr/>
          <p:nvPr/>
        </p:nvSpPr>
        <p:spPr>
          <a:xfrm>
            <a:off x="3754160" y="4796028"/>
            <a:ext cx="413674" cy="299557"/>
          </a:xfrm>
          <a:prstGeom prst="arc">
            <a:avLst/>
          </a:prstGeom>
          <a:ln w="79248">
            <a:solidFill>
              <a:srgbClr val="8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4288536" y="4544568"/>
            <a:ext cx="62179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370832" y="4663440"/>
            <a:ext cx="100584" cy="100584"/>
          </a:xfrm>
          <a:prstGeom prst="ellipse">
            <a:avLst/>
          </a:prstGeom>
          <a:solidFill>
            <a:srgbClr val="A72633"/>
          </a:solidFill>
          <a:ln>
            <a:solidFill>
              <a:srgbClr val="A7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4498848" y="4718304"/>
            <a:ext cx="237744" cy="0"/>
          </a:xfrm>
          <a:prstGeom prst="line">
            <a:avLst/>
          </a:prstGeom>
          <a:ln w="12700">
            <a:solidFill>
              <a:srgbClr val="1F5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4370832" y="4818888"/>
            <a:ext cx="100584" cy="100584"/>
          </a:xfrm>
          <a:prstGeom prst="ellipse">
            <a:avLst/>
          </a:prstGeom>
          <a:solidFill>
            <a:srgbClr val="A72633"/>
          </a:solidFill>
          <a:ln>
            <a:solidFill>
              <a:srgbClr val="A7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4498848" y="4873752"/>
            <a:ext cx="237744" cy="0"/>
          </a:xfrm>
          <a:prstGeom prst="line">
            <a:avLst/>
          </a:prstGeom>
          <a:ln w="12700">
            <a:solidFill>
              <a:srgbClr val="1F5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3602736" y="5093208"/>
            <a:ext cx="1627632" cy="16459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919" b="1">
                <a:solidFill>
                  <a:srgbClr val="8B1723"/>
                </a:solidFill>
                <a:latin typeface="Malgun Gothic"/>
              </a:rPr>
              <a:t>분석 대상 불량 선택</a:t>
            </a:r>
          </a:p>
        </p:txBody>
      </p:sp>
      <p:cxnSp>
        <p:nvCxnSpPr>
          <p:cNvPr id="125" name="Connector 124"/>
          <p:cNvCxnSpPr/>
          <p:nvPr/>
        </p:nvCxnSpPr>
        <p:spPr>
          <a:xfrm flipV="1">
            <a:off x="4407408" y="3822191"/>
            <a:ext cx="0" cy="603505"/>
          </a:xfrm>
          <a:prstGeom prst="line">
            <a:avLst/>
          </a:prstGeom>
          <a:ln w="20320">
            <a:solidFill>
              <a:srgbClr val="8B1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8193024" y="4425696"/>
            <a:ext cx="1920240" cy="896112"/>
          </a:xfrm>
          <a:prstGeom prst="roundRect">
            <a:avLst/>
          </a:prstGeom>
          <a:solidFill>
            <a:srgbClr val="FFF7F6"/>
          </a:solidFill>
          <a:ln w="6350">
            <a:solidFill>
              <a:srgbClr val="FF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73414" y="4636008"/>
            <a:ext cx="156911" cy="156911"/>
          </a:xfrm>
          <a:prstGeom prst="ellipse">
            <a:avLst/>
          </a:prstGeom>
          <a:solidFill>
            <a:srgbClr val="8B1723"/>
          </a:solidFill>
          <a:ln>
            <a:solidFill>
              <a:srgbClr val="8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Arc 127"/>
          <p:cNvSpPr/>
          <p:nvPr/>
        </p:nvSpPr>
        <p:spPr>
          <a:xfrm>
            <a:off x="8445032" y="4814316"/>
            <a:ext cx="413674" cy="299557"/>
          </a:xfrm>
          <a:prstGeom prst="arc">
            <a:avLst/>
          </a:prstGeom>
          <a:ln w="79248">
            <a:solidFill>
              <a:srgbClr val="8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9070848" y="4608576"/>
            <a:ext cx="320040" cy="731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9070848" y="4700016"/>
            <a:ext cx="320040" cy="731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9070848" y="4791456"/>
            <a:ext cx="320040" cy="731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F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9500616" y="4608576"/>
            <a:ext cx="320040" cy="731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9500616" y="4700016"/>
            <a:ext cx="320040" cy="731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9500616" y="4791456"/>
            <a:ext cx="320040" cy="731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729216" y="4882896"/>
            <a:ext cx="164592" cy="164592"/>
          </a:xfrm>
          <a:prstGeom prst="ellipse">
            <a:avLst/>
          </a:prstGeom>
          <a:solidFill>
            <a:srgbClr val="376FAA"/>
          </a:solidFill>
          <a:ln>
            <a:solidFill>
              <a:srgbClr val="376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729216" y="4882896"/>
            <a:ext cx="164592" cy="16459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+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02752" y="5029200"/>
            <a:ext cx="1700784" cy="18288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900" b="1">
                <a:solidFill>
                  <a:srgbClr val="8B1723"/>
                </a:solidFill>
                <a:latin typeface="Malgun Gothic"/>
              </a:rPr>
              <a:t>추가 분석 자재 지정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659368" y="5239512"/>
            <a:ext cx="950976" cy="11887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650" b="0">
                <a:solidFill>
                  <a:srgbClr val="6A7484"/>
                </a:solidFill>
                <a:latin typeface="Malgun Gothic"/>
              </a:rPr>
              <a:t>(필요 시)</a:t>
            </a:r>
          </a:p>
        </p:txBody>
      </p:sp>
      <p:cxnSp>
        <p:nvCxnSpPr>
          <p:cNvPr id="139" name="Connector 138"/>
          <p:cNvCxnSpPr/>
          <p:nvPr/>
        </p:nvCxnSpPr>
        <p:spPr>
          <a:xfrm flipV="1">
            <a:off x="9171432" y="3822191"/>
            <a:ext cx="0" cy="603505"/>
          </a:xfrm>
          <a:prstGeom prst="line">
            <a:avLst/>
          </a:prstGeom>
          <a:ln w="20320">
            <a:solidFill>
              <a:srgbClr val="8B1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ounded Rectangle 139"/>
          <p:cNvSpPr/>
          <p:nvPr/>
        </p:nvSpPr>
        <p:spPr>
          <a:xfrm>
            <a:off x="10515600" y="4434840"/>
            <a:ext cx="1051560" cy="868680"/>
          </a:xfrm>
          <a:prstGeom prst="roundRect">
            <a:avLst/>
          </a:prstGeom>
          <a:solidFill>
            <a:srgbClr val="FFF7F6"/>
          </a:solidFill>
          <a:ln w="6350">
            <a:solidFill>
              <a:srgbClr val="FF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857585" y="4617720"/>
            <a:ext cx="124724" cy="124724"/>
          </a:xfrm>
          <a:prstGeom prst="ellipse">
            <a:avLst/>
          </a:prstGeom>
          <a:solidFill>
            <a:srgbClr val="8B1723"/>
          </a:solidFill>
          <a:ln>
            <a:solidFill>
              <a:srgbClr val="8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rc 141"/>
          <p:cNvSpPr/>
          <p:nvPr/>
        </p:nvSpPr>
        <p:spPr>
          <a:xfrm>
            <a:off x="10755538" y="4759452"/>
            <a:ext cx="328818" cy="238109"/>
          </a:xfrm>
          <a:prstGeom prst="arc">
            <a:avLst/>
          </a:prstGeom>
          <a:ln w="62992">
            <a:solidFill>
              <a:srgbClr val="8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201400" y="4645152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201400" y="4645152"/>
            <a:ext cx="310896" cy="310896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600" b="1">
                <a:solidFill>
                  <a:srgbClr val="8B1723"/>
                </a:solidFill>
                <a:latin typeface="Malgun Gothic"/>
              </a:rPr>
              <a:t>✓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588752" y="5102352"/>
            <a:ext cx="896112" cy="146304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819" b="1">
                <a:solidFill>
                  <a:srgbClr val="0C1E37"/>
                </a:solidFill>
                <a:latin typeface="Malgun Gothic"/>
              </a:rPr>
              <a:t>최종 판단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517904" y="5742432"/>
            <a:ext cx="10012680" cy="384048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DD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728216" y="5815584"/>
            <a:ext cx="219456" cy="219456"/>
          </a:xfrm>
          <a:prstGeom prst="ellipse">
            <a:avLst/>
          </a:prstGeom>
          <a:solidFill>
            <a:srgbClr val="8B1723"/>
          </a:solidFill>
          <a:ln>
            <a:solidFill>
              <a:srgbClr val="8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728216" y="5815584"/>
            <a:ext cx="219456" cy="219456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029968" y="5797296"/>
            <a:ext cx="1097280" cy="16459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850" b="1">
                <a:solidFill>
                  <a:srgbClr val="8B1723"/>
                </a:solidFill>
                <a:latin typeface="Malgun Gothic"/>
              </a:rPr>
              <a:t>Super Agent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154680" y="5797296"/>
            <a:ext cx="7086600" cy="16459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720" b="0">
                <a:solidFill>
                  <a:srgbClr val="0C1E37"/>
                </a:solidFill>
                <a:latin typeface="Malgun Gothic"/>
              </a:rPr>
              <a:t>Agent 실행 순서 관리 · Human 개입 요청 · 분석 Context 유지 · 결과 통합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771632" y="5843016"/>
            <a:ext cx="493776" cy="155448"/>
          </a:xfrm>
          <a:prstGeom prst="roundRect">
            <a:avLst/>
          </a:prstGeom>
          <a:solidFill>
            <a:srgbClr val="8B1723"/>
          </a:solidFill>
          <a:ln w="6350">
            <a:solidFill>
              <a:srgbClr val="8B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771632" y="5843016"/>
            <a:ext cx="493776" cy="155448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450" b="1">
                <a:solidFill>
                  <a:srgbClr val="FFFFFF"/>
                </a:solidFill>
                <a:latin typeface="Malgun Gothic"/>
              </a:rPr>
              <a:t>CONTROL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292608" y="6355080"/>
            <a:ext cx="11539728" cy="0"/>
          </a:xfrm>
          <a:prstGeom prst="line">
            <a:avLst/>
          </a:prstGeom>
          <a:ln w="762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438912" y="6464808"/>
            <a:ext cx="2880360" cy="18288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1100" b="1">
                <a:solidFill>
                  <a:srgbClr val="0C1E37"/>
                </a:solidFill>
                <a:latin typeface="Malgun Gothic"/>
              </a:rPr>
              <a:t>반복 분석은 Agent가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035808" y="6464808"/>
            <a:ext cx="2926080" cy="18288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l"/>
            <a:r>
              <a:rPr sz="1100" b="1">
                <a:solidFill>
                  <a:srgbClr val="8B1723"/>
                </a:solidFill>
                <a:latin typeface="Malgun Gothic"/>
              </a:rPr>
              <a:t>핵심 판단은 Engineer가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726679" y="6464808"/>
            <a:ext cx="3749039" cy="18288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919" b="0">
                <a:solidFill>
                  <a:srgbClr val="6A7484"/>
                </a:solidFill>
                <a:latin typeface="Malgun Gothic"/>
              </a:rPr>
              <a:t>Human-in-the-Loop 기반 수율분석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
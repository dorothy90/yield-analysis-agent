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import0/docProps/app.xml" ContentType="application/vnd.openxmlformats-officedocument.extended-properties+xml"/>
  <Override PartName="/import0/ppt/presentation.xml" ContentType="application/vnd.openxmlformats-officedocument.presentationml.presentation.main+xml"/>
  <Override PartName="/import0/ppt/theme/theme1.xml" ContentType="application/vnd.openxmlformats-officedocument.theme+xml"/>
  <Override PartName="/import0/ppt/slideMasters/slideMaster1.xml" ContentType="application/vnd.openxmlformats-officedocument.presentationml.slideMaster+xml"/>
  <Override PartName="/import0/ppt/slideMasters/theme/theme2.xml" ContentType="application/vnd.openxmlformats-officedocument.theme+xml"/>
  <Override PartName="/import0/ppt/slideLayouts/slideLayout1.xml" ContentType="application/vnd.openxmlformats-officedocument.presentationml.slideLayout+xml"/>
  <Override PartName="/import0/ppt/notesMasters/notesMaster1.xml" ContentType="application/vnd.openxmlformats-officedocument.presentationml.notesMaster+xml"/>
  <Override PartName="/import0/ppt/notesMasters/theme/theme3.xml" ContentType="application/vnd.openxmlformats-officedocument.theme+xml"/>
  <Override PartName="/import0/ppt/presProps.xml" ContentType="application/vnd.openxmlformats-officedocument.presentationml.presProps+xml"/>
  <Override PartName="/import0/ppt/tableStyles.xml" ContentType="application/vnd.openxmlformats-officedocument.presentationml.tableStyles+xml"/>
  <Override PartName="/import0/ppt/slides/slide1.xml" ContentType="application/vnd.openxmlformats-officedocument.presentationml.slide+xml"/>
  <Override PartName="/import0/ppt/notesSlides/notesSlide1.xml" ContentType="application/vnd.openxmlformats-officedocument.presentationml.notesSlide+xml"/>
  <Override PartName="/import0/ppt/slides/slide2.xml" ContentType="application/vnd.openxmlformats-officedocument.presentationml.slide+xml"/>
  <Override PartName="/import0/ppt/notesSlides/notesSlide2.xml" ContentType="application/vnd.openxmlformats-officedocument.presentationml.notesSlide+xml"/>
  <Default Extension="png" ContentType="image/png"/>
  <Override PartName="/import1/docProps/app.xml" ContentType="application/vnd.openxmlformats-officedocument.extended-properties+xml"/>
  <Override PartName="/import1/ppt/presentation.xml" ContentType="application/vnd.openxmlformats-officedocument.presentationml.presentation.main+xml"/>
  <Override PartName="/import1/ppt/theme/theme1.xml" ContentType="application/vnd.openxmlformats-officedocument.theme+xml"/>
  <Override PartName="/import1/ppt/slideMasters/slideMaster1.xml" ContentType="application/vnd.openxmlformats-officedocument.presentationml.slideMaster+xml"/>
  <Override PartName="/import1/ppt/slideMasters/theme/theme2.xml" ContentType="application/vnd.openxmlformats-officedocument.theme+xml"/>
  <Override PartName="/import1/ppt/slideLayouts/slideLayout1.xml" ContentType="application/vnd.openxmlformats-officedocument.presentationml.slideLayout+xml"/>
  <Override PartName="/import1/ppt/notesMasters/notesMaster1.xml" ContentType="application/vnd.openxmlformats-officedocument.presentationml.notesMaster+xml"/>
  <Override PartName="/import1/ppt/notesMasters/theme/theme3.xml" ContentType="application/vnd.openxmlformats-officedocument.theme+xml"/>
  <Override PartName="/import1/ppt/presProps.xml" ContentType="application/vnd.openxmlformats-officedocument.presentationml.presProps+xml"/>
  <Override PartName="/import1/ppt/tableStyles.xml" ContentType="application/vnd.openxmlformats-officedocument.presentationml.tableStyles+xml"/>
  <Override PartName="/import1/ppt/slides/slide1.xml" ContentType="application/vnd.openxmlformats-officedocument.presentationml.slide+xml"/>
  <Override PartName="/import1/ppt/notesSlides/notesSlide1.xml" ContentType="application/vnd.openxmlformats-officedocument.presentationml.notesSlide+xml"/>
  <Override PartName="/import1/ppt/slides/slide2.xml" ContentType="application/vnd.openxmlformats-officedocument.presentationml.slide+xml"/>
  <Override PartName="/import1/ppt/notesSlides/notesSlide2.xml" ContentType="application/vnd.openxmlformats-officedocument.presentationml.notesSlide+xml"/>
  <Override PartName="/import1/ppt/slides/slide3.xml" ContentType="application/vnd.openxmlformats-officedocument.presentationml.slide+xml"/>
  <Override PartName="/import1/ppt/notesSlides/notesSlide3.xml" ContentType="application/vnd.openxmlformats-officedocument.presentationml.notesSlide+xml"/>
  <Override PartName="/import1/ppt/slides/slide4.xml" ContentType="application/vnd.openxmlformats-officedocument.presentationml.slide+xml"/>
  <Override PartName="/import1/ppt/notesSlides/notesSlide4.xml" ContentType="application/vnd.openxmlformats-officedocument.presentationml.notesSlide+xml"/>
  <Override PartName="/import1/ppt/slides/slide5.xml" ContentType="application/vnd.openxmlformats-officedocument.presentationml.slide+xml"/>
  <Override PartName="/import1/ppt/slides/charts/chart1.xml" ContentType="application/vnd.openxmlformats-officedocument.drawingml.chart+xml"/>
  <Override PartName="/import1/ppt/notesSlides/notesSlide5.xml" ContentType="application/vnd.openxmlformats-officedocument.presentationml.notesSlide+xml"/>
  <Override PartName="/import1/ppt/slides/slide6.xml" ContentType="application/vnd.openxmlformats-officedocument.presentationml.slide+xml"/>
  <Override PartName="/import1/ppt/notesSlides/notesSlide6.xml" ContentType="application/vnd.openxmlformats-officedocument.presentationml.notesSlide+xml"/>
  <Default Extension="xlsx" ContentType="application/vnd.openxmlformats-officedocument.spreadsheetml.sheet"/>
  <Override PartName="/import2/docProps/app.xml" ContentType="application/vnd.openxmlformats-officedocument.extended-properties+xml"/>
  <Override PartName="/import2/docProps/core.xml" ContentType="application/vnd.openxmlformats-package.core-properties+xml"/>
  <Override PartName="/import2/ppt/presProps.xml" ContentType="application/vnd.openxmlformats-officedocument.presentationml.presProps+xml"/>
  <Override PartName="/import2/ppt/presentation.xml" ContentType="application/vnd.openxmlformats-officedocument.presentationml.presentation.main+xml"/>
  <Override PartName="/import2/ppt/slideLayouts/slideLayout1.xml" ContentType="application/vnd.openxmlformats-officedocument.presentationml.slideLayout+xml"/>
  <Override PartName="/import2/ppt/slideLayouts/slideLayout10.xml" ContentType="application/vnd.openxmlformats-officedocument.presentationml.slideLayout+xml"/>
  <Override PartName="/import2/ppt/slideLayouts/slideLayout11.xml" ContentType="application/vnd.openxmlformats-officedocument.presentationml.slideLayout+xml"/>
  <Override PartName="/import2/ppt/slideLayouts/slideLayout2.xml" ContentType="application/vnd.openxmlformats-officedocument.presentationml.slideLayout+xml"/>
  <Override PartName="/import2/ppt/slideLayouts/slideLayout3.xml" ContentType="application/vnd.openxmlformats-officedocument.presentationml.slideLayout+xml"/>
  <Override PartName="/import2/ppt/slideLayouts/slideLayout4.xml" ContentType="application/vnd.openxmlformats-officedocument.presentationml.slideLayout+xml"/>
  <Override PartName="/import2/ppt/slideLayouts/slideLayout5.xml" ContentType="application/vnd.openxmlformats-officedocument.presentationml.slideLayout+xml"/>
  <Override PartName="/import2/ppt/slideLayouts/slideLayout6.xml" ContentType="application/vnd.openxmlformats-officedocument.presentationml.slideLayout+xml"/>
  <Override PartName="/import2/ppt/slideLayouts/slideLayout7.xml" ContentType="application/vnd.openxmlformats-officedocument.presentationml.slideLayout+xml"/>
  <Override PartName="/import2/ppt/slideLayouts/slideLayout8.xml" ContentType="application/vnd.openxmlformats-officedocument.presentationml.slideLayout+xml"/>
  <Override PartName="/import2/ppt/slideLayouts/slideLayout9.xml" ContentType="application/vnd.openxmlformats-officedocument.presentationml.slideLayout+xml"/>
  <Override PartName="/import2/ppt/slideMasters/slideMaster1.xml" ContentType="application/vnd.openxmlformats-officedocument.presentationml.slideMaster+xml"/>
  <Override PartName="/import2/ppt/slides/slide1.xml" ContentType="application/vnd.openxmlformats-officedocument.presentationml.slide+xml"/>
  <Override PartName="/import2/ppt/slides/slide2.xml" ContentType="application/vnd.openxmlformats-officedocument.presentationml.slide+xml"/>
  <Override PartName="/import2/ppt/tableStyles.xml" ContentType="application/vnd.openxmlformats-officedocument.presentationml.tableStyles+xml"/>
  <Override PartName="/import2/ppt/theme/theme1.xml" ContentType="application/vnd.openxmlformats-officedocument.theme+xml"/>
  <Override PartName="/import2/ppt/viewProps.xml" ContentType="application/vnd.openxmlformats-officedocument.presentationml.viewProps+xml"/>
  <Override PartName="/import3/docProps/app.xml" ContentType="application/vnd.openxmlformats-officedocument.extended-properties+xml"/>
  <Override PartName="/import3/ppt/presentation.xml" ContentType="application/vnd.openxmlformats-officedocument.presentationml.presentation.main+xml"/>
  <Override PartName="/import3/ppt/theme/theme1.xml" ContentType="application/vnd.openxmlformats-officedocument.theme+xml"/>
  <Override PartName="/import3/ppt/slideMasters/slideMaster1.xml" ContentType="application/vnd.openxmlformats-officedocument.presentationml.slideMaster+xml"/>
  <Override PartName="/import3/ppt/slideMasters/theme/theme2.xml" ContentType="application/vnd.openxmlformats-officedocument.theme+xml"/>
  <Override PartName="/import3/ppt/slideLayouts/slideLayout1.xml" ContentType="application/vnd.openxmlformats-officedocument.presentationml.slideLayout+xml"/>
  <Override PartName="/import3/ppt/notesMasters/notesMaster1.xml" ContentType="application/vnd.openxmlformats-officedocument.presentationml.notesMaster+xml"/>
  <Override PartName="/import3/ppt/notesMasters/theme/theme3.xml" ContentType="application/vnd.openxmlformats-officedocument.theme+xml"/>
  <Override PartName="/import3/ppt/presProps.xml" ContentType="application/vnd.openxmlformats-officedocument.presentationml.presProps+xml"/>
  <Override PartName="/import3/ppt/tableStyles.xml" ContentType="application/vnd.openxmlformats-officedocument.presentationml.tableStyles+xml"/>
  <Override PartName="/import3/ppt/slides/slide1.xml" ContentType="application/vnd.openxmlformats-officedocument.presentationml.slide+xml"/>
  <Override PartName="/import3/ppt/notesSlides/notesSlide1.xml" ContentType="application/vnd.openxmlformats-officedocument.presentationml.notesSlide+xml"/>
  <Override PartName="/import3/ppt/slides/slide2.xml" ContentType="application/vnd.openxmlformats-officedocument.presentationml.slide+xml"/>
  <Override PartName="/import3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4000" r:id="impMaster0_2147484000"/>
    <p:sldMasterId id="2147484001" r:id="impMaster1_2147484001"/>
    <p:sldMasterId id="2147484002" r:id="impMaster2_2147484002"/>
    <p:sldMasterId id="2147484003" r:id="impMaster3_2147484003"/>
  </p:sldMasterIdLst>
  <p:sldIdLst>
    <p:sldId id="256" r:id="impSlide1"/>
    <p:sldId id="257" r:id="impSlide2"/>
    <p:sldId id="258" r:id="impSlide3"/>
    <p:sldId id="259" r:id="impSlide4"/>
    <p:sldId id="260" r:id="impSlide5"/>
    <p:sldId id="261" r:id="impSlide6"/>
    <p:sldId id="262" r:id="impSlide7"/>
    <p:sldId id="263" r:id="impSlide8"/>
    <p:sldId id="264" r:id="impSlide9"/>
    <p:sldId id="265" r:id="impSlide10"/>
    <p:sldId id="266" r:id="impSlide11"/>
    <p:sldId id="267" r:id="impSlide12"/>
  </p:sldIdLst>
  <p:sldSz cx="7562850" cy="1069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impMaster0_2147484000" Type="http://schemas.openxmlformats.org/officeDocument/2006/relationships/slideMaster" Target="../import0/ppt/slideMasters/slideMaster1.xml"/><Relationship Id="impSlide1" Type="http://schemas.openxmlformats.org/officeDocument/2006/relationships/slide" Target="../import0/ppt/slides/slide1.xml"/><Relationship Id="impSlide2" Type="http://schemas.openxmlformats.org/officeDocument/2006/relationships/slide" Target="../import0/ppt/slides/slide2.xml"/><Relationship Id="impMaster1_2147484001" Type="http://schemas.openxmlformats.org/officeDocument/2006/relationships/slideMaster" Target="../import1/ppt/slideMasters/slideMaster1.xml"/><Relationship Id="impSlide3" Type="http://schemas.openxmlformats.org/officeDocument/2006/relationships/slide" Target="../import1/ppt/slides/slide1.xml"/><Relationship Id="impSlide4" Type="http://schemas.openxmlformats.org/officeDocument/2006/relationships/slide" Target="../import1/ppt/slides/slide2.xml"/><Relationship Id="impSlide5" Type="http://schemas.openxmlformats.org/officeDocument/2006/relationships/slide" Target="../import1/ppt/slides/slide3.xml"/><Relationship Id="impSlide6" Type="http://schemas.openxmlformats.org/officeDocument/2006/relationships/slide" Target="../import1/ppt/slides/slide4.xml"/><Relationship Id="impSlide7" Type="http://schemas.openxmlformats.org/officeDocument/2006/relationships/slide" Target="../import1/ppt/slides/slide5.xml"/><Relationship Id="impSlide8" Type="http://schemas.openxmlformats.org/officeDocument/2006/relationships/slide" Target="../import1/ppt/slides/slide6.xml"/><Relationship Id="impMaster2_2147484002" Type="http://schemas.openxmlformats.org/officeDocument/2006/relationships/slideMaster" Target="../import2/ppt/slideMasters/slideMaster1.xml"/><Relationship Id="impSlide9" Type="http://schemas.openxmlformats.org/officeDocument/2006/relationships/slide" Target="../import2/ppt/slides/slide1.xml"/><Relationship Id="impSlide10" Type="http://schemas.openxmlformats.org/officeDocument/2006/relationships/slide" Target="../import2/ppt/slides/slide2.xml"/><Relationship Id="impMaster3_2147484003" Type="http://schemas.openxmlformats.org/officeDocument/2006/relationships/slideMaster" Target="../import3/ppt/slideMasters/slideMaster1.xml"/><Relationship Id="impSlide11" Type="http://schemas.openxmlformats.org/officeDocument/2006/relationships/slide" Target="../import3/ppt/slides/slide1.xml"/><Relationship Id="impSlide12" Type="http://schemas.openxmlformats.org/officeDocument/2006/relationships/slide" Target="../import3/ppt/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import0/_rels/.rels><?xml version='1.0' encoding='UTF-8' standalone='yes'?>
<Relationships xmlns="http://schemas.openxmlformats.org/package/2006/relationships"><Relationship Type="http://schemas.openxmlformats.org/package/2006/relationships/metadata/core-properties" Target="/import0/docProps/core.xml" Id="R4699b55518274bce"/><Relationship Type="http://schemas.openxmlformats.org/officeDocument/2006/relationships/extended-properties" Target="/import0/docProps/app.xml" Id="Rda9ee26822144dbf"/><Relationship Type="http://schemas.openxmlformats.org/officeDocument/2006/relationships/officeDocument" Target="/import0/ppt/presentation.xml" Id="R4ec6c4135746431b"/></Relationships>
</file>

<file path=import0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import0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2026-09-22T22:28:24.2360000Z</dcterms:created>
  <dcterms:modified xsi:type="dcterms:W3CDTF">2026-09-22T22:28:24.2360000Z</dcterms:modified>
</coreProperties>
</file>

<file path=import0/ppt/_rels/presentation.xml.rels><?xml version='1.0' encoding='UTF-8' standalone='yes'?>
<Relationships xmlns="http://schemas.openxmlformats.org/package/2006/relationships"><Relationship Type="http://schemas.openxmlformats.org/officeDocument/2006/relationships/theme" Target="/import0/ppt/theme/theme1.xml" Id="Rf7cbd9edb5a94982"/><Relationship Type="http://schemas.openxmlformats.org/officeDocument/2006/relationships/slideMaster" Target="/import0/ppt/slideMasters/slideMaster1.xml" Id="Rf594299721974836"/><Relationship Type="http://schemas.openxmlformats.org/officeDocument/2006/relationships/notesMaster" Target="/import0/ppt/notesMasters/notesMaster1.xml" Id="Ra60e67775fb14636"/><Relationship Type="http://schemas.openxmlformats.org/officeDocument/2006/relationships/presProps" Target="/import0/ppt/presProps.xml" Id="Ra74b00a2ea404d5f"/><Relationship Type="http://schemas.openxmlformats.org/officeDocument/2006/relationships/tableStyles" Target="/import0/ppt/tableStyles.xml" Id="R9a99b8c673684a19"/><Relationship Type="http://schemas.openxmlformats.org/officeDocument/2006/relationships/slide" Target="/import0/ppt/slides/slide1.xml" Id="Ra6fb58d32e1a4f4e"/><Relationship Type="http://schemas.openxmlformats.org/officeDocument/2006/relationships/slide" Target="/import0/ppt/slides/slide2.xml" Id="R9c8c52dc7c8142d3"/></Relationships>
</file>

<file path=import0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import0/ppt/notesMasters/theme/theme3.xml" Id="R2b709f8338724ba0"/></Relationships>
</file>

<file path=import0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import0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import0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import0/ppt/slides/slide1.xml" Id="R1aabcf753fd04e48"/><Relationship Type="http://schemas.openxmlformats.org/officeDocument/2006/relationships/notesMaster" Target="/import0/ppt/notesMasters/notesMaster1.xml" Id="R747170b1ca904526"/></Relationships>
</file>

<file path=import0/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import0/ppt/slides/slide2.xml" Id="Rfc985838aaed47a5"/><Relationship Type="http://schemas.openxmlformats.org/officeDocument/2006/relationships/notesMaster" Target="/import0/ppt/notesMasters/notesMaster1.xml" Id="R324dcc12ffe54065"/></Relationships>
</file>

<file path=import0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대화 「수율 분석 혁신 검토」의 OI 스토리 및 레이아웃. 상세 근거: Y_Agent_Detail_6pages_Editable.pptx 1~3페이지. Mining 3종 비교의 정량 성능 수치는 제공되지 않아 표시하지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0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대화 「수율 분석 혁신 검토」의 최신 OI 구성. Y_Agent_Detail_6pages_Editable.pptx 2~6페이지. 81개는 도출된 개선 과제 수로 완료 건수를 의미하지 않음. 실제 이슈 7건 중 5건 검출, 2건은 미구현 분석 방법 필요. MCP/BoI Wiki 정형 보고서 배치 작성은 현재 구현, Workflow 지식화와 자율 분석은 향후 계획.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0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import0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94299721974836"/>
  </p:sldMasterIdLst>
  <p:notesMasterIdLst>
    <p:notesMasterId xmlns:r="http://schemas.openxmlformats.org/officeDocument/2006/relationships" r:id="Ra60e67775fb14636"/>
  </p:notesMasterIdLst>
  <p:sldIdLst>
    <p:sldId xmlns:r="http://schemas.openxmlformats.org/officeDocument/2006/relationships" id="256" r:id="Ra6fb58d32e1a4f4e"/>
    <p:sldId xmlns:r="http://schemas.openxmlformats.org/officeDocument/2006/relationships" id="257" r:id="R9c8c52dc7c8142d3"/>
  </p:sldIdLst>
  <p:sldSz cx="7562850" cy="10696575"/>
  <p:notesSz cx="6858000" cy="9144000"/>
</p:presentation>
</file>

<file path=import0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import0/ppt/slideMasters/slideMaster1.xml" Id="Rd2a55220bc0d4607"/></Relationships>
</file>

<file path=import0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import0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import0/ppt/slideMasters/theme/theme2.xml" Id="R7b8cb79e2158409b"/><Relationship Type="http://schemas.openxmlformats.org/officeDocument/2006/relationships/slideLayout" Target="/import0/ppt/slideLayouts/slideLayout1.xml" Id="R254fa07be9cf40cb"/></Relationships>
</file>

<file path=import0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fa07be9cf40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import0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import0/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import0/ppt/slideLayouts/slideLayout1.xml" Id="Rcea47b2b9501429e"/><Relationship Type="http://schemas.openxmlformats.org/officeDocument/2006/relationships/notesSlide" Target="/import0/ppt/notesSlides/notesSlide1.xml" Id="R542e73343bd043cf"/></Relationships>
</file>

<file path=import0/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import0/ppt/slideLayouts/slideLayout1.xml" Id="Rf00bec6bf0444fd7"/><Relationship Type="http://schemas.openxmlformats.org/officeDocument/2006/relationships/notesSlide" Target="/import0/ppt/notesSlides/notesSlide2.xml" Id="R1a0a41a397134ffb"/></Relationships>
</file>

<file path=import0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8D5400-48CC-4B84-9041-CDB5BB60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소구 포인트  /  OI 측면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532B8-DEAA-4A66-8C18-0A47CFAD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도메인 지식의 내재화를 통한</a:t>
            </a:r>
          </a:p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수율 분석의 본원적 경쟁력 강화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6EF08-9D95-4C5A-9849-BA01D435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숙련자의 판단 기준과 분석 방법을 Agent가 실행할 수 있는 로직으로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6B139-0B05-45B4-813B-6C5754A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3F8E3-EDC9-4B0A-904E-8115EED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38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Y-Agent  ·  수율분석 혁신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26F0E-E479-4A47-A885-5D5524FA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3536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83EA6-C84C-47D1-9F1D-F7AF394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82ADB-3284-4B74-9AC9-07B37007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본원적 경쟁력의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CAB69-8262-4ACA-8660-ACEA628A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6762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23E13-5A9B-413A-89F0-117255F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57450"/>
            <a:ext cx="640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열화를 파악하고 원인 후보를 좁혀, 후속 판단으로 연결하는 역량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FFB81-8E68-4394-974C-1915E221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1905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99C92-A979-4529-9596-E69A52CE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열화 파악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9E362-C23B-4949-AA94-06AA9C19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분석 대상과 이상 징후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FFB35-E0C0-4DB9-AF11-9D43C93E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24175"/>
            <a:ext cx="1905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15D22-4EE8-4C9A-A3F9-03ED85F3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90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원인 후보 축소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84BC-8CC0-49D5-B201-3099CD99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670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공정·자재·Map 연계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27A1E-6FAA-469D-9D5E-44C784A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1905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635C4-0EC6-4E4F-9798-CE8B7EB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후속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6D713-6B76-42BF-A0CA-623AC938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670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결과 해석과 추가 분석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7F76E-C108-45A8-8873-D69F2103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16765-BB45-4F16-AB38-EA02241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숙련자의 판단을 실행 로직으로 전환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F2652-6C47-4FE6-80BF-B769315C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5049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022AD5-1AD1-4EBF-84A1-DBDE3155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숙련자 판단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7F344-E9A8-4830-A4D4-2E467494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OPLS SOP 검토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현업 인터뷰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84A71-F427-4F23-A36A-91222C4B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24350"/>
            <a:ext cx="15049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07166-B7A5-45EB-9293-6D193214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로직화·비교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FACA7-BB21-4DA4-B6B1-732853C6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52975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분석 순서·입력 정의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해석 기준 비교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6A3A9-F89F-4EBE-971F-0B0E5B8A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24350"/>
            <a:ext cx="15049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8852E-7915-40A3-979D-0364E20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Agent 구현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3F52A-E1BD-49DA-9BBC-841F55E9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52975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전문 Agent 분석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Workflow 연결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D7C91-FEB1-4456-8FEE-8C0BF57C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24350"/>
            <a:ext cx="15049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F3E38-C3D9-463C-A62F-3A797639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현업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E926F-204D-431E-AAE2-540FF6D7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52975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실제 결과 비교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보완 사항 반영</a:t>
            </a:r>
          </a:p>
        </p:txBody>
      </p:sp>
      <p:cxnSp>
        <p:nvCxnSpPr>
          <p:cNvPr id="99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905000" y="48434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657600" y="48434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410200" y="48434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DE22F-869B-4AFD-99CB-1B8B9065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676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무엇을 확인할지, 어떻게 해석할지, 다음에 무엇을 분석할지까지 구조화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030196-2ABC-4F66-B2C7-877843A4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0D8379-B040-456D-8713-7633D71F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현업 지식을 내재화한 대표 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4CE33B-64EA-4A46-9503-3D75C10F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26707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B873EC-718C-4F38-83EE-E419ECE6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6457950"/>
            <a:ext cx="326707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6FC3D8-6E07-46D1-85C0-B780325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열화감지 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F7218E-DA97-45C5-ADC2-7C7D6988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43725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현업의 열화감지 로직을 구현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057ADC-D9F9-435C-B336-A65E7496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723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14ABDF-FB03-40FA-BBE6-64AEE159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39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수율 데이터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1F0BE7-F371-4C7C-A348-F107F0CF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제품·기간·공정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D6A317-FE74-4AF7-B4B3-8A9E51E0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3723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E3628E-4CAD-468F-872E-6A6FDB75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74390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열화 내용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350769-A648-4097-A213-98079205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7715250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보고서 함께 확인</a:t>
            </a:r>
          </a:p>
        </p:txBody>
      </p:sp>
      <p:cxnSp>
        <p:nvCxnSpPr>
          <p:cNvPr id="115" name="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828800" y="77152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8B1E3F-1697-40B7-997C-4BE6C687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01025"/>
            <a:ext cx="291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기간별 수율 확인과 분석 대상 검토를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한 환경에서 수행하고 후속 분석에 활용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19A45A-2027-4FEB-9F20-939BA47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572250"/>
            <a:ext cx="2905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Mining Agent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B90B1B-B6D8-45B8-A82F-A2E85F6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94372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분류 머신러닝과 Wafer Map 결합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ED06BA-8203-4904-906B-F8E5814F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73723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4EEF3E-BC64-40A6-8D73-C08CCFDC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7439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Fail Map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ED1CAD-598B-406D-A2E1-AB85DFF6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771525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분포 양상 확인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516580-D463-4EDC-A00E-0A083A58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372350"/>
            <a:ext cx="1304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87AC4C-D7F5-4642-AB8B-798FA961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7439025"/>
            <a:ext cx="1076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원인 후보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7DC541-1FE8-4D7C-BE14-470B800D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7715250"/>
            <a:ext cx="1076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유사 양상 추출</a:t>
            </a:r>
          </a:p>
        </p:txBody>
      </p:sp>
      <p:cxnSp>
        <p:nvCxnSpPr>
          <p:cNvPr id="125" name=""/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324475" y="7715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72E103-5743-468B-AE24-DFA3E24E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8201025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Fail Map과 유사한 원인 후보를 추출하여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불량 원인 추적과 후속 분석을 지원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0A5411-8717-4BAF-9BCB-8F52A488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24925"/>
            <a:ext cx="676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857498-5534-499E-B63E-357075CB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비교 검증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0E0D6F-8C0C-4DE0-9B99-49FCCDAF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9001125"/>
            <a:ext cx="5191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3가지 Mining 결과 비교에서</a:t>
            </a:r>
          </a:p>
          <a:p xmlns:a="http://schemas.openxmlformats.org/drawingml/2006/main">
            <a:pPr algn="l">
              <a:defRPr sz="12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도메인 지식 기반 방식의 우수성 확인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DBA214-A5BF-4879-8B2F-ADB16D11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0"/>
            <a:ext cx="676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숙련자의 전문성을 반복 활용 가능한 분석 역량으로 내재화</a:t>
            </a:r>
          </a:p>
        </p:txBody>
      </p:sp>
    </p:spTree>
    <p:extLst>
      <p:ext uri="{BB962C8B-B14F-4D97-AF65-F5344CB8AC3E}">
        <p14:creationId xmlns:p14="http://schemas.microsoft.com/office/powerpoint/2010/main" val="1311092921"/>
      </p:ext>
    </p:extLst>
  </p:cSld>
</p:sld>
</file>

<file path=import0/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F8CC21-ABCF-4654-95E9-CC1A6510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소구 포인트  /  OI 측면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60A83-79F8-4D41-9DCA-93279414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분석 전 과정의 재설계와</a:t>
            </a:r>
          </a:p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현업 검증 기반 지속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C417-C21E-429E-A2A8-5B208F3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업무 연결 구조를 개선하고, 실제 사용에서 나온 요구를 고도화에 반영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CD1B6-EC03-434A-9808-CCC20AD0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5CD21-18B4-4364-806A-13F6A3B1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38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Y-Agent  ·  수율분석 혁신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25F23-43C7-474D-A600-1CB2167C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3536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8FC35-67C9-443E-85D5-DEF2B11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E0758-E718-437C-A297-CBE1A81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분석 프로세스의 개선 전후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00050" y="2343150"/>
          <a:ext xmlns:a="http://schemas.openxmlformats.org/drawingml/2006/main" cx="676275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495550"/>
                <a:gridCol w="3219450"/>
              </a:tblGrid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33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업무 방식</a:t>
                      </a:r>
                    </a:p>
                  </a:txBody>
                  <a:tcPr marL="91440" marR="91440" marT="45720" marB="45720">
                    <a:solidFill>
                      <a:srgbClr val="233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Y-Agent 기반 개선</a:t>
                      </a:r>
                    </a:p>
                  </a:txBody>
                  <a:tcPr marL="91440" marR="91440" marT="45720" marB="45720">
                    <a:solidFill>
                      <a:srgbClr val="23313D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준비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분석마다 조회·추출·정리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전처리·DB 적재로 분석 속도 개선</a:t>
                      </a:r>
                    </a:p>
                  </a:txBody>
                  <a:tcPr marL="91440" marR="91440" marT="45720" marB="45720">
                    <a:solidFill>
                      <a:srgbClr val="E9EF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분석 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여러 시스템과 도구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단일 환경에서 자연어 분석</a:t>
                      </a:r>
                    </a:p>
                  </a:txBody>
                  <a:tcPr marL="91440" marR="91440" marT="45720" marB="45720">
                    <a:solidFill>
                      <a:srgbClr val="E9EF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후속 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 경험으로 다음 분석 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규칙 기반 추천과 엔지니어 선택</a:t>
                      </a:r>
                    </a:p>
                  </a:txBody>
                  <a:tcPr marL="91440" marR="91440" marT="45720" marB="45720">
                    <a:solidFill>
                      <a:srgbClr val="E9EF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도구 연계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분석 화면을 별도로 조회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SmartFactory 동일 Trend 연계</a:t>
                      </a:r>
                    </a:p>
                  </a:txBody>
                  <a:tcPr marL="91440" marR="91440" marT="45720" marB="45720">
                    <a:solidFill>
                      <a:srgbClr val="E9EFF3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D009A-296D-44B7-8144-3C6A611E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FEEDD-E1DB-4206-B67E-BB297CA6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현업 사용과 검증을 통한 개선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6C6B8-2ACD-493D-8E53-1549FF9A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60C75-9EF6-4831-9809-32A3A281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실제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4D2D9-F685-425A-A49F-79DDEA53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엔지니어 직접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6441A-1C0D-4BF9-8F2E-582902C1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673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E7A91-2B27-454F-9505-7E509DFC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81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Daily 검토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B5A40-9EE9-4A12-8D5D-FB5DFD3C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95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결과·불편 사항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8C7EA-C414-4D05-8050-A61B2D54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65A1A-8277-45FE-A001-F995BB60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81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개선 반영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D68B2-3424-4FE6-ABDC-B713985C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95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기능·분석 로직 보완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31155-8A1B-484B-A150-9DFD76F5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673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BDA0D-A289-4686-99C8-368549B8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81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재검증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28E1E-C2D8-44F7-92FD-6B48BC1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95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실제 이슈로 확인</a:t>
            </a:r>
          </a:p>
        </p:txBody>
      </p: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905000" y="5476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57600" y="5476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410200" y="5476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1" idx="2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>
            <a:off x="1152525" y="5886450"/>
            <a:ext cx="5257800" cy="2286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B1F422-377F-413C-ABE7-854ADE25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257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8C9E7-73C4-4C9C-B935-7693EDBA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257925"/>
            <a:ext cx="3257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FB4ADA-F615-4DFB-8418-D87542EB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81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81개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1C566-649C-4500-BF7F-CA1238C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4484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개선 과제 도출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FC8C1-052E-459B-A3AB-A74599CB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43725"/>
            <a:ext cx="289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현업 요구와 사용 피드백을</a:t>
            </a:r>
          </a:p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Y-Agent 고도화 과제로 구체화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A574FF-B2A6-4B99-B057-7120758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343650"/>
            <a:ext cx="1571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5 / 7건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05156-D30A-4CAE-ADA2-86F6166D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448425"/>
            <a:ext cx="1400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실제 이슈 검출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56A4DC-5AA1-4F7A-8CD9-4D82D617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943725"/>
            <a:ext cx="2905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나머지 2건은 현재 미구현된</a:t>
            </a:r>
          </a:p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분석 방법이 필요한 사례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CDAF3-EADB-47EB-A56D-F6A56BE3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009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08818A-1D2E-4D7C-91F5-A74DAA64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0097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구현 경험을 바탕으로 지식화 확장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51B9D8-D99B-4BA9-A5D8-4A2225C7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20075"/>
            <a:ext cx="316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80E7F5-72EA-4C9D-8849-9AB33EC5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34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현재 구현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A6C74C-4B42-4D8F-920F-2886112A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487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MCP × BoI Wiki 하네스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반복 호출로 정형 분석보고서 배치 작성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807DCE-FC9F-4758-A9ED-8B9D7E97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220075"/>
            <a:ext cx="316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2723CE-5BB0-48D3-94CA-CDB234A5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334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향후 고도화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48EB2B-AA5A-4806-81EF-3AA9A513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6487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분석 Sequence·Action·CumMap 축적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Workflow 검색·재사용과 분석 추천</a:t>
            </a:r>
          </a:p>
        </p:txBody>
      </p:sp>
      <p:cxnSp>
        <p:nvCxnSpPr>
          <p:cNvPr id="90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562350" y="8763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CC7045-3A2F-4A1D-A784-6CE24DC9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4678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현업의 분석 과정과 판단 이력을 조직의 지식으로 축적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A0AC82-CF12-4BE6-8EFF-2D189E5E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39325"/>
            <a:ext cx="676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프로세스 개선과 검증의 반복으로 수율분석 역량을 지속 고도화</a:t>
            </a:r>
          </a:p>
        </p:txBody>
      </p:sp>
    </p:spTree>
    <p:extLst>
      <p:ext uri="{BB962C8B-B14F-4D97-AF65-F5344CB8AC3E}">
        <p14:creationId xmlns:p14="http://schemas.microsoft.com/office/powerpoint/2010/main" val="911619854"/>
      </p:ext>
    </p:extLst>
  </p:cSld>
</p:sld>
</file>

<file path=import0/ppt/tableStyles.xml><?xml version="1.0" encoding="utf-8"?>
<a:tblStyleLst xmlns:a="http://schemas.openxmlformats.org/drawingml/2006/main" def="{5C22544A-7EE6-4342-B048-85BDC9FD1C3A}"/>
</file>

<file path=import0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import1/_rels/.rels><?xml version='1.0' encoding='UTF-8' standalone='yes'?>
<Relationships xmlns="http://schemas.openxmlformats.org/package/2006/relationships"><Relationship Type="http://schemas.openxmlformats.org/package/2006/relationships/metadata/core-properties" Target="/import1/docProps/core.xml" Id="R7fd470d25c384dca"/><Relationship Type="http://schemas.openxmlformats.org/officeDocument/2006/relationships/extended-properties" Target="/import1/docProps/app.xml" Id="R2d8c31e60cbb4c82"/><Relationship Type="http://schemas.openxmlformats.org/officeDocument/2006/relationships/officeDocument" Target="/import1/ppt/presentation.xml" Id="Rb9cfcba4e23741fa"/></Relationships>
</file>

<file path=import1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import1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2026-09-22T22:25:51.5190000Z</dcterms:created>
  <dcterms:modified xsi:type="dcterms:W3CDTF">2026-09-22T22:25:51.5190000Z</dcterms:modified>
</coreProperties>
</file>

<file path=import1/ppt/_rels/presentation.xml.rels><?xml version='1.0' encoding='UTF-8' standalone='yes'?>
<Relationships xmlns="http://schemas.openxmlformats.org/package/2006/relationships"><Relationship Type="http://schemas.openxmlformats.org/officeDocument/2006/relationships/theme" Target="/import1/ppt/theme/theme1.xml" Id="R0ea9779e162b406c"/><Relationship Type="http://schemas.openxmlformats.org/officeDocument/2006/relationships/slideMaster" Target="/import1/ppt/slideMasters/slideMaster1.xml" Id="R70ffb4e4abd64add"/><Relationship Type="http://schemas.openxmlformats.org/officeDocument/2006/relationships/notesMaster" Target="/import1/ppt/notesMasters/notesMaster1.xml" Id="R21b819fc6cd144a7"/><Relationship Type="http://schemas.openxmlformats.org/officeDocument/2006/relationships/presProps" Target="/import1/ppt/presProps.xml" Id="R9a99167561a2423d"/><Relationship Type="http://schemas.openxmlformats.org/officeDocument/2006/relationships/tableStyles" Target="/import1/ppt/tableStyles.xml" Id="R227fd39075f544a0"/><Relationship Type="http://schemas.openxmlformats.org/officeDocument/2006/relationships/slide" Target="/import1/ppt/slides/slide1.xml" Id="R454c7f907f734788"/><Relationship Type="http://schemas.openxmlformats.org/officeDocument/2006/relationships/slide" Target="/import1/ppt/slides/slide2.xml" Id="R7f8e2c278a9b4dd6"/><Relationship Type="http://schemas.openxmlformats.org/officeDocument/2006/relationships/slide" Target="/import1/ppt/slides/slide3.xml" Id="Rd211bc43e05e44f8"/><Relationship Type="http://schemas.openxmlformats.org/officeDocument/2006/relationships/slide" Target="/import1/ppt/slides/slide4.xml" Id="R2c2e5a6b73ed48cd"/><Relationship Type="http://schemas.openxmlformats.org/officeDocument/2006/relationships/slide" Target="/import1/ppt/slides/slide5.xml" Id="R9099372517f14a7a"/><Relationship Type="http://schemas.openxmlformats.org/officeDocument/2006/relationships/slide" Target="/import1/ppt/slides/slide6.xml" Id="Ra632314fcf684695"/></Relationships>
</file>

<file path=import1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import1/ppt/notesMasters/theme/theme3.xml" Id="R51ae8ce4a5ed47a5"/></Relationships>
</file>

<file path=import1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import1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import1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import1/ppt/slides/slide1.xml" Id="Rb14217aff1604e00"/><Relationship Type="http://schemas.openxmlformats.org/officeDocument/2006/relationships/notesMaster" Target="/import1/ppt/notesMasters/notesMaster1.xml" Id="Ra3fe5647cde54a20"/></Relationships>
</file>

<file path=import1/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import1/ppt/slides/slide2.xml" Id="Re4a46d42c6b24aea"/><Relationship Type="http://schemas.openxmlformats.org/officeDocument/2006/relationships/notesMaster" Target="/import1/ppt/notesMasters/notesMaster1.xml" Id="R6866d853ee864fc1"/></Relationships>
</file>

<file path=import1/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import1/ppt/slides/slide3.xml" Id="R507776fa09f04c03"/><Relationship Type="http://schemas.openxmlformats.org/officeDocument/2006/relationships/notesMaster" Target="/import1/ppt/notesMasters/notesMaster1.xml" Id="Rec1f108885924dae"/></Relationships>
</file>

<file path=import1/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import1/ppt/slides/slide4.xml" Id="R63aaaf6385024bac"/><Relationship Type="http://schemas.openxmlformats.org/officeDocument/2006/relationships/notesMaster" Target="/import1/ppt/notesMasters/notesMaster1.xml" Id="Red744d9b5ea74887"/></Relationships>
</file>

<file path=import1/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import1/ppt/slides/slide5.xml" Id="Rb989be36a2f8440e"/><Relationship Type="http://schemas.openxmlformats.org/officeDocument/2006/relationships/notesMaster" Target="/import1/ppt/notesMasters/notesMaster1.xml" Id="R411f7c0357914ad5"/></Relationships>
</file>

<file path=import1/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import1/ppt/slides/slide6.xml" Id="Rbf84d6a9d8e948df"/><Relationship Type="http://schemas.openxmlformats.org/officeDocument/2006/relationships/notesMaster" Target="/import1/ppt/notesMasters/notesMaster1.xml" Id="Rd5fa54adbc954757"/></Relationships>
</file>

<file path=import1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01 / 06</a:t>
            </a:r>
          </a:p>
          <a:p xmlns:a="http://schemas.openxmlformats.org/drawingml/2006/main">
            <a:r>
              <a:t>숙련자의 도메인 전문성과 분석 Know-how를 결합한</a:t>
            </a:r>
          </a:p>
          <a:p xmlns:a="http://schemas.openxmlformats.org/drawingml/2006/main">
            <a:r>
              <a:t>Y-Agent 기반 수율 분석 혁신</a:t>
            </a:r>
          </a:p>
          <a:p xmlns:a="http://schemas.openxmlformats.org/drawingml/2006/main">
            <a:r>
              <a:t>사람의 경험을 조직의 자산으로, 더 높은 수율을 위한 분석 체계 구축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업무 특성  ·  수율 분석은 전문적 판단의 연속</a:t>
            </a:r>
          </a:p>
          <a:p xmlns:a="http://schemas.openxmlformats.org/drawingml/2006/main">
            <a:r>
              <a:t>WT 특정 Fail 열화 발생</a:t>
            </a:r>
          </a:p>
          <a:p xmlns:a="http://schemas.openxmlformats.org/drawingml/2006/main">
            <a:r>
              <a:t>무엇을 먼저</a:t>
            </a:r>
          </a:p>
          <a:p xmlns:a="http://schemas.openxmlformats.org/drawingml/2006/main">
            <a:r>
              <a:t>확인할 것인가</a:t>
            </a:r>
          </a:p>
          <a:p xmlns:a="http://schemas.openxmlformats.org/drawingml/2006/main">
            <a:r>
              <a:t>분석 결과를</a:t>
            </a:r>
          </a:p>
          <a:p xmlns:a="http://schemas.openxmlformats.org/drawingml/2006/main">
            <a:r>
              <a:t>어떻게 해석할 것인가</a:t>
            </a:r>
          </a:p>
          <a:p xmlns:a="http://schemas.openxmlformats.org/drawingml/2006/main">
            <a:r>
              <a:t>어떤 후속 분석으로</a:t>
            </a:r>
          </a:p>
          <a:p xmlns:a="http://schemas.openxmlformats.org/drawingml/2006/main">
            <a:r>
              <a:t>연결할 것인가</a:t>
            </a:r>
          </a:p>
          <a:p xmlns:a="http://schemas.openxmlformats.org/drawingml/2006/main">
            <a:r>
              <a:t>원인 후보 도출</a:t>
            </a:r>
          </a:p>
          <a:p xmlns:a="http://schemas.openxmlformats.org/drawingml/2006/main">
            <a:r>
              <a:t>대응 방향 설정</a:t>
            </a:r>
          </a:p>
          <a:p xmlns:a="http://schemas.openxmlformats.org/drawingml/2006/main">
            <a:r>
              <a:t>불량과 공정에 대한 이해를 바탕으로</a:t>
            </a:r>
          </a:p>
          <a:p xmlns:a="http://schemas.openxmlformats.org/drawingml/2006/main">
            <a:r>
              <a:t>분석의 우선순위를 정하고 결과를 해석하며,</a:t>
            </a:r>
          </a:p>
          <a:p xmlns:a="http://schemas.openxmlformats.org/drawingml/2006/main">
            <a:r>
              <a:t>여러 정보를 연결해 원인을 좁히는 업무입니다.</a:t>
            </a:r>
          </a:p>
          <a:p xmlns:a="http://schemas.openxmlformats.org/drawingml/2006/main">
            <a:r>
              <a:t>동일한 Fail과 결과라도 보유한 지식에 따라</a:t>
            </a:r>
          </a:p>
          <a:p xmlns:a="http://schemas.openxmlformats.org/drawingml/2006/main">
            <a:r>
              <a:t>접근 방식과 해석의 깊이가 달라집니다.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추진 배경  ·  반복 탐색과 전문성 전수의 한계</a:t>
            </a:r>
          </a:p>
          <a:p xmlns:a="http://schemas.openxmlformats.org/drawingml/2006/main">
            <a:r>
              <a:t>데이터 탐색·정리에 많은 시간</a:t>
            </a:r>
          </a:p>
          <a:p xmlns:a="http://schemas.openxmlformats.org/drawingml/2006/main">
            <a:r>
              <a:t>Spotfire</a:t>
            </a:r>
          </a:p>
          <a:p xmlns:a="http://schemas.openxmlformats.org/drawingml/2006/main">
            <a:r>
              <a:t>SmartFactory</a:t>
            </a:r>
          </a:p>
          <a:p xmlns:a="http://schemas.openxmlformats.org/drawingml/2006/main">
            <a:r>
              <a:t>MES / TAS</a:t>
            </a:r>
          </a:p>
          <a:p xmlns:a="http://schemas.openxmlformats.org/drawingml/2006/main">
            <a:r>
              <a:t>PPT</a:t>
            </a:r>
          </a:p>
          <a:p xmlns:a="http://schemas.openxmlformats.org/drawingml/2006/main">
            <a:r>
              <a:t>과거 분석자료</a:t>
            </a:r>
          </a:p>
          <a:p xmlns:a="http://schemas.openxmlformats.org/drawingml/2006/main">
            <a:r>
              <a:t>개인 보관</a:t>
            </a:r>
          </a:p>
          <a:p xmlns:a="http://schemas.openxmlformats.org/drawingml/2006/main">
            <a:r>
              <a:t>여러 시스템의 자료를 수작업으로 연결</a:t>
            </a:r>
          </a:p>
          <a:p xmlns:a="http://schemas.openxmlformats.org/drawingml/2006/main">
            <a:r>
              <a:t>반복 조회·정리에 분석 시간이 소요</a:t>
            </a:r>
          </a:p>
          <a:p xmlns:a="http://schemas.openxmlformats.org/drawingml/2006/main">
            <a:r>
              <a:t>숙련도에 따른 분석 편차</a:t>
            </a:r>
          </a:p>
          <a:p xmlns:a="http://schemas.openxmlformats.org/drawingml/2006/main">
            <a:r>
              <a:t>저년차  ·  경험 부족</a:t>
            </a:r>
          </a:p>
          <a:p xmlns:a="http://schemas.openxmlformats.org/drawingml/2006/main">
            <a:r>
              <a:t>정형적인 분석과 제한적인 해석</a:t>
            </a:r>
          </a:p>
          <a:p xmlns:a="http://schemas.openxmlformats.org/drawingml/2006/main">
            <a:r>
              <a:t>추가 분석 방향 설정에 어려움</a:t>
            </a:r>
          </a:p>
          <a:p xmlns:a="http://schemas.openxmlformats.org/drawingml/2006/main">
            <a:r>
              <a:t>고년차  ·  충분한 경험</a:t>
            </a:r>
          </a:p>
          <a:p xmlns:a="http://schemas.openxmlformats.org/drawingml/2006/main">
            <a:r>
              <a:t>다양한 관점과 깊이 있는 해석</a:t>
            </a:r>
          </a:p>
          <a:p xmlns:a="http://schemas.openxmlformats.org/drawingml/2006/main">
            <a:r>
              <a:t>후속 분석까지 연결</a:t>
            </a:r>
          </a:p>
          <a:p xmlns:a="http://schemas.openxmlformats.org/drawingml/2006/main">
            <a:r>
              <a:t>전문성 전수의 한계</a:t>
            </a:r>
          </a:p>
          <a:p xmlns:a="http://schemas.openxmlformats.org/drawingml/2006/main">
            <a:r>
              <a:t>고년차의 지식과 분석 방법을</a:t>
            </a:r>
          </a:p>
          <a:p xmlns:a="http://schemas.openxmlformats.org/drawingml/2006/main">
            <a:r>
              <a:t>개별 설명·교육으로 전수하는 데 한계</a:t>
            </a:r>
          </a:p>
          <a:p xmlns:a="http://schemas.openxmlformats.org/drawingml/2006/main">
            <a:r>
              <a:t>축적된 분석 경험이 개인에게 머무름</a:t>
            </a:r>
          </a:p>
          <a:p xmlns:a="http://schemas.openxmlformats.org/drawingml/2006/main">
            <a:r>
              <a:t>숙련자의 전문성을 조직 전체로</a:t>
            </a:r>
          </a:p>
          <a:p xmlns:a="http://schemas.openxmlformats.org/drawingml/2006/main">
            <a:r>
              <a:t>확산하기 어려운 구조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핵심 난이도  ·  암묵적 판단을 실행 가능한 분석 로직으로 전환</a:t>
            </a:r>
          </a:p>
          <a:p xmlns:a="http://schemas.openxmlformats.org/drawingml/2006/main">
            <a:r>
              <a:t>도메인 지식의 분석 로직화</a:t>
            </a:r>
          </a:p>
          <a:p xmlns:a="http://schemas.openxmlformats.org/drawingml/2006/main">
            <a:r>
              <a:t>분석 우선순위·해석 기준·후속 분석을 정리</a:t>
            </a:r>
          </a:p>
          <a:p xmlns:a="http://schemas.openxmlformats.org/drawingml/2006/main">
            <a:r>
              <a:t>Agent가 실제 분석에 활용하도록 구현</a:t>
            </a:r>
          </a:p>
          <a:p xmlns:a="http://schemas.openxmlformats.org/drawingml/2006/main">
            <a:r>
              <a:t>분산 데이터와 분석의 연계</a:t>
            </a:r>
          </a:p>
          <a:p xmlns:a="http://schemas.openxmlformats.org/drawingml/2006/main">
            <a:r>
              <a:t>수율·공정·자재·Inline 정보를 목적에 맞게 연결</a:t>
            </a:r>
          </a:p>
          <a:p xmlns:a="http://schemas.openxmlformats.org/drawingml/2006/main">
            <a:r>
              <a:t>개별 결과가 다음 분석으로 이어지도록 설계</a:t>
            </a:r>
          </a:p>
          <a:p xmlns:a="http://schemas.openxmlformats.org/drawingml/2006/main">
            <a:r>
              <a:t>도메인 지식과 데이터·분석 기법을 결합해 현업에 유효한 분석을 수행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도전 목표  ·  전문성의 조직적 확산과 전사 수율 제고 기반 마련</a:t>
            </a:r>
          </a:p>
          <a:p xmlns:a="http://schemas.openxmlformats.org/drawingml/2006/main">
            <a:r>
              <a:t>숙련자의 전문성</a:t>
            </a:r>
          </a:p>
          <a:p xmlns:a="http://schemas.openxmlformats.org/drawingml/2006/main">
            <a:r>
              <a:t>도메인 지식</a:t>
            </a:r>
          </a:p>
          <a:p xmlns:a="http://schemas.openxmlformats.org/drawingml/2006/main">
            <a:r>
              <a:t>분석 Know-how</a:t>
            </a:r>
          </a:p>
          <a:p xmlns:a="http://schemas.openxmlformats.org/drawingml/2006/main">
            <a:r>
              <a:t>통계·머신러닝</a:t>
            </a:r>
          </a:p>
          <a:p xmlns:a="http://schemas.openxmlformats.org/drawingml/2006/main">
            <a:r>
              <a:t>고급 분석 기법</a:t>
            </a:r>
          </a:p>
          <a:p xmlns:a="http://schemas.openxmlformats.org/drawingml/2006/main">
            <a:r>
              <a:t>현업 로직 결합</a:t>
            </a:r>
          </a:p>
          <a:p xmlns:a="http://schemas.openxmlformats.org/drawingml/2006/main">
            <a:r>
              <a:t>SOP 기반 Multi-Agent</a:t>
            </a:r>
          </a:p>
          <a:p xmlns:a="http://schemas.openxmlformats.org/drawingml/2006/main">
            <a:r>
              <a:t>전문 Agent 연결</a:t>
            </a:r>
          </a:p>
          <a:p xmlns:a="http://schemas.openxmlformats.org/drawingml/2006/main">
            <a:r>
              <a:t>분석 Workflow 구현</a:t>
            </a:r>
          </a:p>
          <a:p xmlns:a="http://schemas.openxmlformats.org/drawingml/2006/main">
            <a:r>
              <a:t>전문 분석 활용 확대</a:t>
            </a:r>
          </a:p>
          <a:p xmlns:a="http://schemas.openxmlformats.org/drawingml/2006/main">
            <a:r>
              <a:t>경험 수준에 관계없이</a:t>
            </a:r>
          </a:p>
          <a:p xmlns:a="http://schemas.openxmlformats.org/drawingml/2006/main">
            <a:r>
              <a:t>분석 역량 활용</a:t>
            </a:r>
          </a:p>
          <a:p xmlns:a="http://schemas.openxmlformats.org/drawingml/2006/main">
            <a:r>
              <a:t>기존  RAG 기반 챗봇</a:t>
            </a:r>
          </a:p>
          <a:p xmlns:a="http://schemas.openxmlformats.org/drawingml/2006/main">
            <a:r>
              <a:t>새로운 시도  수율 SOP 기반 Multi-Agent · 전사 최초 Agentic AI 구축</a:t>
            </a:r>
          </a:p>
          <a:p xmlns:a="http://schemas.openxmlformats.org/drawingml/2006/main">
            <a:r>
              <a:t>SUPEX 추구·패기  ·  숙련자 의존적 분석의 한계를 스스로 과제로 정의하고,</a:t>
            </a:r>
          </a:p>
          <a:p xmlns:a="http://schemas.openxmlformats.org/drawingml/2006/main">
            <a:r>
              <a:t>전문성 확산과 전사 수율 제고를 목표로 새로운 분석 체계 구현에 도전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1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02 / 06</a:t>
            </a:r>
          </a:p>
          <a:p xmlns:a="http://schemas.openxmlformats.org/drawingml/2006/main">
            <a:r>
              <a:t>현업 SOP 기반</a:t>
            </a:r>
          </a:p>
          <a:p xmlns:a="http://schemas.openxmlformats.org/drawingml/2006/main">
            <a:r>
              <a:t>수율 분석 프로세스의 재설계</a:t>
            </a:r>
          </a:p>
          <a:p xmlns:a="http://schemas.openxmlformats.org/drawingml/2006/main">
            <a:r>
              <a:t>기존 SOP와 숙련자의 Know-how를 자연어 기반 Human–Agent 협업 Workflow로 전환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기존 업무 자산과 현업 경험을 분석 로직으로 구체화</a:t>
            </a:r>
          </a:p>
          <a:p xmlns:a="http://schemas.openxmlformats.org/drawingml/2006/main">
            <a:r>
              <a:t>OPLS SOP 검토</a:t>
            </a:r>
          </a:p>
          <a:p xmlns:a="http://schemas.openxmlformats.org/drawingml/2006/main">
            <a:r>
              <a:t>수율 분석 표준 프로세스</a:t>
            </a:r>
          </a:p>
          <a:p xmlns:a="http://schemas.openxmlformats.org/drawingml/2006/main">
            <a:r>
              <a:t>수율·PI·개발 업무 포함</a:t>
            </a:r>
          </a:p>
          <a:p xmlns:a="http://schemas.openxmlformats.org/drawingml/2006/main">
            <a:r>
              <a:t>현업 엔지니어 인터뷰</a:t>
            </a:r>
          </a:p>
          <a:p xmlns:a="http://schemas.openxmlformats.org/drawingml/2006/main">
            <a:r>
              <a:t>다양한 실제 분석 사례와</a:t>
            </a:r>
          </a:p>
          <a:p xmlns:a="http://schemas.openxmlformats.org/drawingml/2006/main">
            <a:r>
              <a:t>업무 방식 파악</a:t>
            </a:r>
          </a:p>
          <a:p xmlns:a="http://schemas.openxmlformats.org/drawingml/2006/main">
            <a:r>
              <a:t>분석 방법 로직화</a:t>
            </a:r>
          </a:p>
          <a:p xmlns:a="http://schemas.openxmlformats.org/drawingml/2006/main">
            <a:r>
              <a:t>분석 방법을 로직으로 정리</a:t>
            </a:r>
          </a:p>
          <a:p xmlns:a="http://schemas.openxmlformats.org/drawingml/2006/main">
            <a:r>
              <a:t>비교·검토</a:t>
            </a:r>
          </a:p>
          <a:p xmlns:a="http://schemas.openxmlformats.org/drawingml/2006/main">
            <a:r>
              <a:t>전문 Agent·Workflow</a:t>
            </a:r>
          </a:p>
          <a:p xmlns:a="http://schemas.openxmlformats.org/drawingml/2006/main">
            <a:r>
              <a:t>업무 목적에 적합한</a:t>
            </a:r>
          </a:p>
          <a:p xmlns:a="http://schemas.openxmlformats.org/drawingml/2006/main">
            <a:r>
              <a:t>전문 분석 흐름 설계</a:t>
            </a:r>
          </a:p>
          <a:p xmlns:a="http://schemas.openxmlformats.org/drawingml/2006/main">
            <a:r>
              <a:t>기존 SOP</a:t>
            </a:r>
          </a:p>
          <a:p xmlns:a="http://schemas.openxmlformats.org/drawingml/2006/main">
            <a:r>
              <a:t>수율 이상 감지     →     WT 불량 Define     →     Inline-WT 연계     →     불량 참원인 도출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분산된 분석 업무를 Y-Agent 단일 환경으로 통합</a:t>
            </a:r>
          </a:p>
          <a:p xmlns:a="http://schemas.openxmlformats.org/drawingml/2006/main">
            <a:r>
              <a:t>기존 업무 방식</a:t>
            </a:r>
          </a:p>
          <a:p xmlns:a="http://schemas.openxmlformats.org/drawingml/2006/main">
            <a:r>
              <a:t>Y-Agent 기반 업무 방식</a:t>
            </a:r>
          </a:p>
          <a:p xmlns:a="http://schemas.openxmlformats.org/drawingml/2006/main">
            <a:r>
              <a:t>수율일보</a:t>
            </a:r>
          </a:p>
          <a:p xmlns:a="http://schemas.openxmlformats.org/drawingml/2006/main">
            <a:r>
              <a:t>열화 Parameter 확인</a:t>
            </a:r>
          </a:p>
          <a:p xmlns:a="http://schemas.openxmlformats.org/drawingml/2006/main">
            <a:r>
              <a:t>SmartFactory</a:t>
            </a:r>
          </a:p>
          <a:p xmlns:a="http://schemas.openxmlformats.org/drawingml/2006/main">
            <a:r>
              <a:t>Probe / Response / EPM</a:t>
            </a:r>
          </a:p>
          <a:p xmlns:a="http://schemas.openxmlformats.org/drawingml/2006/main">
            <a:r>
              <a:t>Trend 조회</a:t>
            </a:r>
          </a:p>
          <a:p xmlns:a="http://schemas.openxmlformats.org/drawingml/2006/main">
            <a:r>
              <a:t>Raw Data 추출</a:t>
            </a:r>
          </a:p>
          <a:p xmlns:a="http://schemas.openxmlformats.org/drawingml/2006/main">
            <a:r>
              <a:t>분석용 데이터 준비</a:t>
            </a:r>
          </a:p>
          <a:p xmlns:a="http://schemas.openxmlformats.org/drawingml/2006/main">
            <a:r>
              <a:t>SmartFactory</a:t>
            </a:r>
          </a:p>
          <a:p xmlns:a="http://schemas.openxmlformats.org/drawingml/2006/main">
            <a:r>
              <a:t>분석 수행</a:t>
            </a:r>
          </a:p>
          <a:p xmlns:a="http://schemas.openxmlformats.org/drawingml/2006/main">
            <a:r>
              <a:t>개별 분석 도구 활용</a:t>
            </a:r>
          </a:p>
          <a:p xmlns:a="http://schemas.openxmlformats.org/drawingml/2006/main">
            <a:r>
              <a:t>데이터 탐색·추출·분석을 직접 연결</a:t>
            </a:r>
          </a:p>
          <a:p xmlns:a="http://schemas.openxmlformats.org/drawingml/2006/main">
            <a:r>
              <a:t>후속 분석 선택과 해석은 개인 경험에 의존</a:t>
            </a:r>
          </a:p>
          <a:p xmlns:a="http://schemas.openxmlformats.org/drawingml/2006/main">
            <a:r>
              <a:t>“최근 제품의 수율 저하 원인을 분석해줘”</a:t>
            </a:r>
          </a:p>
          <a:p xmlns:a="http://schemas.openxmlformats.org/drawingml/2006/main">
            <a:r>
              <a:t>Y-Agent</a:t>
            </a:r>
          </a:p>
          <a:p xmlns:a="http://schemas.openxmlformats.org/drawingml/2006/main">
            <a:r>
              <a:t>수율일보 Agent</a:t>
            </a:r>
          </a:p>
          <a:p xmlns:a="http://schemas.openxmlformats.org/drawingml/2006/main">
            <a:r>
              <a:t>이상감지 Agent</a:t>
            </a:r>
          </a:p>
          <a:p xmlns:a="http://schemas.openxmlformats.org/drawingml/2006/main">
            <a:r>
              <a:t>Map 분석 Agent</a:t>
            </a:r>
          </a:p>
          <a:p xmlns:a="http://schemas.openxmlformats.org/drawingml/2006/main">
            <a:r>
              <a:t>연계분석·Mining</a:t>
            </a:r>
          </a:p>
          <a:p xmlns:a="http://schemas.openxmlformats.org/drawingml/2006/main">
            <a:r>
              <a:t>다음 분석도 진행할까요?</a:t>
            </a:r>
          </a:p>
          <a:p xmlns:a="http://schemas.openxmlformats.org/drawingml/2006/main">
            <a:r>
              <a:t>열화 자재 분석  ·  공정별 Trend  ·  유사 이력  ·  추가 Mining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사람과 Agent가 함께하는 분석 Workflow</a:t>
            </a:r>
          </a:p>
          <a:p xmlns:a="http://schemas.openxmlformats.org/drawingml/2006/main">
            <a:r>
              <a:t>결과에 따라 이전 단계로 돌아가 추가 분석  ·  기본 Workflow와 엔지니어 주도 분석을 함께 지원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기대 효과  ·  숙련자의 분석 방법을 누구나 활용하는 체계</a:t>
            </a:r>
          </a:p>
          <a:p xmlns:a="http://schemas.openxmlformats.org/drawingml/2006/main">
            <a:r>
              <a:t>분석 업무 효율화</a:t>
            </a:r>
          </a:p>
          <a:p xmlns:a="http://schemas.openxmlformats.org/drawingml/2006/main">
            <a:r>
              <a:t>반복 탐색·정리 시간 단축</a:t>
            </a:r>
          </a:p>
          <a:p xmlns:a="http://schemas.openxmlformats.org/drawingml/2006/main">
            <a:r>
              <a:t>분석 방법 표준화</a:t>
            </a:r>
          </a:p>
          <a:p xmlns:a="http://schemas.openxmlformats.org/drawingml/2006/main">
            <a:r>
              <a:t>현업 지식을 재사용</a:t>
            </a:r>
          </a:p>
          <a:p xmlns:a="http://schemas.openxmlformats.org/drawingml/2006/main">
            <a:r>
              <a:t>분석 품질·신뢰도 향상</a:t>
            </a:r>
          </a:p>
          <a:p xmlns:a="http://schemas.openxmlformats.org/drawingml/2006/main">
            <a:r>
              <a:t>체계적인 결과와 해석</a:t>
            </a:r>
          </a:p>
          <a:p xmlns:a="http://schemas.openxmlformats.org/drawingml/2006/main">
            <a:r>
              <a:t>전사 확산 기반</a:t>
            </a:r>
          </a:p>
          <a:p xmlns:a="http://schemas.openxmlformats.org/drawingml/2006/main">
            <a:r>
              <a:t>전문 분석 활용 확대</a:t>
            </a:r>
          </a:p>
          <a:p xmlns:a="http://schemas.openxmlformats.org/drawingml/2006/main">
            <a:r>
              <a:t>숙련자의 분석 전문성을 실행 가능한 업무 체계로 전환하고,</a:t>
            </a:r>
          </a:p>
          <a:p xmlns:a="http://schemas.openxmlformats.org/drawingml/2006/main">
            <a:r>
              <a:t>한 환경에서 결과 확인부터 후속 분석까지 연속적으로 수행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구분</a:t>
            </a:r>
          </a:p>
          <a:p xmlns:a="http://schemas.openxmlformats.org/drawingml/2006/main">
            <a:r>
              <a:t>① 수율 점검</a:t>
            </a:r>
          </a:p>
          <a:p xmlns:a="http://schemas.openxmlformats.org/drawingml/2006/main">
            <a:r>
              <a:t>② 분석 대상 선정</a:t>
            </a:r>
          </a:p>
          <a:p xmlns:a="http://schemas.openxmlformats.org/drawingml/2006/main">
            <a:r>
              <a:t>③ 전문 분석 진행</a:t>
            </a:r>
          </a:p>
          <a:p xmlns:a="http://schemas.openxmlformats.org/drawingml/2006/main">
            <a:r>
              <a:t>④ 결과 확인·확장</a:t>
            </a:r>
          </a:p>
          <a:p xmlns:a="http://schemas.openxmlformats.org/drawingml/2006/main">
            <a:r>
              <a:t>Agent</a:t>
            </a:r>
          </a:p>
          <a:p xmlns:a="http://schemas.openxmlformats.org/drawingml/2006/main">
            <a:r>
              <a:t>제안·실행</a:t>
            </a:r>
          </a:p>
          <a:p xmlns:a="http://schemas.openxmlformats.org/drawingml/2006/main">
            <a:r>
              <a:t>기간별 수율 분석</a:t>
            </a:r>
          </a:p>
          <a:p xmlns:a="http://schemas.openxmlformats.org/drawingml/2006/main">
            <a:r>
              <a:t>열화 감지·이상 탐지</a:t>
            </a:r>
          </a:p>
          <a:p xmlns:a="http://schemas.openxmlformats.org/drawingml/2006/main">
            <a:r>
              <a:t>Fail List 제안</a:t>
            </a:r>
          </a:p>
          <a:p xmlns:a="http://schemas.openxmlformats.org/drawingml/2006/main">
            <a:r>
              <a:t>Agent·분석 방법 추천</a:t>
            </a:r>
          </a:p>
          <a:p xmlns:a="http://schemas.openxmlformats.org/drawingml/2006/main">
            <a:r>
              <a:t>선택한 분석 수행</a:t>
            </a:r>
          </a:p>
          <a:p xmlns:a="http://schemas.openxmlformats.org/drawingml/2006/main">
            <a:r>
              <a:t>결과 정리·시각화</a:t>
            </a:r>
          </a:p>
          <a:p xmlns:a="http://schemas.openxmlformats.org/drawingml/2006/main">
            <a:r>
              <a:t>후속 분석 추천</a:t>
            </a:r>
          </a:p>
          <a:p xmlns:a="http://schemas.openxmlformats.org/drawingml/2006/main">
            <a:r>
              <a:t>추가 분석 제안</a:t>
            </a:r>
          </a:p>
          <a:p xmlns:a="http://schemas.openxmlformats.org/drawingml/2006/main">
            <a:r>
              <a:t>엔지니어</a:t>
            </a:r>
          </a:p>
          <a:p xmlns:a="http://schemas.openxmlformats.org/drawingml/2006/main">
            <a:r>
              <a:t>판단·선택</a:t>
            </a:r>
          </a:p>
          <a:p xmlns:a="http://schemas.openxmlformats.org/drawingml/2006/main">
            <a:r>
              <a:t>분석 기간·목적 요청</a:t>
            </a:r>
          </a:p>
          <a:p xmlns:a="http://schemas.openxmlformats.org/drawingml/2006/main">
            <a:r>
              <a:t>분석 대상 Fail</a:t>
            </a:r>
          </a:p>
          <a:p xmlns:a="http://schemas.openxmlformats.org/drawingml/2006/main">
            <a:r>
              <a:t>검토·선택</a:t>
            </a:r>
          </a:p>
          <a:p xmlns:a="http://schemas.openxmlformats.org/drawingml/2006/main">
            <a:r>
              <a:t>원하는 분석 선택</a:t>
            </a:r>
          </a:p>
          <a:p xmlns:a="http://schemas.openxmlformats.org/drawingml/2006/main">
            <a:r>
              <a:t>기본 Workflow 활용</a:t>
            </a:r>
          </a:p>
          <a:p xmlns:a="http://schemas.openxmlformats.org/drawingml/2006/main">
            <a:r>
              <a:t>결과 확인</a:t>
            </a:r>
          </a:p>
          <a:p xmlns:a="http://schemas.openxmlformats.org/drawingml/2006/main">
            <a:r>
              <a:t>추가 분석·방향 조정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1/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03 / 06</a:t>
            </a:r>
          </a:p>
          <a:p xmlns:a="http://schemas.openxmlformats.org/drawingml/2006/main">
            <a:r>
              <a:t>숙련자의 Know-how를</a:t>
            </a:r>
          </a:p>
          <a:p xmlns:a="http://schemas.openxmlformats.org/drawingml/2006/main">
            <a:r>
              <a:t>전문 Agent의 분석 역량으로 구현</a:t>
            </a:r>
          </a:p>
          <a:p xmlns:a="http://schemas.openxmlformats.org/drawingml/2006/main">
            <a:r>
              <a:t>도메인 지식을 Agent의 분석 Logic과 Workflow에 내재화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현업 전문성을 실행 가능한 분석 Logic으로 전환</a:t>
            </a:r>
          </a:p>
          <a:p xmlns:a="http://schemas.openxmlformats.org/drawingml/2006/main">
            <a:r>
              <a:t>현업 도메인 지식</a:t>
            </a:r>
          </a:p>
          <a:p xmlns:a="http://schemas.openxmlformats.org/drawingml/2006/main">
            <a:r>
              <a:t>불량별 분석 관점·공정 이해</a:t>
            </a:r>
          </a:p>
          <a:p xmlns:a="http://schemas.openxmlformats.org/drawingml/2006/main">
            <a:r>
              <a:t>데이터 해석 기준</a:t>
            </a:r>
          </a:p>
          <a:p xmlns:a="http://schemas.openxmlformats.org/drawingml/2006/main">
            <a:r>
              <a:t>원인 추적·분석 연결 순서</a:t>
            </a:r>
          </a:p>
          <a:p xmlns:a="http://schemas.openxmlformats.org/drawingml/2006/main">
            <a:r>
              <a:t>Agent 분석 Logic</a:t>
            </a:r>
          </a:p>
          <a:p xmlns:a="http://schemas.openxmlformats.org/drawingml/2006/main">
            <a:r>
              <a:t>무엇을 확인할 것인가</a:t>
            </a:r>
          </a:p>
          <a:p xmlns:a="http://schemas.openxmlformats.org/drawingml/2006/main">
            <a:r>
              <a:t>어떻게 해석할 것인가</a:t>
            </a:r>
          </a:p>
          <a:p xmlns:a="http://schemas.openxmlformats.org/drawingml/2006/main">
            <a:r>
              <a:t>어떤 후속 분석으로 연결할까</a:t>
            </a:r>
          </a:p>
          <a:p xmlns:a="http://schemas.openxmlformats.org/drawingml/2006/main">
            <a:r>
              <a:t>전문 Agent</a:t>
            </a:r>
          </a:p>
          <a:p xmlns:a="http://schemas.openxmlformats.org/drawingml/2006/main">
            <a:r>
              <a:t>13개 전문 Agent</a:t>
            </a:r>
          </a:p>
          <a:p xmlns:a="http://schemas.openxmlformats.org/drawingml/2006/main">
            <a:r>
              <a:t>24개 Tool</a:t>
            </a:r>
          </a:p>
          <a:p xmlns:a="http://schemas.openxmlformats.org/drawingml/2006/main">
            <a:r>
              <a:t>다양한 수율 업무 지원</a:t>
            </a:r>
          </a:p>
          <a:p xmlns:a="http://schemas.openxmlformats.org/drawingml/2006/main">
            <a:r>
              <a:t>Super Agent</a:t>
            </a:r>
          </a:p>
          <a:p xmlns:a="http://schemas.openxmlformats.org/drawingml/2006/main">
            <a:r>
              <a:t>사전 정의 Workflow 추천</a:t>
            </a:r>
          </a:p>
          <a:p xmlns:a="http://schemas.openxmlformats.org/drawingml/2006/main">
            <a:r>
              <a:t>전문 Agent·Tool 연결</a:t>
            </a:r>
          </a:p>
          <a:p xmlns:a="http://schemas.openxmlformats.org/drawingml/2006/main">
            <a:r>
              <a:t>End-to-End 분석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대표 구현 사례  ·  현업 로직과 머신러닝·Map 분석의 결합</a:t>
            </a:r>
          </a:p>
          <a:p xmlns:a="http://schemas.openxmlformats.org/drawingml/2006/main">
            <a:r>
              <a:t>현업 열화감지 로직의 Agent화</a:t>
            </a:r>
          </a:p>
          <a:p xmlns:a="http://schemas.openxmlformats.org/drawingml/2006/main">
            <a:r>
              <a:t>열화감지 Agent</a:t>
            </a:r>
          </a:p>
          <a:p xmlns:a="http://schemas.openxmlformats.org/drawingml/2006/main">
            <a:r>
              <a:t>현업에서 활용하는 열화감지 로직을 구현하여</a:t>
            </a:r>
          </a:p>
          <a:p xmlns:a="http://schemas.openxmlformats.org/drawingml/2006/main">
            <a:r>
              <a:t>Y-Agent에서 보고서와 열화 내용을 함께 확인</a:t>
            </a:r>
          </a:p>
          <a:p xmlns:a="http://schemas.openxmlformats.org/drawingml/2006/main">
            <a:r>
              <a:t>수율 데이터</a:t>
            </a:r>
          </a:p>
          <a:p xmlns:a="http://schemas.openxmlformats.org/drawingml/2006/main">
            <a:r>
              <a:t>제품·기간·공정</a:t>
            </a:r>
          </a:p>
          <a:p xmlns:a="http://schemas.openxmlformats.org/drawingml/2006/main">
            <a:r>
              <a:t>현업 감지 로직</a:t>
            </a:r>
          </a:p>
          <a:p xmlns:a="http://schemas.openxmlformats.org/drawingml/2006/main">
            <a:r>
              <a:t>열화 내용 파악</a:t>
            </a:r>
          </a:p>
          <a:p xmlns:a="http://schemas.openxmlformats.org/drawingml/2006/main">
            <a:r>
              <a:t>Web 보고서</a:t>
            </a:r>
          </a:p>
          <a:p xmlns:a="http://schemas.openxmlformats.org/drawingml/2006/main">
            <a:r>
              <a:t>후속 분석 활용</a:t>
            </a:r>
          </a:p>
          <a:p xmlns:a="http://schemas.openxmlformats.org/drawingml/2006/main">
            <a:r>
              <a:t>기간별 수율 확인 · 열화 내용 정리 · 분석 대상 검토</a:t>
            </a:r>
          </a:p>
          <a:p xmlns:a="http://schemas.openxmlformats.org/drawingml/2006/main">
            <a:r>
              <a:t>보고서 확인과 열화 파악을 한 환경에서 수행</a:t>
            </a:r>
          </a:p>
          <a:p xmlns:a="http://schemas.openxmlformats.org/drawingml/2006/main">
            <a:r>
              <a:t>분류 머신러닝 + Wafer Map</a:t>
            </a:r>
          </a:p>
          <a:p xmlns:a="http://schemas.openxmlformats.org/drawingml/2006/main">
            <a:r>
              <a:t>Mining Agent</a:t>
            </a:r>
          </a:p>
          <a:p xmlns:a="http://schemas.openxmlformats.org/drawingml/2006/main">
            <a:r>
              <a:t>분류 모델 기반 로직과 Wafer Map을 활용하여</a:t>
            </a:r>
          </a:p>
          <a:p xmlns:a="http://schemas.openxmlformats.org/drawingml/2006/main">
            <a:r>
              <a:t>Fail Map과 비슷한 양상의 원인 후보를 추출</a:t>
            </a:r>
          </a:p>
          <a:p xmlns:a="http://schemas.openxmlformats.org/drawingml/2006/main">
            <a:r>
              <a:t>Target Fail Map</a:t>
            </a:r>
          </a:p>
          <a:p xmlns:a="http://schemas.openxmlformats.org/drawingml/2006/main">
            <a:r>
              <a:t>유사 양상 후보</a:t>
            </a:r>
          </a:p>
          <a:p xmlns:a="http://schemas.openxmlformats.org/drawingml/2006/main">
            <a:r>
              <a:t>3가지 Mining 결과 비교 검증에서</a:t>
            </a:r>
          </a:p>
          <a:p xmlns:a="http://schemas.openxmlformats.org/drawingml/2006/main">
            <a:r>
              <a:t>도메인 지식 기반 방식의 우수성 확인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분석 지연을 데이터 전처리·DB 적재로 개선</a:t>
            </a:r>
          </a:p>
          <a:p xmlns:a="http://schemas.openxmlformats.org/drawingml/2006/main">
            <a:r>
              <a:t>장애 요인</a:t>
            </a:r>
          </a:p>
          <a:p xmlns:a="http://schemas.openxmlformats.org/drawingml/2006/main">
            <a:r>
              <a:t>분석 수행에 시간 소요</a:t>
            </a:r>
          </a:p>
          <a:p xmlns:a="http://schemas.openxmlformats.org/drawingml/2006/main">
            <a:r>
              <a:t>해결 방식</a:t>
            </a:r>
          </a:p>
          <a:p xmlns:a="http://schemas.openxmlformats.org/drawingml/2006/main">
            <a:r>
              <a:t>데이터 전처리 후 DB 적재</a:t>
            </a:r>
          </a:p>
          <a:p xmlns:a="http://schemas.openxmlformats.org/drawingml/2006/main">
            <a:r>
              <a:t>개선 결과</a:t>
            </a:r>
          </a:p>
          <a:p xmlns:a="http://schemas.openxmlformats.org/drawingml/2006/main">
            <a:r>
              <a:t>분석 속도 개선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규칙 기반 추천과 엔지니어의 분석 선택권을 결합</a:t>
            </a:r>
          </a:p>
          <a:p xmlns:a="http://schemas.openxmlformats.org/drawingml/2006/main">
            <a:r>
              <a:t>Agent 분석</a:t>
            </a:r>
          </a:p>
          <a:p xmlns:a="http://schemas.openxmlformats.org/drawingml/2006/main">
            <a:r>
              <a:t>결과 정리</a:t>
            </a:r>
          </a:p>
          <a:p xmlns:a="http://schemas.openxmlformats.org/drawingml/2006/main">
            <a:r>
              <a:t>다음 분석 추천</a:t>
            </a:r>
          </a:p>
          <a:p xmlns:a="http://schemas.openxmlformats.org/drawingml/2006/main">
            <a:r>
              <a:t>Engineer 판단</a:t>
            </a:r>
          </a:p>
          <a:p xmlns:a="http://schemas.openxmlformats.org/drawingml/2006/main">
            <a:r>
              <a:t>분석 대상·진행 방향</a:t>
            </a:r>
          </a:p>
          <a:p xmlns:a="http://schemas.openxmlformats.org/drawingml/2006/main">
            <a:r>
              <a:t>검토 및 선택</a:t>
            </a:r>
          </a:p>
          <a:p xmlns:a="http://schemas.openxmlformats.org/drawingml/2006/main">
            <a:r>
              <a:t>추가 분석 선택</a:t>
            </a:r>
          </a:p>
          <a:p xmlns:a="http://schemas.openxmlformats.org/drawingml/2006/main">
            <a:r>
              <a:t>원하는 전문 Agent 선택</a:t>
            </a:r>
          </a:p>
          <a:p xmlns:a="http://schemas.openxmlformats.org/drawingml/2006/main">
            <a:r>
              <a:t>조건 변경·심화 분석</a:t>
            </a:r>
          </a:p>
          <a:p xmlns:a="http://schemas.openxmlformats.org/drawingml/2006/main">
            <a:r>
              <a:t>Agent 실행</a:t>
            </a:r>
          </a:p>
          <a:p xmlns:a="http://schemas.openxmlformats.org/drawingml/2006/main">
            <a:r>
              <a:t>선택한 분석 수행</a:t>
            </a:r>
          </a:p>
          <a:p xmlns:a="http://schemas.openxmlformats.org/drawingml/2006/main">
            <a:r>
              <a:t>결과 제공</a:t>
            </a:r>
          </a:p>
          <a:p xmlns:a="http://schemas.openxmlformats.org/drawingml/2006/main">
            <a:r>
              <a:t>분석 결과에 따라 이전 단계로 돌아가 추가 분석</a:t>
            </a:r>
          </a:p>
          <a:p xmlns:a="http://schemas.openxmlformats.org/drawingml/2006/main">
            <a:r>
              <a:t>기본 Workflow</a:t>
            </a:r>
          </a:p>
          <a:p xmlns:a="http://schemas.openxmlformats.org/drawingml/2006/main">
            <a:r>
              <a:t>사전에 정한 규칙에 따라 분석 흐름 추천</a:t>
            </a:r>
          </a:p>
          <a:p xmlns:a="http://schemas.openxmlformats.org/drawingml/2006/main">
            <a:r>
              <a:t>자유 분석</a:t>
            </a:r>
          </a:p>
          <a:p xmlns:a="http://schemas.openxmlformats.org/drawingml/2006/main">
            <a:r>
              <a:t>추천 외 다른 Agent도 활용</a:t>
            </a:r>
          </a:p>
          <a:p xmlns:a="http://schemas.openxmlformats.org/drawingml/2006/main">
            <a:r>
              <a:t>현업 전문성을 개별 Agent의 분석 Logic과 Workflow에 반영하여,</a:t>
            </a:r>
          </a:p>
          <a:p xmlns:a="http://schemas.openxmlformats.org/drawingml/2006/main">
            <a:r>
              <a:t>현장에서 활용할 수 있는 전문 분석 역량으로 구현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1/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04 / 06</a:t>
            </a:r>
          </a:p>
          <a:p xmlns:a="http://schemas.openxmlformats.org/drawingml/2006/main">
            <a:r>
              <a:t>현업 × DT 협업으로 확장한</a:t>
            </a:r>
          </a:p>
          <a:p xmlns:a="http://schemas.openxmlformats.org/drawingml/2006/main">
            <a:r>
              <a:t>Y-Agent의 분석·실행 기반</a:t>
            </a:r>
          </a:p>
          <a:p xmlns:a="http://schemas.openxmlformats.org/drawingml/2006/main">
            <a:r>
              <a:t>Legacy 연계 · BoI Wiki 하네스 기반 분석 Loop · 개발·분석 리소스 지원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Legacy 연계  ·  Y-Agent 분석을 기존 분석 환경으로 연결</a:t>
            </a:r>
          </a:p>
          <a:p xmlns:a="http://schemas.openxmlformats.org/drawingml/2006/main">
            <a:r>
              <a:t>현재 · SmartFactory 연계</a:t>
            </a:r>
          </a:p>
          <a:p xmlns:a="http://schemas.openxmlformats.org/drawingml/2006/main">
            <a:r>
              <a:t>Y-Agent</a:t>
            </a:r>
          </a:p>
          <a:p xmlns:a="http://schemas.openxmlformats.org/drawingml/2006/main">
            <a:r>
              <a:t>분석 중인 Trend</a:t>
            </a:r>
          </a:p>
          <a:p xmlns:a="http://schemas.openxmlformats.org/drawingml/2006/main">
            <a:r>
              <a:t>SmartFactory</a:t>
            </a:r>
          </a:p>
          <a:p xmlns:a="http://schemas.openxmlformats.org/drawingml/2006/main">
            <a:r>
              <a:t>동일 Trend 연계 조회</a:t>
            </a:r>
          </a:p>
          <a:p xmlns:a="http://schemas.openxmlformats.org/drawingml/2006/main">
            <a:r>
              <a:t>기존 분석 도구와 연결하여 연계 분석 지원</a:t>
            </a:r>
          </a:p>
          <a:p xmlns:a="http://schemas.openxmlformats.org/drawingml/2006/main">
            <a:r>
              <a:t>향후 · 확장 계획</a:t>
            </a:r>
          </a:p>
          <a:p xmlns:a="http://schemas.openxmlformats.org/drawingml/2006/main">
            <a:r>
              <a:t>Legacy Action 연계</a:t>
            </a:r>
          </a:p>
          <a:p xmlns:a="http://schemas.openxmlformats.org/drawingml/2006/main">
            <a:r>
              <a:t>조회 중심의 연결을 넘어</a:t>
            </a:r>
          </a:p>
          <a:p xmlns:a="http://schemas.openxmlformats.org/drawingml/2006/main">
            <a:r>
              <a:t>기존 시스템에 액션을 수행하는</a:t>
            </a:r>
          </a:p>
          <a:p xmlns:a="http://schemas.openxmlformats.org/drawingml/2006/main">
            <a:r>
              <a:t>Agent로 확장할 계획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AI팀 협업  ·  MCP × BoI Wiki 하네스 기반 분석 Loop</a:t>
            </a:r>
          </a:p>
          <a:p xmlns:a="http://schemas.openxmlformats.org/drawingml/2006/main">
            <a:r>
              <a:t>MCP를 반복 활용하여 실제 분석보고서를 배치로 작성</a:t>
            </a:r>
          </a:p>
          <a:p xmlns:a="http://schemas.openxmlformats.org/drawingml/2006/main">
            <a:r>
              <a:t>Y-Agent MCP</a:t>
            </a:r>
          </a:p>
          <a:p xmlns:a="http://schemas.openxmlformats.org/drawingml/2006/main">
            <a:r>
              <a:t>분석 기능 제공</a:t>
            </a:r>
          </a:p>
          <a:p xmlns:a="http://schemas.openxmlformats.org/drawingml/2006/main">
            <a:r>
              <a:t>BoI Wiki 하네스</a:t>
            </a:r>
          </a:p>
          <a:p xmlns:a="http://schemas.openxmlformats.org/drawingml/2006/main">
            <a:r>
              <a:t>MCP 연결·활용</a:t>
            </a:r>
          </a:p>
          <a:p xmlns:a="http://schemas.openxmlformats.org/drawingml/2006/main">
            <a:r>
              <a:t>분석 Loop 실행</a:t>
            </a:r>
          </a:p>
          <a:p xmlns:a="http://schemas.openxmlformats.org/drawingml/2006/main">
            <a:r>
              <a:t>반복 호출·분석</a:t>
            </a:r>
          </a:p>
          <a:p xmlns:a="http://schemas.openxmlformats.org/drawingml/2006/main">
            <a:r>
              <a:t>실제 보고서 작성</a:t>
            </a:r>
          </a:p>
          <a:p xmlns:a="http://schemas.openxmlformats.org/drawingml/2006/main">
            <a:r>
              <a:t>배치 실행으로 생성</a:t>
            </a:r>
          </a:p>
          <a:p xmlns:a="http://schemas.openxmlformats.org/drawingml/2006/main">
            <a:r>
              <a:t>현재 한계</a:t>
            </a:r>
          </a:p>
          <a:p xmlns:a="http://schemas.openxmlformats.org/drawingml/2006/main">
            <a:r>
              <a:t>하네스 기반 방식을 다른 현업 엔지니어가</a:t>
            </a:r>
          </a:p>
          <a:p xmlns:a="http://schemas.openxmlformats.org/drawingml/2006/main">
            <a:r>
              <a:t>직접 활용하는 데 한계</a:t>
            </a:r>
          </a:p>
          <a:p xmlns:a="http://schemas.openxmlformats.org/drawingml/2006/main">
            <a:r>
              <a:t>향후 · Workflow 지식화</a:t>
            </a:r>
          </a:p>
          <a:p xmlns:a="http://schemas.openxmlformats.org/drawingml/2006/main">
            <a:r>
              <a:t>실제 엔지니어 Workflow를 LLM Wiki에 축적</a:t>
            </a:r>
          </a:p>
          <a:p xmlns:a="http://schemas.openxmlformats.org/drawingml/2006/main">
            <a:r>
              <a:t>배치 분석 경험을 지식화 고도화에 접목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개발·분석 리소스 지원  ·  구현·검증을 위한 실행 기반</a:t>
            </a:r>
          </a:p>
          <a:p xmlns:a="http://schemas.openxmlformats.org/drawingml/2006/main">
            <a:r>
              <a:t>Oracle</a:t>
            </a:r>
          </a:p>
          <a:p xmlns:a="http://schemas.openxmlformats.org/drawingml/2006/main">
            <a:r>
              <a:t>분석 데이터</a:t>
            </a:r>
          </a:p>
          <a:p xmlns:a="http://schemas.openxmlformats.org/drawingml/2006/main">
            <a:r>
              <a:t>저장·조회 기반</a:t>
            </a:r>
          </a:p>
          <a:p xmlns:a="http://schemas.openxmlformats.org/drawingml/2006/main">
            <a:r>
              <a:t>RAM</a:t>
            </a:r>
          </a:p>
          <a:p xmlns:a="http://schemas.openxmlformats.org/drawingml/2006/main">
            <a:r>
              <a:t>데이터 처리·분석</a:t>
            </a:r>
          </a:p>
          <a:p xmlns:a="http://schemas.openxmlformats.org/drawingml/2006/main">
            <a:r>
              <a:t>실행 메모리</a:t>
            </a:r>
          </a:p>
          <a:p xmlns:a="http://schemas.openxmlformats.org/drawingml/2006/main">
            <a:r>
              <a:t>NAS Storage</a:t>
            </a:r>
          </a:p>
          <a:p xmlns:a="http://schemas.openxmlformats.org/drawingml/2006/main">
            <a:r>
              <a:t>분석 데이터·결과</a:t>
            </a:r>
          </a:p>
          <a:p xmlns:a="http://schemas.openxmlformats.org/drawingml/2006/main">
            <a:r>
              <a:t>저장 공간</a:t>
            </a:r>
          </a:p>
          <a:p xmlns:a="http://schemas.openxmlformats.org/drawingml/2006/main">
            <a:r>
              <a:t>LLM API</a:t>
            </a:r>
          </a:p>
          <a:p xmlns:a="http://schemas.openxmlformats.org/drawingml/2006/main">
            <a:r>
              <a:t>자연어 이해·추론</a:t>
            </a:r>
          </a:p>
          <a:p xmlns:a="http://schemas.openxmlformats.org/drawingml/2006/main">
            <a:r>
              <a:t>Agent 실행 기반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기능 제안·연계 활용 중심의 협업과 확인된 변화</a:t>
            </a:r>
          </a:p>
          <a:p xmlns:a="http://schemas.openxmlformats.org/drawingml/2006/main">
            <a:r>
              <a:t>개발 과정에서 기능을 제안하고 연결해 활용하며, 함께 검증하고 개선</a:t>
            </a:r>
          </a:p>
          <a:p xmlns:a="http://schemas.openxmlformats.org/drawingml/2006/main">
            <a:r>
              <a:t>아이디어 제안</a:t>
            </a:r>
          </a:p>
          <a:p xmlns:a="http://schemas.openxmlformats.org/drawingml/2006/main">
            <a:r>
              <a:t>현업 / DT</a:t>
            </a:r>
          </a:p>
          <a:p xmlns:a="http://schemas.openxmlformats.org/drawingml/2006/main">
            <a:r>
              <a:t>설계·개발</a:t>
            </a:r>
          </a:p>
          <a:p xmlns:a="http://schemas.openxmlformats.org/drawingml/2006/main">
            <a:r>
              <a:t>공동 수행</a:t>
            </a:r>
          </a:p>
          <a:p xmlns:a="http://schemas.openxmlformats.org/drawingml/2006/main">
            <a:r>
              <a:t>테스트·검증</a:t>
            </a:r>
          </a:p>
          <a:p xmlns:a="http://schemas.openxmlformats.org/drawingml/2006/main">
            <a:r>
              <a:t>실제 데이터 활용</a:t>
            </a:r>
          </a:p>
          <a:p xmlns:a="http://schemas.openxmlformats.org/drawingml/2006/main">
            <a:r>
              <a:t>피드백·개선</a:t>
            </a:r>
          </a:p>
          <a:p xmlns:a="http://schemas.openxmlformats.org/drawingml/2006/main">
            <a:r>
              <a:t>수시 반영</a:t>
            </a:r>
          </a:p>
          <a:p xmlns:a="http://schemas.openxmlformats.org/drawingml/2006/main">
            <a:r>
              <a:t>분석 연결성 확보</a:t>
            </a:r>
          </a:p>
          <a:p xmlns:a="http://schemas.openxmlformats.org/drawingml/2006/main">
            <a:r>
              <a:t>Y-Agent와 SmartFactory</a:t>
            </a:r>
          </a:p>
          <a:p xmlns:a="http://schemas.openxmlformats.org/drawingml/2006/main">
            <a:r>
              <a:t>바로 연계 조회</a:t>
            </a:r>
          </a:p>
          <a:p xmlns:a="http://schemas.openxmlformats.org/drawingml/2006/main">
            <a:r>
              <a:t>실행 방식 확장</a:t>
            </a:r>
          </a:p>
          <a:p xmlns:a="http://schemas.openxmlformats.org/drawingml/2006/main">
            <a:r>
              <a:t>대화형 분석에서</a:t>
            </a:r>
          </a:p>
          <a:p xmlns:a="http://schemas.openxmlformats.org/drawingml/2006/main">
            <a:r>
              <a:t>배치 보고서 작성으로</a:t>
            </a:r>
          </a:p>
          <a:p xmlns:a="http://schemas.openxmlformats.org/drawingml/2006/main">
            <a:r>
              <a:t>고도화 방향 구체화</a:t>
            </a:r>
          </a:p>
          <a:p xmlns:a="http://schemas.openxmlformats.org/drawingml/2006/main">
            <a:r>
              <a:t>하네스 활용 경험을 바탕으로</a:t>
            </a:r>
          </a:p>
          <a:p xmlns:a="http://schemas.openxmlformats.org/drawingml/2006/main">
            <a:r>
              <a:t>사용자 Workflow 지식화 추진</a:t>
            </a:r>
          </a:p>
          <a:p xmlns:a="http://schemas.openxmlformats.org/drawingml/2006/main">
            <a:r>
              <a:t>현업 지식에 DT의 연계·실행 역량을 결합하여,</a:t>
            </a:r>
          </a:p>
          <a:p xmlns:a="http://schemas.openxmlformats.org/drawingml/2006/main">
            <a:r>
              <a:t>Legacy 연계와 배치 분석을 구현하고 지식화 확장의 기반을 마련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1/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05 / 06</a:t>
            </a:r>
          </a:p>
          <a:p xmlns:a="http://schemas.openxmlformats.org/drawingml/2006/main">
            <a:r>
              <a:t>실제 수율 이슈를 검증하고,</a:t>
            </a:r>
          </a:p>
          <a:p xmlns:a="http://schemas.openxmlformats.org/drawingml/2006/main">
            <a:r>
              <a:t>현업 Co-pilot으로 적용</a:t>
            </a:r>
          </a:p>
          <a:p xmlns:a="http://schemas.openxmlformats.org/drawingml/2006/main">
            <a:r>
              <a:t>수율팀과의 Daily 협업 · 81개 개선 과제 · 현업 엔지니어 직접 사용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실제 수율 이슈 검증  ·  7건 중 5건 검출</a:t>
            </a:r>
          </a:p>
          <a:p xmlns:a="http://schemas.openxmlformats.org/drawingml/2006/main">
            <a:r>
              <a:t>검증 대상</a:t>
            </a:r>
          </a:p>
          <a:p xmlns:a="http://schemas.openxmlformats.org/drawingml/2006/main">
            <a:r>
              <a:t>7건</a:t>
            </a:r>
          </a:p>
          <a:p xmlns:a="http://schemas.openxmlformats.org/drawingml/2006/main">
            <a:r>
              <a:t>실제 수율 이슈</a:t>
            </a:r>
          </a:p>
          <a:p xmlns:a="http://schemas.openxmlformats.org/drawingml/2006/main">
            <a:r>
              <a:t>검출 사례</a:t>
            </a:r>
          </a:p>
          <a:p xmlns:a="http://schemas.openxmlformats.org/drawingml/2006/main">
            <a:r>
              <a:t>5건</a:t>
            </a:r>
          </a:p>
          <a:p xmlns:a="http://schemas.openxmlformats.org/drawingml/2006/main">
            <a:r>
              <a:t>Y-Agent 분석으로 검출</a:t>
            </a:r>
          </a:p>
          <a:p xmlns:a="http://schemas.openxmlformats.org/drawingml/2006/main">
            <a:r>
              <a:t>미구현 분석 방법 필요</a:t>
            </a:r>
          </a:p>
          <a:p xmlns:a="http://schemas.openxmlformats.org/drawingml/2006/main">
            <a:r>
              <a:t>2건</a:t>
            </a:r>
          </a:p>
          <a:p xmlns:a="http://schemas.openxmlformats.org/drawingml/2006/main">
            <a:r>
              <a:t>해당 분석 방법 구현 필요</a:t>
            </a:r>
          </a:p>
          <a:p xmlns:a="http://schemas.openxmlformats.org/drawingml/2006/main">
            <a:r>
              <a:t>※ 2건은 현재 미구현된 분석 방법으로 검출 가능한 사례</a:t>
            </a:r>
          </a:p>
          <a:p xmlns:a="http://schemas.openxmlformats.org/drawingml/2006/main">
            <a:r>
              <a:t>수율팀 Daily 회의와 엔지니어 직접 사용을 통해 분석 결과의 타당성 확인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대표 검출 사례  ·  이슈부터 후속 조치까지</a:t>
            </a:r>
          </a:p>
          <a:p xmlns:a="http://schemas.openxmlformats.org/drawingml/2006/main">
            <a:r>
              <a:t>① 수율 이슈</a:t>
            </a:r>
          </a:p>
          <a:p xmlns:a="http://schemas.openxmlformats.org/drawingml/2006/main">
            <a:r>
              <a:t>제품·공정 / 문제 현상</a:t>
            </a:r>
          </a:p>
          <a:p xmlns:a="http://schemas.openxmlformats.org/drawingml/2006/main">
            <a:r>
              <a:t>이슈 개요·Trend</a:t>
            </a:r>
          </a:p>
          <a:p xmlns:a="http://schemas.openxmlformats.org/drawingml/2006/main">
            <a:r>
              <a:t>내용 / 이미지 입력</a:t>
            </a:r>
          </a:p>
          <a:p xmlns:a="http://schemas.openxmlformats.org/drawingml/2006/main">
            <a:r>
              <a:t>② Y-Agent 분석</a:t>
            </a:r>
          </a:p>
          <a:p xmlns:a="http://schemas.openxmlformats.org/drawingml/2006/main">
            <a:r>
              <a:t>활용 Agent / 검출 결과</a:t>
            </a:r>
          </a:p>
          <a:p xmlns:a="http://schemas.openxmlformats.org/drawingml/2006/main">
            <a:r>
              <a:t>검출 결과</a:t>
            </a:r>
          </a:p>
          <a:p xmlns:a="http://schemas.openxmlformats.org/drawingml/2006/main">
            <a:r>
              <a:t>내용 / 이미지 입력</a:t>
            </a:r>
          </a:p>
          <a:p xmlns:a="http://schemas.openxmlformats.org/drawingml/2006/main">
            <a:r>
              <a:t>③ 엔지니어 검증</a:t>
            </a:r>
          </a:p>
          <a:p xmlns:a="http://schemas.openxmlformats.org/drawingml/2006/main">
            <a:r>
              <a:t>확인 근거 / 판단 내용</a:t>
            </a:r>
          </a:p>
          <a:p xmlns:a="http://schemas.openxmlformats.org/drawingml/2006/main">
            <a:r>
              <a:t>검증 내용</a:t>
            </a:r>
          </a:p>
          <a:p xmlns:a="http://schemas.openxmlformats.org/drawingml/2006/main">
            <a:r>
              <a:t>내용 / 이미지 입력</a:t>
            </a:r>
          </a:p>
          <a:p xmlns:a="http://schemas.openxmlformats.org/drawingml/2006/main">
            <a:r>
              <a:t>④ 후속 조치</a:t>
            </a:r>
          </a:p>
          <a:p xmlns:a="http://schemas.openxmlformats.org/drawingml/2006/main">
            <a:r>
              <a:t>조치 내용 / 현재 상태</a:t>
            </a:r>
          </a:p>
          <a:p xmlns:a="http://schemas.openxmlformats.org/drawingml/2006/main">
            <a:r>
              <a:t>후속 업무·조치</a:t>
            </a:r>
          </a:p>
          <a:p xmlns:a="http://schemas.openxmlformats.org/drawingml/2006/main">
            <a:r>
              <a:t>내용 / 이미지 입력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현업 피드백 기반 고도화  ·  81개 Action Item 도출</a:t>
            </a:r>
          </a:p>
          <a:p xmlns:a="http://schemas.openxmlformats.org/drawingml/2006/main">
            <a:r>
              <a:t>현업 요구 기반 개선 과제</a:t>
            </a:r>
          </a:p>
          <a:p xmlns:a="http://schemas.openxmlformats.org/drawingml/2006/main">
            <a:r>
              <a:t>81건</a:t>
            </a:r>
          </a:p>
          <a:p xmlns:a="http://schemas.openxmlformats.org/drawingml/2006/main">
            <a:r>
              <a:t>필요한 기능과 개선 요구를</a:t>
            </a:r>
          </a:p>
          <a:p xmlns:a="http://schemas.openxmlformats.org/drawingml/2006/main">
            <a:r>
              <a:t>도출하여 Y-Agent</a:t>
            </a:r>
          </a:p>
          <a:p xmlns:a="http://schemas.openxmlformats.org/drawingml/2006/main">
            <a:r>
              <a:t>고도화에 반영</a:t>
            </a:r>
          </a:p>
          <a:p xmlns:a="http://schemas.openxmlformats.org/drawingml/2006/main">
            <a:r>
              <a:t>진행 현황 직접 입력</a:t>
            </a:r>
          </a:p>
          <a:p xmlns:a="http://schemas.openxmlformats.org/drawingml/2006/main">
            <a:r>
              <a:t>완료 [  ]건 · 진행 [  ]건</a:t>
            </a:r>
          </a:p>
          <a:p xmlns:a="http://schemas.openxmlformats.org/drawingml/2006/main">
            <a:r>
              <a:t>기타 [  ]건</a:t>
            </a:r>
          </a:p>
          <a:p xmlns:a="http://schemas.openxmlformats.org/drawingml/2006/main">
            <a:r>
              <a:t>Daily 회의</a:t>
            </a:r>
          </a:p>
          <a:p xmlns:a="http://schemas.openxmlformats.org/drawingml/2006/main">
            <a:r>
              <a:t>요구사항 도출</a:t>
            </a:r>
          </a:p>
          <a:p xmlns:a="http://schemas.openxmlformats.org/drawingml/2006/main">
            <a:r>
              <a:t>기능·분석 개선</a:t>
            </a:r>
          </a:p>
          <a:p xmlns:a="http://schemas.openxmlformats.org/drawingml/2006/main">
            <a:r>
              <a:t>현업 검증</a:t>
            </a:r>
          </a:p>
          <a:p xmlns:a="http://schemas.openxmlformats.org/drawingml/2006/main">
            <a:r>
              <a:t>주요 개선 사례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현업 Co-pilot 적용  ·  일부 수율팀 엔지니어 직접 사용</a:t>
            </a:r>
          </a:p>
          <a:p xmlns:a="http://schemas.openxmlformats.org/drawingml/2006/main">
            <a:r>
              <a:t>현업 직접 사용</a:t>
            </a:r>
          </a:p>
          <a:p xmlns:a="http://schemas.openxmlformats.org/drawingml/2006/main">
            <a:r>
              <a:t>일부 수율팀 엔지니어가</a:t>
            </a:r>
          </a:p>
          <a:p xmlns:a="http://schemas.openxmlformats.org/drawingml/2006/main">
            <a:r>
              <a:t>Y-Agent를 직접 실행하며 활용</a:t>
            </a:r>
          </a:p>
          <a:p xmlns:a="http://schemas.openxmlformats.org/drawingml/2006/main">
            <a:r>
              <a:t>실제 수율 점검</a:t>
            </a:r>
          </a:p>
          <a:p xmlns:a="http://schemas.openxmlformats.org/drawingml/2006/main">
            <a:r>
              <a:t>실제 수율을 점검하고</a:t>
            </a:r>
          </a:p>
          <a:p xmlns:a="http://schemas.openxmlformats.org/drawingml/2006/main">
            <a:r>
              <a:t>관련 이슈 분석에 사용</a:t>
            </a:r>
          </a:p>
          <a:p xmlns:a="http://schemas.openxmlformats.org/drawingml/2006/main">
            <a:r>
              <a:t>분석 업무 지원</a:t>
            </a:r>
          </a:p>
          <a:p xmlns:a="http://schemas.openxmlformats.org/drawingml/2006/main">
            <a:r>
              <a:t>분석 결과의 타당성을 확인하고</a:t>
            </a:r>
          </a:p>
          <a:p xmlns:a="http://schemas.openxmlformats.org/drawingml/2006/main">
            <a:r>
              <a:t>수율 분석 업무에 활용</a:t>
            </a:r>
          </a:p>
          <a:p xmlns:a="http://schemas.openxmlformats.org/drawingml/2006/main">
            <a:r>
              <a:t>현업이 직접 사용하며 분석 역량을 검증·고도화하는</a:t>
            </a:r>
          </a:p>
          <a:p xmlns:a="http://schemas.openxmlformats.org/drawingml/2006/main">
            <a:r>
              <a:t>수율 분석 Co-pilot으로 적용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현업 요청·불편</a:t>
            </a:r>
          </a:p>
          <a:p xmlns:a="http://schemas.openxmlformats.org/drawingml/2006/main">
            <a:r>
              <a:t>개선·반영 내용</a:t>
            </a:r>
          </a:p>
          <a:p xmlns:a="http://schemas.openxmlformats.org/drawingml/2006/main">
            <a:r>
              <a:t>적용 결과·상태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  <a:p xmlns:a="http://schemas.openxmlformats.org/drawingml/2006/main">
            <a:r>
              <a:t>[내용 입력]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1/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 hynix</a:t>
            </a:r>
          </a:p>
          <a:p xmlns:a="http://schemas.openxmlformats.org/drawingml/2006/main">
            <a:r>
              <a:t>공적 사례상세</a:t>
            </a:r>
          </a:p>
          <a:p xmlns:a="http://schemas.openxmlformats.org/drawingml/2006/main">
            <a:r>
              <a:t>06 / 06</a:t>
            </a:r>
          </a:p>
          <a:p xmlns:a="http://schemas.openxmlformats.org/drawingml/2006/main">
            <a:r>
              <a:t>조직 지식화와</a:t>
            </a:r>
          </a:p>
          <a:p xmlns:a="http://schemas.openxmlformats.org/drawingml/2006/main">
            <a:r>
              <a:t>Autonomous Agent로의 발전</a:t>
            </a:r>
          </a:p>
          <a:p xmlns:a="http://schemas.openxmlformats.org/drawingml/2006/main">
            <a:r>
              <a:t>현업에서 만들어가는 분석 경험을 조직의 자산으로 축적하고 수율 혁신으로 확장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분석 Workflow 지식화  ·  LLM Wiki로 경험 축적·재사용</a:t>
            </a:r>
          </a:p>
          <a:p xmlns:a="http://schemas.openxmlformats.org/drawingml/2006/main">
            <a:r>
              <a:t>분석 경험 수집</a:t>
            </a:r>
          </a:p>
          <a:p xmlns:a="http://schemas.openxmlformats.org/drawingml/2006/main">
            <a:r>
              <a:t>분석 대상 Fail·Agent 시퀀스</a:t>
            </a:r>
          </a:p>
          <a:p xmlns:a="http://schemas.openxmlformats.org/drawingml/2006/main">
            <a:r>
              <a:t>분석 조건·주요 결과</a:t>
            </a:r>
          </a:p>
          <a:p xmlns:a="http://schemas.openxmlformats.org/drawingml/2006/main">
            <a:r>
              <a:t>판단 포인트·Action·CumMap</a:t>
            </a:r>
          </a:p>
          <a:p xmlns:a="http://schemas.openxmlformats.org/drawingml/2006/main">
            <a:r>
              <a:t>LLM Wiki 등록</a:t>
            </a:r>
          </a:p>
          <a:p xmlns:a="http://schemas.openxmlformats.org/drawingml/2006/main">
            <a:r>
              <a:t>구조화된 형태로 저장</a:t>
            </a:r>
          </a:p>
          <a:p xmlns:a="http://schemas.openxmlformats.org/drawingml/2006/main">
            <a:r>
              <a:t>유사 사례 태깅·키워드 검색</a:t>
            </a:r>
          </a:p>
          <a:p xmlns:a="http://schemas.openxmlformats.org/drawingml/2006/main">
            <a:r>
              <a:t>Wafer CumMap 함께 저장</a:t>
            </a:r>
          </a:p>
          <a:p xmlns:a="http://schemas.openxmlformats.org/drawingml/2006/main">
            <a:r>
              <a:t>지식 재사용</a:t>
            </a:r>
          </a:p>
          <a:p xmlns:a="http://schemas.openxmlformats.org/drawingml/2006/main">
            <a:r>
              <a:t>유사 Fail 분석 시</a:t>
            </a:r>
          </a:p>
          <a:p xmlns:a="http://schemas.openxmlformats.org/drawingml/2006/main">
            <a:r>
              <a:t>검증된 Workflow 추천</a:t>
            </a:r>
          </a:p>
          <a:p xmlns:a="http://schemas.openxmlformats.org/drawingml/2006/main">
            <a:r>
              <a:t>과거 결과·Action 확인</a:t>
            </a:r>
          </a:p>
          <a:p xmlns:a="http://schemas.openxmlformats.org/drawingml/2006/main">
            <a:r>
              <a:t>분석 순서와 판단·조치 이력까지 기록하여 조직이 다시 활용할 수 있는 지식으로 축적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현재와 앞으로의 변화  ·  보고서 출력에서 Workflow 지식화로</a:t>
            </a:r>
          </a:p>
          <a:p xmlns:a="http://schemas.openxmlformats.org/drawingml/2006/main">
            <a:r>
              <a:t>현재  ·  BoI Wiki 하네스</a:t>
            </a:r>
          </a:p>
          <a:p xmlns:a="http://schemas.openxmlformats.org/drawingml/2006/main">
            <a:r>
              <a:t>정해진 형식의 보고서 출력 / 특정 분석에 활용</a:t>
            </a:r>
          </a:p>
          <a:p xmlns:a="http://schemas.openxmlformats.org/drawingml/2006/main">
            <a:r>
              <a:t>다른 엔지니어의 분석 과정과 경험 확인에 한계</a:t>
            </a:r>
          </a:p>
          <a:p xmlns:a="http://schemas.openxmlformats.org/drawingml/2006/main">
            <a:r>
              <a:t>향후  ·  Workflow 지식화</a:t>
            </a:r>
          </a:p>
          <a:p xmlns:a="http://schemas.openxmlformats.org/drawingml/2006/main">
            <a:r>
              <a:t>분석 시퀀스와 액션 사항을 함께 축적</a:t>
            </a:r>
          </a:p>
          <a:p xmlns:a="http://schemas.openxmlformats.org/drawingml/2006/main">
            <a:r>
              <a:t>유사 사례 검색·재사용이 가능한 조직의 분석 자산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지식 기반 Autonomous Agent로의 발전</a:t>
            </a:r>
          </a:p>
          <a:p xmlns:a="http://schemas.openxmlformats.org/drawingml/2006/main">
            <a:r>
              <a:t>현재 · 규칙 기반 추천</a:t>
            </a:r>
          </a:p>
          <a:p xmlns:a="http://schemas.openxmlformats.org/drawingml/2006/main">
            <a:r>
              <a:t>엔지니어가 분석 대상과 Agent 선택</a:t>
            </a:r>
          </a:p>
          <a:p xmlns:a="http://schemas.openxmlformats.org/drawingml/2006/main">
            <a:r>
              <a:t>기본 Workflow 및 자유 분석 활용</a:t>
            </a:r>
          </a:p>
          <a:p xmlns:a="http://schemas.openxmlformats.org/drawingml/2006/main">
            <a:r>
              <a:t>지식 기반 단계</a:t>
            </a:r>
          </a:p>
          <a:p xmlns:a="http://schemas.openxmlformats.org/drawingml/2006/main">
            <a:r>
              <a:t>유사 과거 사례 검색</a:t>
            </a:r>
          </a:p>
          <a:p xmlns:a="http://schemas.openxmlformats.org/drawingml/2006/main">
            <a:r>
              <a:t>분석 방법과 액션 제안</a:t>
            </a:r>
          </a:p>
          <a:p xmlns:a="http://schemas.openxmlformats.org/drawingml/2006/main">
            <a:r>
              <a:t>자율 분석 단계</a:t>
            </a:r>
          </a:p>
          <a:p xmlns:a="http://schemas.openxmlformats.org/drawingml/2006/main">
            <a:r>
              <a:t>Fail 열화 감지부터 분석 수행</a:t>
            </a:r>
          </a:p>
          <a:p xmlns:a="http://schemas.openxmlformats.org/drawingml/2006/main">
            <a:r>
              <a:t>결과 해석 및 액션 추천까지</a:t>
            </a:r>
          </a:p>
          <a:p xmlns:a="http://schemas.openxmlformats.org/drawingml/2006/main">
            <a:r>
              <a:t>축적된 지식을 바탕으로 분석·추천의 자율성 확대  ·  필요한 시점에는 엔지니어 판단 결합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확산 전략  ·  그룹 내 적용을 시작으로 전사 확산</a:t>
            </a:r>
          </a:p>
          <a:p xmlns:a="http://schemas.openxmlformats.org/drawingml/2006/main">
            <a:r>
              <a:t>그룹 내 우선 적용</a:t>
            </a:r>
          </a:p>
          <a:p xmlns:a="http://schemas.openxmlformats.org/drawingml/2006/main">
            <a:r>
              <a:t>수율팀 사용자 확대·피드백 반영</a:t>
            </a:r>
          </a:p>
          <a:p xmlns:a="http://schemas.openxmlformats.org/drawingml/2006/main">
            <a:r>
              <a:t>다른 제품군으로 적용 범위 확대</a:t>
            </a:r>
          </a:p>
          <a:p xmlns:a="http://schemas.openxmlformats.org/drawingml/2006/main">
            <a:r>
              <a:t>사내 MCP Market 등록</a:t>
            </a:r>
          </a:p>
          <a:p xmlns:a="http://schemas.openxmlformats.org/drawingml/2006/main">
            <a:r>
              <a:t>핵심 분석 기능을 MCP로 표준화</a:t>
            </a:r>
          </a:p>
          <a:p xmlns:a="http://schemas.openxmlformats.org/drawingml/2006/main">
            <a:r>
              <a:t>다른 사내 Agent에서도 호출</a:t>
            </a:r>
          </a:p>
          <a:p xmlns:a="http://schemas.openxmlformats.org/drawingml/2006/main">
            <a:r>
              <a:t>전사 확산</a:t>
            </a:r>
          </a:p>
          <a:p xmlns:a="http://schemas.openxmlformats.org/drawingml/2006/main">
            <a:r>
              <a:t>수율·PI·개발 조직과 연계</a:t>
            </a:r>
          </a:p>
          <a:p xmlns:a="http://schemas.openxmlformats.org/drawingml/2006/main">
            <a:r>
              <a:t>다양한 사내 업무에 활용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향후 추진 계획과 조직에 남길 변화</a:t>
            </a:r>
          </a:p>
          <a:p xmlns:a="http://schemas.openxmlformats.org/drawingml/2006/main">
            <a:r>
              <a:t>단기 · 현업 적용</a:t>
            </a:r>
          </a:p>
          <a:p xmlns:a="http://schemas.openxmlformats.org/drawingml/2006/main">
            <a:r>
              <a:t>사용자 확대·미구현 분석 추가</a:t>
            </a:r>
          </a:p>
          <a:p xmlns:a="http://schemas.openxmlformats.org/drawingml/2006/main">
            <a:r>
              <a:t>중기 · 지식화·고도화</a:t>
            </a:r>
          </a:p>
          <a:p xmlns:a="http://schemas.openxmlformats.org/drawingml/2006/main">
            <a:r>
              <a:t>Workflow 축적·분석 추천 고도화</a:t>
            </a:r>
          </a:p>
          <a:p xmlns:a="http://schemas.openxmlformats.org/drawingml/2006/main">
            <a:r>
              <a:t>장기 · 전사 확산</a:t>
            </a:r>
          </a:p>
          <a:p xmlns:a="http://schemas.openxmlformats.org/drawingml/2006/main">
            <a:r>
              <a:t>MCP Market 등록·조직 연계 강화</a:t>
            </a:r>
          </a:p>
          <a:p xmlns:a="http://schemas.openxmlformats.org/drawingml/2006/main">
            <a:r>
              <a:t>전문 분석 접근성 확대  ·  숙련 지식 전수  ·  분석 표준화·효율화  ·  지속적인 도메인 내재화</a:t>
            </a:r>
          </a:p>
          <a:p xmlns:a="http://schemas.openxmlformats.org/drawingml/2006/main">
            <a:r>
              <a:t>다음 단계 기준   전 제품 Co-pilot의 실질적 도움 / Workflow 지속 축적 / 지식 활용 분석 성공 사례 증가</a:t>
            </a:r>
          </a:p>
          <a:p xmlns:a="http://schemas.openxmlformats.org/drawingml/2006/main">
            <a:r>
              <a:t>숙련자의 지식을 Agent에 담고, 현업에서 새롭게 만들어지는 경험까지</a:t>
            </a:r>
          </a:p>
          <a:p xmlns:a="http://schemas.openxmlformats.org/drawingml/2006/main">
            <a:r>
              <a:t>조직의 분석 역량으로 축적하여 수율 분석의 패러다임을 확장</a:t>
            </a:r>
          </a:p>
          <a:p xmlns:a="http://schemas.openxmlformats.org/drawingml/2006/main">
            <a:r>
              <a:t>Y-Agent · 수율분석 혁신</a:t>
            </a:r>
          </a:p>
          <a:p xmlns:a="http://schemas.openxmlformats.org/drawingml/2006/main">
            <a:r>
              <a:t>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1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import1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ffb4e4abd64add"/>
  </p:sldMasterIdLst>
  <p:notesMasterIdLst>
    <p:notesMasterId xmlns:r="http://schemas.openxmlformats.org/officeDocument/2006/relationships" r:id="R21b819fc6cd144a7"/>
  </p:notesMasterIdLst>
  <p:sldIdLst>
    <p:sldId xmlns:r="http://schemas.openxmlformats.org/officeDocument/2006/relationships" id="256" r:id="R454c7f907f734788"/>
    <p:sldId xmlns:r="http://schemas.openxmlformats.org/officeDocument/2006/relationships" id="257" r:id="R7f8e2c278a9b4dd6"/>
    <p:sldId xmlns:r="http://schemas.openxmlformats.org/officeDocument/2006/relationships" id="258" r:id="Rd211bc43e05e44f8"/>
    <p:sldId xmlns:r="http://schemas.openxmlformats.org/officeDocument/2006/relationships" id="259" r:id="R2c2e5a6b73ed48cd"/>
    <p:sldId xmlns:r="http://schemas.openxmlformats.org/officeDocument/2006/relationships" id="260" r:id="R9099372517f14a7a"/>
    <p:sldId xmlns:r="http://schemas.openxmlformats.org/officeDocument/2006/relationships" id="261" r:id="Ra632314fcf684695"/>
  </p:sldIdLst>
  <p:sldSz cx="10039350" cy="14211300"/>
  <p:notesSz cx="6858000" cy="9144000"/>
</p:presentation>
</file>

<file path=import1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import1/ppt/slideMasters/slideMaster1.xml" Id="Rbcf81a984ee74ad5"/></Relationships>
</file>

<file path=import1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import1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import1/ppt/slideMasters/theme/theme2.xml" Id="R54861112cfed47c9"/><Relationship Type="http://schemas.openxmlformats.org/officeDocument/2006/relationships/slideLayout" Target="/import1/ppt/slideLayouts/slideLayout1.xml" Id="Ree4123f055484701"/></Relationships>
</file>

<file path=import1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123f05548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import1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import1/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import1/ppt/slideLayouts/slideLayout1.xml" Id="R054d270ef4714ff4"/><Relationship Type="http://schemas.openxmlformats.org/officeDocument/2006/relationships/image" Target="/import1/ppt/media/image.png" Id="R253810323da747a0"/><Relationship Type="http://schemas.openxmlformats.org/officeDocument/2006/relationships/notesSlide" Target="/import1/ppt/notesSlides/notesSlide1.xml" Id="R50733343be904d5c"/></Relationships>
</file>

<file path=import1/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import1/ppt/slideLayouts/slideLayout1.xml" Id="Rcb7fad65c62f4703"/><Relationship Type="http://schemas.openxmlformats.org/officeDocument/2006/relationships/image" Target="/import1/ppt/media/image2.png" Id="R712a70f9ec7d4192"/><Relationship Type="http://schemas.openxmlformats.org/officeDocument/2006/relationships/notesSlide" Target="/import1/ppt/notesSlides/notesSlide2.xml" Id="Rd8c2a8c341884ad4"/></Relationships>
</file>

<file path=import1/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import1/ppt/slideLayouts/slideLayout1.xml" Id="R81b5a9af93774c51"/><Relationship Type="http://schemas.openxmlformats.org/officeDocument/2006/relationships/image" Target="/import1/ppt/media/image3.png" Id="R07330016ffde4e1b"/><Relationship Type="http://schemas.openxmlformats.org/officeDocument/2006/relationships/notesSlide" Target="/import1/ppt/notesSlides/notesSlide3.xml" Id="R864add16699a46bf"/></Relationships>
</file>

<file path=import1/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import1/ppt/slideLayouts/slideLayout1.xml" Id="R187dcc18f3ba437d"/><Relationship Type="http://schemas.openxmlformats.org/officeDocument/2006/relationships/notesSlide" Target="/import1/ppt/notesSlides/notesSlide4.xml" Id="R00558d8b5dbd4e8c"/></Relationships>
</file>

<file path=import1/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import1/ppt/slideLayouts/slideLayout1.xml" Id="R0c03fcdea1f249b2"/><Relationship Type="http://schemas.openxmlformats.org/officeDocument/2006/relationships/chart" Target="/import1/ppt/slides/charts/chart1.xml" Id="Rd327ee4d197f4778"/><Relationship Type="http://schemas.openxmlformats.org/officeDocument/2006/relationships/notesSlide" Target="/import1/ppt/notesSlides/notesSlide5.xml" Id="R94face60234d46ae"/></Relationships>
</file>

<file path=import1/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import1/ppt/slideLayouts/slideLayout1.xml" Id="Rafdcedd793f448e6"/><Relationship Type="http://schemas.openxmlformats.org/officeDocument/2006/relationships/image" Target="/import1/ppt/media/image4.png" Id="R3920530881094aae"/><Relationship Type="http://schemas.openxmlformats.org/officeDocument/2006/relationships/notesSlide" Target="/import1/ppt/notesSlides/notesSlide6.xml" Id="R22ba075411724344"/></Relationships>
</file>

<file path=import1/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import1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실제 수율 이슈</c:v>
          </c:tx>
          <c:dPt>
            <c:idx val="0"/>
            <c:spPr>
              <a:solidFill xmlns:a="http://schemas.openxmlformats.org/drawingml/2006/main">
                <a:srgbClr val="57778C"/>
              </a:solidFill>
            </c:spPr>
          </c:dPt>
          <c:dPt>
            <c:idx val="1"/>
            <c:spPr>
              <a:solidFill xmlns:a="http://schemas.openxmlformats.org/drawingml/2006/main">
                <a:srgbClr val="E5ECF1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검출</c:v>
                </c:pt>
                <c:pt idx="1">
                  <c:v>미검출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4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import1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99999" name="Original slide content"/>
          <p:cNvGrpSpPr/>
          <p:nvPr/>
        </p:nvGrpSpPr>
        <p:grpSpPr>
          <ns0:xfrm xmlns:ns0="http://schemas.openxmlformats.org/drawingml/2006/main">
            <ns0:off x="3211" y="0"/>
            <ns0:ext cx="7556428" cy="10696575"/>
            <ns0:chOff x="0" y="0"/>
            <ns0:chExt cx="10039350" cy="14211300"/>
          </ns0:xfrm>
        </p:grpSpPr>
        <p:grpSp>
          <p:nvGrpSpPr>
            <p:cNvPr id="10000" name="제목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101" name="header__1">
                <a:extLst xmlns:a="http://schemas.openxmlformats.org/drawingml/2006/main">
                  <a:ext uri="{FF2B5EF4-FFF2-40B4-BE49-F238E27FC236}">
                    <a16:creationId xmlns:a16="http://schemas.microsoft.com/office/drawing/2014/main" id="{20297A04-1EE4-41D2-91C9-844A244D640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71450"/>
                <a:ext cx="11334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SK hynix</a:t>
                </a:r>
              </a:p>
            </p:txBody>
          </p:sp>
          <p:sp>
            <p:nvSpPr>
              <p:cNvPr id="2" name="header__2">
                <a:extLst xmlns:a="http://schemas.openxmlformats.org/drawingml/2006/main">
                  <a:ext uri="{FF2B5EF4-FFF2-40B4-BE49-F238E27FC236}">
                    <a16:creationId xmlns:a16="http://schemas.microsoft.com/office/drawing/2014/main" id="{4D93D0F7-6FE4-4DAB-9634-FB7AEBAD7E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00200" y="171450"/>
                <a:ext cx="47625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공적 사례상세</a:t>
                </a:r>
              </a:p>
            </p:txBody>
          </p:sp>
          <p:sp>
            <p:nvSpPr>
              <p:cNvPr id="3" name="header__3">
                <a:extLst xmlns:a="http://schemas.openxmlformats.org/drawingml/2006/main">
                  <a:ext uri="{FF2B5EF4-FFF2-40B4-BE49-F238E27FC236}">
                    <a16:creationId xmlns:a16="http://schemas.microsoft.com/office/drawing/2014/main" id="{F50CB6F5-A7CE-4861-BE0C-17A4D9521D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772525" y="171450"/>
                <a:ext cx="8667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01 / 06</a:t>
                </a:r>
              </a:p>
            </p:txBody>
          </p:sp>
          <p:sp>
            <p:nvSpPr>
              <p:cNvPr id="4" name="header__4">
                <a:extLst xmlns:a="http://schemas.openxmlformats.org/drawingml/2006/main">
                  <a:ext uri="{FF2B5EF4-FFF2-40B4-BE49-F238E27FC236}">
                    <a16:creationId xmlns:a16="http://schemas.microsoft.com/office/drawing/2014/main" id="{4EA0C1CD-E983-451C-B0E0-A046539C202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1950" y="533400"/>
                <a:ext cx="931545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5" name="header__5">
                <a:extLst xmlns:a="http://schemas.openxmlformats.org/drawingml/2006/main">
                  <a:ext uri="{FF2B5EF4-FFF2-40B4-BE49-F238E27FC236}">
                    <a16:creationId xmlns:a16="http://schemas.microsoft.com/office/drawing/2014/main" id="{2EAF928F-B5B7-479A-BD40-7534E3F182E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742950"/>
                <a:ext cx="9286875" cy="1038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285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85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숙련자의 전문성을 조직의 분석 역량으로</a:t>
                </a:r>
              </a:p>
              <a:p xmlns:a="http://schemas.openxmlformats.org/drawingml/2006/main">
                <a:pPr algn="l">
                  <a:defRPr sz="285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85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Y-Agent 기반 수율 분석 혁신</a:t>
                </a:r>
              </a:p>
            </p:txBody>
          </p:sp>
          <p:sp>
            <p:nvSpPr>
              <p:cNvPr id="6" name="header__6">
                <a:extLst xmlns:a="http://schemas.openxmlformats.org/drawingml/2006/main">
                  <a:ext uri="{FF2B5EF4-FFF2-40B4-BE49-F238E27FC236}">
                    <a16:creationId xmlns:a16="http://schemas.microsoft.com/office/drawing/2014/main" id="{939A611E-41F5-4C78-90C2-AA36EE470C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81000" y="1866900"/>
                <a:ext cx="92392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SUPEX 추구·패기  ·  전문성의 조직적 확산과 전사 수율 제고 기반 마련</a:t>
                </a:r>
              </a:p>
            </p:txBody>
          </p:sp>
        </p:grpSp>
        <p:grpSp>
          <p:nvGrpSpPr>
            <p:cNvPr id="10001" name="1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7" name="section01__7">
                <a:extLst xmlns:a="http://schemas.openxmlformats.org/drawingml/2006/main">
                  <a:ext uri="{FF2B5EF4-FFF2-40B4-BE49-F238E27FC236}">
                    <a16:creationId xmlns:a16="http://schemas.microsoft.com/office/drawing/2014/main" id="{5763A941-D086-4C64-AE80-11B7B408EF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2400300"/>
                <a:ext cx="9601200" cy="2124075"/>
              </a:xfrm>
              <a:prstGeom xmlns:a="http://schemas.openxmlformats.org/drawingml/2006/main" prst="roundRect">
                <a:avLst>
                  <a:gd name="adj" fmla="val 3587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" name="section01__8">
                <a:extLst xmlns:a="http://schemas.openxmlformats.org/drawingml/2006/main">
                  <a:ext uri="{FF2B5EF4-FFF2-40B4-BE49-F238E27FC236}">
                    <a16:creationId xmlns:a16="http://schemas.microsoft.com/office/drawing/2014/main" id="{53354A7B-FDC5-46D6-B46D-D1F6653A3C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" name="section01__9">
                <a:extLst xmlns:a="http://schemas.openxmlformats.org/drawingml/2006/main">
                  <a:ext uri="{FF2B5EF4-FFF2-40B4-BE49-F238E27FC236}">
                    <a16:creationId xmlns:a16="http://schemas.microsoft.com/office/drawing/2014/main" id="{F821BFD6-4BA3-4466-A8E1-56D071E1C73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0" name="section01__10">
                <a:extLst xmlns:a="http://schemas.openxmlformats.org/drawingml/2006/main">
                  <a:ext uri="{FF2B5EF4-FFF2-40B4-BE49-F238E27FC236}">
                    <a16:creationId xmlns:a16="http://schemas.microsoft.com/office/drawing/2014/main" id="{D6D3A1D9-D773-4380-81E0-ABAFD9A1692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24003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01</a:t>
                </a:r>
              </a:p>
            </p:txBody>
          </p:sp>
          <p:sp>
            <p:nvSpPr>
              <p:cNvPr id="11" name="section01__11">
                <a:extLst xmlns:a="http://schemas.openxmlformats.org/drawingml/2006/main">
                  <a:ext uri="{FF2B5EF4-FFF2-40B4-BE49-F238E27FC236}">
                    <a16:creationId xmlns:a16="http://schemas.microsoft.com/office/drawing/2014/main" id="{7DAF3EFC-6F8E-4AF5-A1AA-A09161F6D47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24003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수율 분석의 본질  ·  데이터 조회 이후에도 전문적 판단이 필요</a:t>
                </a:r>
              </a:p>
            </p:txBody>
          </p:sp>
          <p:pic>
            <p:nvPicPr>
              <p:cNvPr id="112" name=""/>
              <p:cNvPicPr>
                <a:picLocks xmlns:a="http://schemas.openxmlformats.org/drawingml/2006/main" noChangeAspect="1"/>
              </p:cNvPicPr>
              <p:nvPr/>
            </p:nvPicPr>
            <p:blipFill>
              <a:blip xmlns:r="http://schemas.openxmlformats.org/officeDocument/2006/relationships" xmlns:a="http://schemas.openxmlformats.org/drawingml/2006/main" r:embed="R253810323da747a0"/>
              <a:stretch xmlns:a="http://schemas.openxmlformats.org/drawingml/2006/main"/>
            </p:blipFill>
            <p:spPr>
              <a:xfrm xmlns:a="http://schemas.openxmlformats.org/drawingml/2006/main">
                <a:off x="428625" y="2951428"/>
                <a:ext cx="1981200" cy="1240894"/>
              </a:xfrm>
              <a:prstGeom xmlns:a="http://schemas.openxmlformats.org/drawingml/2006/main" prst="rect">
                <a:avLst/>
              </a:prstGeom>
            </p:spPr>
          </p:pic>
          <p:sp>
            <p:nvSpPr>
              <p:cNvPr id="13" name="section01__12">
                <a:extLst xmlns:a="http://schemas.openxmlformats.org/drawingml/2006/main">
                  <a:ext uri="{FF2B5EF4-FFF2-40B4-BE49-F238E27FC236}">
                    <a16:creationId xmlns:a16="http://schemas.microsoft.com/office/drawing/2014/main" id="{C886D0D3-26FB-4CF5-A714-B4FEED413C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4152900"/>
                <a:ext cx="1981200" cy="247650"/>
              </a:xfrm>
              <a:prstGeom xmlns:a="http://schemas.openxmlformats.org/drawingml/2006/main" prst="roundRect">
                <a:avLst>
                  <a:gd name="adj" fmla="val 30769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4" name="section01__13">
                <a:extLst xmlns:a="http://schemas.openxmlformats.org/drawingml/2006/main">
                  <a:ext uri="{FF2B5EF4-FFF2-40B4-BE49-F238E27FC236}">
                    <a16:creationId xmlns:a16="http://schemas.microsoft.com/office/drawing/2014/main" id="{6F5445E2-85C3-4102-ABBB-13287188CE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76250" y="4152900"/>
                <a:ext cx="18859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WT 특정 Fail 열화</a:t>
                </a:r>
              </a:p>
            </p:txBody>
          </p:sp>
          <p:sp>
            <p:nvSpPr>
              <p:cNvPr id="15" name="section01__14">
                <a:extLst xmlns:a="http://schemas.openxmlformats.org/drawingml/2006/main">
                  <a:ext uri="{FF2B5EF4-FFF2-40B4-BE49-F238E27FC236}">
                    <a16:creationId xmlns:a16="http://schemas.microsoft.com/office/drawing/2014/main" id="{6AAD4598-3E6D-43E6-B4B6-C0BD635302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57475" y="3028950"/>
                <a:ext cx="1550194" cy="1304925"/>
              </a:xfrm>
              <a:prstGeom xmlns:a="http://schemas.openxmlformats.org/drawingml/2006/main" prst="roundRect">
                <a:avLst>
                  <a:gd name="adj" fmla="val 5839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16" name="section01__15">
                <a:extLst xmlns:a="http://schemas.openxmlformats.org/drawingml/2006/main">
                  <a:ext uri="{FF2B5EF4-FFF2-40B4-BE49-F238E27FC236}">
                    <a16:creationId xmlns:a16="http://schemas.microsoft.com/office/drawing/2014/main" id="{6477118F-831F-4EAF-B67A-513302A9386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43200" y="3105150"/>
                <a:ext cx="1378744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확인</a:t>
                </a:r>
              </a:p>
            </p:txBody>
          </p:sp>
          <p:sp>
            <p:nvSpPr>
              <p:cNvPr id="17" name="section01__16">
                <a:extLst xmlns:a="http://schemas.openxmlformats.org/drawingml/2006/main">
                  <a:ext uri="{FF2B5EF4-FFF2-40B4-BE49-F238E27FC236}">
                    <a16:creationId xmlns:a16="http://schemas.microsoft.com/office/drawing/2014/main" id="{8619FBB7-DCAD-42B7-A7DC-9AF746DA7B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71775" y="3505200"/>
                <a:ext cx="1321594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무엇을 먼저 볼까?</a:t>
                </a:r>
              </a:p>
            </p:txBody>
          </p:sp>
          <p:sp>
            <p:nvSpPr>
              <p:cNvPr id="18" name="section01__17">
                <a:extLst xmlns:a="http://schemas.openxmlformats.org/drawingml/2006/main">
                  <a:ext uri="{FF2B5EF4-FFF2-40B4-BE49-F238E27FC236}">
                    <a16:creationId xmlns:a16="http://schemas.microsoft.com/office/drawing/2014/main" id="{F7A4E7DB-AED8-46A7-B099-BAE9993515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45769" y="36052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9" name="section01__18">
                <a:extLst xmlns:a="http://schemas.openxmlformats.org/drawingml/2006/main">
                  <a:ext uri="{FF2B5EF4-FFF2-40B4-BE49-F238E27FC236}">
                    <a16:creationId xmlns:a16="http://schemas.microsoft.com/office/drawing/2014/main" id="{8DE06B91-522E-4EE9-AFE8-BDD18E7898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455319" y="3028950"/>
                <a:ext cx="1550194" cy="1304925"/>
              </a:xfrm>
              <a:prstGeom xmlns:a="http://schemas.openxmlformats.org/drawingml/2006/main" prst="roundRect">
                <a:avLst>
                  <a:gd name="adj" fmla="val 5839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0" name="section01__19">
                <a:extLst xmlns:a="http://schemas.openxmlformats.org/drawingml/2006/main">
                  <a:ext uri="{FF2B5EF4-FFF2-40B4-BE49-F238E27FC236}">
                    <a16:creationId xmlns:a16="http://schemas.microsoft.com/office/drawing/2014/main" id="{1344FCC0-C2A4-45BE-ABB4-3E55A7CB09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41044" y="3105150"/>
                <a:ext cx="1378744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해석</a:t>
                </a:r>
              </a:p>
            </p:txBody>
          </p:sp>
          <p:sp>
            <p:nvSpPr>
              <p:cNvPr id="21" name="section01__20">
                <a:extLst xmlns:a="http://schemas.openxmlformats.org/drawingml/2006/main">
                  <a:ext uri="{FF2B5EF4-FFF2-40B4-BE49-F238E27FC236}">
                    <a16:creationId xmlns:a16="http://schemas.microsoft.com/office/drawing/2014/main" id="{56DD4D20-4450-49C6-BE15-53013759BE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69619" y="3505200"/>
                <a:ext cx="1321594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어떤 의미일까?</a:t>
                </a:r>
              </a:p>
            </p:txBody>
          </p:sp>
          <p:sp>
            <p:nvSpPr>
              <p:cNvPr id="22" name="section01__21">
                <a:extLst xmlns:a="http://schemas.openxmlformats.org/drawingml/2006/main">
                  <a:ext uri="{FF2B5EF4-FFF2-40B4-BE49-F238E27FC236}">
                    <a16:creationId xmlns:a16="http://schemas.microsoft.com/office/drawing/2014/main" id="{67681F28-D83B-4D3C-96EE-93F14A9F29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43613" y="36052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3" name="section01__22">
                <a:extLst xmlns:a="http://schemas.openxmlformats.org/drawingml/2006/main">
                  <a:ext uri="{FF2B5EF4-FFF2-40B4-BE49-F238E27FC236}">
                    <a16:creationId xmlns:a16="http://schemas.microsoft.com/office/drawing/2014/main" id="{BC6AAD9F-1EEF-4184-91C2-01AE92D5A4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53163" y="3028950"/>
                <a:ext cx="1550194" cy="1304925"/>
              </a:xfrm>
              <a:prstGeom xmlns:a="http://schemas.openxmlformats.org/drawingml/2006/main" prst="roundRect">
                <a:avLst>
                  <a:gd name="adj" fmla="val 5839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4" name="section01__23">
                <a:extLst xmlns:a="http://schemas.openxmlformats.org/drawingml/2006/main">
                  <a:ext uri="{FF2B5EF4-FFF2-40B4-BE49-F238E27FC236}">
                    <a16:creationId xmlns:a16="http://schemas.microsoft.com/office/drawing/2014/main" id="{3F8D9F6D-64CF-46CC-84C5-CDFA77D96E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38888" y="3105150"/>
                <a:ext cx="1378744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연결</a:t>
                </a:r>
              </a:p>
            </p:txBody>
          </p:sp>
          <p:sp>
            <p:nvSpPr>
              <p:cNvPr id="25" name="section01__24">
                <a:extLst xmlns:a="http://schemas.openxmlformats.org/drawingml/2006/main">
                  <a:ext uri="{FF2B5EF4-FFF2-40B4-BE49-F238E27FC236}">
                    <a16:creationId xmlns:a16="http://schemas.microsoft.com/office/drawing/2014/main" id="{BFEF4C1E-4028-4676-9698-BCFFD82DDA4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67463" y="3505200"/>
                <a:ext cx="1321594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다음 분석은?</a:t>
                </a:r>
              </a:p>
            </p:txBody>
          </p:sp>
          <p:sp>
            <p:nvSpPr>
              <p:cNvPr id="26" name="section01__25">
                <a:extLst xmlns:a="http://schemas.openxmlformats.org/drawingml/2006/main">
                  <a:ext uri="{FF2B5EF4-FFF2-40B4-BE49-F238E27FC236}">
                    <a16:creationId xmlns:a16="http://schemas.microsoft.com/office/drawing/2014/main" id="{76127F6B-2322-4A79-8EDA-64C3BB55BE6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841456" y="36052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7" name="section01__26">
                <a:extLst xmlns:a="http://schemas.openxmlformats.org/drawingml/2006/main">
                  <a:ext uri="{FF2B5EF4-FFF2-40B4-BE49-F238E27FC236}">
                    <a16:creationId xmlns:a16="http://schemas.microsoft.com/office/drawing/2014/main" id="{1C9DFAB7-8F14-46E5-8341-54CF690C6B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051006" y="3028950"/>
                <a:ext cx="1550194" cy="1304925"/>
              </a:xfrm>
              <a:prstGeom xmlns:a="http://schemas.openxmlformats.org/drawingml/2006/main" prst="roundRect">
                <a:avLst>
                  <a:gd name="adj" fmla="val 5839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8" name="section01__27">
                <a:extLst xmlns:a="http://schemas.openxmlformats.org/drawingml/2006/main">
                  <a:ext uri="{FF2B5EF4-FFF2-40B4-BE49-F238E27FC236}">
                    <a16:creationId xmlns:a16="http://schemas.microsoft.com/office/drawing/2014/main" id="{5F56A62D-AEAC-40F7-BDEB-BE196DC5CC3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36731" y="3105150"/>
                <a:ext cx="1378744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판단</a:t>
                </a:r>
              </a:p>
            </p:txBody>
          </p:sp>
          <p:sp>
            <p:nvSpPr>
              <p:cNvPr id="29" name="section01__28">
                <a:extLst xmlns:a="http://schemas.openxmlformats.org/drawingml/2006/main">
                  <a:ext uri="{FF2B5EF4-FFF2-40B4-BE49-F238E27FC236}">
                    <a16:creationId xmlns:a16="http://schemas.microsoft.com/office/drawing/2014/main" id="{2B2D8423-3101-4024-BC35-4251002F18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65306" y="3505200"/>
                <a:ext cx="1321594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원인·대응 방향</a:t>
                </a:r>
              </a:p>
            </p:txBody>
          </p:sp>
        </p:grpSp>
        <p:grpSp>
          <p:nvGrpSpPr>
            <p:cNvPr id="10002" name="2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30" name="section02__29">
                <a:extLst xmlns:a="http://schemas.openxmlformats.org/drawingml/2006/main">
                  <a:ext uri="{FF2B5EF4-FFF2-40B4-BE49-F238E27FC236}">
                    <a16:creationId xmlns:a16="http://schemas.microsoft.com/office/drawing/2014/main" id="{4E61DF54-75FE-4A49-A601-D93DA1D55C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4686300"/>
                <a:ext cx="9601200" cy="5314950"/>
              </a:xfrm>
              <a:prstGeom xmlns:a="http://schemas.openxmlformats.org/drawingml/2006/main" prst="roundRect">
                <a:avLst>
                  <a:gd name="adj" fmla="val 1434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31" name="section02__30">
                <a:extLst xmlns:a="http://schemas.openxmlformats.org/drawingml/2006/main">
                  <a:ext uri="{FF2B5EF4-FFF2-40B4-BE49-F238E27FC236}">
                    <a16:creationId xmlns:a16="http://schemas.microsoft.com/office/drawing/2014/main" id="{71208F13-35F9-4DE1-975B-AA9F23652B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46958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2" name="section02__31">
                <a:extLst xmlns:a="http://schemas.openxmlformats.org/drawingml/2006/main">
                  <a:ext uri="{FF2B5EF4-FFF2-40B4-BE49-F238E27FC236}">
                    <a16:creationId xmlns:a16="http://schemas.microsoft.com/office/drawing/2014/main" id="{984BA964-8560-4808-8EF4-4B780EBD0B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46958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3" name="section02__32">
                <a:extLst xmlns:a="http://schemas.openxmlformats.org/drawingml/2006/main">
                  <a:ext uri="{FF2B5EF4-FFF2-40B4-BE49-F238E27FC236}">
                    <a16:creationId xmlns:a16="http://schemas.microsoft.com/office/drawing/2014/main" id="{B6371950-71E0-4470-AC08-6D0CCDD52D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46863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02</a:t>
                </a:r>
              </a:p>
            </p:txBody>
          </p:sp>
          <p:sp>
            <p:nvSpPr>
              <p:cNvPr id="34" name="section02__33">
                <a:extLst xmlns:a="http://schemas.openxmlformats.org/drawingml/2006/main">
                  <a:ext uri="{FF2B5EF4-FFF2-40B4-BE49-F238E27FC236}">
                    <a16:creationId xmlns:a16="http://schemas.microsoft.com/office/drawing/2014/main" id="{A9533203-1F99-467A-BDDF-06E0EAE811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46863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핵심 변화  ·  개인 경험 의존에서 공통 분석 역량으로</a:t>
                </a:r>
              </a:p>
            </p:txBody>
          </p:sp>
          <p:sp>
            <p:nvSpPr>
              <p:cNvPr id="35" name="section02__34">
                <a:extLst xmlns:a="http://schemas.openxmlformats.org/drawingml/2006/main">
                  <a:ext uri="{FF2B5EF4-FFF2-40B4-BE49-F238E27FC236}">
                    <a16:creationId xmlns:a16="http://schemas.microsoft.com/office/drawing/2014/main" id="{4816B521-52C9-4551-AFB4-83C96AD3EB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0050" y="5238750"/>
                <a:ext cx="4343400" cy="333375"/>
              </a:xfrm>
              <a:prstGeom xmlns:a="http://schemas.openxmlformats.org/drawingml/2006/main" prst="roundRect">
                <a:avLst>
                  <a:gd name="adj" fmla="val 22857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6" name="section02__35">
                <a:extLst xmlns:a="http://schemas.openxmlformats.org/drawingml/2006/main">
                  <a:ext uri="{FF2B5EF4-FFF2-40B4-BE49-F238E27FC236}">
                    <a16:creationId xmlns:a16="http://schemas.microsoft.com/office/drawing/2014/main" id="{D0F4797F-8A87-4B9C-951F-ABF41011FE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47675" y="5238750"/>
                <a:ext cx="424815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기존  ·  사람이 시스템과 분석을 직접 연결</a:t>
                </a:r>
              </a:p>
            </p:txBody>
          </p:sp>
          <p:sp>
            <p:nvSpPr>
              <p:cNvPr id="37" name="section02__36">
                <a:extLst xmlns:a="http://schemas.openxmlformats.org/drawingml/2006/main">
                  <a:ext uri="{FF2B5EF4-FFF2-40B4-BE49-F238E27FC236}">
                    <a16:creationId xmlns:a16="http://schemas.microsoft.com/office/drawing/2014/main" id="{44522DC9-5329-4418-871B-9D7C0A67B7F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76850" y="5238750"/>
                <a:ext cx="4343400" cy="333375"/>
              </a:xfrm>
              <a:prstGeom xmlns:a="http://schemas.openxmlformats.org/drawingml/2006/main" prst="roundRect">
                <a:avLst>
                  <a:gd name="adj" fmla="val 22857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8" name="section02__37">
                <a:extLst xmlns:a="http://schemas.openxmlformats.org/drawingml/2006/main">
                  <a:ext uri="{FF2B5EF4-FFF2-40B4-BE49-F238E27FC236}">
                    <a16:creationId xmlns:a16="http://schemas.microsoft.com/office/drawing/2014/main" id="{185C58F9-91D8-48C6-932F-D8821B740D3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324475" y="5238750"/>
                <a:ext cx="424815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Y-Agent  ·  도메인 지식을 분석 로직으로 구현</a:t>
                </a:r>
              </a:p>
            </p:txBody>
          </p:sp>
          <p:sp>
            <p:nvSpPr>
              <p:cNvPr id="39" name="section02__38">
                <a:extLst xmlns:a="http://schemas.openxmlformats.org/drawingml/2006/main">
                  <a:ext uri="{FF2B5EF4-FFF2-40B4-BE49-F238E27FC236}">
                    <a16:creationId xmlns:a16="http://schemas.microsoft.com/office/drawing/2014/main" id="{327FDD81-6DB0-45F7-87EA-145B2BE54D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4825" y="5819775"/>
                <a:ext cx="1828800" cy="428625"/>
              </a:xfrm>
              <a:prstGeom xmlns:a="http://schemas.openxmlformats.org/drawingml/2006/main" prst="roundRect">
                <a:avLst>
                  <a:gd name="adj" fmla="val 1777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0" name="section02__39">
                <a:extLst xmlns:a="http://schemas.openxmlformats.org/drawingml/2006/main">
                  <a:ext uri="{FF2B5EF4-FFF2-40B4-BE49-F238E27FC236}">
                    <a16:creationId xmlns:a16="http://schemas.microsoft.com/office/drawing/2014/main" id="{03273ABE-324D-44EF-82FF-8F1AA9DE5FB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4825" y="5819775"/>
                <a:ext cx="1828800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Spotfire</a:t>
                </a:r>
              </a:p>
            </p:txBody>
          </p:sp>
          <p:sp>
            <p:nvSpPr>
              <p:cNvPr id="41" name="section02__40">
                <a:extLst xmlns:a="http://schemas.openxmlformats.org/drawingml/2006/main">
                  <a:ext uri="{FF2B5EF4-FFF2-40B4-BE49-F238E27FC236}">
                    <a16:creationId xmlns:a16="http://schemas.microsoft.com/office/drawing/2014/main" id="{0E7C1C9B-EC90-4970-B7FB-B9A6F5BB53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1750" y="5819775"/>
                <a:ext cx="1828800" cy="428625"/>
              </a:xfrm>
              <a:prstGeom xmlns:a="http://schemas.openxmlformats.org/drawingml/2006/main" prst="roundRect">
                <a:avLst>
                  <a:gd name="adj" fmla="val 1777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2" name="section02__41">
                <a:extLst xmlns:a="http://schemas.openxmlformats.org/drawingml/2006/main">
                  <a:ext uri="{FF2B5EF4-FFF2-40B4-BE49-F238E27FC236}">
                    <a16:creationId xmlns:a16="http://schemas.microsoft.com/office/drawing/2014/main" id="{6FCBF605-0E64-4501-AFC7-583B6FF20D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1750" y="5819775"/>
                <a:ext cx="1828800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SmartFactory</a:t>
                </a:r>
              </a:p>
            </p:txBody>
          </p:sp>
          <p:sp>
            <p:nvSpPr>
              <p:cNvPr id="43" name="section02__42">
                <a:extLst xmlns:a="http://schemas.openxmlformats.org/drawingml/2006/main">
                  <a:ext uri="{FF2B5EF4-FFF2-40B4-BE49-F238E27FC236}">
                    <a16:creationId xmlns:a16="http://schemas.microsoft.com/office/drawing/2014/main" id="{721A14AF-2AEC-406D-B200-76C49C0821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4825" y="6429375"/>
                <a:ext cx="1828800" cy="428625"/>
              </a:xfrm>
              <a:prstGeom xmlns:a="http://schemas.openxmlformats.org/drawingml/2006/main" prst="roundRect">
                <a:avLst>
                  <a:gd name="adj" fmla="val 1777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4" name="section02__43">
                <a:extLst xmlns:a="http://schemas.openxmlformats.org/drawingml/2006/main">
                  <a:ext uri="{FF2B5EF4-FFF2-40B4-BE49-F238E27FC236}">
                    <a16:creationId xmlns:a16="http://schemas.microsoft.com/office/drawing/2014/main" id="{14732286-FE9D-477E-8358-3B0AFD5949D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4825" y="6429375"/>
                <a:ext cx="1828800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MES / TAS</a:t>
                </a:r>
              </a:p>
            </p:txBody>
          </p:sp>
          <p:sp>
            <p:nvSpPr>
              <p:cNvPr id="45" name="section02__44">
                <a:extLst xmlns:a="http://schemas.openxmlformats.org/drawingml/2006/main">
                  <a:ext uri="{FF2B5EF4-FFF2-40B4-BE49-F238E27FC236}">
                    <a16:creationId xmlns:a16="http://schemas.microsoft.com/office/drawing/2014/main" id="{F82EF994-CE3F-4C06-87A9-1B403C7A88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1750" y="6429375"/>
                <a:ext cx="1828800" cy="428625"/>
              </a:xfrm>
              <a:prstGeom xmlns:a="http://schemas.openxmlformats.org/drawingml/2006/main" prst="roundRect">
                <a:avLst>
                  <a:gd name="adj" fmla="val 1777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6" name="section02__45">
                <a:extLst xmlns:a="http://schemas.openxmlformats.org/drawingml/2006/main">
                  <a:ext uri="{FF2B5EF4-FFF2-40B4-BE49-F238E27FC236}">
                    <a16:creationId xmlns:a16="http://schemas.microsoft.com/office/drawing/2014/main" id="{3BBA80CE-2670-47FF-93CC-9CDEE2C2406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1750" y="6429375"/>
                <a:ext cx="1828800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PPT·분석자료</a:t>
                </a:r>
              </a:p>
            </p:txBody>
          </p:sp>
          <p:sp>
            <p:nvSpPr>
              <p:cNvPr id="47" name="section02__46">
                <a:extLst xmlns:a="http://schemas.openxmlformats.org/drawingml/2006/main">
                  <a:ext uri="{FF2B5EF4-FFF2-40B4-BE49-F238E27FC236}">
                    <a16:creationId xmlns:a16="http://schemas.microsoft.com/office/drawing/2014/main" id="{7A011F50-C808-4E3F-8E47-64BD5A33AA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19225" y="6858000"/>
                <a:ext cx="0" cy="257175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48" name="section02__47">
                <a:extLst xmlns:a="http://schemas.openxmlformats.org/drawingml/2006/main">
                  <a:ext uri="{FF2B5EF4-FFF2-40B4-BE49-F238E27FC236}">
                    <a16:creationId xmlns:a16="http://schemas.microsoft.com/office/drawing/2014/main" id="{9BFFBEAE-0B31-4E11-AB89-FF6A1D1898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86150" y="6858000"/>
                <a:ext cx="0" cy="257175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49" name="section02__48">
                <a:extLst xmlns:a="http://schemas.openxmlformats.org/drawingml/2006/main">
                  <a:ext uri="{FF2B5EF4-FFF2-40B4-BE49-F238E27FC236}">
                    <a16:creationId xmlns:a16="http://schemas.microsoft.com/office/drawing/2014/main" id="{7846D1CD-B8F8-499F-BF54-EF21D82D6E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19225" y="7115175"/>
                <a:ext cx="2066925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50" name="section02__49">
                <a:extLst xmlns:a="http://schemas.openxmlformats.org/drawingml/2006/main">
                  <a:ext uri="{FF2B5EF4-FFF2-40B4-BE49-F238E27FC236}">
                    <a16:creationId xmlns:a16="http://schemas.microsoft.com/office/drawing/2014/main" id="{928FAAB5-4D61-41E0-97D1-91AD0D5CBC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57450" y="7115175"/>
                <a:ext cx="0" cy="276225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51" name="section02__50">
                <a:extLst xmlns:a="http://schemas.openxmlformats.org/drawingml/2006/main">
                  <a:ext uri="{FF2B5EF4-FFF2-40B4-BE49-F238E27FC236}">
                    <a16:creationId xmlns:a16="http://schemas.microsoft.com/office/drawing/2014/main" id="{A425493D-6F72-4588-A731-2726CAE960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5400000">
                <a:off x="2324100" y="7410450"/>
                <a:ext cx="285750" cy="2190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2" name="section02__51">
                <a:extLst xmlns:a="http://schemas.openxmlformats.org/drawingml/2006/main">
                  <a:ext uri="{FF2B5EF4-FFF2-40B4-BE49-F238E27FC236}">
                    <a16:creationId xmlns:a16="http://schemas.microsoft.com/office/drawing/2014/main" id="{A6E88084-B34D-4C34-BEAC-8246BACF5C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19250" y="7705725"/>
                <a:ext cx="1657350" cy="16573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43576A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3" name="section02__52">
                <a:extLst xmlns:a="http://schemas.openxmlformats.org/drawingml/2006/main">
                  <a:ext uri="{FF2B5EF4-FFF2-40B4-BE49-F238E27FC236}">
                    <a16:creationId xmlns:a16="http://schemas.microsoft.com/office/drawing/2014/main" id="{154908DD-91FE-453E-9B12-6DF1AAAF65E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95450" y="7781925"/>
                <a:ext cx="1504950" cy="1504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엔지니어</a:t>
                </a:r>
              </a:p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개인 경험</a:t>
                </a:r>
              </a:p>
            </p:txBody>
          </p:sp>
          <p:sp>
            <p:nvSpPr>
              <p:cNvPr id="54" name="section02__53">
                <a:extLst xmlns:a="http://schemas.openxmlformats.org/drawingml/2006/main">
                  <a:ext uri="{FF2B5EF4-FFF2-40B4-BE49-F238E27FC236}">
                    <a16:creationId xmlns:a16="http://schemas.microsoft.com/office/drawing/2014/main" id="{923E8D9D-DA7C-47A3-B135-D2629A9731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38150" y="7953375"/>
                <a:ext cx="1047750" cy="304800"/>
              </a:xfrm>
              <a:prstGeom xmlns:a="http://schemas.openxmlformats.org/drawingml/2006/main" prst="roundRect">
                <a:avLst>
                  <a:gd name="adj" fmla="val 25000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5" name="section02__54">
                <a:extLst xmlns:a="http://schemas.openxmlformats.org/drawingml/2006/main">
                  <a:ext uri="{FF2B5EF4-FFF2-40B4-BE49-F238E27FC236}">
                    <a16:creationId xmlns:a16="http://schemas.microsoft.com/office/drawing/2014/main" id="{F8497C52-173F-4041-B4F6-9F657CD690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85775" y="7953375"/>
                <a:ext cx="9525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반복 탐색</a:t>
                </a:r>
              </a:p>
            </p:txBody>
          </p:sp>
          <p:sp>
            <p:nvSpPr>
              <p:cNvPr id="56" name="section02__55">
                <a:extLst xmlns:a="http://schemas.openxmlformats.org/drawingml/2006/main">
                  <a:ext uri="{FF2B5EF4-FFF2-40B4-BE49-F238E27FC236}">
                    <a16:creationId xmlns:a16="http://schemas.microsoft.com/office/drawing/2014/main" id="{13FFCB72-8B49-48AD-AC74-9FCB0E2EF7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09975" y="7953375"/>
                <a:ext cx="1047750" cy="304800"/>
              </a:xfrm>
              <a:prstGeom xmlns:a="http://schemas.openxmlformats.org/drawingml/2006/main" prst="roundRect">
                <a:avLst>
                  <a:gd name="adj" fmla="val 25000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7" name="section02__56">
                <a:extLst xmlns:a="http://schemas.openxmlformats.org/drawingml/2006/main">
                  <a:ext uri="{FF2B5EF4-FFF2-40B4-BE49-F238E27FC236}">
                    <a16:creationId xmlns:a16="http://schemas.microsoft.com/office/drawing/2014/main" id="{F8911EF5-6D47-4AA2-B48B-0CDF2ED1780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57600" y="7953375"/>
                <a:ext cx="9525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해석 편차</a:t>
                </a:r>
              </a:p>
            </p:txBody>
          </p:sp>
          <p:sp>
            <p:nvSpPr>
              <p:cNvPr id="58" name="section02__57">
                <a:extLst xmlns:a="http://schemas.openxmlformats.org/drawingml/2006/main">
                  <a:ext uri="{FF2B5EF4-FFF2-40B4-BE49-F238E27FC236}">
                    <a16:creationId xmlns:a16="http://schemas.microsoft.com/office/drawing/2014/main" id="{0374F975-4763-410B-B862-77E3A1E7D0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571625" y="9477375"/>
                <a:ext cx="1762125" cy="285750"/>
              </a:xfrm>
              <a:prstGeom xmlns:a="http://schemas.openxmlformats.org/drawingml/2006/main" prst="roundRect">
                <a:avLst>
                  <a:gd name="adj" fmla="val 26667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9" name="section02__58">
                <a:extLst xmlns:a="http://schemas.openxmlformats.org/drawingml/2006/main">
                  <a:ext uri="{FF2B5EF4-FFF2-40B4-BE49-F238E27FC236}">
                    <a16:creationId xmlns:a16="http://schemas.microsoft.com/office/drawing/2014/main" id="{63584089-83AB-4EE2-B3A7-74AFECCA25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19250" y="9477375"/>
                <a:ext cx="1666875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전수 한계</a:t>
                </a:r>
              </a:p>
            </p:txBody>
          </p:sp>
          <p:sp>
            <p:nvSpPr>
              <p:cNvPr id="60" name="section02__59">
                <a:extLst xmlns:a="http://schemas.openxmlformats.org/drawingml/2006/main">
                  <a:ext uri="{FF2B5EF4-FFF2-40B4-BE49-F238E27FC236}">
                    <a16:creationId xmlns:a16="http://schemas.microsoft.com/office/drawing/2014/main" id="{1C61ED6F-340E-4CCC-B383-F8DB5858EB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391150" y="5819775"/>
                <a:ext cx="1971675" cy="647700"/>
              </a:xfrm>
              <a:prstGeom xmlns:a="http://schemas.openxmlformats.org/drawingml/2006/main" prst="roundRect">
                <a:avLst>
                  <a:gd name="adj" fmla="val 11765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1" name="section02__60">
                <a:extLst xmlns:a="http://schemas.openxmlformats.org/drawingml/2006/main">
                  <a:ext uri="{FF2B5EF4-FFF2-40B4-BE49-F238E27FC236}">
                    <a16:creationId xmlns:a16="http://schemas.microsoft.com/office/drawing/2014/main" id="{66BC93CC-1B2B-4C87-8B34-C4DA3BAC312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48300" y="5857875"/>
                <a:ext cx="185737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도메인 지식</a:t>
                </a:r>
              </a:p>
            </p:txBody>
          </p:sp>
          <p:sp>
            <p:nvSpPr>
              <p:cNvPr id="62" name="section02__61">
                <a:extLst xmlns:a="http://schemas.openxmlformats.org/drawingml/2006/main">
                  <a:ext uri="{FF2B5EF4-FFF2-40B4-BE49-F238E27FC236}">
                    <a16:creationId xmlns:a16="http://schemas.microsoft.com/office/drawing/2014/main" id="{1F627D05-B840-4BC0-85D8-53DA33AFC05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48300" y="6153150"/>
                <a:ext cx="18573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 Know-how</a:t>
                </a:r>
              </a:p>
            </p:txBody>
          </p:sp>
          <p:sp>
            <p:nvSpPr>
              <p:cNvPr id="63" name="section02__62">
                <a:extLst xmlns:a="http://schemas.openxmlformats.org/drawingml/2006/main">
                  <a:ext uri="{FF2B5EF4-FFF2-40B4-BE49-F238E27FC236}">
                    <a16:creationId xmlns:a16="http://schemas.microsoft.com/office/drawing/2014/main" id="{A343E381-609C-409E-912F-C5A23279F74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96175" y="5819775"/>
                <a:ext cx="1971675" cy="647700"/>
              </a:xfrm>
              <a:prstGeom xmlns:a="http://schemas.openxmlformats.org/drawingml/2006/main" prst="roundRect">
                <a:avLst>
                  <a:gd name="adj" fmla="val 11765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4" name="section02__63">
                <a:extLst xmlns:a="http://schemas.openxmlformats.org/drawingml/2006/main">
                  <a:ext uri="{FF2B5EF4-FFF2-40B4-BE49-F238E27FC236}">
                    <a16:creationId xmlns:a16="http://schemas.microsoft.com/office/drawing/2014/main" id="{31165336-536D-48E2-B813-063E9EEB87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43800" y="5857875"/>
                <a:ext cx="187642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통계·머신러닝</a:t>
                </a:r>
              </a:p>
            </p:txBody>
          </p:sp>
          <p:sp>
            <p:nvSpPr>
              <p:cNvPr id="65" name="section02__64">
                <a:extLst xmlns:a="http://schemas.openxmlformats.org/drawingml/2006/main">
                  <a:ext uri="{FF2B5EF4-FFF2-40B4-BE49-F238E27FC236}">
                    <a16:creationId xmlns:a16="http://schemas.microsoft.com/office/drawing/2014/main" id="{BB123A55-B4A2-4161-9BC1-828A070B159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43800" y="6153150"/>
                <a:ext cx="187642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데이터·분석 기법</a:t>
                </a:r>
              </a:p>
            </p:txBody>
          </p:sp>
          <p:sp>
            <p:nvSpPr>
              <p:cNvPr id="66" name="section02__65">
                <a:extLst xmlns:a="http://schemas.openxmlformats.org/drawingml/2006/main">
                  <a:ext uri="{FF2B5EF4-FFF2-40B4-BE49-F238E27FC236}">
                    <a16:creationId xmlns:a16="http://schemas.microsoft.com/office/drawing/2014/main" id="{A3589E1F-7B9E-4184-A93B-08C9547EBB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72225" y="6467475"/>
                <a:ext cx="0" cy="238125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67" name="section02__66">
                <a:extLst xmlns:a="http://schemas.openxmlformats.org/drawingml/2006/main">
                  <a:ext uri="{FF2B5EF4-FFF2-40B4-BE49-F238E27FC236}">
                    <a16:creationId xmlns:a16="http://schemas.microsoft.com/office/drawing/2014/main" id="{6AED1211-1C8C-4436-AB59-EF30F99FAD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467725" y="6467475"/>
                <a:ext cx="0" cy="238125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68" name="section02__67">
                <a:extLst xmlns:a="http://schemas.openxmlformats.org/drawingml/2006/main">
                  <a:ext uri="{FF2B5EF4-FFF2-40B4-BE49-F238E27FC236}">
                    <a16:creationId xmlns:a16="http://schemas.microsoft.com/office/drawing/2014/main" id="{33344987-B525-48CA-AEFA-38682B080A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72225" y="6705600"/>
                <a:ext cx="209550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69" name="section02__68">
                <a:extLst xmlns:a="http://schemas.openxmlformats.org/drawingml/2006/main">
                  <a:ext uri="{FF2B5EF4-FFF2-40B4-BE49-F238E27FC236}">
                    <a16:creationId xmlns:a16="http://schemas.microsoft.com/office/drawing/2014/main" id="{080B0578-85AF-49CF-8218-895BA8A584E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19975" y="6705600"/>
                <a:ext cx="0" cy="238125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70" name="section02__69">
                <a:extLst xmlns:a="http://schemas.openxmlformats.org/drawingml/2006/main">
                  <a:ext uri="{FF2B5EF4-FFF2-40B4-BE49-F238E27FC236}">
                    <a16:creationId xmlns:a16="http://schemas.microsoft.com/office/drawing/2014/main" id="{141FE32C-A427-4ADE-8455-94669842BE1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5400000">
                <a:off x="7315200" y="6953250"/>
                <a:ext cx="228600" cy="1809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1" name="section02__70">
                <a:extLst xmlns:a="http://schemas.openxmlformats.org/drawingml/2006/main">
                  <a:ext uri="{FF2B5EF4-FFF2-40B4-BE49-F238E27FC236}">
                    <a16:creationId xmlns:a16="http://schemas.microsoft.com/office/drawing/2014/main" id="{DC767ACC-C2A2-4625-9144-A8E13EB745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581650" y="7277100"/>
                <a:ext cx="3695700" cy="971550"/>
              </a:xfrm>
              <a:prstGeom xmlns:a="http://schemas.openxmlformats.org/drawingml/2006/main" prst="roundRect">
                <a:avLst>
                  <a:gd name="adj" fmla="val 7843"/>
                </a:avLst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2" name="section02__71">
                <a:extLst xmlns:a="http://schemas.openxmlformats.org/drawingml/2006/main">
                  <a:ext uri="{FF2B5EF4-FFF2-40B4-BE49-F238E27FC236}">
                    <a16:creationId xmlns:a16="http://schemas.microsoft.com/office/drawing/2014/main" id="{05BA4811-4B18-483A-8480-8D5FB66D95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724525" y="7372350"/>
                <a:ext cx="3409950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7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7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Y-Agent</a:t>
                </a:r>
              </a:p>
            </p:txBody>
          </p:sp>
          <p:sp>
            <p:nvSpPr>
              <p:cNvPr id="73" name="section02__72">
                <a:extLst xmlns:a="http://schemas.openxmlformats.org/drawingml/2006/main">
                  <a:ext uri="{FF2B5EF4-FFF2-40B4-BE49-F238E27FC236}">
                    <a16:creationId xmlns:a16="http://schemas.microsoft.com/office/drawing/2014/main" id="{1125074F-34E1-40F0-8244-7E7E7B7027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724525" y="7848600"/>
                <a:ext cx="340995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수율 SOP 기반 Multi-Agent</a:t>
                </a:r>
              </a:p>
            </p:txBody>
          </p:sp>
          <p:sp>
            <p:nvSpPr>
              <p:cNvPr id="74" name="section02__73">
                <a:extLst xmlns:a="http://schemas.openxmlformats.org/drawingml/2006/main">
                  <a:ext uri="{FF2B5EF4-FFF2-40B4-BE49-F238E27FC236}">
                    <a16:creationId xmlns:a16="http://schemas.microsoft.com/office/drawing/2014/main" id="{0C432A12-53E3-4939-97C6-4F6AF42AD2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5400000">
                <a:off x="7296150" y="8353425"/>
                <a:ext cx="257175" cy="20002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5" name="section02__74">
                <a:extLst xmlns:a="http://schemas.openxmlformats.org/drawingml/2006/main">
                  <a:ext uri="{FF2B5EF4-FFF2-40B4-BE49-F238E27FC236}">
                    <a16:creationId xmlns:a16="http://schemas.microsoft.com/office/drawing/2014/main" id="{D97AED31-0781-4E12-A6D2-453665568A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381625" y="8734425"/>
                <a:ext cx="1206500" cy="981075"/>
              </a:xfrm>
              <a:prstGeom xmlns:a="http://schemas.openxmlformats.org/drawingml/2006/main" prst="roundRect">
                <a:avLst>
                  <a:gd name="adj" fmla="val 776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6" name="section02__75">
                <a:extLst xmlns:a="http://schemas.openxmlformats.org/drawingml/2006/main">
                  <a:ext uri="{FF2B5EF4-FFF2-40B4-BE49-F238E27FC236}">
                    <a16:creationId xmlns:a16="http://schemas.microsoft.com/office/drawing/2014/main" id="{BE81BEE8-445D-4278-8D5D-08CCBFD3681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67350" y="8810625"/>
                <a:ext cx="103505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감지</a:t>
                </a:r>
              </a:p>
            </p:txBody>
          </p:sp>
          <p:sp>
            <p:nvSpPr>
              <p:cNvPr id="77" name="section02__76">
                <a:extLst xmlns:a="http://schemas.openxmlformats.org/drawingml/2006/main">
                  <a:ext uri="{FF2B5EF4-FFF2-40B4-BE49-F238E27FC236}">
                    <a16:creationId xmlns:a16="http://schemas.microsoft.com/office/drawing/2014/main" id="{6691916F-5F5F-4507-8B32-9F67CC963D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95925" y="9210675"/>
                <a:ext cx="977900" cy="4381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이상 확인</a:t>
                </a:r>
              </a:p>
            </p:txBody>
          </p:sp>
          <p:sp>
            <p:nvSpPr>
              <p:cNvPr id="78" name="section02__77">
                <a:extLst xmlns:a="http://schemas.openxmlformats.org/drawingml/2006/main">
                  <a:ext uri="{FF2B5EF4-FFF2-40B4-BE49-F238E27FC236}">
                    <a16:creationId xmlns:a16="http://schemas.microsoft.com/office/drawing/2014/main" id="{351D2BE6-BCB4-45D9-A299-392CB6935C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626225" y="914876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9" name="section02__78">
                <a:extLst xmlns:a="http://schemas.openxmlformats.org/drawingml/2006/main">
                  <a:ext uri="{FF2B5EF4-FFF2-40B4-BE49-F238E27FC236}">
                    <a16:creationId xmlns:a16="http://schemas.microsoft.com/office/drawing/2014/main" id="{203FF3FA-76E1-4581-A96B-BAE17187B1B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35775" y="8734425"/>
                <a:ext cx="1206500" cy="981075"/>
              </a:xfrm>
              <a:prstGeom xmlns:a="http://schemas.openxmlformats.org/drawingml/2006/main" prst="roundRect">
                <a:avLst>
                  <a:gd name="adj" fmla="val 776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0" name="section02__79">
                <a:extLst xmlns:a="http://schemas.openxmlformats.org/drawingml/2006/main">
                  <a:ext uri="{FF2B5EF4-FFF2-40B4-BE49-F238E27FC236}">
                    <a16:creationId xmlns:a16="http://schemas.microsoft.com/office/drawing/2014/main" id="{1547CABC-BCDD-44EA-AA84-8822351E53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921500" y="8810625"/>
                <a:ext cx="103505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분석</a:t>
                </a:r>
              </a:p>
            </p:txBody>
          </p:sp>
          <p:sp>
            <p:nvSpPr>
              <p:cNvPr id="81" name="section02__80">
                <a:extLst xmlns:a="http://schemas.openxmlformats.org/drawingml/2006/main">
                  <a:ext uri="{FF2B5EF4-FFF2-40B4-BE49-F238E27FC236}">
                    <a16:creationId xmlns:a16="http://schemas.microsoft.com/office/drawing/2014/main" id="{D006536F-FD47-4BEF-8864-114ECD0F4F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950075" y="9210675"/>
                <a:ext cx="977900" cy="4381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원인 탐색</a:t>
                </a:r>
              </a:p>
            </p:txBody>
          </p:sp>
          <p:sp>
            <p:nvSpPr>
              <p:cNvPr id="82" name="section02__81">
                <a:extLst xmlns:a="http://schemas.openxmlformats.org/drawingml/2006/main">
                  <a:ext uri="{FF2B5EF4-FFF2-40B4-BE49-F238E27FC236}">
                    <a16:creationId xmlns:a16="http://schemas.microsoft.com/office/drawing/2014/main" id="{E320A3E1-62DC-4432-9F70-1ABEB36D88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080375" y="914876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3" name="section02__82">
                <a:extLst xmlns:a="http://schemas.openxmlformats.org/drawingml/2006/main">
                  <a:ext uri="{FF2B5EF4-FFF2-40B4-BE49-F238E27FC236}">
                    <a16:creationId xmlns:a16="http://schemas.microsoft.com/office/drawing/2014/main" id="{5EC005B7-DBF4-4B38-87D5-00D3F82A11C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89925" y="8734425"/>
                <a:ext cx="1206500" cy="981075"/>
              </a:xfrm>
              <a:prstGeom xmlns:a="http://schemas.openxmlformats.org/drawingml/2006/main" prst="roundRect">
                <a:avLst>
                  <a:gd name="adj" fmla="val 776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4" name="section02__83">
                <a:extLst xmlns:a="http://schemas.openxmlformats.org/drawingml/2006/main">
                  <a:ext uri="{FF2B5EF4-FFF2-40B4-BE49-F238E27FC236}">
                    <a16:creationId xmlns:a16="http://schemas.microsoft.com/office/drawing/2014/main" id="{90AB481A-E25B-44AB-B9A3-94A627FAD1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75650" y="8810625"/>
                <a:ext cx="103505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판단 지원</a:t>
                </a:r>
              </a:p>
            </p:txBody>
          </p:sp>
          <p:sp>
            <p:nvSpPr>
              <p:cNvPr id="85" name="section02__84">
                <a:extLst xmlns:a="http://schemas.openxmlformats.org/drawingml/2006/main">
                  <a:ext uri="{FF2B5EF4-FFF2-40B4-BE49-F238E27FC236}">
                    <a16:creationId xmlns:a16="http://schemas.microsoft.com/office/drawing/2014/main" id="{AC70C015-B5D2-4E86-87D2-A50FCE7B904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404225" y="9210675"/>
                <a:ext cx="977900" cy="4381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결과·후속 분석</a:t>
                </a:r>
              </a:p>
            </p:txBody>
          </p:sp>
          <p:sp>
            <p:nvSpPr>
              <p:cNvPr id="86" name="section02__85">
                <a:extLst xmlns:a="http://schemas.openxmlformats.org/drawingml/2006/main">
                  <a:ext uri="{FF2B5EF4-FFF2-40B4-BE49-F238E27FC236}">
                    <a16:creationId xmlns:a16="http://schemas.microsoft.com/office/drawing/2014/main" id="{99AEE4FF-9AA1-4566-8A72-61D867C1733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838700" y="7400925"/>
                <a:ext cx="304800" cy="3714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</p:grpSp>
        <p:grpSp>
          <p:nvGrpSpPr>
            <p:cNvPr id="10003" name="3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87" name="section03__86">
                <a:extLst xmlns:a="http://schemas.openxmlformats.org/drawingml/2006/main">
                  <a:ext uri="{FF2B5EF4-FFF2-40B4-BE49-F238E27FC236}">
                    <a16:creationId xmlns:a16="http://schemas.microsoft.com/office/drawing/2014/main" id="{423F5AC8-DACA-4AD7-9B20-10AF998DA3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10163175"/>
                <a:ext cx="9601200" cy="2628900"/>
              </a:xfrm>
              <a:prstGeom xmlns:a="http://schemas.openxmlformats.org/drawingml/2006/main" prst="roundRect">
                <a:avLst>
                  <a:gd name="adj" fmla="val 2899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8" name="section03__87">
                <a:extLst xmlns:a="http://schemas.openxmlformats.org/drawingml/2006/main">
                  <a:ext uri="{FF2B5EF4-FFF2-40B4-BE49-F238E27FC236}">
                    <a16:creationId xmlns:a16="http://schemas.microsoft.com/office/drawing/2014/main" id="{89436F61-7FA9-40A4-BC6D-C517F5DE03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10172700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9" name="section03__88">
                <a:extLst xmlns:a="http://schemas.openxmlformats.org/drawingml/2006/main">
                  <a:ext uri="{FF2B5EF4-FFF2-40B4-BE49-F238E27FC236}">
                    <a16:creationId xmlns:a16="http://schemas.microsoft.com/office/drawing/2014/main" id="{4B6BA4CB-4580-4839-AD4C-656CFFDB1B4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10172700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0" name="section03__89">
                <a:extLst xmlns:a="http://schemas.openxmlformats.org/drawingml/2006/main">
                  <a:ext uri="{FF2B5EF4-FFF2-40B4-BE49-F238E27FC236}">
                    <a16:creationId xmlns:a16="http://schemas.microsoft.com/office/drawing/2014/main" id="{5A36C12B-3235-489E-B55F-A733166402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10163175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03</a:t>
                </a:r>
              </a:p>
            </p:txBody>
          </p:sp>
          <p:sp>
            <p:nvSpPr>
              <p:cNvPr id="91" name="section03__90">
                <a:extLst xmlns:a="http://schemas.openxmlformats.org/drawingml/2006/main">
                  <a:ext uri="{FF2B5EF4-FFF2-40B4-BE49-F238E27FC236}">
                    <a16:creationId xmlns:a16="http://schemas.microsoft.com/office/drawing/2014/main" id="{356FD0F5-793B-4FEF-8205-6E06AEE9932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10163175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구현의 핵심 과제와 도전 수준</a:t>
                </a:r>
              </a:p>
            </p:txBody>
          </p:sp>
          <p:sp>
            <p:nvSpPr>
              <p:cNvPr id="93" name="section03__91">
                <a:extLst xmlns:a="http://schemas.openxmlformats.org/drawingml/2006/main">
                  <a:ext uri="{FF2B5EF4-FFF2-40B4-BE49-F238E27FC236}">
                    <a16:creationId xmlns:a16="http://schemas.microsoft.com/office/drawing/2014/main" id="{CDC43B56-C875-48B3-B42C-B8A803C377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" y="12182475"/>
                <a:ext cx="9239250" cy="438150"/>
              </a:xfrm>
              <a:prstGeom xmlns:a="http://schemas.openxmlformats.org/drawingml/2006/main" prst="roundRect">
                <a:avLst>
                  <a:gd name="adj" fmla="val 17391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4" name="section03__92">
                <a:extLst xmlns:a="http://schemas.openxmlformats.org/drawingml/2006/main">
                  <a:ext uri="{FF2B5EF4-FFF2-40B4-BE49-F238E27FC236}">
                    <a16:creationId xmlns:a16="http://schemas.microsoft.com/office/drawing/2014/main" id="{5CBA8D67-DA47-47AB-8105-11D7B415D34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52450" y="12239625"/>
                <a:ext cx="2524125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RAG 기반 질의응답</a:t>
                </a:r>
              </a:p>
            </p:txBody>
          </p:sp>
          <p:sp>
            <p:nvSpPr>
              <p:cNvPr id="95" name="section03__93">
                <a:extLst xmlns:a="http://schemas.openxmlformats.org/drawingml/2006/main">
                  <a:ext uri="{FF2B5EF4-FFF2-40B4-BE49-F238E27FC236}">
                    <a16:creationId xmlns:a16="http://schemas.microsoft.com/office/drawing/2014/main" id="{C29D4E99-A6C4-483B-B4F6-6E659013799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105150" y="12296775"/>
                <a:ext cx="314325" cy="2190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6" name="section03__94">
                <a:extLst xmlns:a="http://schemas.openxmlformats.org/drawingml/2006/main">
                  <a:ext uri="{FF2B5EF4-FFF2-40B4-BE49-F238E27FC236}">
                    <a16:creationId xmlns:a16="http://schemas.microsoft.com/office/drawing/2014/main" id="{BEB60EFB-C874-4969-800D-33849817ED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90925" y="12239625"/>
                <a:ext cx="588645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수율 SOP 기반 전문 분석 · 전사 최초 Agentic AI 구축</a:t>
                </a:r>
              </a:p>
            </p:txBody>
          </p:sp>
        </p:grpSp>
        <p:grpSp>
          <p:nvGrpSpPr>
            <p:cNvPr id="10004" name="핵심 메시지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97" name="footer__95">
                <a:extLst xmlns:a="http://schemas.openxmlformats.org/drawingml/2006/main">
                  <a:ext uri="{FF2B5EF4-FFF2-40B4-BE49-F238E27FC236}">
                    <a16:creationId xmlns:a16="http://schemas.microsoft.com/office/drawing/2014/main" id="{A1CA9B60-4361-4940-94BD-D3EA3D7E8D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28600" y="12963525"/>
                <a:ext cx="9582150" cy="904875"/>
              </a:xfrm>
              <a:prstGeom xmlns:a="http://schemas.openxmlformats.org/drawingml/2006/main" prst="roundRect">
                <a:avLst>
                  <a:gd name="adj" fmla="val 8421"/>
                </a:avLst>
              </a:prstGeom>
              <a:solidFill xmlns:a="http://schemas.openxmlformats.org/drawingml/2006/main">
                <a:srgbClr val="2E404D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8" name="footer__96">
                <a:extLst xmlns:a="http://schemas.openxmlformats.org/drawingml/2006/main">
                  <a:ext uri="{FF2B5EF4-FFF2-40B4-BE49-F238E27FC236}">
                    <a16:creationId xmlns:a16="http://schemas.microsoft.com/office/drawing/2014/main" id="{451D597A-A012-4CA3-A92E-7DDC5664AA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3087350"/>
                <a:ext cx="9182100" cy="638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반복 탐색과 전문성 전수의 한계를 해결하고,</a:t>
                </a:r>
              </a:p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경험 수준에 관계없이 전문 분석을 활용할 수 있는 업무 체계 구축</a:t>
                </a:r>
              </a:p>
            </p:txBody>
          </p:sp>
          <p:sp>
            <p:nvSpPr>
              <p:cNvPr id="99" name="footer__97">
                <a:extLst xmlns:a="http://schemas.openxmlformats.org/drawingml/2006/main">
                  <a:ext uri="{FF2B5EF4-FFF2-40B4-BE49-F238E27FC236}">
                    <a16:creationId xmlns:a16="http://schemas.microsoft.com/office/drawing/2014/main" id="{8BAFCDF8-F616-4079-A799-AB1B9F7308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3954125"/>
                <a:ext cx="82867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Y-Agent · 수율분석 혁신</a:t>
                </a:r>
              </a:p>
            </p:txBody>
          </p:sp>
          <p:sp>
            <p:nvSpPr>
              <p:cNvPr id="100" name="footer__98">
                <a:extLst xmlns:a="http://schemas.openxmlformats.org/drawingml/2006/main">
                  <a:ext uri="{FF2B5EF4-FFF2-40B4-BE49-F238E27FC236}">
                    <a16:creationId xmlns:a16="http://schemas.microsoft.com/office/drawing/2014/main" id="{F6BDF05B-F47F-4811-B12C-FCC2378359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53525" y="13954125"/>
                <a:ext cx="5143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01</a:t>
                </a:r>
              </a:p>
            </p:txBody>
          </p:sp>
        </p:grpSp>
        <p:graphicFrame>
          <p:nvGraphicFramePr>
            <p:cNvPr id="192" name=""/>
            <p:cNvGraphicFramePr/>
            <p:nvPr/>
          </p:nvGraphicFramePr>
          <p:xfrm>
            <a:off xmlns:a="http://schemas.openxmlformats.org/drawingml/2006/main" x="400050" y="10696575"/>
            <a:ext xmlns:a="http://schemas.openxmlformats.org/drawingml/2006/main" cx="9239250" cy="1343025"/>
          </p:xfrm>
          <a:graphic xmlns:a="http://schemas.openxmlformats.org/drawingml/2006/main">
            <a:graphicData uri="http://schemas.openxmlformats.org/drawingml/2006/table">
              <a:tbl>
                <a:tblPr/>
                <a:tblGrid>
                  <a:gridCol w="4619625"/>
                  <a:gridCol w="4619625"/>
                </a:tblGrid>
                <a:tr h="44767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핵심 과제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구현 방향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</a:tr>
                <a:tr h="44767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암묵적 판단의 로직화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분석 우선순위·해석 기준·후속 분석을 Agent에 반영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</a:tr>
                <a:tr h="44767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분산 데이터와 분석 연결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수율·공정·자재·Inline 정보를 분석 목적에 맞게 결합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95861933"/>
      </p:ext>
    </p:extLst>
  </p:cSld>
</p:sld>
</file>

<file path=import1/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99999" name="Original slide content"/>
          <p:cNvGrpSpPr/>
          <p:nvPr/>
        </p:nvGrpSpPr>
        <p:grpSpPr>
          <ns0:xfrm xmlns:ns0="http://schemas.openxmlformats.org/drawingml/2006/main">
            <ns0:off x="3211" y="0"/>
            <ns0:ext cx="7556428" cy="10696575"/>
            <ns0:chOff x="0" y="0"/>
            <ns0:chExt cx="10039350" cy="14211300"/>
          </ns0:xfrm>
        </p:grpSpPr>
        <p:grpSp>
          <p:nvGrpSpPr>
            <p:cNvPr id="10000" name="제목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88" name="header__99">
                <a:extLst xmlns:a="http://schemas.openxmlformats.org/drawingml/2006/main">
                  <a:ext uri="{FF2B5EF4-FFF2-40B4-BE49-F238E27FC236}">
                    <a16:creationId xmlns:a16="http://schemas.microsoft.com/office/drawing/2014/main" id="{92C732EA-B13B-4FDA-8DC6-8C0692EC3F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71450"/>
                <a:ext cx="11334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SK hynix</a:t>
                </a:r>
              </a:p>
            </p:txBody>
          </p:sp>
          <p:sp>
            <p:nvSpPr>
              <p:cNvPr id="2" name="header__100">
                <a:extLst xmlns:a="http://schemas.openxmlformats.org/drawingml/2006/main">
                  <a:ext uri="{FF2B5EF4-FFF2-40B4-BE49-F238E27FC236}">
                    <a16:creationId xmlns:a16="http://schemas.microsoft.com/office/drawing/2014/main" id="{98E3AC8A-C959-415B-BC41-6F79527315B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00200" y="171450"/>
                <a:ext cx="47625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공적 사례상세</a:t>
                </a:r>
              </a:p>
            </p:txBody>
          </p:sp>
          <p:sp>
            <p:nvSpPr>
              <p:cNvPr id="3" name="header__101">
                <a:extLst xmlns:a="http://schemas.openxmlformats.org/drawingml/2006/main">
                  <a:ext uri="{FF2B5EF4-FFF2-40B4-BE49-F238E27FC236}">
                    <a16:creationId xmlns:a16="http://schemas.microsoft.com/office/drawing/2014/main" id="{31179A9E-C584-4F0E-9CD1-3ACE48D21ED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772525" y="171450"/>
                <a:ext cx="8667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02 / 06</a:t>
                </a:r>
              </a:p>
            </p:txBody>
          </p:sp>
          <p:sp>
            <p:nvSpPr>
              <p:cNvPr id="4" name="header__102">
                <a:extLst xmlns:a="http://schemas.openxmlformats.org/drawingml/2006/main">
                  <a:ext uri="{FF2B5EF4-FFF2-40B4-BE49-F238E27FC236}">
                    <a16:creationId xmlns:a16="http://schemas.microsoft.com/office/drawing/2014/main" id="{0B046942-E504-4C2C-A22E-6EE1B6FA1FC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1950" y="533400"/>
                <a:ext cx="931545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5" name="header__103">
                <a:extLst xmlns:a="http://schemas.openxmlformats.org/drawingml/2006/main">
                  <a:ext uri="{FF2B5EF4-FFF2-40B4-BE49-F238E27FC236}">
                    <a16:creationId xmlns:a16="http://schemas.microsoft.com/office/drawing/2014/main" id="{24A8C59A-EA33-48FE-ACDD-ACD0680DD3C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742950"/>
                <a:ext cx="9286875" cy="1038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분산된 분석 업무를</a:t>
                </a:r>
              </a:p>
              <a:p xmlns:a="http://schemas.openxmlformats.org/drawingml/2006/main">
                <a:pPr algn="l">
                  <a:def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Human–Agent 협업 Workflow로 재설계</a:t>
                </a:r>
              </a:p>
            </p:txBody>
          </p:sp>
          <p:sp>
            <p:nvSpPr>
              <p:cNvPr id="6" name="header__104">
                <a:extLst xmlns:a="http://schemas.openxmlformats.org/drawingml/2006/main">
                  <a:ext uri="{FF2B5EF4-FFF2-40B4-BE49-F238E27FC236}">
                    <a16:creationId xmlns:a16="http://schemas.microsoft.com/office/drawing/2014/main" id="{DD005ACB-0874-4348-8EEA-7BB1E06EC2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81000" y="1866900"/>
                <a:ext cx="92392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OPLS SOP와 현업 인터뷰를 기반으로 분석 방법과 역할을 구체화</a:t>
                </a:r>
              </a:p>
            </p:txBody>
          </p:sp>
        </p:grpSp>
        <p:grpSp>
          <p:nvGrpSpPr>
            <p:cNvPr id="10001" name="1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7" name="section01__105">
                <a:extLst xmlns:a="http://schemas.openxmlformats.org/drawingml/2006/main">
                  <a:ext uri="{FF2B5EF4-FFF2-40B4-BE49-F238E27FC236}">
                    <a16:creationId xmlns:a16="http://schemas.microsoft.com/office/drawing/2014/main" id="{05D38380-B186-4F2A-91B2-2F9DA5149C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2400300"/>
                <a:ext cx="9601200" cy="1847850"/>
              </a:xfrm>
              <a:prstGeom xmlns:a="http://schemas.openxmlformats.org/drawingml/2006/main" prst="roundRect">
                <a:avLst>
                  <a:gd name="adj" fmla="val 4124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" name="section01__106">
                <a:extLst xmlns:a="http://schemas.openxmlformats.org/drawingml/2006/main">
                  <a:ext uri="{FF2B5EF4-FFF2-40B4-BE49-F238E27FC236}">
                    <a16:creationId xmlns:a16="http://schemas.microsoft.com/office/drawing/2014/main" id="{F9E35F81-51C8-49D7-BC63-64EB49F254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" name="section01__107">
                <a:extLst xmlns:a="http://schemas.openxmlformats.org/drawingml/2006/main">
                  <a:ext uri="{FF2B5EF4-FFF2-40B4-BE49-F238E27FC236}">
                    <a16:creationId xmlns:a16="http://schemas.microsoft.com/office/drawing/2014/main" id="{A86DD0F2-63F1-46F7-85CA-9EB09C6EB1F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0" name="section01__108">
                <a:extLst xmlns:a="http://schemas.openxmlformats.org/drawingml/2006/main">
                  <a:ext uri="{FF2B5EF4-FFF2-40B4-BE49-F238E27FC236}">
                    <a16:creationId xmlns:a16="http://schemas.microsoft.com/office/drawing/2014/main" id="{B0A5D04B-DDCB-454F-87AF-88347148E4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24003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01</a:t>
                </a:r>
              </a:p>
            </p:txBody>
          </p:sp>
          <p:sp>
            <p:nvSpPr>
              <p:cNvPr id="11" name="section01__109">
                <a:extLst xmlns:a="http://schemas.openxmlformats.org/drawingml/2006/main">
                  <a:ext uri="{FF2B5EF4-FFF2-40B4-BE49-F238E27FC236}">
                    <a16:creationId xmlns:a16="http://schemas.microsoft.com/office/drawing/2014/main" id="{DA18BB62-9BBE-412E-B4F1-054A407FE63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24003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업무를 이해하고, Agent가 수행할 수 있는 분석 흐름으로 전환</a:t>
                </a:r>
              </a:p>
            </p:txBody>
          </p:sp>
          <p:sp>
            <p:nvSpPr>
              <p:cNvPr id="12" name="section01__110">
                <a:extLst xmlns:a="http://schemas.openxmlformats.org/drawingml/2006/main">
                  <a:ext uri="{FF2B5EF4-FFF2-40B4-BE49-F238E27FC236}">
                    <a16:creationId xmlns:a16="http://schemas.microsoft.com/office/drawing/2014/main" id="{0BFB469E-0D28-4290-9439-7574EA665C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" y="2924175"/>
                <a:ext cx="2119313" cy="1133475"/>
              </a:xfrm>
              <a:prstGeom xmlns:a="http://schemas.openxmlformats.org/drawingml/2006/main" prst="roundRect">
                <a:avLst>
                  <a:gd name="adj" fmla="val 672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13" name="section01__111">
                <a:extLst xmlns:a="http://schemas.openxmlformats.org/drawingml/2006/main">
                  <a:ext uri="{FF2B5EF4-FFF2-40B4-BE49-F238E27FC236}">
                    <a16:creationId xmlns:a16="http://schemas.microsoft.com/office/drawing/2014/main" id="{331A8C7F-372D-42FB-AF99-58470A4586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" y="3000375"/>
                <a:ext cx="194786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OPLS SOP 검토</a:t>
                </a:r>
              </a:p>
            </p:txBody>
          </p:sp>
          <p:sp>
            <p:nvSpPr>
              <p:cNvPr id="14" name="section01__112">
                <a:extLst xmlns:a="http://schemas.openxmlformats.org/drawingml/2006/main">
                  <a:ext uri="{FF2B5EF4-FFF2-40B4-BE49-F238E27FC236}">
                    <a16:creationId xmlns:a16="http://schemas.microsoft.com/office/drawing/2014/main" id="{48C610BF-7DF8-4B25-91D0-92DF159874E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400425"/>
                <a:ext cx="1890713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수율·PI·개발 표준 업무</a:t>
                </a:r>
              </a:p>
            </p:txBody>
          </p:sp>
          <p:sp>
            <p:nvSpPr>
              <p:cNvPr id="15" name="section01__113">
                <a:extLst xmlns:a="http://schemas.openxmlformats.org/drawingml/2006/main">
                  <a:ext uri="{FF2B5EF4-FFF2-40B4-BE49-F238E27FC236}">
                    <a16:creationId xmlns:a16="http://schemas.microsoft.com/office/drawing/2014/main" id="{3498F1D2-F9AC-4BB1-B3BF-C1D3F35259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66988" y="34147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6" name="section01__114">
                <a:extLst xmlns:a="http://schemas.openxmlformats.org/drawingml/2006/main">
                  <a:ext uri="{FF2B5EF4-FFF2-40B4-BE49-F238E27FC236}">
                    <a16:creationId xmlns:a16="http://schemas.microsoft.com/office/drawing/2014/main" id="{5DE5665C-BD80-479F-B6A2-80A12502E5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76538" y="2924175"/>
                <a:ext cx="2119313" cy="1133475"/>
              </a:xfrm>
              <a:prstGeom xmlns:a="http://schemas.openxmlformats.org/drawingml/2006/main" prst="roundRect">
                <a:avLst>
                  <a:gd name="adj" fmla="val 672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17" name="section01__115">
                <a:extLst xmlns:a="http://schemas.openxmlformats.org/drawingml/2006/main">
                  <a:ext uri="{FF2B5EF4-FFF2-40B4-BE49-F238E27FC236}">
                    <a16:creationId xmlns:a16="http://schemas.microsoft.com/office/drawing/2014/main" id="{783D3818-71A1-48B6-9CA0-F6926DB0C93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62263" y="3000375"/>
                <a:ext cx="194786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현업 인터뷰</a:t>
                </a:r>
              </a:p>
            </p:txBody>
          </p:sp>
          <p:sp>
            <p:nvSpPr>
              <p:cNvPr id="18" name="section01__116">
                <a:extLst xmlns:a="http://schemas.openxmlformats.org/drawingml/2006/main">
                  <a:ext uri="{FF2B5EF4-FFF2-40B4-BE49-F238E27FC236}">
                    <a16:creationId xmlns:a16="http://schemas.microsoft.com/office/drawing/2014/main" id="{C2BAD02F-7CC3-469E-A6C1-A75EE814F3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90838" y="3400425"/>
                <a:ext cx="1890713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실제 분석 사례·방법 파악</a:t>
                </a:r>
              </a:p>
            </p:txBody>
          </p:sp>
          <p:sp>
            <p:nvSpPr>
              <p:cNvPr id="19" name="section01__117">
                <a:extLst xmlns:a="http://schemas.openxmlformats.org/drawingml/2006/main">
                  <a:ext uri="{FF2B5EF4-FFF2-40B4-BE49-F238E27FC236}">
                    <a16:creationId xmlns:a16="http://schemas.microsoft.com/office/drawing/2014/main" id="{A2EFC901-E551-4129-98D1-58227AD1C5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4147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0" name="section01__118">
                <a:extLst xmlns:a="http://schemas.openxmlformats.org/drawingml/2006/main">
                  <a:ext uri="{FF2B5EF4-FFF2-40B4-BE49-F238E27FC236}">
                    <a16:creationId xmlns:a16="http://schemas.microsoft.com/office/drawing/2014/main" id="{21D85098-B732-4485-BB3F-988EAF7759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43500" y="2924175"/>
                <a:ext cx="2119313" cy="1133475"/>
              </a:xfrm>
              <a:prstGeom xmlns:a="http://schemas.openxmlformats.org/drawingml/2006/main" prst="roundRect">
                <a:avLst>
                  <a:gd name="adj" fmla="val 672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1" name="section01__119">
                <a:extLst xmlns:a="http://schemas.openxmlformats.org/drawingml/2006/main">
                  <a:ext uri="{FF2B5EF4-FFF2-40B4-BE49-F238E27FC236}">
                    <a16:creationId xmlns:a16="http://schemas.microsoft.com/office/drawing/2014/main" id="{B3FBF70A-312E-4F98-860F-00F47C77E4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29225" y="3000375"/>
                <a:ext cx="194786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분석 로직화</a:t>
                </a:r>
              </a:p>
            </p:txBody>
          </p:sp>
          <p:sp>
            <p:nvSpPr>
              <p:cNvPr id="22" name="section01__120">
                <a:extLst xmlns:a="http://schemas.openxmlformats.org/drawingml/2006/main">
                  <a:ext uri="{FF2B5EF4-FFF2-40B4-BE49-F238E27FC236}">
                    <a16:creationId xmlns:a16="http://schemas.microsoft.com/office/drawing/2014/main" id="{39809B89-EBDE-488F-85A1-A37BB72799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57800" y="3400425"/>
                <a:ext cx="1890713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판단 기준·분석 순서 정리</a:t>
                </a:r>
              </a:p>
            </p:txBody>
          </p:sp>
          <p:sp>
            <p:nvSpPr>
              <p:cNvPr id="23" name="section01__121">
                <a:extLst xmlns:a="http://schemas.openxmlformats.org/drawingml/2006/main">
                  <a:ext uri="{FF2B5EF4-FFF2-40B4-BE49-F238E27FC236}">
                    <a16:creationId xmlns:a16="http://schemas.microsoft.com/office/drawing/2014/main" id="{15217332-BDFB-4DF1-848F-772F5FE265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300913" y="34147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4" name="section01__122">
                <a:extLst xmlns:a="http://schemas.openxmlformats.org/drawingml/2006/main">
                  <a:ext uri="{FF2B5EF4-FFF2-40B4-BE49-F238E27FC236}">
                    <a16:creationId xmlns:a16="http://schemas.microsoft.com/office/drawing/2014/main" id="{DD3463AB-FAE5-48A1-BA71-AA6C3E9FAC8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10463" y="2924175"/>
                <a:ext cx="2119313" cy="1133475"/>
              </a:xfrm>
              <a:prstGeom xmlns:a="http://schemas.openxmlformats.org/drawingml/2006/main" prst="roundRect">
                <a:avLst>
                  <a:gd name="adj" fmla="val 672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5" name="section01__123">
                <a:extLst xmlns:a="http://schemas.openxmlformats.org/drawingml/2006/main">
                  <a:ext uri="{FF2B5EF4-FFF2-40B4-BE49-F238E27FC236}">
                    <a16:creationId xmlns:a16="http://schemas.microsoft.com/office/drawing/2014/main" id="{355B8C3D-0B79-4869-A9D1-82A158D27C6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96188" y="3000375"/>
                <a:ext cx="194786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Workflow 설계</a:t>
                </a:r>
              </a:p>
            </p:txBody>
          </p:sp>
          <p:sp>
            <p:nvSpPr>
              <p:cNvPr id="26" name="section01__124">
                <a:extLst xmlns:a="http://schemas.openxmlformats.org/drawingml/2006/main">
                  <a:ext uri="{FF2B5EF4-FFF2-40B4-BE49-F238E27FC236}">
                    <a16:creationId xmlns:a16="http://schemas.microsoft.com/office/drawing/2014/main" id="{76D0FC11-FD7F-4E3B-BEDF-5ED4386BCDF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4763" y="3400425"/>
                <a:ext cx="1890713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Human·Agent 역할 구분</a:t>
                </a:r>
              </a:p>
            </p:txBody>
          </p:sp>
        </p:grpSp>
        <p:grpSp>
          <p:nvGrpSpPr>
            <p:cNvPr id="10002" name="2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27" name="section02__125">
                <a:extLst xmlns:a="http://schemas.openxmlformats.org/drawingml/2006/main">
                  <a:ext uri="{FF2B5EF4-FFF2-40B4-BE49-F238E27FC236}">
                    <a16:creationId xmlns:a16="http://schemas.microsoft.com/office/drawing/2014/main" id="{4A2FE4C7-9BD4-45EC-9F77-FF5BD05A8A6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4419600"/>
                <a:ext cx="9601200" cy="5429250"/>
              </a:xfrm>
              <a:prstGeom xmlns:a="http://schemas.openxmlformats.org/drawingml/2006/main" prst="roundRect">
                <a:avLst>
                  <a:gd name="adj" fmla="val 1404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8" name="section02__126">
                <a:extLst xmlns:a="http://schemas.openxmlformats.org/drawingml/2006/main">
                  <a:ext uri="{FF2B5EF4-FFF2-40B4-BE49-F238E27FC236}">
                    <a16:creationId xmlns:a16="http://schemas.microsoft.com/office/drawing/2014/main" id="{E44F73F5-A7AE-405C-9FCF-83F6BAC6A38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44291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9" name="section02__127">
                <a:extLst xmlns:a="http://schemas.openxmlformats.org/drawingml/2006/main">
                  <a:ext uri="{FF2B5EF4-FFF2-40B4-BE49-F238E27FC236}">
                    <a16:creationId xmlns:a16="http://schemas.microsoft.com/office/drawing/2014/main" id="{3CF6B974-7874-409A-9C89-0C71EC61F1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44291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0" name="section02__128">
                <a:extLst xmlns:a="http://schemas.openxmlformats.org/drawingml/2006/main">
                  <a:ext uri="{FF2B5EF4-FFF2-40B4-BE49-F238E27FC236}">
                    <a16:creationId xmlns:a16="http://schemas.microsoft.com/office/drawing/2014/main" id="{A557FFDA-82BC-46BF-8FE2-1AA601C382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44196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02</a:t>
                </a:r>
              </a:p>
            </p:txBody>
          </p:sp>
          <p:sp>
            <p:nvSpPr>
              <p:cNvPr id="31" name="section02__129">
                <a:extLst xmlns:a="http://schemas.openxmlformats.org/drawingml/2006/main">
                  <a:ext uri="{FF2B5EF4-FFF2-40B4-BE49-F238E27FC236}">
                    <a16:creationId xmlns:a16="http://schemas.microsoft.com/office/drawing/2014/main" id="{44762D80-201C-4E72-AC3C-DDA464C39B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44196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업무 전후 비교  ·  자연어 요청으로 분석과 후속 업무를 연결</a:t>
                </a:r>
              </a:p>
            </p:txBody>
          </p:sp>
          <p:sp>
            <p:nvSpPr>
              <p:cNvPr id="32" name="section02__130">
                <a:extLst xmlns:a="http://schemas.openxmlformats.org/drawingml/2006/main">
                  <a:ext uri="{FF2B5EF4-FFF2-40B4-BE49-F238E27FC236}">
                    <a16:creationId xmlns:a16="http://schemas.microsoft.com/office/drawing/2014/main" id="{58528F85-C8F9-47C4-A31C-8F2C3310FC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0050" y="4943475"/>
                <a:ext cx="3495675" cy="342900"/>
              </a:xfrm>
              <a:prstGeom xmlns:a="http://schemas.openxmlformats.org/drawingml/2006/main" prst="roundRect">
                <a:avLst>
                  <a:gd name="adj" fmla="val 22222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3" name="section02__131">
                <a:extLst xmlns:a="http://schemas.openxmlformats.org/drawingml/2006/main">
                  <a:ext uri="{FF2B5EF4-FFF2-40B4-BE49-F238E27FC236}">
                    <a16:creationId xmlns:a16="http://schemas.microsoft.com/office/drawing/2014/main" id="{A63C1EF3-843B-4395-95DB-EA41A6185B9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47675" y="4943475"/>
                <a:ext cx="3400425" cy="342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기존  ·  여러 시스템을 오가며 개별 분석</a:t>
                </a:r>
              </a:p>
            </p:txBody>
          </p:sp>
          <p:sp>
            <p:nvSpPr>
              <p:cNvPr id="34" name="section02__132">
                <a:extLst xmlns:a="http://schemas.openxmlformats.org/drawingml/2006/main">
                  <a:ext uri="{FF2B5EF4-FFF2-40B4-BE49-F238E27FC236}">
                    <a16:creationId xmlns:a16="http://schemas.microsoft.com/office/drawing/2014/main" id="{9B0E5D0D-6F3D-48EF-BD53-FF45311889F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476750" y="4943475"/>
                <a:ext cx="5153025" cy="342900"/>
              </a:xfrm>
              <a:prstGeom xmlns:a="http://schemas.openxmlformats.org/drawingml/2006/main" prst="roundRect">
                <a:avLst>
                  <a:gd name="adj" fmla="val 22222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5" name="section02__133">
                <a:extLst xmlns:a="http://schemas.openxmlformats.org/drawingml/2006/main">
                  <a:ext uri="{FF2B5EF4-FFF2-40B4-BE49-F238E27FC236}">
                    <a16:creationId xmlns:a16="http://schemas.microsoft.com/office/drawing/2014/main" id="{A00F5BA5-2C62-48C1-A892-506E64A9A1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24375" y="4943475"/>
                <a:ext cx="5057775" cy="342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Y-Agent  ·  한 환경에서 연속 분석</a:t>
                </a:r>
              </a:p>
            </p:txBody>
          </p:sp>
          <p:sp>
            <p:nvSpPr>
              <p:cNvPr id="36" name="section02__134">
                <a:extLst xmlns:a="http://schemas.openxmlformats.org/drawingml/2006/main">
                  <a:ext uri="{FF2B5EF4-FFF2-40B4-BE49-F238E27FC236}">
                    <a16:creationId xmlns:a16="http://schemas.microsoft.com/office/drawing/2014/main" id="{9934C194-AA88-4295-8206-5DDAA451D5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" y="5534025"/>
                <a:ext cx="3295650" cy="590550"/>
              </a:xfrm>
              <a:prstGeom xmlns:a="http://schemas.openxmlformats.org/drawingml/2006/main" prst="roundRect">
                <a:avLst>
                  <a:gd name="adj" fmla="val 1290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37" name="section02__135">
                <a:extLst xmlns:a="http://schemas.openxmlformats.org/drawingml/2006/main">
                  <a:ext uri="{FF2B5EF4-FFF2-40B4-BE49-F238E27FC236}">
                    <a16:creationId xmlns:a16="http://schemas.microsoft.com/office/drawing/2014/main" id="{2ECECB2D-55A3-4445-860C-092AB152331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648325"/>
                <a:ext cx="342900" cy="3429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8" name="section02__136">
                <a:extLst xmlns:a="http://schemas.openxmlformats.org/drawingml/2006/main">
                  <a:ext uri="{FF2B5EF4-FFF2-40B4-BE49-F238E27FC236}">
                    <a16:creationId xmlns:a16="http://schemas.microsoft.com/office/drawing/2014/main" id="{BA1BF506-3679-4503-A98B-0DB615EA6E5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5724525"/>
                <a:ext cx="190500" cy="190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39" name="section02__137">
                <a:extLst xmlns:a="http://schemas.openxmlformats.org/drawingml/2006/main">
                  <a:ext uri="{FF2B5EF4-FFF2-40B4-BE49-F238E27FC236}">
                    <a16:creationId xmlns:a16="http://schemas.microsoft.com/office/drawing/2014/main" id="{5962D08D-C279-4EFD-BC1D-DF954E29F30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85850" y="5581650"/>
                <a:ext cx="25050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수율일보</a:t>
                </a:r>
              </a:p>
            </p:txBody>
          </p:sp>
          <p:sp>
            <p:nvSpPr>
              <p:cNvPr id="40" name="section02__138">
                <a:extLst xmlns:a="http://schemas.openxmlformats.org/drawingml/2006/main">
                  <a:ext uri="{FF2B5EF4-FFF2-40B4-BE49-F238E27FC236}">
                    <a16:creationId xmlns:a16="http://schemas.microsoft.com/office/drawing/2014/main" id="{CED9DD39-F98D-4918-B61C-9672C929A6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85850" y="5857875"/>
                <a:ext cx="2505075" cy="2190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열화 Parameter 확인</a:t>
                </a:r>
              </a:p>
            </p:txBody>
          </p:sp>
          <p:sp>
            <p:nvSpPr>
              <p:cNvPr id="41" name="section02__139">
                <a:extLst xmlns:a="http://schemas.openxmlformats.org/drawingml/2006/main">
                  <a:ext uri="{FF2B5EF4-FFF2-40B4-BE49-F238E27FC236}">
                    <a16:creationId xmlns:a16="http://schemas.microsoft.com/office/drawing/2014/main" id="{9510025E-078A-4017-AC74-187DE7A523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5400000">
                <a:off x="2000250" y="6172200"/>
                <a:ext cx="238125" cy="1714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2" name="section02__140">
                <a:extLst xmlns:a="http://schemas.openxmlformats.org/drawingml/2006/main">
                  <a:ext uri="{FF2B5EF4-FFF2-40B4-BE49-F238E27FC236}">
                    <a16:creationId xmlns:a16="http://schemas.microsoft.com/office/drawing/2014/main" id="{9EADD184-A722-4B69-B5B9-FA111B2F7A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" y="6381750"/>
                <a:ext cx="3295650" cy="590550"/>
              </a:xfrm>
              <a:prstGeom xmlns:a="http://schemas.openxmlformats.org/drawingml/2006/main" prst="roundRect">
                <a:avLst>
                  <a:gd name="adj" fmla="val 1290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3" name="section02__141">
                <a:extLst xmlns:a="http://schemas.openxmlformats.org/drawingml/2006/main">
                  <a:ext uri="{FF2B5EF4-FFF2-40B4-BE49-F238E27FC236}">
                    <a16:creationId xmlns:a16="http://schemas.microsoft.com/office/drawing/2014/main" id="{E3F6DC4F-83D9-415F-8AD3-E197E268074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6496050"/>
                <a:ext cx="342900" cy="3429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4" name="section02__142">
                <a:extLst xmlns:a="http://schemas.openxmlformats.org/drawingml/2006/main">
                  <a:ext uri="{FF2B5EF4-FFF2-40B4-BE49-F238E27FC236}">
                    <a16:creationId xmlns:a16="http://schemas.microsoft.com/office/drawing/2014/main" id="{D3553198-E2FE-49FE-B673-39868D056F9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6572250"/>
                <a:ext cx="190500" cy="190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45" name="section02__143">
                <a:extLst xmlns:a="http://schemas.openxmlformats.org/drawingml/2006/main">
                  <a:ext uri="{FF2B5EF4-FFF2-40B4-BE49-F238E27FC236}">
                    <a16:creationId xmlns:a16="http://schemas.microsoft.com/office/drawing/2014/main" id="{4E06F053-9BF6-433A-8768-0D826A27E61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85850" y="6429375"/>
                <a:ext cx="25050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SmartFactory</a:t>
                </a:r>
              </a:p>
            </p:txBody>
          </p:sp>
          <p:sp>
            <p:nvSpPr>
              <p:cNvPr id="46" name="section02__144">
                <a:extLst xmlns:a="http://schemas.openxmlformats.org/drawingml/2006/main">
                  <a:ext uri="{FF2B5EF4-FFF2-40B4-BE49-F238E27FC236}">
                    <a16:creationId xmlns:a16="http://schemas.microsoft.com/office/drawing/2014/main" id="{CE9B9E32-0F0F-41BB-8219-B957D7043E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85850" y="6705600"/>
                <a:ext cx="2505075" cy="2190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Trend·Map 조회</a:t>
                </a:r>
              </a:p>
            </p:txBody>
          </p:sp>
          <p:sp>
            <p:nvSpPr>
              <p:cNvPr id="47" name="section02__145">
                <a:extLst xmlns:a="http://schemas.openxmlformats.org/drawingml/2006/main">
                  <a:ext uri="{FF2B5EF4-FFF2-40B4-BE49-F238E27FC236}">
                    <a16:creationId xmlns:a16="http://schemas.microsoft.com/office/drawing/2014/main" id="{771BE2C6-4C91-4755-99D9-781CC7F5861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5400000">
                <a:off x="2000250" y="7019925"/>
                <a:ext cx="238125" cy="1714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8" name="section02__146">
                <a:extLst xmlns:a="http://schemas.openxmlformats.org/drawingml/2006/main">
                  <a:ext uri="{FF2B5EF4-FFF2-40B4-BE49-F238E27FC236}">
                    <a16:creationId xmlns:a16="http://schemas.microsoft.com/office/drawing/2014/main" id="{3086B398-7B8D-4AA5-92C0-40770EFB78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" y="7229475"/>
                <a:ext cx="3295650" cy="590550"/>
              </a:xfrm>
              <a:prstGeom xmlns:a="http://schemas.openxmlformats.org/drawingml/2006/main" prst="roundRect">
                <a:avLst>
                  <a:gd name="adj" fmla="val 1290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9" name="section02__147">
                <a:extLst xmlns:a="http://schemas.openxmlformats.org/drawingml/2006/main">
                  <a:ext uri="{FF2B5EF4-FFF2-40B4-BE49-F238E27FC236}">
                    <a16:creationId xmlns:a16="http://schemas.microsoft.com/office/drawing/2014/main" id="{4E3C77E9-369D-4A21-B316-E9C6E70B342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7343775"/>
                <a:ext cx="342900" cy="3429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0" name="section02__148">
                <a:extLst xmlns:a="http://schemas.openxmlformats.org/drawingml/2006/main">
                  <a:ext uri="{FF2B5EF4-FFF2-40B4-BE49-F238E27FC236}">
                    <a16:creationId xmlns:a16="http://schemas.microsoft.com/office/drawing/2014/main" id="{C4B0AE8F-63E3-4F41-960C-346A4B3B89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7419975"/>
                <a:ext cx="190500" cy="190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51" name="section02__149">
                <a:extLst xmlns:a="http://schemas.openxmlformats.org/drawingml/2006/main">
                  <a:ext uri="{FF2B5EF4-FFF2-40B4-BE49-F238E27FC236}">
                    <a16:creationId xmlns:a16="http://schemas.microsoft.com/office/drawing/2014/main" id="{D5540AE1-09D8-4A54-8E5C-7A9E4BA6D9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85850" y="7277100"/>
                <a:ext cx="25050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Raw Data 추출</a:t>
                </a:r>
              </a:p>
            </p:txBody>
          </p:sp>
          <p:sp>
            <p:nvSpPr>
              <p:cNvPr id="52" name="section02__150">
                <a:extLst xmlns:a="http://schemas.openxmlformats.org/drawingml/2006/main">
                  <a:ext uri="{FF2B5EF4-FFF2-40B4-BE49-F238E27FC236}">
                    <a16:creationId xmlns:a16="http://schemas.microsoft.com/office/drawing/2014/main" id="{ECFDB2BC-A0F1-4D2A-8CD4-61753C5D6E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85850" y="7553325"/>
                <a:ext cx="2505075" cy="2190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분석용 데이터 준비</a:t>
                </a:r>
              </a:p>
            </p:txBody>
          </p:sp>
          <p:sp>
            <p:nvSpPr>
              <p:cNvPr id="53" name="section02__151">
                <a:extLst xmlns:a="http://schemas.openxmlformats.org/drawingml/2006/main">
                  <a:ext uri="{FF2B5EF4-FFF2-40B4-BE49-F238E27FC236}">
                    <a16:creationId xmlns:a16="http://schemas.microsoft.com/office/drawing/2014/main" id="{AC603B19-88C7-40A6-8642-B7661F4CC6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5400000">
                <a:off x="2000250" y="7867650"/>
                <a:ext cx="238125" cy="1714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4" name="section02__152">
                <a:extLst xmlns:a="http://schemas.openxmlformats.org/drawingml/2006/main">
                  <a:ext uri="{FF2B5EF4-FFF2-40B4-BE49-F238E27FC236}">
                    <a16:creationId xmlns:a16="http://schemas.microsoft.com/office/drawing/2014/main" id="{2D5DC151-184B-4DA4-9147-0208ABFE19A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" y="8077200"/>
                <a:ext cx="3295650" cy="590550"/>
              </a:xfrm>
              <a:prstGeom xmlns:a="http://schemas.openxmlformats.org/drawingml/2006/main" prst="roundRect">
                <a:avLst>
                  <a:gd name="adj" fmla="val 1290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5" name="section02__153">
                <a:extLst xmlns:a="http://schemas.openxmlformats.org/drawingml/2006/main">
                  <a:ext uri="{FF2B5EF4-FFF2-40B4-BE49-F238E27FC236}">
                    <a16:creationId xmlns:a16="http://schemas.microsoft.com/office/drawing/2014/main" id="{477C8B65-86E2-4742-942F-0CC66C558C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8191500"/>
                <a:ext cx="342900" cy="3429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6" name="section02__154">
                <a:extLst xmlns:a="http://schemas.openxmlformats.org/drawingml/2006/main">
                  <a:ext uri="{FF2B5EF4-FFF2-40B4-BE49-F238E27FC236}">
                    <a16:creationId xmlns:a16="http://schemas.microsoft.com/office/drawing/2014/main" id="{B73B2A0B-B7E9-40AC-AC4A-FA3B42E12A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8267700"/>
                <a:ext cx="190500" cy="190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  <p:sp>
            <p:nvSpPr>
              <p:cNvPr id="57" name="section02__155">
                <a:extLst xmlns:a="http://schemas.openxmlformats.org/drawingml/2006/main">
                  <a:ext uri="{FF2B5EF4-FFF2-40B4-BE49-F238E27FC236}">
                    <a16:creationId xmlns:a16="http://schemas.microsoft.com/office/drawing/2014/main" id="{A0510AA5-E889-4BCE-B353-3DE9134481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85850" y="8124825"/>
                <a:ext cx="25050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개별 분석 도구</a:t>
                </a:r>
              </a:p>
            </p:txBody>
          </p:sp>
          <p:sp>
            <p:nvSpPr>
              <p:cNvPr id="58" name="section02__156">
                <a:extLst xmlns:a="http://schemas.openxmlformats.org/drawingml/2006/main">
                  <a:ext uri="{FF2B5EF4-FFF2-40B4-BE49-F238E27FC236}">
                    <a16:creationId xmlns:a16="http://schemas.microsoft.com/office/drawing/2014/main" id="{1273FD5A-0198-4F47-9A62-AF85963CFC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85850" y="8401050"/>
                <a:ext cx="2505075" cy="2190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상세 분석 수행</a:t>
                </a:r>
              </a:p>
            </p:txBody>
          </p:sp>
          <p:sp>
            <p:nvSpPr>
              <p:cNvPr id="59" name="section02__157">
                <a:extLst xmlns:a="http://schemas.openxmlformats.org/drawingml/2006/main">
                  <a:ext uri="{FF2B5EF4-FFF2-40B4-BE49-F238E27FC236}">
                    <a16:creationId xmlns:a16="http://schemas.microsoft.com/office/drawing/2014/main" id="{C0802092-0DB6-4E58-A0E3-498711F590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85775" y="9029700"/>
                <a:ext cx="330517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직접 조회·정리·분석 연결</a:t>
                </a:r>
              </a:p>
              <a:p xmlns:a="http://schemas.openxmlformats.org/drawingml/2006/main">
                <a:pPr algn="ctr">
                  <a:def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후속 분석 선택은 개인 경험에 의존</a:t>
                </a:r>
              </a:p>
            </p:txBody>
          </p:sp>
          <p:sp>
            <p:nvSpPr>
              <p:cNvPr id="60" name="section02__158">
                <a:extLst xmlns:a="http://schemas.openxmlformats.org/drawingml/2006/main">
                  <a:ext uri="{FF2B5EF4-FFF2-40B4-BE49-F238E27FC236}">
                    <a16:creationId xmlns:a16="http://schemas.microsoft.com/office/drawing/2014/main" id="{7B84498D-3FF0-41CF-AA72-73A85CC242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10025" y="6962775"/>
                <a:ext cx="342900" cy="4000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1" name="section02__159">
                <a:extLst xmlns:a="http://schemas.openxmlformats.org/drawingml/2006/main">
                  <a:ext uri="{FF2B5EF4-FFF2-40B4-BE49-F238E27FC236}">
                    <a16:creationId xmlns:a16="http://schemas.microsoft.com/office/drawing/2014/main" id="{662664CD-02F8-4028-9AF4-0F0BDF4F838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91050" y="5514975"/>
                <a:ext cx="4914900" cy="466725"/>
              </a:xfrm>
              <a:prstGeom xmlns:a="http://schemas.openxmlformats.org/drawingml/2006/main" prst="roundRect">
                <a:avLst>
                  <a:gd name="adj" fmla="val 16327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2" name="section02__160">
                <a:extLst xmlns:a="http://schemas.openxmlformats.org/drawingml/2006/main">
                  <a:ext uri="{FF2B5EF4-FFF2-40B4-BE49-F238E27FC236}">
                    <a16:creationId xmlns:a16="http://schemas.microsoft.com/office/drawing/2014/main" id="{21034FFA-8C00-4BDB-A947-4B2917F24CB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667250" y="5562600"/>
                <a:ext cx="47625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“최근 제품의 수율 저하 원인을 분석해줘”</a:t>
                </a:r>
              </a:p>
            </p:txBody>
          </p:sp>
          <p:pic>
            <p:nvPicPr>
              <p:cNvPr id="150" name=""/>
              <p:cNvPicPr>
                <a:picLocks xmlns:a="http://schemas.openxmlformats.org/drawingml/2006/main" noChangeAspect="1"/>
              </p:cNvPicPr>
              <p:nvPr/>
            </p:nvPicPr>
            <p:blipFill>
              <a:blip xmlns:r="http://schemas.openxmlformats.org/officeDocument/2006/relationships" xmlns:a="http://schemas.openxmlformats.org/drawingml/2006/main" r:embed="R712a70f9ec7d4192"/>
              <a:stretch xmlns:a="http://schemas.openxmlformats.org/drawingml/2006/main"/>
            </p:blipFill>
            <p:spPr>
              <a:xfrm xmlns:a="http://schemas.openxmlformats.org/drawingml/2006/main">
                <a:off x="5251504" y="6153150"/>
                <a:ext cx="3603517" cy="2676525"/>
              </a:xfrm>
              <a:prstGeom xmlns:a="http://schemas.openxmlformats.org/drawingml/2006/main" prst="rect">
                <a:avLst/>
              </a:prstGeom>
            </p:spPr>
          </p:pic>
          <p:sp>
            <p:nvSpPr>
              <p:cNvPr id="64" name="section02__161">
                <a:extLst xmlns:a="http://schemas.openxmlformats.org/drawingml/2006/main">
                  <a:ext uri="{FF2B5EF4-FFF2-40B4-BE49-F238E27FC236}">
                    <a16:creationId xmlns:a16="http://schemas.microsoft.com/office/drawing/2014/main" id="{1212AED3-F269-4126-9F21-39D13C5C60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610100" y="8915400"/>
                <a:ext cx="1033463" cy="419100"/>
              </a:xfrm>
              <a:prstGeom xmlns:a="http://schemas.openxmlformats.org/drawingml/2006/main" prst="roundRect">
                <a:avLst>
                  <a:gd name="adj" fmla="val 18182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5" name="section02__162">
                <a:extLst xmlns:a="http://schemas.openxmlformats.org/drawingml/2006/main">
                  <a:ext uri="{FF2B5EF4-FFF2-40B4-BE49-F238E27FC236}">
                    <a16:creationId xmlns:a16="http://schemas.microsoft.com/office/drawing/2014/main" id="{928AE329-E0EE-46A5-85AB-339C2E716A8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695825" y="8991600"/>
                <a:ext cx="86201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수율일보</a:t>
                </a:r>
              </a:p>
            </p:txBody>
          </p:sp>
          <p:sp>
            <p:nvSpPr>
              <p:cNvPr id="66" name="section02__163">
                <a:extLst xmlns:a="http://schemas.openxmlformats.org/drawingml/2006/main">
                  <a:ext uri="{FF2B5EF4-FFF2-40B4-BE49-F238E27FC236}">
                    <a16:creationId xmlns:a16="http://schemas.microsoft.com/office/drawing/2014/main" id="{9448213C-A59E-46DD-90E9-0128AF349C2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81663" y="9048750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7" name="section02__164">
                <a:extLst xmlns:a="http://schemas.openxmlformats.org/drawingml/2006/main">
                  <a:ext uri="{FF2B5EF4-FFF2-40B4-BE49-F238E27FC236}">
                    <a16:creationId xmlns:a16="http://schemas.microsoft.com/office/drawing/2014/main" id="{D16F2AD8-8C17-4F96-A24D-355E062E846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91213" y="8915400"/>
                <a:ext cx="1033463" cy="419100"/>
              </a:xfrm>
              <a:prstGeom xmlns:a="http://schemas.openxmlformats.org/drawingml/2006/main" prst="roundRect">
                <a:avLst>
                  <a:gd name="adj" fmla="val 18182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8" name="section02__165">
                <a:extLst xmlns:a="http://schemas.openxmlformats.org/drawingml/2006/main">
                  <a:ext uri="{FF2B5EF4-FFF2-40B4-BE49-F238E27FC236}">
                    <a16:creationId xmlns:a16="http://schemas.microsoft.com/office/drawing/2014/main" id="{C50AC398-B5B7-4B8A-ADED-6E90CF0188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76938" y="8991600"/>
                <a:ext cx="86201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이상감지</a:t>
                </a:r>
              </a:p>
            </p:txBody>
          </p:sp>
          <p:sp>
            <p:nvSpPr>
              <p:cNvPr id="69" name="section02__166">
                <a:extLst xmlns:a="http://schemas.openxmlformats.org/drawingml/2006/main">
                  <a:ext uri="{FF2B5EF4-FFF2-40B4-BE49-F238E27FC236}">
                    <a16:creationId xmlns:a16="http://schemas.microsoft.com/office/drawing/2014/main" id="{C64CC50D-7AA3-4DF3-A9D6-2D45008214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962775" y="9048750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0" name="section02__167">
                <a:extLst xmlns:a="http://schemas.openxmlformats.org/drawingml/2006/main">
                  <a:ext uri="{FF2B5EF4-FFF2-40B4-BE49-F238E27FC236}">
                    <a16:creationId xmlns:a16="http://schemas.microsoft.com/office/drawing/2014/main" id="{4B74D46F-9748-4BB2-A0D6-B0F3FFA3C1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72325" y="8915400"/>
                <a:ext cx="1033463" cy="419100"/>
              </a:xfrm>
              <a:prstGeom xmlns:a="http://schemas.openxmlformats.org/drawingml/2006/main" prst="roundRect">
                <a:avLst>
                  <a:gd name="adj" fmla="val 18182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1" name="section02__168">
                <a:extLst xmlns:a="http://schemas.openxmlformats.org/drawingml/2006/main">
                  <a:ext uri="{FF2B5EF4-FFF2-40B4-BE49-F238E27FC236}">
                    <a16:creationId xmlns:a16="http://schemas.microsoft.com/office/drawing/2014/main" id="{CCCED931-1B74-4C6B-9148-001BC971F4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58050" y="8991600"/>
                <a:ext cx="86201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Map·연계분석</a:t>
                </a:r>
              </a:p>
            </p:txBody>
          </p:sp>
          <p:sp>
            <p:nvSpPr>
              <p:cNvPr id="72" name="section02__169">
                <a:extLst xmlns:a="http://schemas.openxmlformats.org/drawingml/2006/main">
                  <a:ext uri="{FF2B5EF4-FFF2-40B4-BE49-F238E27FC236}">
                    <a16:creationId xmlns:a16="http://schemas.microsoft.com/office/drawing/2014/main" id="{76415D91-24BC-4CC4-A16D-989BDC6D80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43888" y="9048750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3" name="section02__170">
                <a:extLst xmlns:a="http://schemas.openxmlformats.org/drawingml/2006/main">
                  <a:ext uri="{FF2B5EF4-FFF2-40B4-BE49-F238E27FC236}">
                    <a16:creationId xmlns:a16="http://schemas.microsoft.com/office/drawing/2014/main" id="{56BCB3FF-8734-4893-87F2-980D87C2654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453438" y="8915400"/>
                <a:ext cx="1033463" cy="419100"/>
              </a:xfrm>
              <a:prstGeom xmlns:a="http://schemas.openxmlformats.org/drawingml/2006/main" prst="roundRect">
                <a:avLst>
                  <a:gd name="adj" fmla="val 18182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4" name="section02__171">
                <a:extLst xmlns:a="http://schemas.openxmlformats.org/drawingml/2006/main">
                  <a:ext uri="{FF2B5EF4-FFF2-40B4-BE49-F238E27FC236}">
                    <a16:creationId xmlns:a16="http://schemas.microsoft.com/office/drawing/2014/main" id="{4E0B747A-0088-4398-9C45-AFA4846A30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539163" y="8991600"/>
                <a:ext cx="86201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Mining</a:t>
                </a:r>
              </a:p>
            </p:txBody>
          </p:sp>
          <p:sp>
            <p:nvSpPr>
              <p:cNvPr id="75" name="section02__172">
                <a:extLst xmlns:a="http://schemas.openxmlformats.org/drawingml/2006/main">
                  <a:ext uri="{FF2B5EF4-FFF2-40B4-BE49-F238E27FC236}">
                    <a16:creationId xmlns:a16="http://schemas.microsoft.com/office/drawing/2014/main" id="{D2CCBB94-8476-46D3-AB03-2E5CC987B02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600575" y="9458325"/>
                <a:ext cx="49053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결과 확인 후 후속 분석을 선택·확장</a:t>
                </a:r>
              </a:p>
            </p:txBody>
          </p:sp>
        </p:grpSp>
        <p:grpSp>
          <p:nvGrpSpPr>
            <p:cNvPr id="10003" name="3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76" name="section03__173">
                <a:extLst xmlns:a="http://schemas.openxmlformats.org/drawingml/2006/main">
                  <a:ext uri="{FF2B5EF4-FFF2-40B4-BE49-F238E27FC236}">
                    <a16:creationId xmlns:a16="http://schemas.microsoft.com/office/drawing/2014/main" id="{C6CC01E7-AF17-48A3-B8C4-5A25B46791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10010775"/>
                <a:ext cx="9601200" cy="2781300"/>
              </a:xfrm>
              <a:prstGeom xmlns:a="http://schemas.openxmlformats.org/drawingml/2006/main" prst="roundRect">
                <a:avLst>
                  <a:gd name="adj" fmla="val 274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7" name="section03__174">
                <a:extLst xmlns:a="http://schemas.openxmlformats.org/drawingml/2006/main">
                  <a:ext uri="{FF2B5EF4-FFF2-40B4-BE49-F238E27FC236}">
                    <a16:creationId xmlns:a16="http://schemas.microsoft.com/office/drawing/2014/main" id="{AE643752-753F-4AFE-B195-58997199BC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10020300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8" name="section03__175">
                <a:extLst xmlns:a="http://schemas.openxmlformats.org/drawingml/2006/main">
                  <a:ext uri="{FF2B5EF4-FFF2-40B4-BE49-F238E27FC236}">
                    <a16:creationId xmlns:a16="http://schemas.microsoft.com/office/drawing/2014/main" id="{4624BEFC-3D61-482D-B539-AD799AF25AE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10020300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9" name="section03__176">
                <a:extLst xmlns:a="http://schemas.openxmlformats.org/drawingml/2006/main">
                  <a:ext uri="{FF2B5EF4-FFF2-40B4-BE49-F238E27FC236}">
                    <a16:creationId xmlns:a16="http://schemas.microsoft.com/office/drawing/2014/main" id="{8B8E66FC-8CDF-4CBB-835B-C170330719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10010775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03</a:t>
                </a:r>
              </a:p>
            </p:txBody>
          </p:sp>
          <p:sp>
            <p:nvSpPr>
              <p:cNvPr id="80" name="section03__177">
                <a:extLst xmlns:a="http://schemas.openxmlformats.org/drawingml/2006/main">
                  <a:ext uri="{FF2B5EF4-FFF2-40B4-BE49-F238E27FC236}">
                    <a16:creationId xmlns:a16="http://schemas.microsoft.com/office/drawing/2014/main" id="{F7C1D29A-92C0-46EA-9313-AD788A6277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10010775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역할 분담  ·  Agent가 분석을 연결하고 엔지니어가 판단·선택</a:t>
                </a:r>
              </a:p>
            </p:txBody>
          </p:sp>
          <p:sp>
            <p:nvSpPr>
              <p:cNvPr id="82" name="section03__178">
                <a:extLst xmlns:a="http://schemas.openxmlformats.org/drawingml/2006/main">
                  <a:ext uri="{FF2B5EF4-FFF2-40B4-BE49-F238E27FC236}">
                    <a16:creationId xmlns:a16="http://schemas.microsoft.com/office/drawing/2014/main" id="{7F25CF7E-3E71-4E2E-9EA4-914D9D6BB62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12296775"/>
                <a:ext cx="9191625" cy="333375"/>
              </a:xfrm>
              <a:prstGeom xmlns:a="http://schemas.openxmlformats.org/drawingml/2006/main" prst="roundRect">
                <a:avLst>
                  <a:gd name="adj" fmla="val 22857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3" name="section03__179">
                <a:extLst xmlns:a="http://schemas.openxmlformats.org/drawingml/2006/main">
                  <a:ext uri="{FF2B5EF4-FFF2-40B4-BE49-F238E27FC236}">
                    <a16:creationId xmlns:a16="http://schemas.microsoft.com/office/drawing/2014/main" id="{C7EBC5FD-3928-4A63-9C44-64E8A001FDE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4350" y="12296775"/>
                <a:ext cx="9001125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기본 Workflow 활용 + 엔지니어 주도 분석  ·  결과에 따라 이전 단계로 돌아가 추가 분석</a:t>
                </a:r>
              </a:p>
            </p:txBody>
          </p:sp>
        </p:grpSp>
        <p:grpSp>
          <p:nvGrpSpPr>
            <p:cNvPr id="10004" name="핵심 메시지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84" name="footer__180">
                <a:extLst xmlns:a="http://schemas.openxmlformats.org/drawingml/2006/main">
                  <a:ext uri="{FF2B5EF4-FFF2-40B4-BE49-F238E27FC236}">
                    <a16:creationId xmlns:a16="http://schemas.microsoft.com/office/drawing/2014/main" id="{B4E9A004-1FFE-4F3A-9253-B7F0CEB8240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28600" y="12963525"/>
                <a:ext cx="9582150" cy="904875"/>
              </a:xfrm>
              <a:prstGeom xmlns:a="http://schemas.openxmlformats.org/drawingml/2006/main" prst="roundRect">
                <a:avLst>
                  <a:gd name="adj" fmla="val 8421"/>
                </a:avLst>
              </a:prstGeom>
              <a:solidFill xmlns:a="http://schemas.openxmlformats.org/drawingml/2006/main">
                <a:srgbClr val="2E404D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5" name="footer__181">
                <a:extLst xmlns:a="http://schemas.openxmlformats.org/drawingml/2006/main">
                  <a:ext uri="{FF2B5EF4-FFF2-40B4-BE49-F238E27FC236}">
                    <a16:creationId xmlns:a16="http://schemas.microsoft.com/office/drawing/2014/main" id="{4D2801B3-163E-4079-B723-7EBC7A79048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3087350"/>
                <a:ext cx="9182100" cy="638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분석 업무 효율화 · 분석 방법 표준화 · 분석 품질·신뢰도 향상</a:t>
                </a:r>
              </a:p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숙련자의 분석 방법을 누구나 활용하는 수율 분석 체계</a:t>
                </a:r>
              </a:p>
            </p:txBody>
          </p:sp>
          <p:sp>
            <p:nvSpPr>
              <p:cNvPr id="86" name="footer__182">
                <a:extLst xmlns:a="http://schemas.openxmlformats.org/drawingml/2006/main">
                  <a:ext uri="{FF2B5EF4-FFF2-40B4-BE49-F238E27FC236}">
                    <a16:creationId xmlns:a16="http://schemas.microsoft.com/office/drawing/2014/main" id="{D2289466-F962-42BC-9A6E-F8BCCED03F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3954125"/>
                <a:ext cx="82867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Y-Agent · 수율분석 혁신</a:t>
                </a:r>
              </a:p>
            </p:txBody>
          </p:sp>
          <p:sp>
            <p:nvSpPr>
              <p:cNvPr id="87" name="footer__183">
                <a:extLst xmlns:a="http://schemas.openxmlformats.org/drawingml/2006/main">
                  <a:ext uri="{FF2B5EF4-FFF2-40B4-BE49-F238E27FC236}">
                    <a16:creationId xmlns:a16="http://schemas.microsoft.com/office/drawing/2014/main" id="{75969AB2-BD2F-4D17-BE0C-E7EECE2F482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53525" y="13954125"/>
                <a:ext cx="5143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02</a:t>
                </a:r>
              </a:p>
            </p:txBody>
          </p:sp>
        </p:grpSp>
        <p:graphicFrame>
          <p:nvGraphicFramePr>
            <p:cNvPr id="168" name=""/>
            <p:cNvGraphicFramePr/>
            <p:nvPr/>
          </p:nvGraphicFramePr>
          <p:xfrm>
            <a:off xmlns:a="http://schemas.openxmlformats.org/drawingml/2006/main" x="409575" y="10544175"/>
            <a:ext xmlns:a="http://schemas.openxmlformats.org/drawingml/2006/main" cx="9210675" cy="1590675"/>
          </p:xfrm>
          <a:graphic xmlns:a="http://schemas.openxmlformats.org/drawingml/2006/main">
            <a:graphicData uri="http://schemas.openxmlformats.org/drawingml/2006/table">
              <a:tbl>
                <a:tblPr/>
                <a:tblGrid>
                  <a:gridCol w="1842135"/>
                  <a:gridCol w="1842135"/>
                  <a:gridCol w="1842135"/>
                  <a:gridCol w="1842135"/>
                  <a:gridCol w="1842135"/>
                </a:tblGrid>
                <a:tr h="53022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역할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① 수율 점검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② 대상 선정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③ 전문 분석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④ 결과·확장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</a:tr>
                <a:tr h="53022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Agent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기간별 분석</a:t>
                        </a:r>
                      </a:p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열화 감지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Fail List 제안</a:t>
                        </a:r>
                      </a:p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분석 방법 추천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분석 수행</a:t>
                        </a:r>
                      </a:p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정리·시각화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후속 분석 추천</a:t>
                        </a:r>
                      </a:p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추가 분석 제안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</a:tr>
                <a:tr h="53022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엔지니어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기간·목적 요청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대상 Fail</a:t>
                        </a:r>
                      </a:p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검토·선택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분석 방법 선택</a:t>
                        </a:r>
                      </a:p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조건·방향 조정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결과 확인</a:t>
                        </a:r>
                      </a:p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추가 분석 요청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9307639"/>
      </p:ext>
    </p:extLst>
  </p:cSld>
</p:sld>
</file>

<file path=import1/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99999" name="Original slide content"/>
          <p:cNvGrpSpPr/>
          <p:nvPr/>
        </p:nvGrpSpPr>
        <p:grpSpPr>
          <ns0:xfrm xmlns:ns0="http://schemas.openxmlformats.org/drawingml/2006/main">
            <ns0:off x="3211" y="0"/>
            <ns0:ext cx="7556428" cy="10696575"/>
            <ns0:chOff x="0" y="0"/>
            <ns0:chExt cx="10039350" cy="14211300"/>
          </ns0:xfrm>
        </p:grpSpPr>
        <p:grpSp>
          <p:nvGrpSpPr>
            <p:cNvPr id="10000" name="제목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98" name="header__184">
                <a:extLst xmlns:a="http://schemas.openxmlformats.org/drawingml/2006/main">
                  <a:ext uri="{FF2B5EF4-FFF2-40B4-BE49-F238E27FC236}">
                    <a16:creationId xmlns:a16="http://schemas.microsoft.com/office/drawing/2014/main" id="{9570CE99-CFB2-49EA-B215-DFE9C264042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71450"/>
                <a:ext cx="11334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SK hynix</a:t>
                </a:r>
              </a:p>
            </p:txBody>
          </p:sp>
          <p:sp>
            <p:nvSpPr>
              <p:cNvPr id="2" name="header__185">
                <a:extLst xmlns:a="http://schemas.openxmlformats.org/drawingml/2006/main">
                  <a:ext uri="{FF2B5EF4-FFF2-40B4-BE49-F238E27FC236}">
                    <a16:creationId xmlns:a16="http://schemas.microsoft.com/office/drawing/2014/main" id="{0B2BDA53-8934-4981-A78F-CF2175276E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00200" y="171450"/>
                <a:ext cx="47625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공적 사례상세</a:t>
                </a:r>
              </a:p>
            </p:txBody>
          </p:sp>
          <p:sp>
            <p:nvSpPr>
              <p:cNvPr id="3" name="header__186">
                <a:extLst xmlns:a="http://schemas.openxmlformats.org/drawingml/2006/main">
                  <a:ext uri="{FF2B5EF4-FFF2-40B4-BE49-F238E27FC236}">
                    <a16:creationId xmlns:a16="http://schemas.microsoft.com/office/drawing/2014/main" id="{1F0BAEA0-78E2-4841-9A6C-1707831F6CE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772525" y="171450"/>
                <a:ext cx="8667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03 / 06</a:t>
                </a:r>
              </a:p>
            </p:txBody>
          </p:sp>
          <p:sp>
            <p:nvSpPr>
              <p:cNvPr id="4" name="header__187">
                <a:extLst xmlns:a="http://schemas.openxmlformats.org/drawingml/2006/main">
                  <a:ext uri="{FF2B5EF4-FFF2-40B4-BE49-F238E27FC236}">
                    <a16:creationId xmlns:a16="http://schemas.microsoft.com/office/drawing/2014/main" id="{F53337C2-B150-458A-9ED4-9049214B916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1950" y="533400"/>
                <a:ext cx="931545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5" name="header__188">
                <a:extLst xmlns:a="http://schemas.openxmlformats.org/drawingml/2006/main">
                  <a:ext uri="{FF2B5EF4-FFF2-40B4-BE49-F238E27FC236}">
                    <a16:creationId xmlns:a16="http://schemas.microsoft.com/office/drawing/2014/main" id="{C3B71E38-A5BB-4DDC-A3E9-EB4D7E07923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742950"/>
                <a:ext cx="9286875" cy="1038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도메인 지식을 내재화한</a:t>
                </a:r>
              </a:p>
              <a:p xmlns:a="http://schemas.openxmlformats.org/drawingml/2006/main">
                <a:pPr algn="l">
                  <a:def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13개 전문 Agent · 24개 Tool</a:t>
                </a:r>
              </a:p>
            </p:txBody>
          </p:sp>
          <p:sp>
            <p:nvSpPr>
              <p:cNvPr id="6" name="header__189">
                <a:extLst xmlns:a="http://schemas.openxmlformats.org/drawingml/2006/main">
                  <a:ext uri="{FF2B5EF4-FFF2-40B4-BE49-F238E27FC236}">
                    <a16:creationId xmlns:a16="http://schemas.microsoft.com/office/drawing/2014/main" id="{B465C417-34B7-47C8-86CF-EBD21FC7ABD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81000" y="1866900"/>
                <a:ext cx="92392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숙련자의 판단 기준을 실제로 실행하는 전문 분석 역량으로 구현</a:t>
                </a:r>
              </a:p>
            </p:txBody>
          </p:sp>
        </p:grpSp>
        <p:grpSp>
          <p:nvGrpSpPr>
            <p:cNvPr id="10001" name="1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7" name="section01__190">
                <a:extLst xmlns:a="http://schemas.openxmlformats.org/drawingml/2006/main">
                  <a:ext uri="{FF2B5EF4-FFF2-40B4-BE49-F238E27FC236}">
                    <a16:creationId xmlns:a16="http://schemas.microsoft.com/office/drawing/2014/main" id="{640207AD-2E3C-48D0-906D-D8F590CE8FA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2400300"/>
                <a:ext cx="9601200" cy="2990850"/>
              </a:xfrm>
              <a:prstGeom xmlns:a="http://schemas.openxmlformats.org/drawingml/2006/main" prst="roundRect">
                <a:avLst>
                  <a:gd name="adj" fmla="val 2548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" name="section01__191">
                <a:extLst xmlns:a="http://schemas.openxmlformats.org/drawingml/2006/main">
                  <a:ext uri="{FF2B5EF4-FFF2-40B4-BE49-F238E27FC236}">
                    <a16:creationId xmlns:a16="http://schemas.microsoft.com/office/drawing/2014/main" id="{95CB350F-D5FE-42D7-8CFB-5A0F0187EC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" name="section01__192">
                <a:extLst xmlns:a="http://schemas.openxmlformats.org/drawingml/2006/main">
                  <a:ext uri="{FF2B5EF4-FFF2-40B4-BE49-F238E27FC236}">
                    <a16:creationId xmlns:a16="http://schemas.microsoft.com/office/drawing/2014/main" id="{BC892477-60C2-4506-B734-5B80BB0696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0" name="section01__193">
                <a:extLst xmlns:a="http://schemas.openxmlformats.org/drawingml/2006/main">
                  <a:ext uri="{FF2B5EF4-FFF2-40B4-BE49-F238E27FC236}">
                    <a16:creationId xmlns:a16="http://schemas.microsoft.com/office/drawing/2014/main" id="{28823CAC-57EF-4DE5-AD77-BBD7086347C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24003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01</a:t>
                </a:r>
              </a:p>
            </p:txBody>
          </p:sp>
          <p:sp>
            <p:nvSpPr>
              <p:cNvPr id="11" name="section01__194">
                <a:extLst xmlns:a="http://schemas.openxmlformats.org/drawingml/2006/main">
                  <a:ext uri="{FF2B5EF4-FFF2-40B4-BE49-F238E27FC236}">
                    <a16:creationId xmlns:a16="http://schemas.microsoft.com/office/drawing/2014/main" id="{3270B19B-D480-4005-BC0F-91CBAD254A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24003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현업 지식이 분석 능력으로 바뀌는 구조</a:t>
                </a:r>
              </a:p>
            </p:txBody>
          </p:sp>
          <p:sp>
            <p:nvSpPr>
              <p:cNvPr id="12" name="section01__195">
                <a:extLst xmlns:a="http://schemas.openxmlformats.org/drawingml/2006/main">
                  <a:ext uri="{FF2B5EF4-FFF2-40B4-BE49-F238E27FC236}">
                    <a16:creationId xmlns:a16="http://schemas.microsoft.com/office/drawing/2014/main" id="{043B8AFE-57D7-4F58-BB1A-74CCF067A0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0050" y="2924175"/>
                <a:ext cx="2390775" cy="342900"/>
              </a:xfrm>
              <a:prstGeom xmlns:a="http://schemas.openxmlformats.org/drawingml/2006/main" prst="roundRect">
                <a:avLst>
                  <a:gd name="adj" fmla="val 22222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3" name="section01__196">
                <a:extLst xmlns:a="http://schemas.openxmlformats.org/drawingml/2006/main">
                  <a:ext uri="{FF2B5EF4-FFF2-40B4-BE49-F238E27FC236}">
                    <a16:creationId xmlns:a16="http://schemas.microsoft.com/office/drawing/2014/main" id="{29B06604-83F2-4EBD-B856-92423E5B3E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47675" y="2924175"/>
                <a:ext cx="2295525" cy="342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현업 도메인 지식</a:t>
                </a:r>
              </a:p>
            </p:txBody>
          </p:sp>
          <p:sp>
            <p:nvSpPr>
              <p:cNvPr id="14" name="section01__197">
                <a:extLst xmlns:a="http://schemas.openxmlformats.org/drawingml/2006/main">
                  <a:ext uri="{FF2B5EF4-FFF2-40B4-BE49-F238E27FC236}">
                    <a16:creationId xmlns:a16="http://schemas.microsoft.com/office/drawing/2014/main" id="{EC76E780-6162-4736-8FD5-1E9AA14F124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105150" y="2924175"/>
                <a:ext cx="3295650" cy="342900"/>
              </a:xfrm>
              <a:prstGeom xmlns:a="http://schemas.openxmlformats.org/drawingml/2006/main" prst="roundRect">
                <a:avLst>
                  <a:gd name="adj" fmla="val 22222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5" name="section01__198">
                <a:extLst xmlns:a="http://schemas.openxmlformats.org/drawingml/2006/main">
                  <a:ext uri="{FF2B5EF4-FFF2-40B4-BE49-F238E27FC236}">
                    <a16:creationId xmlns:a16="http://schemas.microsoft.com/office/drawing/2014/main" id="{BC34C48A-A5C8-4FAC-99B7-B09FC0A7AA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152775" y="2924175"/>
                <a:ext cx="3200400" cy="342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Agent 분석 Logic</a:t>
                </a:r>
              </a:p>
            </p:txBody>
          </p:sp>
          <p:sp>
            <p:nvSpPr>
              <p:cNvPr id="16" name="section01__199">
                <a:extLst xmlns:a="http://schemas.openxmlformats.org/drawingml/2006/main">
                  <a:ext uri="{FF2B5EF4-FFF2-40B4-BE49-F238E27FC236}">
                    <a16:creationId xmlns:a16="http://schemas.microsoft.com/office/drawing/2014/main" id="{C3BB018D-132D-4686-929D-57C613DA17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15125" y="2924175"/>
                <a:ext cx="2914650" cy="342900"/>
              </a:xfrm>
              <a:prstGeom xmlns:a="http://schemas.openxmlformats.org/drawingml/2006/main" prst="roundRect">
                <a:avLst>
                  <a:gd name="adj" fmla="val 22222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7" name="section01__200">
                <a:extLst xmlns:a="http://schemas.openxmlformats.org/drawingml/2006/main">
                  <a:ext uri="{FF2B5EF4-FFF2-40B4-BE49-F238E27FC236}">
                    <a16:creationId xmlns:a16="http://schemas.microsoft.com/office/drawing/2014/main" id="{542DA072-5CD9-4550-8FB3-2F7CE3EEAA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62750" y="2924175"/>
                <a:ext cx="2819400" cy="342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분석 수행 체계</a:t>
                </a:r>
              </a:p>
            </p:txBody>
          </p:sp>
          <p:sp>
            <p:nvSpPr>
              <p:cNvPr id="18" name="section01__201">
                <a:extLst xmlns:a="http://schemas.openxmlformats.org/drawingml/2006/main">
                  <a:ext uri="{FF2B5EF4-FFF2-40B4-BE49-F238E27FC236}">
                    <a16:creationId xmlns:a16="http://schemas.microsoft.com/office/drawing/2014/main" id="{9F8EE4C6-D56C-4708-A916-34D4618AAB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" y="3409950"/>
                <a:ext cx="2381250" cy="1714500"/>
              </a:xfrm>
              <a:prstGeom xmlns:a="http://schemas.openxmlformats.org/drawingml/2006/main" prst="roundRect">
                <a:avLst>
                  <a:gd name="adj" fmla="val 4444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19" name="section01__202">
                <a:extLst xmlns:a="http://schemas.openxmlformats.org/drawingml/2006/main">
                  <a:ext uri="{FF2B5EF4-FFF2-40B4-BE49-F238E27FC236}">
                    <a16:creationId xmlns:a16="http://schemas.microsoft.com/office/drawing/2014/main" id="{B89F9C86-29E4-43C0-847D-587ED65F2C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1975" y="3571875"/>
                <a:ext cx="2095500" cy="1381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불량별 분석 관점</a:t>
                </a:r>
              </a:p>
              <a:p xmlns:a="http://schemas.openxmlformats.org/drawingml/2006/main">
                <a:pPr algn="l">
                  <a:def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공정 특성 이해</a:t>
                </a:r>
              </a:p>
              <a:p xmlns:a="http://schemas.openxmlformats.org/drawingml/2006/main">
                <a:pPr algn="l">
                  <a:def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데이터 해석 기준</a:t>
                </a:r>
              </a:p>
              <a:p xmlns:a="http://schemas.openxmlformats.org/drawingml/2006/main">
                <a:pPr algn="l">
                  <a:def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원인 추적 Know-how</a:t>
                </a:r>
              </a:p>
              <a:p xmlns:a="http://schemas.openxmlformats.org/drawingml/2006/main">
                <a:pPr algn="l">
                  <a:def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 연결 순서</a:t>
                </a:r>
              </a:p>
            </p:txBody>
          </p:sp>
          <p:sp>
            <p:nvSpPr>
              <p:cNvPr id="20" name="section01__203">
                <a:extLst xmlns:a="http://schemas.openxmlformats.org/drawingml/2006/main">
                  <a:ext uri="{FF2B5EF4-FFF2-40B4-BE49-F238E27FC236}">
                    <a16:creationId xmlns:a16="http://schemas.microsoft.com/office/drawing/2014/main" id="{0D39BB25-B457-4FF0-8F57-D92E00BAE4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47975" y="4095750"/>
                <a:ext cx="209550" cy="2190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1" name="section01__204">
                <a:extLst xmlns:a="http://schemas.openxmlformats.org/drawingml/2006/main">
                  <a:ext uri="{FF2B5EF4-FFF2-40B4-BE49-F238E27FC236}">
                    <a16:creationId xmlns:a16="http://schemas.microsoft.com/office/drawing/2014/main" id="{82D3383F-A9CB-4D58-8275-4B880187A73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143250" y="3390900"/>
                <a:ext cx="3219450" cy="447675"/>
              </a:xfrm>
              <a:prstGeom xmlns:a="http://schemas.openxmlformats.org/drawingml/2006/main" prst="roundRect">
                <a:avLst>
                  <a:gd name="adj" fmla="val 17021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2" name="section01__205">
                <a:extLst xmlns:a="http://schemas.openxmlformats.org/drawingml/2006/main">
                  <a:ext uri="{FF2B5EF4-FFF2-40B4-BE49-F238E27FC236}">
                    <a16:creationId xmlns:a16="http://schemas.microsoft.com/office/drawing/2014/main" id="{86C4DF0A-5B8C-4B17-B748-FA46D5A486F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219450" y="3419475"/>
                <a:ext cx="3067050" cy="381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무엇을 확인할지</a:t>
                </a:r>
              </a:p>
            </p:txBody>
          </p:sp>
          <p:sp>
            <p:nvSpPr>
              <p:cNvPr id="23" name="section01__206">
                <a:extLst xmlns:a="http://schemas.openxmlformats.org/drawingml/2006/main">
                  <a:ext uri="{FF2B5EF4-FFF2-40B4-BE49-F238E27FC236}">
                    <a16:creationId xmlns:a16="http://schemas.microsoft.com/office/drawing/2014/main" id="{25F7217F-2DE9-409C-BF7F-DE47893DD2E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143250" y="3962400"/>
                <a:ext cx="3219450" cy="447675"/>
              </a:xfrm>
              <a:prstGeom xmlns:a="http://schemas.openxmlformats.org/drawingml/2006/main" prst="roundRect">
                <a:avLst>
                  <a:gd name="adj" fmla="val 17021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4" name="section01__207">
                <a:extLst xmlns:a="http://schemas.openxmlformats.org/drawingml/2006/main">
                  <a:ext uri="{FF2B5EF4-FFF2-40B4-BE49-F238E27FC236}">
                    <a16:creationId xmlns:a16="http://schemas.microsoft.com/office/drawing/2014/main" id="{4F95460F-C310-4CA3-909C-312379C0DA0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219450" y="3990975"/>
                <a:ext cx="3067050" cy="381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어떻게 해석할지</a:t>
                </a:r>
              </a:p>
            </p:txBody>
          </p:sp>
          <p:sp>
            <p:nvSpPr>
              <p:cNvPr id="25" name="section01__208">
                <a:extLst xmlns:a="http://schemas.openxmlformats.org/drawingml/2006/main">
                  <a:ext uri="{FF2B5EF4-FFF2-40B4-BE49-F238E27FC236}">
                    <a16:creationId xmlns:a16="http://schemas.microsoft.com/office/drawing/2014/main" id="{420D45CE-F75F-4DBD-8219-9609DCC5C3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143250" y="4533900"/>
                <a:ext cx="3219450" cy="447675"/>
              </a:xfrm>
              <a:prstGeom xmlns:a="http://schemas.openxmlformats.org/drawingml/2006/main" prst="roundRect">
                <a:avLst>
                  <a:gd name="adj" fmla="val 17021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6" name="section01__209">
                <a:extLst xmlns:a="http://schemas.openxmlformats.org/drawingml/2006/main">
                  <a:ext uri="{FF2B5EF4-FFF2-40B4-BE49-F238E27FC236}">
                    <a16:creationId xmlns:a16="http://schemas.microsoft.com/office/drawing/2014/main" id="{2379ECD9-9D92-4B8E-AC64-820DBCE185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219450" y="4562475"/>
                <a:ext cx="3067050" cy="381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어떤 후속 분석으로 연결할지</a:t>
                </a:r>
              </a:p>
            </p:txBody>
          </p:sp>
          <p:sp>
            <p:nvSpPr>
              <p:cNvPr id="27" name="section01__210">
                <a:extLst xmlns:a="http://schemas.openxmlformats.org/drawingml/2006/main">
                  <a:ext uri="{FF2B5EF4-FFF2-40B4-BE49-F238E27FC236}">
                    <a16:creationId xmlns:a16="http://schemas.microsoft.com/office/drawing/2014/main" id="{ABE55F4E-73D2-43B7-AAB6-147E122636A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457950" y="4095750"/>
                <a:ext cx="209550" cy="2190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8" name="section01__211">
                <a:extLst xmlns:a="http://schemas.openxmlformats.org/drawingml/2006/main">
                  <a:ext uri="{FF2B5EF4-FFF2-40B4-BE49-F238E27FC236}">
                    <a16:creationId xmlns:a16="http://schemas.microsoft.com/office/drawing/2014/main" id="{3746B8AD-B91A-4582-A07B-CB38DA9981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53225" y="3381375"/>
                <a:ext cx="1323975" cy="838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50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50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13</a:t>
                </a:r>
              </a:p>
            </p:txBody>
          </p:sp>
          <p:sp>
            <p:nvSpPr>
              <p:cNvPr id="29" name="section01__212">
                <a:extLst xmlns:a="http://schemas.openxmlformats.org/drawingml/2006/main">
                  <a:ext uri="{FF2B5EF4-FFF2-40B4-BE49-F238E27FC236}">
                    <a16:creationId xmlns:a16="http://schemas.microsoft.com/office/drawing/2014/main" id="{93A53186-476D-4E07-BDC7-4668FCBD069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53225" y="4219575"/>
                <a:ext cx="1323975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전문 Agent</a:t>
                </a:r>
              </a:p>
            </p:txBody>
          </p:sp>
          <p:sp>
            <p:nvSpPr>
              <p:cNvPr id="30" name="section01__213">
                <a:extLst xmlns:a="http://schemas.openxmlformats.org/drawingml/2006/main">
                  <a:ext uri="{FF2B5EF4-FFF2-40B4-BE49-F238E27FC236}">
                    <a16:creationId xmlns:a16="http://schemas.microsoft.com/office/drawing/2014/main" id="{86CE40E0-27BB-4B20-80CF-F5AB525FAFA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62925" y="3381375"/>
                <a:ext cx="1381125" cy="838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50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50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24</a:t>
                </a:r>
              </a:p>
            </p:txBody>
          </p:sp>
          <p:sp>
            <p:nvSpPr>
              <p:cNvPr id="31" name="section01__214">
                <a:extLst xmlns:a="http://schemas.openxmlformats.org/drawingml/2006/main">
                  <a:ext uri="{FF2B5EF4-FFF2-40B4-BE49-F238E27FC236}">
                    <a16:creationId xmlns:a16="http://schemas.microsoft.com/office/drawing/2014/main" id="{62A710D4-CC59-4DA9-9A08-B2EB7BDF0D1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62925" y="4219575"/>
                <a:ext cx="1381125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Tool</a:t>
                </a:r>
              </a:p>
            </p:txBody>
          </p:sp>
          <p:sp>
            <p:nvSpPr>
              <p:cNvPr id="32" name="section01__215">
                <a:extLst xmlns:a="http://schemas.openxmlformats.org/drawingml/2006/main">
                  <a:ext uri="{FF2B5EF4-FFF2-40B4-BE49-F238E27FC236}">
                    <a16:creationId xmlns:a16="http://schemas.microsoft.com/office/drawing/2014/main" id="{46857CD4-3A09-4CA5-B2F4-9223548236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10375" y="4667250"/>
                <a:ext cx="2733675" cy="457200"/>
              </a:xfrm>
              <a:prstGeom xmlns:a="http://schemas.openxmlformats.org/drawingml/2006/main" prst="roundRect">
                <a:avLst>
                  <a:gd name="adj" fmla="val 16667"/>
                </a:avLst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3" name="section01__216">
                <a:extLst xmlns:a="http://schemas.openxmlformats.org/drawingml/2006/main">
                  <a:ext uri="{FF2B5EF4-FFF2-40B4-BE49-F238E27FC236}">
                    <a16:creationId xmlns:a16="http://schemas.microsoft.com/office/drawing/2014/main" id="{F3F91491-8C2A-472A-AD89-7FC1F35B18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86575" y="4695825"/>
                <a:ext cx="2581275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Super Agent · End-to-End</a:t>
                </a:r>
              </a:p>
            </p:txBody>
          </p:sp>
        </p:grpSp>
        <p:grpSp>
          <p:nvGrpSpPr>
            <p:cNvPr id="10002" name="2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34" name="section02__217">
                <a:extLst xmlns:a="http://schemas.openxmlformats.org/drawingml/2006/main">
                  <a:ext uri="{FF2B5EF4-FFF2-40B4-BE49-F238E27FC236}">
                    <a16:creationId xmlns:a16="http://schemas.microsoft.com/office/drawing/2014/main" id="{9FB2B7AC-1C85-453F-83CB-669E2FFF7B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5562600"/>
                <a:ext cx="9601200" cy="4638675"/>
              </a:xfrm>
              <a:prstGeom xmlns:a="http://schemas.openxmlformats.org/drawingml/2006/main" prst="roundRect">
                <a:avLst>
                  <a:gd name="adj" fmla="val 16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35" name="section02__218">
                <a:extLst xmlns:a="http://schemas.openxmlformats.org/drawingml/2006/main">
                  <a:ext uri="{FF2B5EF4-FFF2-40B4-BE49-F238E27FC236}">
                    <a16:creationId xmlns:a16="http://schemas.microsoft.com/office/drawing/2014/main" id="{A6193E08-F81A-4603-9FA9-BD06BB1F4CB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55721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6" name="section02__219">
                <a:extLst xmlns:a="http://schemas.openxmlformats.org/drawingml/2006/main">
                  <a:ext uri="{FF2B5EF4-FFF2-40B4-BE49-F238E27FC236}">
                    <a16:creationId xmlns:a16="http://schemas.microsoft.com/office/drawing/2014/main" id="{48CBB346-15FE-41AB-BBF6-B969CB406B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55721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7" name="section02__220">
                <a:extLst xmlns:a="http://schemas.openxmlformats.org/drawingml/2006/main">
                  <a:ext uri="{FF2B5EF4-FFF2-40B4-BE49-F238E27FC236}">
                    <a16:creationId xmlns:a16="http://schemas.microsoft.com/office/drawing/2014/main" id="{006D5727-B138-434F-BC6D-A17E213582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55626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02</a:t>
                </a:r>
              </a:p>
            </p:txBody>
          </p:sp>
          <p:sp>
            <p:nvSpPr>
              <p:cNvPr id="38" name="section02__221">
                <a:extLst xmlns:a="http://schemas.openxmlformats.org/drawingml/2006/main">
                  <a:ext uri="{FF2B5EF4-FFF2-40B4-BE49-F238E27FC236}">
                    <a16:creationId xmlns:a16="http://schemas.microsoft.com/office/drawing/2014/main" id="{FF08650B-3B6F-492F-99ED-CD62DC61E0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55626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대표 구현 사례  ·  현업 로직 + 머신러닝·Wafer Map</a:t>
                </a:r>
              </a:p>
            </p:txBody>
          </p:sp>
          <p:sp>
            <p:nvSpPr>
              <p:cNvPr id="39" name="section02__222">
                <a:extLst xmlns:a="http://schemas.openxmlformats.org/drawingml/2006/main">
                  <a:ext uri="{FF2B5EF4-FFF2-40B4-BE49-F238E27FC236}">
                    <a16:creationId xmlns:a16="http://schemas.microsoft.com/office/drawing/2014/main" id="{71DF091A-2E0F-4922-BA8D-46580CC415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" y="6096000"/>
                <a:ext cx="4371975" cy="371475"/>
              </a:xfrm>
              <a:prstGeom xmlns:a="http://schemas.openxmlformats.org/drawingml/2006/main" prst="roundRect">
                <a:avLst>
                  <a:gd name="adj" fmla="val 20513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0" name="section02__223">
                <a:extLst xmlns:a="http://schemas.openxmlformats.org/drawingml/2006/main">
                  <a:ext uri="{FF2B5EF4-FFF2-40B4-BE49-F238E27FC236}">
                    <a16:creationId xmlns:a16="http://schemas.microsoft.com/office/drawing/2014/main" id="{466C9B2D-4282-4544-ABB5-15F0B3FC0DE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7200" y="6096000"/>
                <a:ext cx="4276725" cy="3714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열화감지 Agent</a:t>
                </a:r>
              </a:p>
            </p:txBody>
          </p:sp>
          <p:sp>
            <p:nvSpPr>
              <p:cNvPr id="41" name="section02__224">
                <a:extLst xmlns:a="http://schemas.openxmlformats.org/drawingml/2006/main">
                  <a:ext uri="{FF2B5EF4-FFF2-40B4-BE49-F238E27FC236}">
                    <a16:creationId xmlns:a16="http://schemas.microsoft.com/office/drawing/2014/main" id="{AD0A66F0-D42E-4AB6-B2CA-2A339DACD90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76825" y="6096000"/>
                <a:ext cx="4543425" cy="371475"/>
              </a:xfrm>
              <a:prstGeom xmlns:a="http://schemas.openxmlformats.org/drawingml/2006/main" prst="roundRect">
                <a:avLst>
                  <a:gd name="adj" fmla="val 20513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2" name="section02__225">
                <a:extLst xmlns:a="http://schemas.openxmlformats.org/drawingml/2006/main">
                  <a:ext uri="{FF2B5EF4-FFF2-40B4-BE49-F238E27FC236}">
                    <a16:creationId xmlns:a16="http://schemas.microsoft.com/office/drawing/2014/main" id="{7D5FEE11-6630-4760-B01E-0CA7D5BF81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24450" y="6096000"/>
                <a:ext cx="4448175" cy="3714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Mining Agent</a:t>
                </a:r>
              </a:p>
            </p:txBody>
          </p:sp>
          <p:sp>
            <p:nvSpPr>
              <p:cNvPr id="43" name="section02__226">
                <a:extLst xmlns:a="http://schemas.openxmlformats.org/drawingml/2006/main">
                  <a:ext uri="{FF2B5EF4-FFF2-40B4-BE49-F238E27FC236}">
                    <a16:creationId xmlns:a16="http://schemas.microsoft.com/office/drawing/2014/main" id="{D74DE36C-D774-4C07-B455-FD3E657C56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" y="6724650"/>
                <a:ext cx="1292225" cy="1114425"/>
              </a:xfrm>
              <a:prstGeom xmlns:a="http://schemas.openxmlformats.org/drawingml/2006/main" prst="roundRect">
                <a:avLst>
                  <a:gd name="adj" fmla="val 683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4" name="section02__227">
                <a:extLst xmlns:a="http://schemas.openxmlformats.org/drawingml/2006/main">
                  <a:ext uri="{FF2B5EF4-FFF2-40B4-BE49-F238E27FC236}">
                    <a16:creationId xmlns:a16="http://schemas.microsoft.com/office/drawing/2014/main" id="{C86CF39C-4C81-4D52-BACC-BE527AA491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" y="6800850"/>
                <a:ext cx="1120775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수율 데이터</a:t>
                </a:r>
              </a:p>
            </p:txBody>
          </p:sp>
          <p:sp>
            <p:nvSpPr>
              <p:cNvPr id="45" name="section02__228">
                <a:extLst xmlns:a="http://schemas.openxmlformats.org/drawingml/2006/main">
                  <a:ext uri="{FF2B5EF4-FFF2-40B4-BE49-F238E27FC236}">
                    <a16:creationId xmlns:a16="http://schemas.microsoft.com/office/drawing/2014/main" id="{7A61744B-5165-41A3-B69B-81AF0F50D6F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7200900"/>
                <a:ext cx="106362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제품·기간·공정</a:t>
                </a:r>
              </a:p>
            </p:txBody>
          </p:sp>
          <p:sp>
            <p:nvSpPr>
              <p:cNvPr id="46" name="section02__229">
                <a:extLst xmlns:a="http://schemas.openxmlformats.org/drawingml/2006/main">
                  <a:ext uri="{FF2B5EF4-FFF2-40B4-BE49-F238E27FC236}">
                    <a16:creationId xmlns:a16="http://schemas.microsoft.com/office/drawing/2014/main" id="{A282FDC4-0DBE-4000-802A-AF0C373085C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739900" y="720566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7" name="section02__230">
                <a:extLst xmlns:a="http://schemas.openxmlformats.org/drawingml/2006/main">
                  <a:ext uri="{FF2B5EF4-FFF2-40B4-BE49-F238E27FC236}">
                    <a16:creationId xmlns:a16="http://schemas.microsoft.com/office/drawing/2014/main" id="{3E2BFF62-5E2B-40EC-950C-879D939930E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49450" y="6724650"/>
                <a:ext cx="1292225" cy="1114425"/>
              </a:xfrm>
              <a:prstGeom xmlns:a="http://schemas.openxmlformats.org/drawingml/2006/main" prst="roundRect">
                <a:avLst>
                  <a:gd name="adj" fmla="val 683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8" name="section02__231">
                <a:extLst xmlns:a="http://schemas.openxmlformats.org/drawingml/2006/main">
                  <a:ext uri="{FF2B5EF4-FFF2-40B4-BE49-F238E27FC236}">
                    <a16:creationId xmlns:a16="http://schemas.microsoft.com/office/drawing/2014/main" id="{4D48D047-9DAB-4D88-9AD7-5851051FE4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35175" y="6800850"/>
                <a:ext cx="1120775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현업 감지 로직</a:t>
                </a:r>
              </a:p>
            </p:txBody>
          </p:sp>
          <p:sp>
            <p:nvSpPr>
              <p:cNvPr id="49" name="section02__232">
                <a:extLst xmlns:a="http://schemas.openxmlformats.org/drawingml/2006/main">
                  <a:ext uri="{FF2B5EF4-FFF2-40B4-BE49-F238E27FC236}">
                    <a16:creationId xmlns:a16="http://schemas.microsoft.com/office/drawing/2014/main" id="{372F5A3F-A430-42A0-B6ED-4A491358A9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63750" y="7200900"/>
                <a:ext cx="106362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열화 내용 파악</a:t>
                </a:r>
              </a:p>
            </p:txBody>
          </p:sp>
          <p:sp>
            <p:nvSpPr>
              <p:cNvPr id="50" name="section02__233">
                <a:extLst xmlns:a="http://schemas.openxmlformats.org/drawingml/2006/main">
                  <a:ext uri="{FF2B5EF4-FFF2-40B4-BE49-F238E27FC236}">
                    <a16:creationId xmlns:a16="http://schemas.microsoft.com/office/drawing/2014/main" id="{2EBE29E6-1211-4A65-9632-B9B76071726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279775" y="720566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1" name="section02__234">
                <a:extLst xmlns:a="http://schemas.openxmlformats.org/drawingml/2006/main">
                  <a:ext uri="{FF2B5EF4-FFF2-40B4-BE49-F238E27FC236}">
                    <a16:creationId xmlns:a16="http://schemas.microsoft.com/office/drawing/2014/main" id="{FA6D6DAC-2EF5-4ADC-85EA-F6BE2A5D90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89325" y="6724650"/>
                <a:ext cx="1292225" cy="1114425"/>
              </a:xfrm>
              <a:prstGeom xmlns:a="http://schemas.openxmlformats.org/drawingml/2006/main" prst="roundRect">
                <a:avLst>
                  <a:gd name="adj" fmla="val 683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2" name="section02__235">
                <a:extLst xmlns:a="http://schemas.openxmlformats.org/drawingml/2006/main">
                  <a:ext uri="{FF2B5EF4-FFF2-40B4-BE49-F238E27FC236}">
                    <a16:creationId xmlns:a16="http://schemas.microsoft.com/office/drawing/2014/main" id="{481A6936-CA35-4DCA-BA51-6FB0155998C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75050" y="6800850"/>
                <a:ext cx="1120775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Web 보고서</a:t>
                </a:r>
              </a:p>
            </p:txBody>
          </p:sp>
          <p:sp>
            <p:nvSpPr>
              <p:cNvPr id="53" name="section02__236">
                <a:extLst xmlns:a="http://schemas.openxmlformats.org/drawingml/2006/main">
                  <a:ext uri="{FF2B5EF4-FFF2-40B4-BE49-F238E27FC236}">
                    <a16:creationId xmlns:a16="http://schemas.microsoft.com/office/drawing/2014/main" id="{D7CE0647-4C96-4A4A-A773-39D7A8B9C1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03625" y="7200900"/>
                <a:ext cx="106362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1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후속 분석 활용</a:t>
                </a:r>
              </a:p>
            </p:txBody>
          </p:sp>
          <p:sp>
            <p:nvSpPr>
              <p:cNvPr id="54" name="section02__237">
                <a:extLst xmlns:a="http://schemas.openxmlformats.org/drawingml/2006/main">
                  <a:ext uri="{FF2B5EF4-FFF2-40B4-BE49-F238E27FC236}">
                    <a16:creationId xmlns:a16="http://schemas.microsoft.com/office/drawing/2014/main" id="{E9E46D44-5252-4378-A4D6-BA859C5F27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" y="8020050"/>
                <a:ext cx="4371975" cy="1428750"/>
              </a:xfrm>
              <a:prstGeom xmlns:a="http://schemas.openxmlformats.org/drawingml/2006/main" prst="roundRect">
                <a:avLst>
                  <a:gd name="adj" fmla="val 5333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5" name="section02__238">
                <a:extLst xmlns:a="http://schemas.openxmlformats.org/drawingml/2006/main">
                  <a:ext uri="{FF2B5EF4-FFF2-40B4-BE49-F238E27FC236}">
                    <a16:creationId xmlns:a16="http://schemas.microsoft.com/office/drawing/2014/main" id="{CA59ADC1-01DD-4BBD-BFAE-9D30D86ABE7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1975" y="8134350"/>
                <a:ext cx="40576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보고서에서 바로 확인</a:t>
                </a:r>
              </a:p>
            </p:txBody>
          </p:sp>
          <p:sp>
            <p:nvSpPr>
              <p:cNvPr id="56" name="section02__239">
                <a:extLst xmlns:a="http://schemas.openxmlformats.org/drawingml/2006/main">
                  <a:ext uri="{FF2B5EF4-FFF2-40B4-BE49-F238E27FC236}">
                    <a16:creationId xmlns:a16="http://schemas.microsoft.com/office/drawing/2014/main" id="{20F5192C-5FFD-4541-861D-CD6BABA2446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0075" y="8572500"/>
                <a:ext cx="401955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7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7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기간별 수율 확인</a:t>
                </a:r>
              </a:p>
              <a:p xmlns:a="http://schemas.openxmlformats.org/drawingml/2006/main">
                <a:pPr algn="l">
                  <a:defRPr sz="17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7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열화 내용 정리</a:t>
                </a:r>
              </a:p>
              <a:p xmlns:a="http://schemas.openxmlformats.org/drawingml/2006/main">
                <a:pPr algn="l">
                  <a:defRPr sz="17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7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 대상 검토</a:t>
                </a:r>
              </a:p>
            </p:txBody>
          </p:sp>
          <p:sp>
            <p:nvSpPr>
              <p:cNvPr id="57" name="section02__240">
                <a:extLst xmlns:a="http://schemas.openxmlformats.org/drawingml/2006/main">
                  <a:ext uri="{FF2B5EF4-FFF2-40B4-BE49-F238E27FC236}">
                    <a16:creationId xmlns:a16="http://schemas.microsoft.com/office/drawing/2014/main" id="{17E3DF1F-F6F0-4183-8626-D18EBFC45E9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86350" y="6724650"/>
                <a:ext cx="4543425" cy="2724150"/>
              </a:xfrm>
              <a:prstGeom xmlns:a="http://schemas.openxmlformats.org/drawingml/2006/main" prst="roundRect">
                <a:avLst>
                  <a:gd name="adj" fmla="val 279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8" name="section02__241">
                <a:extLst xmlns:a="http://schemas.openxmlformats.org/drawingml/2006/main">
                  <a:ext uri="{FF2B5EF4-FFF2-40B4-BE49-F238E27FC236}">
                    <a16:creationId xmlns:a16="http://schemas.microsoft.com/office/drawing/2014/main" id="{CEAF4383-9F76-4B8D-8913-FFB1913A8B8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10175" y="6848475"/>
                <a:ext cx="4295775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Fail Map과 원인 후보의 양상 비교</a:t>
                </a:r>
              </a:p>
            </p:txBody>
          </p:sp>
          <p:pic>
            <p:nvPicPr>
              <p:cNvPr id="156" name=""/>
              <p:cNvPicPr>
                <a:picLocks xmlns:a="http://schemas.openxmlformats.org/drawingml/2006/main" noChangeAspect="1"/>
              </p:cNvPicPr>
              <p:nvPr/>
            </p:nvPicPr>
            <p:blipFill>
              <a:blip xmlns:r="http://schemas.openxmlformats.org/officeDocument/2006/relationships" xmlns:a="http://schemas.openxmlformats.org/drawingml/2006/main" r:embed="R07330016ffde4e1b"/>
              <a:stretch xmlns:a="http://schemas.openxmlformats.org/drawingml/2006/main"/>
            </p:blipFill>
            <p:spPr>
              <a:xfrm xmlns:a="http://schemas.openxmlformats.org/drawingml/2006/main">
                <a:off x="5229225" y="7488196"/>
                <a:ext cx="4248150" cy="882732"/>
              </a:xfrm>
              <a:prstGeom xmlns:a="http://schemas.openxmlformats.org/drawingml/2006/main" prst="rect">
                <a:avLst/>
              </a:prstGeom>
            </p:spPr>
          </p:pic>
          <p:sp>
            <p:nvSpPr>
              <p:cNvPr id="60" name="section02__242">
                <a:extLst xmlns:a="http://schemas.openxmlformats.org/drawingml/2006/main">
                  <a:ext uri="{FF2B5EF4-FFF2-40B4-BE49-F238E27FC236}">
                    <a16:creationId xmlns:a16="http://schemas.microsoft.com/office/drawing/2014/main" id="{11FBBCE6-6710-4037-85AB-93E2BC981A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29225" y="8591550"/>
                <a:ext cx="167640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Target Fail Map</a:t>
                </a:r>
              </a:p>
            </p:txBody>
          </p:sp>
          <p:sp>
            <p:nvSpPr>
              <p:cNvPr id="61" name="section02__243">
                <a:extLst xmlns:a="http://schemas.openxmlformats.org/drawingml/2006/main">
                  <a:ext uri="{FF2B5EF4-FFF2-40B4-BE49-F238E27FC236}">
                    <a16:creationId xmlns:a16="http://schemas.microsoft.com/office/drawing/2014/main" id="{D565D83A-722A-4339-8AC1-16A1E8DB821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381875" y="8591550"/>
                <a:ext cx="207645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유사 양상의 후보</a:t>
                </a:r>
              </a:p>
            </p:txBody>
          </p:sp>
          <p:sp>
            <p:nvSpPr>
              <p:cNvPr id="62" name="section02__244">
                <a:extLst xmlns:a="http://schemas.openxmlformats.org/drawingml/2006/main">
                  <a:ext uri="{FF2B5EF4-FFF2-40B4-BE49-F238E27FC236}">
                    <a16:creationId xmlns:a16="http://schemas.microsoft.com/office/drawing/2014/main" id="{75C4B6DD-CD16-4343-9F5B-16B038C206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19700" y="9067800"/>
                <a:ext cx="42957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분류 머신러닝 + Map 기반 후보 탐색</a:t>
                </a:r>
              </a:p>
            </p:txBody>
          </p:sp>
          <p:sp>
            <p:nvSpPr>
              <p:cNvPr id="63" name="section02__245">
                <a:extLst xmlns:a="http://schemas.openxmlformats.org/drawingml/2006/main">
                  <a:ext uri="{FF2B5EF4-FFF2-40B4-BE49-F238E27FC236}">
                    <a16:creationId xmlns:a16="http://schemas.microsoft.com/office/drawing/2014/main" id="{82416B06-E11A-447C-ADEB-4845959D25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9610725"/>
                <a:ext cx="9191625" cy="409575"/>
              </a:xfrm>
              <a:prstGeom xmlns:a="http://schemas.openxmlformats.org/drawingml/2006/main" prst="roundRect">
                <a:avLst>
                  <a:gd name="adj" fmla="val 18605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4" name="section02__246">
                <a:extLst xmlns:a="http://schemas.openxmlformats.org/drawingml/2006/main">
                  <a:ext uri="{FF2B5EF4-FFF2-40B4-BE49-F238E27FC236}">
                    <a16:creationId xmlns:a16="http://schemas.microsoft.com/office/drawing/2014/main" id="{0148EC95-88B9-430E-A765-91EE35A60A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4350" y="9610725"/>
                <a:ext cx="9001125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현업 검증  ·  3가지 Mining 결과 비교에서 도메인 지식 기반 방식의 우수성 확인</a:t>
                </a:r>
              </a:p>
            </p:txBody>
          </p:sp>
        </p:grpSp>
        <p:grpSp>
          <p:nvGrpSpPr>
            <p:cNvPr id="10003" name="3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65" name="section03__247">
                <a:extLst xmlns:a="http://schemas.openxmlformats.org/drawingml/2006/main">
                  <a:ext uri="{FF2B5EF4-FFF2-40B4-BE49-F238E27FC236}">
                    <a16:creationId xmlns:a16="http://schemas.microsoft.com/office/drawing/2014/main" id="{41DD3D09-7235-4BBC-8ADB-78AF213D6E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10372725"/>
                <a:ext cx="9601200" cy="2419350"/>
              </a:xfrm>
              <a:prstGeom xmlns:a="http://schemas.openxmlformats.org/drawingml/2006/main" prst="roundRect">
                <a:avLst>
                  <a:gd name="adj" fmla="val 315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6" name="section03__248">
                <a:extLst xmlns:a="http://schemas.openxmlformats.org/drawingml/2006/main">
                  <a:ext uri="{FF2B5EF4-FFF2-40B4-BE49-F238E27FC236}">
                    <a16:creationId xmlns:a16="http://schemas.microsoft.com/office/drawing/2014/main" id="{D1EC306C-297A-4D75-9AC2-5343B915F1F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10382250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7" name="section03__249">
                <a:extLst xmlns:a="http://schemas.openxmlformats.org/drawingml/2006/main">
                  <a:ext uri="{FF2B5EF4-FFF2-40B4-BE49-F238E27FC236}">
                    <a16:creationId xmlns:a16="http://schemas.microsoft.com/office/drawing/2014/main" id="{08A09A57-C704-4458-9691-5E10F64985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10382250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8" name="section03__250">
                <a:extLst xmlns:a="http://schemas.openxmlformats.org/drawingml/2006/main">
                  <a:ext uri="{FF2B5EF4-FFF2-40B4-BE49-F238E27FC236}">
                    <a16:creationId xmlns:a16="http://schemas.microsoft.com/office/drawing/2014/main" id="{AE74297C-47C7-4063-AF48-74B7C2ABAC6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10372725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03</a:t>
                </a:r>
              </a:p>
            </p:txBody>
          </p:sp>
          <p:sp>
            <p:nvSpPr>
              <p:cNvPr id="69" name="section03__251">
                <a:extLst xmlns:a="http://schemas.openxmlformats.org/drawingml/2006/main">
                  <a:ext uri="{FF2B5EF4-FFF2-40B4-BE49-F238E27FC236}">
                    <a16:creationId xmlns:a16="http://schemas.microsoft.com/office/drawing/2014/main" id="{172B1E12-0DA5-470A-A563-AB43F4888DD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10372725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실행 성능과 분석 선택권을 함께 확보</a:t>
                </a:r>
              </a:p>
            </p:txBody>
          </p:sp>
          <p:sp>
            <p:nvSpPr>
              <p:cNvPr id="70" name="section03__252">
                <a:extLst xmlns:a="http://schemas.openxmlformats.org/drawingml/2006/main">
                  <a:ext uri="{FF2B5EF4-FFF2-40B4-BE49-F238E27FC236}">
                    <a16:creationId xmlns:a16="http://schemas.microsoft.com/office/drawing/2014/main" id="{61B3CC22-A6CC-47A4-AC3A-B376907010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38150" y="10896600"/>
                <a:ext cx="2889250" cy="428625"/>
              </a:xfrm>
              <a:prstGeom xmlns:a="http://schemas.openxmlformats.org/drawingml/2006/main" prst="roundRect">
                <a:avLst>
                  <a:gd name="adj" fmla="val 1777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1" name="section03__253">
                <a:extLst xmlns:a="http://schemas.openxmlformats.org/drawingml/2006/main">
                  <a:ext uri="{FF2B5EF4-FFF2-40B4-BE49-F238E27FC236}">
                    <a16:creationId xmlns:a16="http://schemas.microsoft.com/office/drawing/2014/main" id="{160A53B9-FC35-4AAE-B918-5D7137A4644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10972800"/>
                <a:ext cx="27178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데이터 전처리</a:t>
                </a:r>
              </a:p>
            </p:txBody>
          </p:sp>
          <p:sp>
            <p:nvSpPr>
              <p:cNvPr id="72" name="section03__254">
                <a:extLst xmlns:a="http://schemas.openxmlformats.org/drawingml/2006/main">
                  <a:ext uri="{FF2B5EF4-FFF2-40B4-BE49-F238E27FC236}">
                    <a16:creationId xmlns:a16="http://schemas.microsoft.com/office/drawing/2014/main" id="{B2B7E8E1-7CA2-4364-A2A5-42E6B1362C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65500" y="110347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3" name="section03__255">
                <a:extLst xmlns:a="http://schemas.openxmlformats.org/drawingml/2006/main">
                  <a:ext uri="{FF2B5EF4-FFF2-40B4-BE49-F238E27FC236}">
                    <a16:creationId xmlns:a16="http://schemas.microsoft.com/office/drawing/2014/main" id="{7885D302-4D7F-42AE-8511-9B5F3C6507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75050" y="10896600"/>
                <a:ext cx="2889250" cy="428625"/>
              </a:xfrm>
              <a:prstGeom xmlns:a="http://schemas.openxmlformats.org/drawingml/2006/main" prst="roundRect">
                <a:avLst>
                  <a:gd name="adj" fmla="val 1777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4" name="section03__256">
                <a:extLst xmlns:a="http://schemas.openxmlformats.org/drawingml/2006/main">
                  <a:ext uri="{FF2B5EF4-FFF2-40B4-BE49-F238E27FC236}">
                    <a16:creationId xmlns:a16="http://schemas.microsoft.com/office/drawing/2014/main" id="{2C8A0336-14FD-4334-B7A3-70ADE38C64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60775" y="10972800"/>
                <a:ext cx="27178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DB 적재</a:t>
                </a:r>
              </a:p>
            </p:txBody>
          </p:sp>
          <p:sp>
            <p:nvSpPr>
              <p:cNvPr id="75" name="section03__257">
                <a:extLst xmlns:a="http://schemas.openxmlformats.org/drawingml/2006/main">
                  <a:ext uri="{FF2B5EF4-FFF2-40B4-BE49-F238E27FC236}">
                    <a16:creationId xmlns:a16="http://schemas.microsoft.com/office/drawing/2014/main" id="{5EF8BEB7-43FD-4A75-9983-0B044DE590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502400" y="110347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6" name="section03__258">
                <a:extLst xmlns:a="http://schemas.openxmlformats.org/drawingml/2006/main">
                  <a:ext uri="{FF2B5EF4-FFF2-40B4-BE49-F238E27FC236}">
                    <a16:creationId xmlns:a16="http://schemas.microsoft.com/office/drawing/2014/main" id="{28EF69E1-EF87-4704-BA55-3F4DE0D49BF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11950" y="10896600"/>
                <a:ext cx="2889250" cy="428625"/>
              </a:xfrm>
              <a:prstGeom xmlns:a="http://schemas.openxmlformats.org/drawingml/2006/main" prst="roundRect">
                <a:avLst>
                  <a:gd name="adj" fmla="val 17778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7" name="section03__259">
                <a:extLst xmlns:a="http://schemas.openxmlformats.org/drawingml/2006/main">
                  <a:ext uri="{FF2B5EF4-FFF2-40B4-BE49-F238E27FC236}">
                    <a16:creationId xmlns:a16="http://schemas.microsoft.com/office/drawing/2014/main" id="{15DCA3AE-CD11-4FCC-8529-C32254B1B9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97675" y="10972800"/>
                <a:ext cx="27178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분석 속도 개선</a:t>
                </a:r>
              </a:p>
            </p:txBody>
          </p:sp>
          <p:sp>
            <p:nvSpPr>
              <p:cNvPr id="78" name="section03__260">
                <a:extLst xmlns:a="http://schemas.openxmlformats.org/drawingml/2006/main">
                  <a:ext uri="{FF2B5EF4-FFF2-40B4-BE49-F238E27FC236}">
                    <a16:creationId xmlns:a16="http://schemas.microsoft.com/office/drawing/2014/main" id="{6DFBF723-C17A-4196-AF7B-E068682E51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1553825"/>
                <a:ext cx="2109788" cy="866775"/>
              </a:xfrm>
              <a:prstGeom xmlns:a="http://schemas.openxmlformats.org/drawingml/2006/main" prst="roundRect">
                <a:avLst>
                  <a:gd name="adj" fmla="val 8791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9" name="section03__261">
                <a:extLst xmlns:a="http://schemas.openxmlformats.org/drawingml/2006/main">
                  <a:ext uri="{FF2B5EF4-FFF2-40B4-BE49-F238E27FC236}">
                    <a16:creationId xmlns:a16="http://schemas.microsoft.com/office/drawing/2014/main" id="{D7AB4042-E3A3-4086-B32C-FCD1048014E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4350" y="11630025"/>
                <a:ext cx="1938338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Agent 분석</a:t>
                </a:r>
              </a:p>
            </p:txBody>
          </p:sp>
          <p:sp>
            <p:nvSpPr>
              <p:cNvPr id="80" name="section03__262">
                <a:extLst xmlns:a="http://schemas.openxmlformats.org/drawingml/2006/main">
                  <a:ext uri="{FF2B5EF4-FFF2-40B4-BE49-F238E27FC236}">
                    <a16:creationId xmlns:a16="http://schemas.microsoft.com/office/drawing/2014/main" id="{968359C5-2DA0-407A-8FCD-9851934F73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2925" y="12030075"/>
                <a:ext cx="1881188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결과·다음 분석 추천</a:t>
                </a:r>
              </a:p>
            </p:txBody>
          </p:sp>
          <p:sp>
            <p:nvSpPr>
              <p:cNvPr id="81" name="section03__263">
                <a:extLst xmlns:a="http://schemas.openxmlformats.org/drawingml/2006/main">
                  <a:ext uri="{FF2B5EF4-FFF2-40B4-BE49-F238E27FC236}">
                    <a16:creationId xmlns:a16="http://schemas.microsoft.com/office/drawing/2014/main" id="{3097F616-B076-49EC-8F64-76453D74B7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6513" y="119110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2" name="section03__264">
                <a:extLst xmlns:a="http://schemas.openxmlformats.org/drawingml/2006/main">
                  <a:ext uri="{FF2B5EF4-FFF2-40B4-BE49-F238E27FC236}">
                    <a16:creationId xmlns:a16="http://schemas.microsoft.com/office/drawing/2014/main" id="{E6E5784E-4831-4A1B-BB80-563E53650B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86063" y="11553825"/>
                <a:ext cx="2109788" cy="866775"/>
              </a:xfrm>
              <a:prstGeom xmlns:a="http://schemas.openxmlformats.org/drawingml/2006/main" prst="roundRect">
                <a:avLst>
                  <a:gd name="adj" fmla="val 8791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3" name="section03__265">
                <a:extLst xmlns:a="http://schemas.openxmlformats.org/drawingml/2006/main">
                  <a:ext uri="{FF2B5EF4-FFF2-40B4-BE49-F238E27FC236}">
                    <a16:creationId xmlns:a16="http://schemas.microsoft.com/office/drawing/2014/main" id="{BBDE65AF-BF6E-4F8F-80B6-7AA42FDAB7F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71788" y="11630025"/>
                <a:ext cx="1938338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Engineer 판단</a:t>
                </a:r>
              </a:p>
            </p:txBody>
          </p:sp>
          <p:sp>
            <p:nvSpPr>
              <p:cNvPr id="84" name="section03__266">
                <a:extLst xmlns:a="http://schemas.openxmlformats.org/drawingml/2006/main">
                  <a:ext uri="{FF2B5EF4-FFF2-40B4-BE49-F238E27FC236}">
                    <a16:creationId xmlns:a16="http://schemas.microsoft.com/office/drawing/2014/main" id="{285B501E-62A6-4743-89F9-20F54FAD84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900363" y="12030075"/>
                <a:ext cx="1881188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대상·방향 검토</a:t>
                </a:r>
              </a:p>
            </p:txBody>
          </p:sp>
          <p:sp>
            <p:nvSpPr>
              <p:cNvPr id="85" name="section03__267">
                <a:extLst xmlns:a="http://schemas.openxmlformats.org/drawingml/2006/main">
                  <a:ext uri="{FF2B5EF4-FFF2-40B4-BE49-F238E27FC236}">
                    <a16:creationId xmlns:a16="http://schemas.microsoft.com/office/drawing/2014/main" id="{CE139471-4060-4730-B5AE-DEEDC754289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119110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6" name="section03__268">
                <a:extLst xmlns:a="http://schemas.openxmlformats.org/drawingml/2006/main">
                  <a:ext uri="{FF2B5EF4-FFF2-40B4-BE49-F238E27FC236}">
                    <a16:creationId xmlns:a16="http://schemas.microsoft.com/office/drawing/2014/main" id="{D65292E6-EBE3-45BC-8E61-5694A3733F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43500" y="11553825"/>
                <a:ext cx="2109788" cy="866775"/>
              </a:xfrm>
              <a:prstGeom xmlns:a="http://schemas.openxmlformats.org/drawingml/2006/main" prst="roundRect">
                <a:avLst>
                  <a:gd name="adj" fmla="val 8791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7" name="section03__269">
                <a:extLst xmlns:a="http://schemas.openxmlformats.org/drawingml/2006/main">
                  <a:ext uri="{FF2B5EF4-FFF2-40B4-BE49-F238E27FC236}">
                    <a16:creationId xmlns:a16="http://schemas.microsoft.com/office/drawing/2014/main" id="{4D72D664-D2DD-40ED-81F9-4DBD26515E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29225" y="11630025"/>
                <a:ext cx="1938338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추가 분석 선택</a:t>
                </a:r>
              </a:p>
            </p:txBody>
          </p:sp>
          <p:sp>
            <p:nvSpPr>
              <p:cNvPr id="88" name="section03__270">
                <a:extLst xmlns:a="http://schemas.openxmlformats.org/drawingml/2006/main">
                  <a:ext uri="{FF2B5EF4-FFF2-40B4-BE49-F238E27FC236}">
                    <a16:creationId xmlns:a16="http://schemas.microsoft.com/office/drawing/2014/main" id="{436B572E-D1EA-458F-A708-6F1979607B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57800" y="12030075"/>
                <a:ext cx="1881188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Agent·조건 선택</a:t>
                </a:r>
              </a:p>
            </p:txBody>
          </p:sp>
          <p:sp>
            <p:nvSpPr>
              <p:cNvPr id="89" name="section03__271">
                <a:extLst xmlns:a="http://schemas.openxmlformats.org/drawingml/2006/main">
                  <a:ext uri="{FF2B5EF4-FFF2-40B4-BE49-F238E27FC236}">
                    <a16:creationId xmlns:a16="http://schemas.microsoft.com/office/drawing/2014/main" id="{73EDF383-BDD1-4AC6-B022-84487AE9188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91388" y="11911013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0" name="section03__272">
                <a:extLst xmlns:a="http://schemas.openxmlformats.org/drawingml/2006/main">
                  <a:ext uri="{FF2B5EF4-FFF2-40B4-BE49-F238E27FC236}">
                    <a16:creationId xmlns:a16="http://schemas.microsoft.com/office/drawing/2014/main" id="{38E3E91A-EB2E-46AB-A57C-1E5107EC19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00938" y="11553825"/>
                <a:ext cx="2109788" cy="866775"/>
              </a:xfrm>
              <a:prstGeom xmlns:a="http://schemas.openxmlformats.org/drawingml/2006/main" prst="roundRect">
                <a:avLst>
                  <a:gd name="adj" fmla="val 8791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91" name="section03__273">
                <a:extLst xmlns:a="http://schemas.openxmlformats.org/drawingml/2006/main">
                  <a:ext uri="{FF2B5EF4-FFF2-40B4-BE49-F238E27FC236}">
                    <a16:creationId xmlns:a16="http://schemas.microsoft.com/office/drawing/2014/main" id="{5331CAB5-090F-4BC3-B537-F15479D1C94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86663" y="11630025"/>
                <a:ext cx="1938338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Agent 실행</a:t>
                </a:r>
              </a:p>
            </p:txBody>
          </p:sp>
          <p:sp>
            <p:nvSpPr>
              <p:cNvPr id="92" name="section03__274">
                <a:extLst xmlns:a="http://schemas.openxmlformats.org/drawingml/2006/main">
                  <a:ext uri="{FF2B5EF4-FFF2-40B4-BE49-F238E27FC236}">
                    <a16:creationId xmlns:a16="http://schemas.microsoft.com/office/drawing/2014/main" id="{D605CD36-6944-4CCF-A5A4-319D979D36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15238" y="12030075"/>
                <a:ext cx="1881188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선택한 분석 수행</a:t>
                </a:r>
              </a:p>
            </p:txBody>
          </p:sp>
          <p:sp>
            <p:nvSpPr>
              <p:cNvPr id="93" name="section03__275">
                <a:extLst xmlns:a="http://schemas.openxmlformats.org/drawingml/2006/main">
                  <a:ext uri="{FF2B5EF4-FFF2-40B4-BE49-F238E27FC236}">
                    <a16:creationId xmlns:a16="http://schemas.microsoft.com/office/drawing/2014/main" id="{8DDF94A6-AB61-4A4B-91CA-174349ABEE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2525375"/>
                <a:ext cx="91821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사전 정의 Workflow 추천 + 원하는 전문 Agent 자유 선택</a:t>
                </a:r>
              </a:p>
            </p:txBody>
          </p:sp>
        </p:grpSp>
        <p:grpSp>
          <p:nvGrpSpPr>
            <p:cNvPr id="10004" name="핵심 메시지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94" name="footer__276">
                <a:extLst xmlns:a="http://schemas.openxmlformats.org/drawingml/2006/main">
                  <a:ext uri="{FF2B5EF4-FFF2-40B4-BE49-F238E27FC236}">
                    <a16:creationId xmlns:a16="http://schemas.microsoft.com/office/drawing/2014/main" id="{E01CE410-E7F4-4C22-9CFD-522FD93DAD2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28600" y="12963525"/>
                <a:ext cx="9582150" cy="904875"/>
              </a:xfrm>
              <a:prstGeom xmlns:a="http://schemas.openxmlformats.org/drawingml/2006/main" prst="roundRect">
                <a:avLst>
                  <a:gd name="adj" fmla="val 8421"/>
                </a:avLst>
              </a:prstGeom>
              <a:solidFill xmlns:a="http://schemas.openxmlformats.org/drawingml/2006/main">
                <a:srgbClr val="2E404D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5" name="footer__277">
                <a:extLst xmlns:a="http://schemas.openxmlformats.org/drawingml/2006/main">
                  <a:ext uri="{FF2B5EF4-FFF2-40B4-BE49-F238E27FC236}">
                    <a16:creationId xmlns:a16="http://schemas.microsoft.com/office/drawing/2014/main" id="{9D19A356-AFDA-420F-9894-9BBEA037BA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3087350"/>
                <a:ext cx="9182100" cy="638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범용 추론에 현업 전문성을 결합하고,</a:t>
                </a:r>
              </a:p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Agent의 분석 Logic과 Workflow에 숙련자의 Know-how를 내재화</a:t>
                </a:r>
              </a:p>
            </p:txBody>
          </p:sp>
          <p:sp>
            <p:nvSpPr>
              <p:cNvPr id="96" name="footer__278">
                <a:extLst xmlns:a="http://schemas.openxmlformats.org/drawingml/2006/main">
                  <a:ext uri="{FF2B5EF4-FFF2-40B4-BE49-F238E27FC236}">
                    <a16:creationId xmlns:a16="http://schemas.microsoft.com/office/drawing/2014/main" id="{F0EDA4B3-0652-4FFA-BF23-49F7C09B0E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3954125"/>
                <a:ext cx="82867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Y-Agent · 수율분석 혁신</a:t>
                </a:r>
              </a:p>
            </p:txBody>
          </p:sp>
          <p:sp>
            <p:nvSpPr>
              <p:cNvPr id="97" name="footer__279">
                <a:extLst xmlns:a="http://schemas.openxmlformats.org/drawingml/2006/main">
                  <a:ext uri="{FF2B5EF4-FFF2-40B4-BE49-F238E27FC236}">
                    <a16:creationId xmlns:a16="http://schemas.microsoft.com/office/drawing/2014/main" id="{E7C8F441-131A-4FE8-9D74-7A0B336D9B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53525" y="13954125"/>
                <a:ext cx="5143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2186079"/>
      </p:ext>
    </p:extLst>
  </p:cSld>
</p:sld>
</file>

<file path=import1/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99999" name="Original slide content"/>
          <p:cNvGrpSpPr/>
          <p:nvPr/>
        </p:nvGrpSpPr>
        <p:grpSpPr>
          <ns0:xfrm xmlns:ns0="http://schemas.openxmlformats.org/drawingml/2006/main">
            <ns0:off x="3211" y="0"/>
            <ns0:ext cx="7556428" cy="10696575"/>
            <ns0:chOff x="0" y="0"/>
            <ns0:chExt cx="10039350" cy="14211300"/>
          </ns0:xfrm>
        </p:grpSpPr>
        <p:grpSp>
          <p:nvGrpSpPr>
            <p:cNvPr id="10000" name="제목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91" name="header__280">
                <a:extLst xmlns:a="http://schemas.openxmlformats.org/drawingml/2006/main">
                  <a:ext uri="{FF2B5EF4-FFF2-40B4-BE49-F238E27FC236}">
                    <a16:creationId xmlns:a16="http://schemas.microsoft.com/office/drawing/2014/main" id="{470F2867-7281-46F2-98C9-1E11ECB26A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71450"/>
                <a:ext cx="11334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SK hynix</a:t>
                </a:r>
              </a:p>
            </p:txBody>
          </p:sp>
          <p:sp>
            <p:nvSpPr>
              <p:cNvPr id="2" name="header__281">
                <a:extLst xmlns:a="http://schemas.openxmlformats.org/drawingml/2006/main">
                  <a:ext uri="{FF2B5EF4-FFF2-40B4-BE49-F238E27FC236}">
                    <a16:creationId xmlns:a16="http://schemas.microsoft.com/office/drawing/2014/main" id="{EF9F57EB-4BEC-4BB9-9C80-AAC55C03E39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00200" y="171450"/>
                <a:ext cx="47625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공적 사례상세</a:t>
                </a:r>
              </a:p>
            </p:txBody>
          </p:sp>
          <p:sp>
            <p:nvSpPr>
              <p:cNvPr id="3" name="header__282">
                <a:extLst xmlns:a="http://schemas.openxmlformats.org/drawingml/2006/main">
                  <a:ext uri="{FF2B5EF4-FFF2-40B4-BE49-F238E27FC236}">
                    <a16:creationId xmlns:a16="http://schemas.microsoft.com/office/drawing/2014/main" id="{D50749CB-9AD5-4EFE-9978-4C6B3890F38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772525" y="171450"/>
                <a:ext cx="8667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04 / 06</a:t>
                </a:r>
              </a:p>
            </p:txBody>
          </p:sp>
          <p:sp>
            <p:nvSpPr>
              <p:cNvPr id="4" name="header__283">
                <a:extLst xmlns:a="http://schemas.openxmlformats.org/drawingml/2006/main">
                  <a:ext uri="{FF2B5EF4-FFF2-40B4-BE49-F238E27FC236}">
                    <a16:creationId xmlns:a16="http://schemas.microsoft.com/office/drawing/2014/main" id="{A131BF21-008D-4B99-96B8-F4B6A2931A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1950" y="533400"/>
                <a:ext cx="931545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5" name="header__284">
                <a:extLst xmlns:a="http://schemas.openxmlformats.org/drawingml/2006/main">
                  <a:ext uri="{FF2B5EF4-FFF2-40B4-BE49-F238E27FC236}">
                    <a16:creationId xmlns:a16="http://schemas.microsoft.com/office/drawing/2014/main" id="{9EAE4EB2-6E92-45D9-AA62-8095B8813A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742950"/>
                <a:ext cx="9286875" cy="1038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현업 × DT 협업으로 연결한</a:t>
                </a:r>
              </a:p>
              <a:p xmlns:a="http://schemas.openxmlformats.org/drawingml/2006/main">
                <a:pPr algn="l">
                  <a:def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분석 환경과 실행 기반</a:t>
                </a:r>
              </a:p>
            </p:txBody>
          </p:sp>
          <p:sp>
            <p:nvSpPr>
              <p:cNvPr id="6" name="header__285">
                <a:extLst xmlns:a="http://schemas.openxmlformats.org/drawingml/2006/main">
                  <a:ext uri="{FF2B5EF4-FFF2-40B4-BE49-F238E27FC236}">
                    <a16:creationId xmlns:a16="http://schemas.microsoft.com/office/drawing/2014/main" id="{0E3A247C-C451-49A4-88B4-90D9C2F446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81000" y="1866900"/>
                <a:ext cx="92392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Legacy 연계와 배치 분석을 구현하고 Workflow 지식화의 기반을 마련</a:t>
                </a:r>
              </a:p>
            </p:txBody>
          </p:sp>
        </p:grpSp>
        <p:grpSp>
          <p:nvGrpSpPr>
            <p:cNvPr id="10001" name="1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7" name="section01__286">
                <a:extLst xmlns:a="http://schemas.openxmlformats.org/drawingml/2006/main">
                  <a:ext uri="{FF2B5EF4-FFF2-40B4-BE49-F238E27FC236}">
                    <a16:creationId xmlns:a16="http://schemas.microsoft.com/office/drawing/2014/main" id="{F7CD54F3-403B-4703-935D-9F44DE60CD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2400300"/>
                <a:ext cx="9601200" cy="1800225"/>
              </a:xfrm>
              <a:prstGeom xmlns:a="http://schemas.openxmlformats.org/drawingml/2006/main" prst="roundRect">
                <a:avLst>
                  <a:gd name="adj" fmla="val 423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" name="section01__287">
                <a:extLst xmlns:a="http://schemas.openxmlformats.org/drawingml/2006/main">
                  <a:ext uri="{FF2B5EF4-FFF2-40B4-BE49-F238E27FC236}">
                    <a16:creationId xmlns:a16="http://schemas.microsoft.com/office/drawing/2014/main" id="{AEB6BE8F-B966-4B0E-8B80-A98C5F49EA4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" name="section01__288">
                <a:extLst xmlns:a="http://schemas.openxmlformats.org/drawingml/2006/main">
                  <a:ext uri="{FF2B5EF4-FFF2-40B4-BE49-F238E27FC236}">
                    <a16:creationId xmlns:a16="http://schemas.microsoft.com/office/drawing/2014/main" id="{C1FFE204-447D-487A-9D0D-286E36494F4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0" name="section01__289">
                <a:extLst xmlns:a="http://schemas.openxmlformats.org/drawingml/2006/main">
                  <a:ext uri="{FF2B5EF4-FFF2-40B4-BE49-F238E27FC236}">
                    <a16:creationId xmlns:a16="http://schemas.microsoft.com/office/drawing/2014/main" id="{D952F9EC-FA9C-470F-9257-F5DBE92818F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24003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01</a:t>
                </a:r>
              </a:p>
            </p:txBody>
          </p:sp>
          <p:sp>
            <p:nvSpPr>
              <p:cNvPr id="11" name="section01__290">
                <a:extLst xmlns:a="http://schemas.openxmlformats.org/drawingml/2006/main">
                  <a:ext uri="{FF2B5EF4-FFF2-40B4-BE49-F238E27FC236}">
                    <a16:creationId xmlns:a16="http://schemas.microsoft.com/office/drawing/2014/main" id="{44BEA622-BDC4-41EF-85BE-95DA4862A65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24003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현업 지식과 DT 역량이 만나는 구현 구조</a:t>
                </a:r>
              </a:p>
            </p:txBody>
          </p:sp>
          <p:sp>
            <p:nvSpPr>
              <p:cNvPr id="12" name="section01__291">
                <a:extLst xmlns:a="http://schemas.openxmlformats.org/drawingml/2006/main">
                  <a:ext uri="{FF2B5EF4-FFF2-40B4-BE49-F238E27FC236}">
                    <a16:creationId xmlns:a16="http://schemas.microsoft.com/office/drawing/2014/main" id="{4F362B35-DA4A-477B-AF92-23D932CC9FA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" y="2952750"/>
                <a:ext cx="3371850" cy="1000125"/>
              </a:xfrm>
              <a:prstGeom xmlns:a="http://schemas.openxmlformats.org/drawingml/2006/main" prst="roundRect">
                <a:avLst>
                  <a:gd name="adj" fmla="val 7619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13" name="section01__292">
                <a:extLst xmlns:a="http://schemas.openxmlformats.org/drawingml/2006/main">
                  <a:ext uri="{FF2B5EF4-FFF2-40B4-BE49-F238E27FC236}">
                    <a16:creationId xmlns:a16="http://schemas.microsoft.com/office/drawing/2014/main" id="{198DAE95-478A-4258-8F6D-1A380147701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52450" y="3095625"/>
                <a:ext cx="3086100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현업 도메인 전문성</a:t>
                </a:r>
              </a:p>
            </p:txBody>
          </p:sp>
          <p:sp>
            <p:nvSpPr>
              <p:cNvPr id="14" name="section01__293">
                <a:extLst xmlns:a="http://schemas.openxmlformats.org/drawingml/2006/main">
                  <a:ext uri="{FF2B5EF4-FFF2-40B4-BE49-F238E27FC236}">
                    <a16:creationId xmlns:a16="http://schemas.microsoft.com/office/drawing/2014/main" id="{D5BFF34E-76C3-4BFB-8982-36BFD047E35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52450" y="3524250"/>
                <a:ext cx="308610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 관점 · 판단 기준 · 기능 제안</a:t>
                </a:r>
              </a:p>
            </p:txBody>
          </p:sp>
          <p:sp>
            <p:nvSpPr>
              <p:cNvPr id="15" name="section01__294">
                <a:extLst xmlns:a="http://schemas.openxmlformats.org/drawingml/2006/main">
                  <a:ext uri="{FF2B5EF4-FFF2-40B4-BE49-F238E27FC236}">
                    <a16:creationId xmlns:a16="http://schemas.microsoft.com/office/drawing/2014/main" id="{972C16C2-A465-47B2-BA9E-4F5AD66E30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57925" y="2952750"/>
                <a:ext cx="3371850" cy="1000125"/>
              </a:xfrm>
              <a:prstGeom xmlns:a="http://schemas.openxmlformats.org/drawingml/2006/main" prst="roundRect">
                <a:avLst>
                  <a:gd name="adj" fmla="val 7619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16" name="section01__295">
                <a:extLst xmlns:a="http://schemas.openxmlformats.org/drawingml/2006/main">
                  <a:ext uri="{FF2B5EF4-FFF2-40B4-BE49-F238E27FC236}">
                    <a16:creationId xmlns:a16="http://schemas.microsoft.com/office/drawing/2014/main" id="{C2238D9D-DAC7-47D4-A098-D26B610BE42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400800" y="3095625"/>
                <a:ext cx="3086100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DT 설계·개발 역량</a:t>
                </a:r>
              </a:p>
            </p:txBody>
          </p:sp>
          <p:sp>
            <p:nvSpPr>
              <p:cNvPr id="17" name="section01__296">
                <a:extLst xmlns:a="http://schemas.openxmlformats.org/drawingml/2006/main">
                  <a:ext uri="{FF2B5EF4-FFF2-40B4-BE49-F238E27FC236}">
                    <a16:creationId xmlns:a16="http://schemas.microsoft.com/office/drawing/2014/main" id="{1B3464CB-2976-41ED-A84F-FA4660C497C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91275" y="3524250"/>
                <a:ext cx="310515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연계 구현 · 실행 방식 · 리소스 지원</a:t>
                </a:r>
              </a:p>
            </p:txBody>
          </p:sp>
          <p:sp>
            <p:nvSpPr>
              <p:cNvPr id="18" name="section01__297">
                <a:extLst xmlns:a="http://schemas.openxmlformats.org/drawingml/2006/main">
                  <a:ext uri="{FF2B5EF4-FFF2-40B4-BE49-F238E27FC236}">
                    <a16:creationId xmlns:a16="http://schemas.microsoft.com/office/drawing/2014/main" id="{F4B3E960-C444-406F-A771-06675F32AF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905250" y="3324225"/>
                <a:ext cx="314325" cy="2857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9" name="section01__298">
                <a:extLst xmlns:a="http://schemas.openxmlformats.org/drawingml/2006/main">
                  <a:ext uri="{FF2B5EF4-FFF2-40B4-BE49-F238E27FC236}">
                    <a16:creationId xmlns:a16="http://schemas.microsoft.com/office/drawing/2014/main" id="{1DC81107-D169-4FCD-A65E-FE30AECF653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10800000">
                <a:off x="5838825" y="3324225"/>
                <a:ext cx="314325" cy="2857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0" name="section01__299">
                <a:extLst xmlns:a="http://schemas.openxmlformats.org/drawingml/2006/main">
                  <a:ext uri="{FF2B5EF4-FFF2-40B4-BE49-F238E27FC236}">
                    <a16:creationId xmlns:a16="http://schemas.microsoft.com/office/drawing/2014/main" id="{B7C6B00F-F9DC-402F-B32D-9DAEA9766C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438650" y="2933700"/>
                <a:ext cx="1162050" cy="11620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1" name="section01__300">
                <a:extLst xmlns:a="http://schemas.openxmlformats.org/drawingml/2006/main">
                  <a:ext uri="{FF2B5EF4-FFF2-40B4-BE49-F238E27FC236}">
                    <a16:creationId xmlns:a16="http://schemas.microsoft.com/office/drawing/2014/main" id="{61802724-433C-4372-83A9-88B0372EDA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14850" y="3009900"/>
                <a:ext cx="1009650" cy="1009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Y-Agent</a:t>
                </a:r>
              </a:p>
            </p:txBody>
          </p:sp>
        </p:grpSp>
        <p:grpSp>
          <p:nvGrpSpPr>
            <p:cNvPr id="10002" name="2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22" name="section02__301">
                <a:extLst xmlns:a="http://schemas.openxmlformats.org/drawingml/2006/main">
                  <a:ext uri="{FF2B5EF4-FFF2-40B4-BE49-F238E27FC236}">
                    <a16:creationId xmlns:a16="http://schemas.microsoft.com/office/drawing/2014/main" id="{1F131A3A-4408-40C2-82ED-0D3906CBD7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4371975"/>
                <a:ext cx="9601200" cy="5153025"/>
              </a:xfrm>
              <a:prstGeom xmlns:a="http://schemas.openxmlformats.org/drawingml/2006/main" prst="roundRect">
                <a:avLst>
                  <a:gd name="adj" fmla="val 1479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3" name="section02__302">
                <a:extLst xmlns:a="http://schemas.openxmlformats.org/drawingml/2006/main">
                  <a:ext uri="{FF2B5EF4-FFF2-40B4-BE49-F238E27FC236}">
                    <a16:creationId xmlns:a16="http://schemas.microsoft.com/office/drawing/2014/main" id="{1BFE4F17-B352-42E4-B554-4E8B1043F4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4381500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4" name="section02__303">
                <a:extLst xmlns:a="http://schemas.openxmlformats.org/drawingml/2006/main">
                  <a:ext uri="{FF2B5EF4-FFF2-40B4-BE49-F238E27FC236}">
                    <a16:creationId xmlns:a16="http://schemas.microsoft.com/office/drawing/2014/main" id="{245A263B-7C0C-4327-A5EC-5F15D3846C3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4381500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5" name="section02__304">
                <a:extLst xmlns:a="http://schemas.openxmlformats.org/drawingml/2006/main">
                  <a:ext uri="{FF2B5EF4-FFF2-40B4-BE49-F238E27FC236}">
                    <a16:creationId xmlns:a16="http://schemas.microsoft.com/office/drawing/2014/main" id="{6B789A3C-F6B6-403F-A438-ED3B25B2A76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4371975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02</a:t>
                </a:r>
              </a:p>
            </p:txBody>
          </p:sp>
          <p:sp>
            <p:nvSpPr>
              <p:cNvPr id="26" name="section02__305">
                <a:extLst xmlns:a="http://schemas.openxmlformats.org/drawingml/2006/main">
                  <a:ext uri="{FF2B5EF4-FFF2-40B4-BE49-F238E27FC236}">
                    <a16:creationId xmlns:a16="http://schemas.microsoft.com/office/drawing/2014/main" id="{9E3C2A9E-C6B3-41AC-8FD4-E632B5278D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4371975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현재 구현한 분석 연계·실행 환경</a:t>
                </a:r>
              </a:p>
            </p:txBody>
          </p:sp>
          <p:sp>
            <p:nvSpPr>
              <p:cNvPr id="27" name="section02__306">
                <a:extLst xmlns:a="http://schemas.openxmlformats.org/drawingml/2006/main">
                  <a:ext uri="{FF2B5EF4-FFF2-40B4-BE49-F238E27FC236}">
                    <a16:creationId xmlns:a16="http://schemas.microsoft.com/office/drawing/2014/main" id="{D03421E2-DF94-45CC-9DB7-47DC7C5311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4933950"/>
                <a:ext cx="2419350" cy="3943350"/>
              </a:xfrm>
              <a:prstGeom xmlns:a="http://schemas.openxmlformats.org/drawingml/2006/main" prst="roundRect">
                <a:avLst>
                  <a:gd name="adj" fmla="val 3150"/>
                </a:avLst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8" name="section02__307">
                <a:extLst xmlns:a="http://schemas.openxmlformats.org/drawingml/2006/main">
                  <a:ext uri="{FF2B5EF4-FFF2-40B4-BE49-F238E27FC236}">
                    <a16:creationId xmlns:a16="http://schemas.microsoft.com/office/drawing/2014/main" id="{F847A1AA-D976-469A-AE17-5141DF8F2F9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0550" y="5191125"/>
                <a:ext cx="2085975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7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7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Y-Agent</a:t>
                </a:r>
              </a:p>
            </p:txBody>
          </p:sp>
          <p:sp>
            <p:nvSpPr>
              <p:cNvPr id="29" name="section02__308">
                <a:extLst xmlns:a="http://schemas.openxmlformats.org/drawingml/2006/main">
                  <a:ext uri="{FF2B5EF4-FFF2-40B4-BE49-F238E27FC236}">
                    <a16:creationId xmlns:a16="http://schemas.microsoft.com/office/drawing/2014/main" id="{66EBCEA2-4DC8-472B-ADEF-37639AEB0E9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1025" y="5857875"/>
                <a:ext cx="209550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전문 분석 기능</a:t>
                </a:r>
              </a:p>
            </p:txBody>
          </p:sp>
          <p:sp>
            <p:nvSpPr>
              <p:cNvPr id="30" name="section02__309">
                <a:extLst xmlns:a="http://schemas.openxmlformats.org/drawingml/2006/main">
                  <a:ext uri="{FF2B5EF4-FFF2-40B4-BE49-F238E27FC236}">
                    <a16:creationId xmlns:a16="http://schemas.microsoft.com/office/drawing/2014/main" id="{F32D5772-F7CD-4598-9418-7A9A4283733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8650" y="6391275"/>
                <a:ext cx="2009775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A5B9C7"/>
                </a:solidFill>
              </a:ln>
            </p:spPr>
          </p:sp>
          <p:sp>
            <p:nvSpPr>
              <p:cNvPr id="31" name="section02__310">
                <a:extLst xmlns:a="http://schemas.openxmlformats.org/drawingml/2006/main">
                  <a:ext uri="{FF2B5EF4-FFF2-40B4-BE49-F238E27FC236}">
                    <a16:creationId xmlns:a16="http://schemas.microsoft.com/office/drawing/2014/main" id="{6C81715E-B296-4873-8286-73E4DD10235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8650" y="6619875"/>
                <a:ext cx="2000250" cy="1219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분석 중인 Trend</a:t>
                </a:r>
              </a:p>
              <a:p xmlns:a="http://schemas.openxmlformats.org/drawingml/2006/main">
                <a:pPr algn="ctr">
                  <a:defRPr sz="1875" b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전문 Agent·Tool</a:t>
                </a:r>
              </a:p>
              <a:p xmlns:a="http://schemas.openxmlformats.org/drawingml/2006/main">
                <a:pPr algn="ctr">
                  <a:defRPr sz="1875" b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분석 결과</a:t>
                </a:r>
              </a:p>
            </p:txBody>
          </p:sp>
          <p:sp>
            <p:nvSpPr>
              <p:cNvPr id="32" name="section02__311">
                <a:extLst xmlns:a="http://schemas.openxmlformats.org/drawingml/2006/main">
                  <a:ext uri="{FF2B5EF4-FFF2-40B4-BE49-F238E27FC236}">
                    <a16:creationId xmlns:a16="http://schemas.microsoft.com/office/drawing/2014/main" id="{789CDAB7-FA9F-4610-9568-009D7D63A8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952750" y="5553075"/>
                <a:ext cx="342900" cy="2667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3" name="section02__312">
                <a:extLst xmlns:a="http://schemas.openxmlformats.org/drawingml/2006/main">
                  <a:ext uri="{FF2B5EF4-FFF2-40B4-BE49-F238E27FC236}">
                    <a16:creationId xmlns:a16="http://schemas.microsoft.com/office/drawing/2014/main" id="{83CB2B73-C03C-4796-AC3C-DF78FF3090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952750" y="7610475"/>
                <a:ext cx="342900" cy="2667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4" name="section02__313">
                <a:extLst xmlns:a="http://schemas.openxmlformats.org/drawingml/2006/main">
                  <a:ext uri="{FF2B5EF4-FFF2-40B4-BE49-F238E27FC236}">
                    <a16:creationId xmlns:a16="http://schemas.microsoft.com/office/drawing/2014/main" id="{BB0F410C-4221-467A-A710-9549B0ECD3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0425" y="4933950"/>
                <a:ext cx="6210300" cy="323850"/>
              </a:xfrm>
              <a:prstGeom xmlns:a="http://schemas.openxmlformats.org/drawingml/2006/main" prst="roundRect">
                <a:avLst>
                  <a:gd name="adj" fmla="val 23529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5" name="section02__314">
                <a:extLst xmlns:a="http://schemas.openxmlformats.org/drawingml/2006/main">
                  <a:ext uri="{FF2B5EF4-FFF2-40B4-BE49-F238E27FC236}">
                    <a16:creationId xmlns:a16="http://schemas.microsoft.com/office/drawing/2014/main" id="{25EA78CC-BDB2-451C-B7B2-64DBAEFB710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48050" y="4933950"/>
                <a:ext cx="61150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① Legacy 연결</a:t>
                </a:r>
              </a:p>
            </p:txBody>
          </p:sp>
          <p:sp>
            <p:nvSpPr>
              <p:cNvPr id="36" name="section02__315">
                <a:extLst xmlns:a="http://schemas.openxmlformats.org/drawingml/2006/main">
                  <a:ext uri="{FF2B5EF4-FFF2-40B4-BE49-F238E27FC236}">
                    <a16:creationId xmlns:a16="http://schemas.microsoft.com/office/drawing/2014/main" id="{A44B4844-B79D-4D91-9A6A-27536C2E4AF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90900" y="5419725"/>
                <a:ext cx="2995613" cy="1009650"/>
              </a:xfrm>
              <a:prstGeom xmlns:a="http://schemas.openxmlformats.org/drawingml/2006/main" prst="roundRect">
                <a:avLst>
                  <a:gd name="adj" fmla="val 754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37" name="section02__316">
                <a:extLst xmlns:a="http://schemas.openxmlformats.org/drawingml/2006/main">
                  <a:ext uri="{FF2B5EF4-FFF2-40B4-BE49-F238E27FC236}">
                    <a16:creationId xmlns:a16="http://schemas.microsoft.com/office/drawing/2014/main" id="{556E3616-45BA-43D4-A445-04C4DD19D6B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76625" y="5495925"/>
                <a:ext cx="282416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분석 중인 Trend</a:t>
                </a:r>
              </a:p>
            </p:txBody>
          </p:sp>
          <p:sp>
            <p:nvSpPr>
              <p:cNvPr id="38" name="section02__317">
                <a:extLst xmlns:a="http://schemas.openxmlformats.org/drawingml/2006/main">
                  <a:ext uri="{FF2B5EF4-FFF2-40B4-BE49-F238E27FC236}">
                    <a16:creationId xmlns:a16="http://schemas.microsoft.com/office/drawing/2014/main" id="{9C30BFE8-BE4F-48CD-B90B-6BABAC4F52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05200" y="5895975"/>
                <a:ext cx="2767013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Y-Agent</a:t>
                </a:r>
              </a:p>
            </p:txBody>
          </p:sp>
          <p:sp>
            <p:nvSpPr>
              <p:cNvPr id="39" name="section02__318">
                <a:extLst xmlns:a="http://schemas.openxmlformats.org/drawingml/2006/main">
                  <a:ext uri="{FF2B5EF4-FFF2-40B4-BE49-F238E27FC236}">
                    <a16:creationId xmlns:a16="http://schemas.microsoft.com/office/drawing/2014/main" id="{8F55DAAE-D6AE-4EF8-86F7-A769BFA7BE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424613" y="5848350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0" name="section02__319">
                <a:extLst xmlns:a="http://schemas.openxmlformats.org/drawingml/2006/main">
                  <a:ext uri="{FF2B5EF4-FFF2-40B4-BE49-F238E27FC236}">
                    <a16:creationId xmlns:a16="http://schemas.microsoft.com/office/drawing/2014/main" id="{A4F80D31-FC6F-4E31-AA45-1F5ABA3C39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634163" y="5419725"/>
                <a:ext cx="2995613" cy="1009650"/>
              </a:xfrm>
              <a:prstGeom xmlns:a="http://schemas.openxmlformats.org/drawingml/2006/main" prst="roundRect">
                <a:avLst>
                  <a:gd name="adj" fmla="val 754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1" name="section02__320">
                <a:extLst xmlns:a="http://schemas.openxmlformats.org/drawingml/2006/main">
                  <a:ext uri="{FF2B5EF4-FFF2-40B4-BE49-F238E27FC236}">
                    <a16:creationId xmlns:a16="http://schemas.microsoft.com/office/drawing/2014/main" id="{8D9E00AC-09A1-4877-9A91-2FF0F1A232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19888" y="5495925"/>
                <a:ext cx="2824163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동일 Trend 조회</a:t>
                </a:r>
              </a:p>
            </p:txBody>
          </p:sp>
          <p:sp>
            <p:nvSpPr>
              <p:cNvPr id="42" name="section02__321">
                <a:extLst xmlns:a="http://schemas.openxmlformats.org/drawingml/2006/main">
                  <a:ext uri="{FF2B5EF4-FFF2-40B4-BE49-F238E27FC236}">
                    <a16:creationId xmlns:a16="http://schemas.microsoft.com/office/drawing/2014/main" id="{50709261-FAC7-48A7-8554-E95E782C8E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48463" y="5895975"/>
                <a:ext cx="2767013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SmartFactory</a:t>
                </a:r>
              </a:p>
            </p:txBody>
          </p:sp>
          <p:sp>
            <p:nvSpPr>
              <p:cNvPr id="43" name="section02__322">
                <a:extLst xmlns:a="http://schemas.openxmlformats.org/drawingml/2006/main">
                  <a:ext uri="{FF2B5EF4-FFF2-40B4-BE49-F238E27FC236}">
                    <a16:creationId xmlns:a16="http://schemas.microsoft.com/office/drawing/2014/main" id="{13C0D511-D18A-4349-8070-9C2376A112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48050" y="6553200"/>
                <a:ext cx="609600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기존 분석 도구와 바로 연결하여 후속 탐색 지원</a:t>
                </a:r>
              </a:p>
            </p:txBody>
          </p:sp>
          <p:sp>
            <p:nvSpPr>
              <p:cNvPr id="44" name="section02__323">
                <a:extLst xmlns:a="http://schemas.openxmlformats.org/drawingml/2006/main">
                  <a:ext uri="{FF2B5EF4-FFF2-40B4-BE49-F238E27FC236}">
                    <a16:creationId xmlns:a16="http://schemas.microsoft.com/office/drawing/2014/main" id="{9D2F1F65-788D-4057-8B51-2E89D1E397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0425" y="7134225"/>
                <a:ext cx="6210300" cy="323850"/>
              </a:xfrm>
              <a:prstGeom xmlns:a="http://schemas.openxmlformats.org/drawingml/2006/main" prst="roundRect">
                <a:avLst>
                  <a:gd name="adj" fmla="val 23529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5" name="section02__324">
                <a:extLst xmlns:a="http://schemas.openxmlformats.org/drawingml/2006/main">
                  <a:ext uri="{FF2B5EF4-FFF2-40B4-BE49-F238E27FC236}">
                    <a16:creationId xmlns:a16="http://schemas.microsoft.com/office/drawing/2014/main" id="{12A7036D-A6ED-4B7A-999E-C4726D30834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48050" y="7134225"/>
                <a:ext cx="61150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② MCP 기반 배치 실행</a:t>
                </a:r>
              </a:p>
            </p:txBody>
          </p:sp>
          <p:sp>
            <p:nvSpPr>
              <p:cNvPr id="46" name="section02__325">
                <a:extLst xmlns:a="http://schemas.openxmlformats.org/drawingml/2006/main">
                  <a:ext uri="{FF2B5EF4-FFF2-40B4-BE49-F238E27FC236}">
                    <a16:creationId xmlns:a16="http://schemas.microsoft.com/office/drawing/2014/main" id="{16234D49-20F2-4D88-A0B6-E8CE604F26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0425" y="7610475"/>
                <a:ext cx="1911350" cy="1190625"/>
              </a:xfrm>
              <a:prstGeom xmlns:a="http://schemas.openxmlformats.org/drawingml/2006/main" prst="roundRect">
                <a:avLst>
                  <a:gd name="adj" fmla="val 6400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7" name="section02__326">
                <a:extLst xmlns:a="http://schemas.openxmlformats.org/drawingml/2006/main">
                  <a:ext uri="{FF2B5EF4-FFF2-40B4-BE49-F238E27FC236}">
                    <a16:creationId xmlns:a16="http://schemas.microsoft.com/office/drawing/2014/main" id="{F923A774-1C4E-470E-A58B-A85F413161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86150" y="7686675"/>
                <a:ext cx="17399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Y-Agent MCP</a:t>
                </a:r>
              </a:p>
            </p:txBody>
          </p:sp>
          <p:sp>
            <p:nvSpPr>
              <p:cNvPr id="48" name="section02__327">
                <a:extLst xmlns:a="http://schemas.openxmlformats.org/drawingml/2006/main">
                  <a:ext uri="{FF2B5EF4-FFF2-40B4-BE49-F238E27FC236}">
                    <a16:creationId xmlns:a16="http://schemas.microsoft.com/office/drawing/2014/main" id="{4609BAAA-DFC1-4B1B-8999-C3199C4A6D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14725" y="8086725"/>
                <a:ext cx="1682750" cy="647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 기능 제공</a:t>
                </a:r>
              </a:p>
            </p:txBody>
          </p:sp>
          <p:sp>
            <p:nvSpPr>
              <p:cNvPr id="49" name="section02__328">
                <a:extLst xmlns:a="http://schemas.openxmlformats.org/drawingml/2006/main">
                  <a:ext uri="{FF2B5EF4-FFF2-40B4-BE49-F238E27FC236}">
                    <a16:creationId xmlns:a16="http://schemas.microsoft.com/office/drawing/2014/main" id="{2BA6B4F3-90EF-4F34-AFEE-EB349185218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349875" y="8129588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0" name="section02__329">
                <a:extLst xmlns:a="http://schemas.openxmlformats.org/drawingml/2006/main">
                  <a:ext uri="{FF2B5EF4-FFF2-40B4-BE49-F238E27FC236}">
                    <a16:creationId xmlns:a16="http://schemas.microsoft.com/office/drawing/2014/main" id="{9B2AD1B4-8B21-426F-9FE6-D24A9EE511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559425" y="7610475"/>
                <a:ext cx="1911350" cy="1190625"/>
              </a:xfrm>
              <a:prstGeom xmlns:a="http://schemas.openxmlformats.org/drawingml/2006/main" prst="roundRect">
                <a:avLst>
                  <a:gd name="adj" fmla="val 6400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1" name="section02__330">
                <a:extLst xmlns:a="http://schemas.openxmlformats.org/drawingml/2006/main">
                  <a:ext uri="{FF2B5EF4-FFF2-40B4-BE49-F238E27FC236}">
                    <a16:creationId xmlns:a16="http://schemas.microsoft.com/office/drawing/2014/main" id="{1B0902CA-B1F4-412B-A495-F268E1BC7E1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45150" y="7686675"/>
                <a:ext cx="17399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BoI Wiki 하네스</a:t>
                </a:r>
              </a:p>
            </p:txBody>
          </p:sp>
          <p:sp>
            <p:nvSpPr>
              <p:cNvPr id="52" name="section02__331">
                <a:extLst xmlns:a="http://schemas.openxmlformats.org/drawingml/2006/main">
                  <a:ext uri="{FF2B5EF4-FFF2-40B4-BE49-F238E27FC236}">
                    <a16:creationId xmlns:a16="http://schemas.microsoft.com/office/drawing/2014/main" id="{FA391220-D9BB-48EC-972F-D192C04EFBA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73725" y="8086725"/>
                <a:ext cx="1682750" cy="647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MCP 연결·반복 호출</a:t>
                </a:r>
              </a:p>
            </p:txBody>
          </p:sp>
          <p:sp>
            <p:nvSpPr>
              <p:cNvPr id="53" name="section02__332">
                <a:extLst xmlns:a="http://schemas.openxmlformats.org/drawingml/2006/main">
                  <a:ext uri="{FF2B5EF4-FFF2-40B4-BE49-F238E27FC236}">
                    <a16:creationId xmlns:a16="http://schemas.microsoft.com/office/drawing/2014/main" id="{01978D6C-4661-4C0F-95E2-8A469ED529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08875" y="8129588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4" name="section02__333">
                <a:extLst xmlns:a="http://schemas.openxmlformats.org/drawingml/2006/main">
                  <a:ext uri="{FF2B5EF4-FFF2-40B4-BE49-F238E27FC236}">
                    <a16:creationId xmlns:a16="http://schemas.microsoft.com/office/drawing/2014/main" id="{F1D0A18A-BA80-4276-882C-FC72E1B803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18425" y="7610475"/>
                <a:ext cx="1911350" cy="1190625"/>
              </a:xfrm>
              <a:prstGeom xmlns:a="http://schemas.openxmlformats.org/drawingml/2006/main" prst="roundRect">
                <a:avLst>
                  <a:gd name="adj" fmla="val 6400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5" name="section02__334">
                <a:extLst xmlns:a="http://schemas.openxmlformats.org/drawingml/2006/main">
                  <a:ext uri="{FF2B5EF4-FFF2-40B4-BE49-F238E27FC236}">
                    <a16:creationId xmlns:a16="http://schemas.microsoft.com/office/drawing/2014/main" id="{A5267712-3D6A-4C0D-AC6A-E1AE59B2D21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804150" y="7686675"/>
                <a:ext cx="17399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보고서 작성</a:t>
                </a:r>
              </a:p>
            </p:txBody>
          </p:sp>
          <p:sp>
            <p:nvSpPr>
              <p:cNvPr id="56" name="section02__335">
                <a:extLst xmlns:a="http://schemas.openxmlformats.org/drawingml/2006/main">
                  <a:ext uri="{FF2B5EF4-FFF2-40B4-BE49-F238E27FC236}">
                    <a16:creationId xmlns:a16="http://schemas.microsoft.com/office/drawing/2014/main" id="{32FE6128-33E7-4FEC-8210-59120D1617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832725" y="8086725"/>
                <a:ext cx="1682750" cy="647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배치 분석 실행</a:t>
                </a:r>
              </a:p>
            </p:txBody>
          </p:sp>
          <p:sp>
            <p:nvSpPr>
              <p:cNvPr id="57" name="section02__336">
                <a:extLst xmlns:a="http://schemas.openxmlformats.org/drawingml/2006/main">
                  <a:ext uri="{FF2B5EF4-FFF2-40B4-BE49-F238E27FC236}">
                    <a16:creationId xmlns:a16="http://schemas.microsoft.com/office/drawing/2014/main" id="{F57B9273-5A82-493E-BA6E-82E6C1F1C70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9010650"/>
                <a:ext cx="9191625" cy="352425"/>
              </a:xfrm>
              <a:prstGeom xmlns:a="http://schemas.openxmlformats.org/drawingml/2006/main" prst="roundRect">
                <a:avLst>
                  <a:gd name="adj" fmla="val 21622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8" name="section02__337">
                <a:extLst xmlns:a="http://schemas.openxmlformats.org/drawingml/2006/main">
                  <a:ext uri="{FF2B5EF4-FFF2-40B4-BE49-F238E27FC236}">
                    <a16:creationId xmlns:a16="http://schemas.microsoft.com/office/drawing/2014/main" id="{EFDE50DD-4C1D-4389-AFC6-459DC1E2CB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2925" y="9010650"/>
                <a:ext cx="89535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Oracle  ·  RAM  ·  NAS Storage  ·  LLM API가 데이터 처리·분석·저장·추론을 지원</a:t>
                </a:r>
              </a:p>
            </p:txBody>
          </p:sp>
        </p:grpSp>
        <p:grpSp>
          <p:nvGrpSpPr>
            <p:cNvPr id="10003" name="3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59" name="section03__338">
                <a:extLst xmlns:a="http://schemas.openxmlformats.org/drawingml/2006/main">
                  <a:ext uri="{FF2B5EF4-FFF2-40B4-BE49-F238E27FC236}">
                    <a16:creationId xmlns:a16="http://schemas.microsoft.com/office/drawing/2014/main" id="{FA5B6E7D-608B-46C8-8A0B-531DFF0543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9696450"/>
                <a:ext cx="9601200" cy="3095625"/>
              </a:xfrm>
              <a:prstGeom xmlns:a="http://schemas.openxmlformats.org/drawingml/2006/main" prst="roundRect">
                <a:avLst>
                  <a:gd name="adj" fmla="val 246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0" name="section03__339">
                <a:extLst xmlns:a="http://schemas.openxmlformats.org/drawingml/2006/main">
                  <a:ext uri="{FF2B5EF4-FFF2-40B4-BE49-F238E27FC236}">
                    <a16:creationId xmlns:a16="http://schemas.microsoft.com/office/drawing/2014/main" id="{6D615DF2-3A4A-4EBA-96F7-4E41209D9A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970597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1" name="section03__340">
                <a:extLst xmlns:a="http://schemas.openxmlformats.org/drawingml/2006/main">
                  <a:ext uri="{FF2B5EF4-FFF2-40B4-BE49-F238E27FC236}">
                    <a16:creationId xmlns:a16="http://schemas.microsoft.com/office/drawing/2014/main" id="{C934C900-4D56-4E71-8D5B-34F176F4F8B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970597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2" name="section03__341">
                <a:extLst xmlns:a="http://schemas.openxmlformats.org/drawingml/2006/main">
                  <a:ext uri="{FF2B5EF4-FFF2-40B4-BE49-F238E27FC236}">
                    <a16:creationId xmlns:a16="http://schemas.microsoft.com/office/drawing/2014/main" id="{A1904CED-313B-4569-9254-777AEB8CADF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969645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03</a:t>
                </a:r>
              </a:p>
            </p:txBody>
          </p:sp>
          <p:sp>
            <p:nvSpPr>
              <p:cNvPr id="63" name="section03__342">
                <a:extLst xmlns:a="http://schemas.openxmlformats.org/drawingml/2006/main">
                  <a:ext uri="{FF2B5EF4-FFF2-40B4-BE49-F238E27FC236}">
                    <a16:creationId xmlns:a16="http://schemas.microsoft.com/office/drawing/2014/main" id="{5FD71FDC-ED66-4762-970E-F8C3623017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969645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협업을 통한 개선과 다음 확장</a:t>
                </a:r>
              </a:p>
            </p:txBody>
          </p:sp>
          <p:sp>
            <p:nvSpPr>
              <p:cNvPr id="64" name="section03__343">
                <a:extLst xmlns:a="http://schemas.openxmlformats.org/drawingml/2006/main">
                  <a:ext uri="{FF2B5EF4-FFF2-40B4-BE49-F238E27FC236}">
                    <a16:creationId xmlns:a16="http://schemas.microsoft.com/office/drawing/2014/main" id="{F3C6EFE3-F30D-45D3-9B16-D637A161C5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10239375"/>
                <a:ext cx="2112169" cy="952500"/>
              </a:xfrm>
              <a:prstGeom xmlns:a="http://schemas.openxmlformats.org/drawingml/2006/main" prst="roundRect">
                <a:avLst>
                  <a:gd name="adj" fmla="val 8000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5" name="section03__344">
                <a:extLst xmlns:a="http://schemas.openxmlformats.org/drawingml/2006/main">
                  <a:ext uri="{FF2B5EF4-FFF2-40B4-BE49-F238E27FC236}">
                    <a16:creationId xmlns:a16="http://schemas.microsoft.com/office/drawing/2014/main" id="{4EBFDEC2-D414-4133-BBB9-44D5FB9C59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4825" y="10315575"/>
                <a:ext cx="1940719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아이디어 제안</a:t>
                </a:r>
              </a:p>
            </p:txBody>
          </p:sp>
          <p:sp>
            <p:nvSpPr>
              <p:cNvPr id="66" name="section03__345">
                <a:extLst xmlns:a="http://schemas.openxmlformats.org/drawingml/2006/main">
                  <a:ext uri="{FF2B5EF4-FFF2-40B4-BE49-F238E27FC236}">
                    <a16:creationId xmlns:a16="http://schemas.microsoft.com/office/drawing/2014/main" id="{32BE671B-BBAD-4F95-AB78-0DDAE05081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33400" y="10715625"/>
                <a:ext cx="1883569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현업 / DT</a:t>
                </a:r>
              </a:p>
            </p:txBody>
          </p:sp>
          <p:sp>
            <p:nvSpPr>
              <p:cNvPr id="67" name="section03__346">
                <a:extLst xmlns:a="http://schemas.openxmlformats.org/drawingml/2006/main">
                  <a:ext uri="{FF2B5EF4-FFF2-40B4-BE49-F238E27FC236}">
                    <a16:creationId xmlns:a16="http://schemas.microsoft.com/office/drawing/2014/main" id="{AA4529C0-9DF9-47BC-9AA5-D1FC4BD6A14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69369" y="10639425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8" name="section03__347">
                <a:extLst xmlns:a="http://schemas.openxmlformats.org/drawingml/2006/main">
                  <a:ext uri="{FF2B5EF4-FFF2-40B4-BE49-F238E27FC236}">
                    <a16:creationId xmlns:a16="http://schemas.microsoft.com/office/drawing/2014/main" id="{1C825A8D-2C63-4918-B647-6ABB16AA57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78919" y="10239375"/>
                <a:ext cx="2112169" cy="952500"/>
              </a:xfrm>
              <a:prstGeom xmlns:a="http://schemas.openxmlformats.org/drawingml/2006/main" prst="roundRect">
                <a:avLst>
                  <a:gd name="adj" fmla="val 8000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9" name="section03__348">
                <a:extLst xmlns:a="http://schemas.openxmlformats.org/drawingml/2006/main">
                  <a:ext uri="{FF2B5EF4-FFF2-40B4-BE49-F238E27FC236}">
                    <a16:creationId xmlns:a16="http://schemas.microsoft.com/office/drawing/2014/main" id="{C54E262B-DB0A-44E9-94A3-7A61EC27C7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64644" y="10315575"/>
                <a:ext cx="1940719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설계·개발</a:t>
                </a:r>
              </a:p>
            </p:txBody>
          </p:sp>
          <p:sp>
            <p:nvSpPr>
              <p:cNvPr id="70" name="section03__349">
                <a:extLst xmlns:a="http://schemas.openxmlformats.org/drawingml/2006/main">
                  <a:ext uri="{FF2B5EF4-FFF2-40B4-BE49-F238E27FC236}">
                    <a16:creationId xmlns:a16="http://schemas.microsoft.com/office/drawing/2014/main" id="{740DC030-10E6-4791-A9C1-596C724F80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93219" y="10715625"/>
                <a:ext cx="1883569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공동 수행</a:t>
                </a:r>
              </a:p>
            </p:txBody>
          </p:sp>
          <p:sp>
            <p:nvSpPr>
              <p:cNvPr id="71" name="section03__350">
                <a:extLst xmlns:a="http://schemas.openxmlformats.org/drawingml/2006/main">
                  <a:ext uri="{FF2B5EF4-FFF2-40B4-BE49-F238E27FC236}">
                    <a16:creationId xmlns:a16="http://schemas.microsoft.com/office/drawing/2014/main" id="{9EA4ABCA-EBE6-47ED-8758-2654D1F768A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29188" y="10639425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2" name="section03__351">
                <a:extLst xmlns:a="http://schemas.openxmlformats.org/drawingml/2006/main">
                  <a:ext uri="{FF2B5EF4-FFF2-40B4-BE49-F238E27FC236}">
                    <a16:creationId xmlns:a16="http://schemas.microsoft.com/office/drawing/2014/main" id="{498E878A-3462-419A-8A21-2BF0B617F3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38738" y="10239375"/>
                <a:ext cx="2112169" cy="952500"/>
              </a:xfrm>
              <a:prstGeom xmlns:a="http://schemas.openxmlformats.org/drawingml/2006/main" prst="roundRect">
                <a:avLst>
                  <a:gd name="adj" fmla="val 8000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3" name="section03__352">
                <a:extLst xmlns:a="http://schemas.openxmlformats.org/drawingml/2006/main">
                  <a:ext uri="{FF2B5EF4-FFF2-40B4-BE49-F238E27FC236}">
                    <a16:creationId xmlns:a16="http://schemas.microsoft.com/office/drawing/2014/main" id="{00E2952F-1113-4252-930B-C96052A0FA2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24463" y="10315575"/>
                <a:ext cx="1940719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검증</a:t>
                </a:r>
              </a:p>
            </p:txBody>
          </p:sp>
          <p:sp>
            <p:nvSpPr>
              <p:cNvPr id="74" name="section03__353">
                <a:extLst xmlns:a="http://schemas.openxmlformats.org/drawingml/2006/main">
                  <a:ext uri="{FF2B5EF4-FFF2-40B4-BE49-F238E27FC236}">
                    <a16:creationId xmlns:a16="http://schemas.microsoft.com/office/drawing/2014/main" id="{0E122C56-420B-4A32-B051-30AAA881294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53038" y="10715625"/>
                <a:ext cx="1883569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실제 데이터</a:t>
                </a:r>
              </a:p>
            </p:txBody>
          </p:sp>
          <p:sp>
            <p:nvSpPr>
              <p:cNvPr id="75" name="section03__354">
                <a:extLst xmlns:a="http://schemas.openxmlformats.org/drawingml/2006/main">
                  <a:ext uri="{FF2B5EF4-FFF2-40B4-BE49-F238E27FC236}">
                    <a16:creationId xmlns:a16="http://schemas.microsoft.com/office/drawing/2014/main" id="{A2E20C40-9596-47C0-A06D-AA796D57F9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89006" y="10639425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6" name="section03__355">
                <a:extLst xmlns:a="http://schemas.openxmlformats.org/drawingml/2006/main">
                  <a:ext uri="{FF2B5EF4-FFF2-40B4-BE49-F238E27FC236}">
                    <a16:creationId xmlns:a16="http://schemas.microsoft.com/office/drawing/2014/main" id="{A6C2B6AB-94FE-401E-94C9-DF9CB8CEF4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98556" y="10239375"/>
                <a:ext cx="2112169" cy="952500"/>
              </a:xfrm>
              <a:prstGeom xmlns:a="http://schemas.openxmlformats.org/drawingml/2006/main" prst="roundRect">
                <a:avLst>
                  <a:gd name="adj" fmla="val 8000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7" name="section03__356">
                <a:extLst xmlns:a="http://schemas.openxmlformats.org/drawingml/2006/main">
                  <a:ext uri="{FF2B5EF4-FFF2-40B4-BE49-F238E27FC236}">
                    <a16:creationId xmlns:a16="http://schemas.microsoft.com/office/drawing/2014/main" id="{081E58ED-9C40-49CC-881C-7AAC329F55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84281" y="10315575"/>
                <a:ext cx="1940719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피드백·개선</a:t>
                </a:r>
              </a:p>
            </p:txBody>
          </p:sp>
          <p:sp>
            <p:nvSpPr>
              <p:cNvPr id="78" name="section03__357">
                <a:extLst xmlns:a="http://schemas.openxmlformats.org/drawingml/2006/main">
                  <a:ext uri="{FF2B5EF4-FFF2-40B4-BE49-F238E27FC236}">
                    <a16:creationId xmlns:a16="http://schemas.microsoft.com/office/drawing/2014/main" id="{DD349B24-B5BB-4477-8D39-E027C6718B2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12856" y="10715625"/>
                <a:ext cx="1883569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수시 반영</a:t>
                </a:r>
              </a:p>
            </p:txBody>
          </p:sp>
          <p:sp>
            <p:nvSpPr>
              <p:cNvPr id="79" name="section03__358">
                <a:extLst xmlns:a="http://schemas.openxmlformats.org/drawingml/2006/main">
                  <a:ext uri="{FF2B5EF4-FFF2-40B4-BE49-F238E27FC236}">
                    <a16:creationId xmlns:a16="http://schemas.microsoft.com/office/drawing/2014/main" id="{E9D2C18D-FEEB-49B5-99D4-9A553981C92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11382375"/>
                <a:ext cx="4438650" cy="1200150"/>
              </a:xfrm>
              <a:prstGeom xmlns:a="http://schemas.openxmlformats.org/drawingml/2006/main" prst="roundRect">
                <a:avLst>
                  <a:gd name="adj" fmla="val 6349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0" name="section03__359">
                <a:extLst xmlns:a="http://schemas.openxmlformats.org/drawingml/2006/main">
                  <a:ext uri="{FF2B5EF4-FFF2-40B4-BE49-F238E27FC236}">
                    <a16:creationId xmlns:a16="http://schemas.microsoft.com/office/drawing/2014/main" id="{991EF1A5-44B4-4475-A12F-709AFD8B9D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57775" y="11382375"/>
                <a:ext cx="4552950" cy="1200150"/>
              </a:xfrm>
              <a:prstGeom xmlns:a="http://schemas.openxmlformats.org/drawingml/2006/main" prst="roundRect">
                <a:avLst>
                  <a:gd name="adj" fmla="val 6349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1" name="section03__360">
                <a:extLst xmlns:a="http://schemas.openxmlformats.org/drawingml/2006/main">
                  <a:ext uri="{FF2B5EF4-FFF2-40B4-BE49-F238E27FC236}">
                    <a16:creationId xmlns:a16="http://schemas.microsoft.com/office/drawing/2014/main" id="{B953DA6D-421E-4728-A324-ED107C22C6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2925" y="11506200"/>
                <a:ext cx="4181475" cy="304800"/>
              </a:xfrm>
              <a:prstGeom xmlns:a="http://schemas.openxmlformats.org/drawingml/2006/main" prst="roundRect">
                <a:avLst>
                  <a:gd name="adj" fmla="val 25000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2" name="section03__361">
                <a:extLst xmlns:a="http://schemas.openxmlformats.org/drawingml/2006/main">
                  <a:ext uri="{FF2B5EF4-FFF2-40B4-BE49-F238E27FC236}">
                    <a16:creationId xmlns:a16="http://schemas.microsoft.com/office/drawing/2014/main" id="{FFBC0F27-B227-4D24-8281-0EDB77A798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0550" y="11506200"/>
                <a:ext cx="4086225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향후  ·  Legacy Action 연계</a:t>
                </a:r>
              </a:p>
            </p:txBody>
          </p:sp>
          <p:sp>
            <p:nvSpPr>
              <p:cNvPr id="83" name="section03__362">
                <a:extLst xmlns:a="http://schemas.openxmlformats.org/drawingml/2006/main">
                  <a:ext uri="{FF2B5EF4-FFF2-40B4-BE49-F238E27FC236}">
                    <a16:creationId xmlns:a16="http://schemas.microsoft.com/office/drawing/2014/main" id="{28D78D42-5C3D-4CEB-A276-E48F65B8932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52450" y="11982450"/>
                <a:ext cx="4162425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조회에서 기존 시스템의 액션 수행으로 확장</a:t>
                </a:r>
              </a:p>
            </p:txBody>
          </p:sp>
          <p:sp>
            <p:nvSpPr>
              <p:cNvPr id="84" name="section03__363">
                <a:extLst xmlns:a="http://schemas.openxmlformats.org/drawingml/2006/main">
                  <a:ext uri="{FF2B5EF4-FFF2-40B4-BE49-F238E27FC236}">
                    <a16:creationId xmlns:a16="http://schemas.microsoft.com/office/drawing/2014/main" id="{43502889-155C-47BF-A72E-7532A60DCB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91125" y="11506200"/>
                <a:ext cx="4286250" cy="304800"/>
              </a:xfrm>
              <a:prstGeom xmlns:a="http://schemas.openxmlformats.org/drawingml/2006/main" prst="roundRect">
                <a:avLst>
                  <a:gd name="adj" fmla="val 25000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5" name="section03__364">
                <a:extLst xmlns:a="http://schemas.openxmlformats.org/drawingml/2006/main">
                  <a:ext uri="{FF2B5EF4-FFF2-40B4-BE49-F238E27FC236}">
                    <a16:creationId xmlns:a16="http://schemas.microsoft.com/office/drawing/2014/main" id="{3141BDE4-98B8-4047-9A2D-83155CA8E9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0" y="11506200"/>
                <a:ext cx="41910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향후  ·  Workflow 지식화</a:t>
                </a:r>
              </a:p>
            </p:txBody>
          </p:sp>
          <p:sp>
            <p:nvSpPr>
              <p:cNvPr id="86" name="section03__365">
                <a:extLst xmlns:a="http://schemas.openxmlformats.org/drawingml/2006/main">
                  <a:ext uri="{FF2B5EF4-FFF2-40B4-BE49-F238E27FC236}">
                    <a16:creationId xmlns:a16="http://schemas.microsoft.com/office/drawing/2014/main" id="{3FDC9095-8490-4770-8D21-1E9C274B2D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00650" y="11982450"/>
                <a:ext cx="4267200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배치 분석 경험을 축적해 현업 재사용성 개선</a:t>
                </a:r>
              </a:p>
            </p:txBody>
          </p:sp>
        </p:grpSp>
        <p:grpSp>
          <p:nvGrpSpPr>
            <p:cNvPr id="10004" name="핵심 메시지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87" name="footer__366">
                <a:extLst xmlns:a="http://schemas.openxmlformats.org/drawingml/2006/main">
                  <a:ext uri="{FF2B5EF4-FFF2-40B4-BE49-F238E27FC236}">
                    <a16:creationId xmlns:a16="http://schemas.microsoft.com/office/drawing/2014/main" id="{7A11486C-3F2F-401E-926C-69CDA1AA595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28600" y="12963525"/>
                <a:ext cx="9582150" cy="904875"/>
              </a:xfrm>
              <a:prstGeom xmlns:a="http://schemas.openxmlformats.org/drawingml/2006/main" prst="roundRect">
                <a:avLst>
                  <a:gd name="adj" fmla="val 8421"/>
                </a:avLst>
              </a:prstGeom>
              <a:solidFill xmlns:a="http://schemas.openxmlformats.org/drawingml/2006/main">
                <a:srgbClr val="2E404D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8" name="footer__367">
                <a:extLst xmlns:a="http://schemas.openxmlformats.org/drawingml/2006/main">
                  <a:ext uri="{FF2B5EF4-FFF2-40B4-BE49-F238E27FC236}">
                    <a16:creationId xmlns:a16="http://schemas.microsoft.com/office/drawing/2014/main" id="{A0E4AE3B-9F5D-4984-8F3F-B9B54BE5B59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3087350"/>
                <a:ext cx="9182100" cy="638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기능 제안과 연계 활용을 중심으로 함께 구현·검증하며,</a:t>
                </a:r>
              </a:p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분석 연결성 확보와 실행 방식 확장을 추진</a:t>
                </a:r>
              </a:p>
            </p:txBody>
          </p:sp>
          <p:sp>
            <p:nvSpPr>
              <p:cNvPr id="89" name="footer__368">
                <a:extLst xmlns:a="http://schemas.openxmlformats.org/drawingml/2006/main">
                  <a:ext uri="{FF2B5EF4-FFF2-40B4-BE49-F238E27FC236}">
                    <a16:creationId xmlns:a16="http://schemas.microsoft.com/office/drawing/2014/main" id="{9B8E7E94-D29D-455A-A831-A6F7BA73E5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3954125"/>
                <a:ext cx="82867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Y-Agent · 수율분석 혁신</a:t>
                </a:r>
              </a:p>
            </p:txBody>
          </p:sp>
          <p:sp>
            <p:nvSpPr>
              <p:cNvPr id="90" name="footer__369">
                <a:extLst xmlns:a="http://schemas.openxmlformats.org/drawingml/2006/main">
                  <a:ext uri="{FF2B5EF4-FFF2-40B4-BE49-F238E27FC236}">
                    <a16:creationId xmlns:a16="http://schemas.microsoft.com/office/drawing/2014/main" id="{BE143784-45AC-42CB-882E-5CA8B30779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53525" y="13954125"/>
                <a:ext cx="5143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6920178"/>
      </p:ext>
    </p:extLst>
  </p:cSld>
</p:sld>
</file>

<file path=import1/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99999" name="Original slide content"/>
          <p:cNvGrpSpPr/>
          <p:nvPr/>
        </p:nvGrpSpPr>
        <p:grpSpPr>
          <ns0:xfrm xmlns:ns0="http://schemas.openxmlformats.org/drawingml/2006/main">
            <ns0:off x="3211" y="0"/>
            <ns0:ext cx="7556428" cy="10696575"/>
            <ns0:chOff x="0" y="0"/>
            <ns0:chExt cx="10039350" cy="14211300"/>
          </ns0:xfrm>
        </p:grpSpPr>
        <p:grpSp>
          <p:nvGrpSpPr>
            <p:cNvPr id="10000" name="제목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83" name="header__370">
                <a:extLst xmlns:a="http://schemas.openxmlformats.org/drawingml/2006/main">
                  <a:ext uri="{FF2B5EF4-FFF2-40B4-BE49-F238E27FC236}">
                    <a16:creationId xmlns:a16="http://schemas.microsoft.com/office/drawing/2014/main" id="{E3893561-985B-42E3-BE16-ADDD68B521A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71450"/>
                <a:ext cx="11334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SK hynix</a:t>
                </a:r>
              </a:p>
            </p:txBody>
          </p:sp>
          <p:sp>
            <p:nvSpPr>
              <p:cNvPr id="2" name="header__371">
                <a:extLst xmlns:a="http://schemas.openxmlformats.org/drawingml/2006/main">
                  <a:ext uri="{FF2B5EF4-FFF2-40B4-BE49-F238E27FC236}">
                    <a16:creationId xmlns:a16="http://schemas.microsoft.com/office/drawing/2014/main" id="{618D4D5F-3C22-46AA-A77D-6AD106861F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00200" y="171450"/>
                <a:ext cx="47625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공적 사례상세</a:t>
                </a:r>
              </a:p>
            </p:txBody>
          </p:sp>
          <p:sp>
            <p:nvSpPr>
              <p:cNvPr id="3" name="header__372">
                <a:extLst xmlns:a="http://schemas.openxmlformats.org/drawingml/2006/main">
                  <a:ext uri="{FF2B5EF4-FFF2-40B4-BE49-F238E27FC236}">
                    <a16:creationId xmlns:a16="http://schemas.microsoft.com/office/drawing/2014/main" id="{21E30CDA-F21B-4939-B5BE-43BD0530C3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772525" y="171450"/>
                <a:ext cx="8667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05 / 06</a:t>
                </a:r>
              </a:p>
            </p:txBody>
          </p:sp>
          <p:sp>
            <p:nvSpPr>
              <p:cNvPr id="4" name="header__373">
                <a:extLst xmlns:a="http://schemas.openxmlformats.org/drawingml/2006/main">
                  <a:ext uri="{FF2B5EF4-FFF2-40B4-BE49-F238E27FC236}">
                    <a16:creationId xmlns:a16="http://schemas.microsoft.com/office/drawing/2014/main" id="{9958226C-3AE6-4AF0-9B12-306ACCE841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1950" y="533400"/>
                <a:ext cx="931545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5" name="header__374">
                <a:extLst xmlns:a="http://schemas.openxmlformats.org/drawingml/2006/main">
                  <a:ext uri="{FF2B5EF4-FFF2-40B4-BE49-F238E27FC236}">
                    <a16:creationId xmlns:a16="http://schemas.microsoft.com/office/drawing/2014/main" id="{3EA125E8-4F49-4C2F-8DBE-1AB1FC1C1D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742950"/>
                <a:ext cx="9286875" cy="1038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실제 수율 이슈 7건 중 5건 검출</a:t>
                </a:r>
              </a:p>
              <a:p xmlns:a="http://schemas.openxmlformats.org/drawingml/2006/main">
                <a:pPr algn="l">
                  <a:def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30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현업 Co-pilot으로 적용</a:t>
                </a:r>
              </a:p>
            </p:txBody>
          </p:sp>
          <p:sp>
            <p:nvSpPr>
              <p:cNvPr id="6" name="header__375">
                <a:extLst xmlns:a="http://schemas.openxmlformats.org/drawingml/2006/main">
                  <a:ext uri="{FF2B5EF4-FFF2-40B4-BE49-F238E27FC236}">
                    <a16:creationId xmlns:a16="http://schemas.microsoft.com/office/drawing/2014/main" id="{59792970-AF5E-4DC3-80BF-09B91232E33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81000" y="1866900"/>
                <a:ext cx="92392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수율팀 Daily 회의와 엔지니어 직접 사용을 통해 분석 결과의 타당성 확인</a:t>
                </a:r>
              </a:p>
            </p:txBody>
          </p:sp>
        </p:grpSp>
        <p:grpSp>
          <p:nvGrpSpPr>
            <p:cNvPr id="10001" name="1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7" name="section01__376">
                <a:extLst xmlns:a="http://schemas.openxmlformats.org/drawingml/2006/main">
                  <a:ext uri="{FF2B5EF4-FFF2-40B4-BE49-F238E27FC236}">
                    <a16:creationId xmlns:a16="http://schemas.microsoft.com/office/drawing/2014/main" id="{490E5972-7170-4E43-BDAE-AA5C88AA27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2400300"/>
                <a:ext cx="9601200" cy="3362325"/>
              </a:xfrm>
              <a:prstGeom xmlns:a="http://schemas.openxmlformats.org/drawingml/2006/main" prst="roundRect">
                <a:avLst>
                  <a:gd name="adj" fmla="val 2266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" name="section01__377">
                <a:extLst xmlns:a="http://schemas.openxmlformats.org/drawingml/2006/main">
                  <a:ext uri="{FF2B5EF4-FFF2-40B4-BE49-F238E27FC236}">
                    <a16:creationId xmlns:a16="http://schemas.microsoft.com/office/drawing/2014/main" id="{7BFF1338-27A8-40F9-9539-B5BF8FCA71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" name="section01__378">
                <a:extLst xmlns:a="http://schemas.openxmlformats.org/drawingml/2006/main">
                  <a:ext uri="{FF2B5EF4-FFF2-40B4-BE49-F238E27FC236}">
                    <a16:creationId xmlns:a16="http://schemas.microsoft.com/office/drawing/2014/main" id="{9C042844-81AC-49CB-BD54-54F27E76DAD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0" name="section01__379">
                <a:extLst xmlns:a="http://schemas.openxmlformats.org/drawingml/2006/main">
                  <a:ext uri="{FF2B5EF4-FFF2-40B4-BE49-F238E27FC236}">
                    <a16:creationId xmlns:a16="http://schemas.microsoft.com/office/drawing/2014/main" id="{51534B62-0647-449F-BC33-5333FEB605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24003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01</a:t>
                </a:r>
              </a:p>
            </p:txBody>
          </p:sp>
          <p:sp>
            <p:nvSpPr>
              <p:cNvPr id="11" name="section01__380">
                <a:extLst xmlns:a="http://schemas.openxmlformats.org/drawingml/2006/main">
                  <a:ext uri="{FF2B5EF4-FFF2-40B4-BE49-F238E27FC236}">
                    <a16:creationId xmlns:a16="http://schemas.microsoft.com/office/drawing/2014/main" id="{6AED4966-66EB-4343-9488-F658B15835C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24003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검증 성과와 현업 피드백</a:t>
                </a:r>
              </a:p>
            </p:txBody>
          </p:sp>
          <p:sp>
            <p:nvSpPr>
              <p:cNvPr id="13" name="section01__381">
                <a:extLst xmlns:a="http://schemas.openxmlformats.org/drawingml/2006/main">
                  <a:ext uri="{FF2B5EF4-FFF2-40B4-BE49-F238E27FC236}">
                    <a16:creationId xmlns:a16="http://schemas.microsoft.com/office/drawing/2014/main" id="{96CD04E5-AF28-4C77-80D7-F4B905D5F5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266825" y="3819525"/>
                <a:ext cx="1104900" cy="619125"/>
              </a:xfrm>
              <a:prstGeom xmlns:a="http://schemas.openxmlformats.org/drawingml/2006/main" prst="roundRect">
                <a:avLst>
                  <a:gd name="adj" fmla="val 12308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4" name="section01__382">
                <a:extLst xmlns:a="http://schemas.openxmlformats.org/drawingml/2006/main">
                  <a:ext uri="{FF2B5EF4-FFF2-40B4-BE49-F238E27FC236}">
                    <a16:creationId xmlns:a16="http://schemas.microsoft.com/office/drawing/2014/main" id="{351EB7E4-C518-44D1-B654-B833B8EF55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257300" y="3838575"/>
                <a:ext cx="1133475" cy="5810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92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92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5 / 7</a:t>
                </a:r>
              </a:p>
            </p:txBody>
          </p:sp>
          <p:sp>
            <p:nvSpPr>
              <p:cNvPr id="15" name="section01__383">
                <a:extLst xmlns:a="http://schemas.openxmlformats.org/drawingml/2006/main">
                  <a:ext uri="{FF2B5EF4-FFF2-40B4-BE49-F238E27FC236}">
                    <a16:creationId xmlns:a16="http://schemas.microsoft.com/office/drawing/2014/main" id="{85E643A6-F4BB-4A4D-8D07-6DCAD0BF42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33750" y="3295650"/>
                <a:ext cx="190500" cy="1905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6" name="section01__384">
                <a:extLst xmlns:a="http://schemas.openxmlformats.org/drawingml/2006/main">
                  <a:ext uri="{FF2B5EF4-FFF2-40B4-BE49-F238E27FC236}">
                    <a16:creationId xmlns:a16="http://schemas.microsoft.com/office/drawing/2014/main" id="{759098BF-D5A1-42E1-B3C6-09FF768215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57600" y="3209925"/>
                <a:ext cx="1971675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21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1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검출 5건</a:t>
                </a:r>
              </a:p>
            </p:txBody>
          </p:sp>
          <p:sp>
            <p:nvSpPr>
              <p:cNvPr id="17" name="section01__385">
                <a:extLst xmlns:a="http://schemas.openxmlformats.org/drawingml/2006/main">
                  <a:ext uri="{FF2B5EF4-FFF2-40B4-BE49-F238E27FC236}">
                    <a16:creationId xmlns:a16="http://schemas.microsoft.com/office/drawing/2014/main" id="{FF8CECB4-4D65-4D60-8A51-897FCF721F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57600" y="3648075"/>
                <a:ext cx="2105025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Y-Agent 분석으로 검출</a:t>
                </a:r>
              </a:p>
            </p:txBody>
          </p:sp>
          <p:sp>
            <p:nvSpPr>
              <p:cNvPr id="18" name="section01__386">
                <a:extLst xmlns:a="http://schemas.openxmlformats.org/drawingml/2006/main">
                  <a:ext uri="{FF2B5EF4-FFF2-40B4-BE49-F238E27FC236}">
                    <a16:creationId xmlns:a16="http://schemas.microsoft.com/office/drawing/2014/main" id="{01D42B9C-8A57-4C92-A898-9D59BCE280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33750" y="4248150"/>
                <a:ext cx="190500" cy="1905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9" name="section01__387">
                <a:extLst xmlns:a="http://schemas.openxmlformats.org/drawingml/2006/main">
                  <a:ext uri="{FF2B5EF4-FFF2-40B4-BE49-F238E27FC236}">
                    <a16:creationId xmlns:a16="http://schemas.microsoft.com/office/drawing/2014/main" id="{AC2AC350-E2B6-4487-987B-885E126B603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57600" y="4171950"/>
                <a:ext cx="2009775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21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1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미검출 2건</a:t>
                </a:r>
              </a:p>
            </p:txBody>
          </p:sp>
          <p:sp>
            <p:nvSpPr>
              <p:cNvPr id="20" name="section01__388">
                <a:extLst xmlns:a="http://schemas.openxmlformats.org/drawingml/2006/main">
                  <a:ext uri="{FF2B5EF4-FFF2-40B4-BE49-F238E27FC236}">
                    <a16:creationId xmlns:a16="http://schemas.microsoft.com/office/drawing/2014/main" id="{B521310F-69E4-41E0-8261-8F9018DFEDD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57600" y="4591050"/>
                <a:ext cx="2190750" cy="295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해당 분석 방법 구현 필요</a:t>
                </a:r>
              </a:p>
            </p:txBody>
          </p:sp>
          <p:sp>
            <p:nvSpPr>
              <p:cNvPr id="21" name="section01__389">
                <a:extLst xmlns:a="http://schemas.openxmlformats.org/drawingml/2006/main">
                  <a:ext uri="{FF2B5EF4-FFF2-40B4-BE49-F238E27FC236}">
                    <a16:creationId xmlns:a16="http://schemas.microsoft.com/office/drawing/2014/main" id="{49E96769-014E-4210-88E6-F911D69991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0" y="3057525"/>
                <a:ext cx="0" cy="219075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22" name="section01__390">
                <a:extLst xmlns:a="http://schemas.openxmlformats.org/drawingml/2006/main">
                  <a:ext uri="{FF2B5EF4-FFF2-40B4-BE49-F238E27FC236}">
                    <a16:creationId xmlns:a16="http://schemas.microsoft.com/office/drawing/2014/main" id="{4AC0899F-2A09-4142-B7D0-5541C82D252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429375" y="3257550"/>
                <a:ext cx="2895600" cy="838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50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50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81건</a:t>
                </a:r>
              </a:p>
            </p:txBody>
          </p:sp>
          <p:sp>
            <p:nvSpPr>
              <p:cNvPr id="23" name="section01__391">
                <a:extLst xmlns:a="http://schemas.openxmlformats.org/drawingml/2006/main">
                  <a:ext uri="{FF2B5EF4-FFF2-40B4-BE49-F238E27FC236}">
                    <a16:creationId xmlns:a16="http://schemas.microsoft.com/office/drawing/2014/main" id="{0C93B70C-4340-4487-A838-956FF5FF6E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429375" y="4095750"/>
                <a:ext cx="289560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협업 Action Item</a:t>
                </a:r>
              </a:p>
            </p:txBody>
          </p:sp>
          <p:sp>
            <p:nvSpPr>
              <p:cNvPr id="24" name="section01__392">
                <a:extLst xmlns:a="http://schemas.openxmlformats.org/drawingml/2006/main">
                  <a:ext uri="{FF2B5EF4-FFF2-40B4-BE49-F238E27FC236}">
                    <a16:creationId xmlns:a16="http://schemas.microsoft.com/office/drawing/2014/main" id="{11FCE123-F383-406A-BCD8-12886D2E0D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429375" y="4629150"/>
                <a:ext cx="289560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현업 요구를 기능·분석 개선으로 연결</a:t>
                </a:r>
              </a:p>
            </p:txBody>
          </p:sp>
          <p:sp>
            <p:nvSpPr>
              <p:cNvPr id="25" name="section01__393">
                <a:extLst xmlns:a="http://schemas.openxmlformats.org/drawingml/2006/main">
                  <a:ext uri="{FF2B5EF4-FFF2-40B4-BE49-F238E27FC236}">
                    <a16:creationId xmlns:a16="http://schemas.microsoft.com/office/drawing/2014/main" id="{AE73F1E1-CC88-4166-9143-E7306EC5C84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66725" y="5410200"/>
                <a:ext cx="902970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※ 해당 7건의 검증 사례 기준  ·  미검출 2건은 현재 미구현 분석 방법이 필요한 사례</a:t>
                </a:r>
              </a:p>
            </p:txBody>
          </p:sp>
        </p:grpSp>
        <p:grpSp>
          <p:nvGrpSpPr>
            <p:cNvPr id="10002" name="2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26" name="section02__394">
                <a:extLst xmlns:a="http://schemas.openxmlformats.org/drawingml/2006/main">
                  <a:ext uri="{FF2B5EF4-FFF2-40B4-BE49-F238E27FC236}">
                    <a16:creationId xmlns:a16="http://schemas.microsoft.com/office/drawing/2014/main" id="{88915480-DABB-4D26-9B54-B81B2598B5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5934075"/>
                <a:ext cx="9601200" cy="2743200"/>
              </a:xfrm>
              <a:prstGeom xmlns:a="http://schemas.openxmlformats.org/drawingml/2006/main" prst="roundRect">
                <a:avLst>
                  <a:gd name="adj" fmla="val 2778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7" name="section02__395">
                <a:extLst xmlns:a="http://schemas.openxmlformats.org/drawingml/2006/main">
                  <a:ext uri="{FF2B5EF4-FFF2-40B4-BE49-F238E27FC236}">
                    <a16:creationId xmlns:a16="http://schemas.microsoft.com/office/drawing/2014/main" id="{357F0469-99D7-4EC2-A0C2-FBAEF35455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5943600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8" name="section02__396">
                <a:extLst xmlns:a="http://schemas.openxmlformats.org/drawingml/2006/main">
                  <a:ext uri="{FF2B5EF4-FFF2-40B4-BE49-F238E27FC236}">
                    <a16:creationId xmlns:a16="http://schemas.microsoft.com/office/drawing/2014/main" id="{8FB29863-2FC6-47AF-8CB9-4D8B43DF91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5943600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9" name="section02__397">
                <a:extLst xmlns:a="http://schemas.openxmlformats.org/drawingml/2006/main">
                  <a:ext uri="{FF2B5EF4-FFF2-40B4-BE49-F238E27FC236}">
                    <a16:creationId xmlns:a16="http://schemas.microsoft.com/office/drawing/2014/main" id="{EDB4CA1D-6685-4BAA-A1D1-2A500170357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5934075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02</a:t>
                </a:r>
              </a:p>
            </p:txBody>
          </p:sp>
          <p:sp>
            <p:nvSpPr>
              <p:cNvPr id="30" name="section02__398">
                <a:extLst xmlns:a="http://schemas.openxmlformats.org/drawingml/2006/main">
                  <a:ext uri="{FF2B5EF4-FFF2-40B4-BE49-F238E27FC236}">
                    <a16:creationId xmlns:a16="http://schemas.microsoft.com/office/drawing/2014/main" id="{E9B3B79E-E5A8-4F7A-B815-F5C0205CA93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5934075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대표 검출 사례  ·  문제 발생부터 후속 조치까지</a:t>
                </a:r>
              </a:p>
            </p:txBody>
          </p:sp>
          <p:sp>
            <p:nvSpPr>
              <p:cNvPr id="31" name="section02__399">
                <a:extLst xmlns:a="http://schemas.openxmlformats.org/drawingml/2006/main">
                  <a:ext uri="{FF2B5EF4-FFF2-40B4-BE49-F238E27FC236}">
                    <a16:creationId xmlns:a16="http://schemas.microsoft.com/office/drawing/2014/main" id="{8200B10A-D942-424E-81B1-86AB6B302FB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285875" y="6467475"/>
                <a:ext cx="390525" cy="3905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2" name="section02__400">
                <a:extLst xmlns:a="http://schemas.openxmlformats.org/drawingml/2006/main">
                  <a:ext uri="{FF2B5EF4-FFF2-40B4-BE49-F238E27FC236}">
                    <a16:creationId xmlns:a16="http://schemas.microsoft.com/office/drawing/2014/main" id="{AD581528-B8EF-4819-A3E8-096F4E5751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362075" y="6543675"/>
                <a:ext cx="23812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33" name="section02__401">
                <a:extLst xmlns:a="http://schemas.openxmlformats.org/drawingml/2006/main">
                  <a:ext uri="{FF2B5EF4-FFF2-40B4-BE49-F238E27FC236}">
                    <a16:creationId xmlns:a16="http://schemas.microsoft.com/office/drawing/2014/main" id="{172112A4-7961-4D9E-9F49-CB060A59E7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6953250"/>
                <a:ext cx="219075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수율 이슈</a:t>
                </a:r>
              </a:p>
            </p:txBody>
          </p:sp>
          <p:sp>
            <p:nvSpPr>
              <p:cNvPr id="34" name="section02__402">
                <a:extLst xmlns:a="http://schemas.openxmlformats.org/drawingml/2006/main">
                  <a:ext uri="{FF2B5EF4-FFF2-40B4-BE49-F238E27FC236}">
                    <a16:creationId xmlns:a16="http://schemas.microsoft.com/office/drawing/2014/main" id="{41EF6F6F-42FF-4E6A-BC34-C205C5E7D5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7334250"/>
                <a:ext cx="21907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제품·공정 / 문제 현상</a:t>
                </a:r>
              </a:p>
            </p:txBody>
          </p:sp>
          <p:sp>
            <p:nvSpPr>
              <p:cNvPr id="35" name="section02__403">
                <a:extLst xmlns:a="http://schemas.openxmlformats.org/drawingml/2006/main">
                  <a:ext uri="{FF2B5EF4-FFF2-40B4-BE49-F238E27FC236}">
                    <a16:creationId xmlns:a16="http://schemas.microsoft.com/office/drawing/2014/main" id="{7D7C67A7-F57C-4AE6-BBEB-591331993F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7686675"/>
                <a:ext cx="2190750" cy="781050"/>
              </a:xfrm>
              <a:prstGeom xmlns:a="http://schemas.openxmlformats.org/drawingml/2006/main" prst="roundRect">
                <a:avLst>
                  <a:gd name="adj" fmla="val 9756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36" name="section02__404">
                <a:extLst xmlns:a="http://schemas.openxmlformats.org/drawingml/2006/main">
                  <a:ext uri="{FF2B5EF4-FFF2-40B4-BE49-F238E27FC236}">
                    <a16:creationId xmlns:a16="http://schemas.microsoft.com/office/drawing/2014/main" id="{27F633C6-6541-467C-8420-30546D851DC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4350" y="7743825"/>
                <a:ext cx="200025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rPr>
                  <a:t>이슈 개요·Trend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rPr>
                  <a:t>내용 / 이미지 입력</a:t>
                </a:r>
              </a:p>
            </p:txBody>
          </p:sp>
          <p:sp>
            <p:nvSpPr>
              <p:cNvPr id="37" name="section02__405">
                <a:extLst xmlns:a="http://schemas.openxmlformats.org/drawingml/2006/main">
                  <a:ext uri="{FF2B5EF4-FFF2-40B4-BE49-F238E27FC236}">
                    <a16:creationId xmlns:a16="http://schemas.microsoft.com/office/drawing/2014/main" id="{B97C864D-250D-4EF5-A3D4-DB0ADE532E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38425" y="6515100"/>
                <a:ext cx="114300" cy="2190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8" name="section02__406">
                <a:extLst xmlns:a="http://schemas.openxmlformats.org/drawingml/2006/main">
                  <a:ext uri="{FF2B5EF4-FFF2-40B4-BE49-F238E27FC236}">
                    <a16:creationId xmlns:a16="http://schemas.microsoft.com/office/drawing/2014/main" id="{C05E952F-2CCA-4C98-961E-300A1BD98B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09975" y="6467475"/>
                <a:ext cx="390525" cy="3905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9" name="section02__407">
                <a:extLst xmlns:a="http://schemas.openxmlformats.org/drawingml/2006/main">
                  <a:ext uri="{FF2B5EF4-FFF2-40B4-BE49-F238E27FC236}">
                    <a16:creationId xmlns:a16="http://schemas.microsoft.com/office/drawing/2014/main" id="{08DE8E40-25D0-4BEC-9E6A-8E39CB6F24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86175" y="6543675"/>
                <a:ext cx="23812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40" name="section02__408">
                <a:extLst xmlns:a="http://schemas.openxmlformats.org/drawingml/2006/main">
                  <a:ext uri="{FF2B5EF4-FFF2-40B4-BE49-F238E27FC236}">
                    <a16:creationId xmlns:a16="http://schemas.microsoft.com/office/drawing/2014/main" id="{4FDA8874-C9E9-42A8-A18D-3F7E8E7949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43200" y="6953250"/>
                <a:ext cx="219075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Y-Agent 분석</a:t>
                </a:r>
              </a:p>
            </p:txBody>
          </p:sp>
          <p:sp>
            <p:nvSpPr>
              <p:cNvPr id="41" name="section02__409">
                <a:extLst xmlns:a="http://schemas.openxmlformats.org/drawingml/2006/main">
                  <a:ext uri="{FF2B5EF4-FFF2-40B4-BE49-F238E27FC236}">
                    <a16:creationId xmlns:a16="http://schemas.microsoft.com/office/drawing/2014/main" id="{A277369E-05E6-4313-AAF6-8F5F54FF524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43200" y="7334250"/>
                <a:ext cx="21907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활용 Agent / 검출 결과</a:t>
                </a:r>
              </a:p>
            </p:txBody>
          </p:sp>
          <p:sp>
            <p:nvSpPr>
              <p:cNvPr id="42" name="section02__410">
                <a:extLst xmlns:a="http://schemas.openxmlformats.org/drawingml/2006/main">
                  <a:ext uri="{FF2B5EF4-FFF2-40B4-BE49-F238E27FC236}">
                    <a16:creationId xmlns:a16="http://schemas.microsoft.com/office/drawing/2014/main" id="{A422B0E9-CF28-4295-ADBE-DD6FA716B78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43200" y="7686675"/>
                <a:ext cx="2190750" cy="781050"/>
              </a:xfrm>
              <a:prstGeom xmlns:a="http://schemas.openxmlformats.org/drawingml/2006/main" prst="roundRect">
                <a:avLst>
                  <a:gd name="adj" fmla="val 9756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3" name="section02__411">
                <a:extLst xmlns:a="http://schemas.openxmlformats.org/drawingml/2006/main">
                  <a:ext uri="{FF2B5EF4-FFF2-40B4-BE49-F238E27FC236}">
                    <a16:creationId xmlns:a16="http://schemas.microsoft.com/office/drawing/2014/main" id="{568D0801-5E90-490E-A207-207A1997AF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38450" y="7743825"/>
                <a:ext cx="200025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rPr>
                  <a:t>분석 결과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rPr>
                  <a:t>내용 / 이미지 입력</a:t>
                </a:r>
              </a:p>
            </p:txBody>
          </p:sp>
          <p:sp>
            <p:nvSpPr>
              <p:cNvPr id="44" name="section02__412">
                <a:extLst xmlns:a="http://schemas.openxmlformats.org/drawingml/2006/main">
                  <a:ext uri="{FF2B5EF4-FFF2-40B4-BE49-F238E27FC236}">
                    <a16:creationId xmlns:a16="http://schemas.microsoft.com/office/drawing/2014/main" id="{A28FF7D1-FADC-4834-B104-645A2FB024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62525" y="6515100"/>
                <a:ext cx="114300" cy="2190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5" name="section02__413">
                <a:extLst xmlns:a="http://schemas.openxmlformats.org/drawingml/2006/main">
                  <a:ext uri="{FF2B5EF4-FFF2-40B4-BE49-F238E27FC236}">
                    <a16:creationId xmlns:a16="http://schemas.microsoft.com/office/drawing/2014/main" id="{0347D3FB-5FFC-41C8-BC3E-D0C837D3D4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34075" y="6467475"/>
                <a:ext cx="390525" cy="3905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6" name="section02__414">
                <a:extLst xmlns:a="http://schemas.openxmlformats.org/drawingml/2006/main">
                  <a:ext uri="{FF2B5EF4-FFF2-40B4-BE49-F238E27FC236}">
                    <a16:creationId xmlns:a16="http://schemas.microsoft.com/office/drawing/2014/main" id="{7486E6AA-CBE9-4807-8522-16215097B3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10275" y="6543675"/>
                <a:ext cx="23812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47" name="section02__415">
                <a:extLst xmlns:a="http://schemas.openxmlformats.org/drawingml/2006/main">
                  <a:ext uri="{FF2B5EF4-FFF2-40B4-BE49-F238E27FC236}">
                    <a16:creationId xmlns:a16="http://schemas.microsoft.com/office/drawing/2014/main" id="{7767B92B-9999-4B34-8F29-2B5CA1CD28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67300" y="6953250"/>
                <a:ext cx="219075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엔지니어 검증</a:t>
                </a:r>
              </a:p>
            </p:txBody>
          </p:sp>
          <p:sp>
            <p:nvSpPr>
              <p:cNvPr id="48" name="section02__416">
                <a:extLst xmlns:a="http://schemas.openxmlformats.org/drawingml/2006/main">
                  <a:ext uri="{FF2B5EF4-FFF2-40B4-BE49-F238E27FC236}">
                    <a16:creationId xmlns:a16="http://schemas.microsoft.com/office/drawing/2014/main" id="{2B40391D-FF5C-4EFA-8383-2FCB9FB2E3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67300" y="7334250"/>
                <a:ext cx="21907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확인 근거 / 판단 내용</a:t>
                </a:r>
              </a:p>
            </p:txBody>
          </p:sp>
          <p:sp>
            <p:nvSpPr>
              <p:cNvPr id="49" name="section02__417">
                <a:extLst xmlns:a="http://schemas.openxmlformats.org/drawingml/2006/main">
                  <a:ext uri="{FF2B5EF4-FFF2-40B4-BE49-F238E27FC236}">
                    <a16:creationId xmlns:a16="http://schemas.microsoft.com/office/drawing/2014/main" id="{FA42D4C4-1C06-45FB-9971-D80718B76BF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67300" y="7686675"/>
                <a:ext cx="2190750" cy="781050"/>
              </a:xfrm>
              <a:prstGeom xmlns:a="http://schemas.openxmlformats.org/drawingml/2006/main" prst="roundRect">
                <a:avLst>
                  <a:gd name="adj" fmla="val 9756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0" name="section02__418">
                <a:extLst xmlns:a="http://schemas.openxmlformats.org/drawingml/2006/main">
                  <a:ext uri="{FF2B5EF4-FFF2-40B4-BE49-F238E27FC236}">
                    <a16:creationId xmlns:a16="http://schemas.microsoft.com/office/drawing/2014/main" id="{C3DE413B-A699-47FA-908F-83ACA2E26F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62550" y="7743825"/>
                <a:ext cx="200025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rPr>
                  <a:t>검증 내용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rPr>
                  <a:t>내용 / 이미지 입력</a:t>
                </a:r>
              </a:p>
            </p:txBody>
          </p:sp>
          <p:sp>
            <p:nvSpPr>
              <p:cNvPr id="51" name="section02__419">
                <a:extLst xmlns:a="http://schemas.openxmlformats.org/drawingml/2006/main">
                  <a:ext uri="{FF2B5EF4-FFF2-40B4-BE49-F238E27FC236}">
                    <a16:creationId xmlns:a16="http://schemas.microsoft.com/office/drawing/2014/main" id="{B7F97131-14D5-489E-A18C-1D9CC3D533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86625" y="6515100"/>
                <a:ext cx="114300" cy="2190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2" name="section02__420">
                <a:extLst xmlns:a="http://schemas.openxmlformats.org/drawingml/2006/main">
                  <a:ext uri="{FF2B5EF4-FFF2-40B4-BE49-F238E27FC236}">
                    <a16:creationId xmlns:a16="http://schemas.microsoft.com/office/drawing/2014/main" id="{B53293B2-8C8A-4517-830D-E7EFA4566F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58175" y="6467475"/>
                <a:ext cx="390525" cy="39052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3" name="section02__421">
                <a:extLst xmlns:a="http://schemas.openxmlformats.org/drawingml/2006/main">
                  <a:ext uri="{FF2B5EF4-FFF2-40B4-BE49-F238E27FC236}">
                    <a16:creationId xmlns:a16="http://schemas.microsoft.com/office/drawing/2014/main" id="{0F5AB821-CF1C-44B4-9E5C-9CCED61D0E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34375" y="6543675"/>
                <a:ext cx="23812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7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  <p:sp>
            <p:nvSpPr>
              <p:cNvPr id="54" name="section02__422">
                <a:extLst xmlns:a="http://schemas.openxmlformats.org/drawingml/2006/main">
                  <a:ext uri="{FF2B5EF4-FFF2-40B4-BE49-F238E27FC236}">
                    <a16:creationId xmlns:a16="http://schemas.microsoft.com/office/drawing/2014/main" id="{F37E8FC6-06DD-49F5-A108-4567B48B7F4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391400" y="6953250"/>
                <a:ext cx="219075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후속 조치</a:t>
                </a:r>
              </a:p>
            </p:txBody>
          </p:sp>
          <p:sp>
            <p:nvSpPr>
              <p:cNvPr id="55" name="section02__423">
                <a:extLst xmlns:a="http://schemas.openxmlformats.org/drawingml/2006/main">
                  <a:ext uri="{FF2B5EF4-FFF2-40B4-BE49-F238E27FC236}">
                    <a16:creationId xmlns:a16="http://schemas.microsoft.com/office/drawing/2014/main" id="{F1F633C0-0DD8-4C27-B511-DD84708AC7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391400" y="7334250"/>
                <a:ext cx="21907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조치 내용 / 현재 상태</a:t>
                </a:r>
              </a:p>
            </p:txBody>
          </p:sp>
          <p:sp>
            <p:nvSpPr>
              <p:cNvPr id="56" name="section02__424">
                <a:extLst xmlns:a="http://schemas.openxmlformats.org/drawingml/2006/main">
                  <a:ext uri="{FF2B5EF4-FFF2-40B4-BE49-F238E27FC236}">
                    <a16:creationId xmlns:a16="http://schemas.microsoft.com/office/drawing/2014/main" id="{990608FE-1FE3-4C45-8705-FE988DDFF0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391400" y="7686675"/>
                <a:ext cx="2190750" cy="781050"/>
              </a:xfrm>
              <a:prstGeom xmlns:a="http://schemas.openxmlformats.org/drawingml/2006/main" prst="roundRect">
                <a:avLst>
                  <a:gd name="adj" fmla="val 9756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7" name="section02__425">
                <a:extLst xmlns:a="http://schemas.openxmlformats.org/drawingml/2006/main">
                  <a:ext uri="{FF2B5EF4-FFF2-40B4-BE49-F238E27FC236}">
                    <a16:creationId xmlns:a16="http://schemas.microsoft.com/office/drawing/2014/main" id="{7C970798-F596-4A6C-8583-6F98669102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86650" y="7743825"/>
                <a:ext cx="200025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rPr>
                  <a:t>후속 업무·조치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8296A7"/>
                    </a:solidFill>
                    <a:latin typeface="Malgun Gothic"/>
                    <a:ea typeface="Malgun Gothic"/>
                    <a:cs typeface="Malgun Gothic"/>
                  </a:rPr>
                  <a:t>내용 / 이미지 입력</a:t>
                </a:r>
              </a:p>
            </p:txBody>
          </p:sp>
        </p:grpSp>
        <p:grpSp>
          <p:nvGrpSpPr>
            <p:cNvPr id="10003" name="3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58" name="section03__426">
                <a:extLst xmlns:a="http://schemas.openxmlformats.org/drawingml/2006/main">
                  <a:ext uri="{FF2B5EF4-FFF2-40B4-BE49-F238E27FC236}">
                    <a16:creationId xmlns:a16="http://schemas.microsoft.com/office/drawing/2014/main" id="{726F3378-FE00-4BA3-8F90-427DDAECAA7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8848725"/>
                <a:ext cx="9601200" cy="3943350"/>
              </a:xfrm>
              <a:prstGeom xmlns:a="http://schemas.openxmlformats.org/drawingml/2006/main" prst="roundRect">
                <a:avLst>
                  <a:gd name="adj" fmla="val 193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9" name="section03__427">
                <a:extLst xmlns:a="http://schemas.openxmlformats.org/drawingml/2006/main">
                  <a:ext uri="{FF2B5EF4-FFF2-40B4-BE49-F238E27FC236}">
                    <a16:creationId xmlns:a16="http://schemas.microsoft.com/office/drawing/2014/main" id="{06D8321B-A114-4D27-AE03-D907122A68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8858250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0" name="section03__428">
                <a:extLst xmlns:a="http://schemas.openxmlformats.org/drawingml/2006/main">
                  <a:ext uri="{FF2B5EF4-FFF2-40B4-BE49-F238E27FC236}">
                    <a16:creationId xmlns:a16="http://schemas.microsoft.com/office/drawing/2014/main" id="{2B0CC77D-B8B1-45F6-8571-ED4527CC2F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8858250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1" name="section03__429">
                <a:extLst xmlns:a="http://schemas.openxmlformats.org/drawingml/2006/main">
                  <a:ext uri="{FF2B5EF4-FFF2-40B4-BE49-F238E27FC236}">
                    <a16:creationId xmlns:a16="http://schemas.microsoft.com/office/drawing/2014/main" id="{5D675DED-D463-44F9-AF37-8656C01DB7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8848725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03</a:t>
                </a:r>
              </a:p>
            </p:txBody>
          </p:sp>
          <p:sp>
            <p:nvSpPr>
              <p:cNvPr id="62" name="section03__430">
                <a:extLst xmlns:a="http://schemas.openxmlformats.org/drawingml/2006/main">
                  <a:ext uri="{FF2B5EF4-FFF2-40B4-BE49-F238E27FC236}">
                    <a16:creationId xmlns:a16="http://schemas.microsoft.com/office/drawing/2014/main" id="{773299A9-8127-4C0A-BE09-0315843333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8848725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현업 개선 Loop와 실제 적용</a:t>
                </a:r>
              </a:p>
            </p:txBody>
          </p:sp>
          <p:sp>
            <p:nvSpPr>
              <p:cNvPr id="63" name="section03__431">
                <a:extLst xmlns:a="http://schemas.openxmlformats.org/drawingml/2006/main">
                  <a:ext uri="{FF2B5EF4-FFF2-40B4-BE49-F238E27FC236}">
                    <a16:creationId xmlns:a16="http://schemas.microsoft.com/office/drawing/2014/main" id="{F5C51074-795B-4D4C-BE75-8C901D68A8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9372600"/>
                <a:ext cx="2112169" cy="457200"/>
              </a:xfrm>
              <a:prstGeom xmlns:a="http://schemas.openxmlformats.org/drawingml/2006/main" prst="roundRect">
                <a:avLst>
                  <a:gd name="adj" fmla="val 1666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4" name="section03__432">
                <a:extLst xmlns:a="http://schemas.openxmlformats.org/drawingml/2006/main">
                  <a:ext uri="{FF2B5EF4-FFF2-40B4-BE49-F238E27FC236}">
                    <a16:creationId xmlns:a16="http://schemas.microsoft.com/office/drawing/2014/main" id="{4FB12F1B-FB77-4D99-8AC3-A4EA3C5A7CE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4825" y="9448800"/>
                <a:ext cx="1940719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Daily 회의</a:t>
                </a:r>
              </a:p>
            </p:txBody>
          </p:sp>
          <p:sp>
            <p:nvSpPr>
              <p:cNvPr id="65" name="section03__433">
                <a:extLst xmlns:a="http://schemas.openxmlformats.org/drawingml/2006/main">
                  <a:ext uri="{FF2B5EF4-FFF2-40B4-BE49-F238E27FC236}">
                    <a16:creationId xmlns:a16="http://schemas.microsoft.com/office/drawing/2014/main" id="{4761703B-E4A8-4FF8-B84B-B4C9FF8E46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69369" y="9525000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6" name="section03__434">
                <a:extLst xmlns:a="http://schemas.openxmlformats.org/drawingml/2006/main">
                  <a:ext uri="{FF2B5EF4-FFF2-40B4-BE49-F238E27FC236}">
                    <a16:creationId xmlns:a16="http://schemas.microsoft.com/office/drawing/2014/main" id="{A95AA0E1-F963-414E-ABB9-57FFD0F181E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78919" y="9372600"/>
                <a:ext cx="2112169" cy="457200"/>
              </a:xfrm>
              <a:prstGeom xmlns:a="http://schemas.openxmlformats.org/drawingml/2006/main" prst="roundRect">
                <a:avLst>
                  <a:gd name="adj" fmla="val 1666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7" name="section03__435">
                <a:extLst xmlns:a="http://schemas.openxmlformats.org/drawingml/2006/main">
                  <a:ext uri="{FF2B5EF4-FFF2-40B4-BE49-F238E27FC236}">
                    <a16:creationId xmlns:a16="http://schemas.microsoft.com/office/drawing/2014/main" id="{22D205D7-1CB3-4A7A-A8CF-11B7AE0E30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64644" y="9448800"/>
                <a:ext cx="1940719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요구사항 도출</a:t>
                </a:r>
              </a:p>
            </p:txBody>
          </p:sp>
          <p:sp>
            <p:nvSpPr>
              <p:cNvPr id="68" name="section03__436">
                <a:extLst xmlns:a="http://schemas.openxmlformats.org/drawingml/2006/main">
                  <a:ext uri="{FF2B5EF4-FFF2-40B4-BE49-F238E27FC236}">
                    <a16:creationId xmlns:a16="http://schemas.microsoft.com/office/drawing/2014/main" id="{C67847A3-A34E-4B90-82E2-D88C9E2A57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29188" y="9525000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9" name="section03__437">
                <a:extLst xmlns:a="http://schemas.openxmlformats.org/drawingml/2006/main">
                  <a:ext uri="{FF2B5EF4-FFF2-40B4-BE49-F238E27FC236}">
                    <a16:creationId xmlns:a16="http://schemas.microsoft.com/office/drawing/2014/main" id="{14E76B30-4A04-48EC-A0FD-414F636543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38738" y="9372600"/>
                <a:ext cx="2112169" cy="457200"/>
              </a:xfrm>
              <a:prstGeom xmlns:a="http://schemas.openxmlformats.org/drawingml/2006/main" prst="roundRect">
                <a:avLst>
                  <a:gd name="adj" fmla="val 1666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0" name="section03__438">
                <a:extLst xmlns:a="http://schemas.openxmlformats.org/drawingml/2006/main">
                  <a:ext uri="{FF2B5EF4-FFF2-40B4-BE49-F238E27FC236}">
                    <a16:creationId xmlns:a16="http://schemas.microsoft.com/office/drawing/2014/main" id="{C9E4C4A5-A2FA-402D-ABDD-AA776B837C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24463" y="9448800"/>
                <a:ext cx="1940719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기능·분석 개선</a:t>
                </a:r>
              </a:p>
            </p:txBody>
          </p:sp>
          <p:sp>
            <p:nvSpPr>
              <p:cNvPr id="71" name="section03__439">
                <a:extLst xmlns:a="http://schemas.openxmlformats.org/drawingml/2006/main">
                  <a:ext uri="{FF2B5EF4-FFF2-40B4-BE49-F238E27FC236}">
                    <a16:creationId xmlns:a16="http://schemas.microsoft.com/office/drawing/2014/main" id="{CF9411B4-52BA-4B51-8D60-4E41C781199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89006" y="9525000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2" name="section03__440">
                <a:extLst xmlns:a="http://schemas.openxmlformats.org/drawingml/2006/main">
                  <a:ext uri="{FF2B5EF4-FFF2-40B4-BE49-F238E27FC236}">
                    <a16:creationId xmlns:a16="http://schemas.microsoft.com/office/drawing/2014/main" id="{C03A1C9D-F7B7-432D-B8FC-39A9B39488C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98556" y="9372600"/>
                <a:ext cx="2112169" cy="457200"/>
              </a:xfrm>
              <a:prstGeom xmlns:a="http://schemas.openxmlformats.org/drawingml/2006/main" prst="roundRect">
                <a:avLst>
                  <a:gd name="adj" fmla="val 1666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3" name="section03__441">
                <a:extLst xmlns:a="http://schemas.openxmlformats.org/drawingml/2006/main">
                  <a:ext uri="{FF2B5EF4-FFF2-40B4-BE49-F238E27FC236}">
                    <a16:creationId xmlns:a16="http://schemas.microsoft.com/office/drawing/2014/main" id="{3B7277A0-79DF-4A01-B7C1-909E4141B22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84281" y="9448800"/>
                <a:ext cx="1940719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현업 검증</a:t>
                </a:r>
              </a:p>
            </p:txBody>
          </p:sp>
          <p:sp>
            <p:nvSpPr>
              <p:cNvPr id="75" name="section03__442">
                <a:extLst xmlns:a="http://schemas.openxmlformats.org/drawingml/2006/main">
                  <a:ext uri="{FF2B5EF4-FFF2-40B4-BE49-F238E27FC236}">
                    <a16:creationId xmlns:a16="http://schemas.microsoft.com/office/drawing/2014/main" id="{281414AC-02F8-4BD5-8DD7-9F02918445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7200" y="11649075"/>
                <a:ext cx="91344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진행 현황 입력   완료 [  ]건  /  진행 [  ]건  /  기타 [  ]건</a:t>
                </a:r>
              </a:p>
            </p:txBody>
          </p:sp>
          <p:sp>
            <p:nvSpPr>
              <p:cNvPr id="76" name="section03__443">
                <a:extLst xmlns:a="http://schemas.openxmlformats.org/drawingml/2006/main">
                  <a:ext uri="{FF2B5EF4-FFF2-40B4-BE49-F238E27FC236}">
                    <a16:creationId xmlns:a16="http://schemas.microsoft.com/office/drawing/2014/main" id="{BE67EBBA-55E6-4271-B239-76CFB528C2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2049125"/>
                <a:ext cx="9182100" cy="561975"/>
              </a:xfrm>
              <a:prstGeom xmlns:a="http://schemas.openxmlformats.org/drawingml/2006/main" prst="roundRect">
                <a:avLst>
                  <a:gd name="adj" fmla="val 13559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7" name="section03__444">
                <a:extLst xmlns:a="http://schemas.openxmlformats.org/drawingml/2006/main">
                  <a:ext uri="{FF2B5EF4-FFF2-40B4-BE49-F238E27FC236}">
                    <a16:creationId xmlns:a16="http://schemas.microsoft.com/office/drawing/2014/main" id="{93AFD93A-7D98-4D6A-BB2E-7E28CC7949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2925" y="12153900"/>
                <a:ext cx="1514475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현재 활용</a:t>
                </a:r>
              </a:p>
            </p:txBody>
          </p:sp>
          <p:sp>
            <p:nvSpPr>
              <p:cNvPr id="78" name="section03__445">
                <a:extLst xmlns:a="http://schemas.openxmlformats.org/drawingml/2006/main">
                  <a:ext uri="{FF2B5EF4-FFF2-40B4-BE49-F238E27FC236}">
                    <a16:creationId xmlns:a16="http://schemas.microsoft.com/office/drawing/2014/main" id="{FADCCE9E-B7ED-412E-B11D-AE80C1E603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14550" y="12144375"/>
                <a:ext cx="735330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일부 수율팀 엔지니어가 직접 사용하며 수율 점검과 이슈 분석에 활용</a:t>
                </a:r>
              </a:p>
            </p:txBody>
          </p:sp>
        </p:grpSp>
        <p:grpSp>
          <p:nvGrpSpPr>
            <p:cNvPr id="10004" name="핵심 메시지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79" name="footer__446">
                <a:extLst xmlns:a="http://schemas.openxmlformats.org/drawingml/2006/main">
                  <a:ext uri="{FF2B5EF4-FFF2-40B4-BE49-F238E27FC236}">
                    <a16:creationId xmlns:a16="http://schemas.microsoft.com/office/drawing/2014/main" id="{5AFBB46B-6CA3-4FD5-8C49-68DE7CFB57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28600" y="12963525"/>
                <a:ext cx="9582150" cy="904875"/>
              </a:xfrm>
              <a:prstGeom xmlns:a="http://schemas.openxmlformats.org/drawingml/2006/main" prst="roundRect">
                <a:avLst>
                  <a:gd name="adj" fmla="val 8421"/>
                </a:avLst>
              </a:prstGeom>
              <a:solidFill xmlns:a="http://schemas.openxmlformats.org/drawingml/2006/main">
                <a:srgbClr val="2E404D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0" name="footer__447">
                <a:extLst xmlns:a="http://schemas.openxmlformats.org/drawingml/2006/main">
                  <a:ext uri="{FF2B5EF4-FFF2-40B4-BE49-F238E27FC236}">
                    <a16:creationId xmlns:a16="http://schemas.microsoft.com/office/drawing/2014/main" id="{EA7F213D-D799-4F02-847A-3FEE0363E5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3087350"/>
                <a:ext cx="9182100" cy="638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현업의 실제 이슈로 분석 역량을 검증하고,</a:t>
                </a:r>
              </a:p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사용자 피드백을 반영해 수율 분석 Co-pilot을 고도화</a:t>
                </a:r>
              </a:p>
            </p:txBody>
          </p:sp>
          <p:sp>
            <p:nvSpPr>
              <p:cNvPr id="81" name="footer__448">
                <a:extLst xmlns:a="http://schemas.openxmlformats.org/drawingml/2006/main">
                  <a:ext uri="{FF2B5EF4-FFF2-40B4-BE49-F238E27FC236}">
                    <a16:creationId xmlns:a16="http://schemas.microsoft.com/office/drawing/2014/main" id="{8244D083-14E5-4BE0-ADDE-45506847AA4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3954125"/>
                <a:ext cx="82867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Y-Agent · 수율분석 혁신</a:t>
                </a:r>
              </a:p>
            </p:txBody>
          </p:sp>
          <p:sp>
            <p:nvSpPr>
              <p:cNvPr id="82" name="footer__449">
                <a:extLst xmlns:a="http://schemas.openxmlformats.org/drawingml/2006/main">
                  <a:ext uri="{FF2B5EF4-FFF2-40B4-BE49-F238E27FC236}">
                    <a16:creationId xmlns:a16="http://schemas.microsoft.com/office/drawing/2014/main" id="{F21DBEE9-B679-434E-A58D-CEE616DDEE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53525" y="13954125"/>
                <a:ext cx="5143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05</a:t>
                </a:r>
              </a:p>
            </p:txBody>
          </p:sp>
        </p:grpSp>
        <p:graphicFrame>
          <p:nvGraphicFramePr>
            <p:cNvPr id="94" name="Chart"/>
            <p:cNvGraphicFramePr/>
            <p:nvPr/>
          </p:nvGraphicFramePr>
          <p:xfrm>
            <a:off xmlns:a="http://schemas.openxmlformats.org/drawingml/2006/main" x="485775" y="2981325"/>
            <a:ext xmlns:a="http://schemas.openxmlformats.org/drawingml/2006/main" cx="2705100" cy="2419350"/>
          </p:xfrm>
          <a:graphic xmlns:a="http://schemas.openxmlformats.org/drawingml/2006/main">
            <a:graphicData uri="http://schemas.openxmlformats.org/drawingml/2006/chart">
              <c:chart xmlns:r="http://schemas.openxmlformats.org/officeDocument/2006/relationships" xmlns:c="http://schemas.openxmlformats.org/drawingml/2006/chart" r:id="Rd327ee4d197f4778"/>
            </a:graphicData>
          </a:graphic>
        </p:graphicFrame>
        <p:graphicFrame>
          <p:nvGraphicFramePr>
            <p:cNvPr id="156" name=""/>
            <p:cNvGraphicFramePr/>
            <p:nvPr/>
          </p:nvGraphicFramePr>
          <p:xfrm>
            <a:off xmlns:a="http://schemas.openxmlformats.org/drawingml/2006/main" x="419100" y="10020300"/>
            <a:ext xmlns:a="http://schemas.openxmlformats.org/drawingml/2006/main" cx="9191625" cy="1514475"/>
          </p:xfrm>
          <a:graphic xmlns:a="http://schemas.openxmlformats.org/drawingml/2006/main">
            <a:graphicData uri="http://schemas.openxmlformats.org/drawingml/2006/table">
              <a:tbl>
                <a:tblPr/>
                <a:tblGrid>
                  <a:gridCol w="3063875"/>
                  <a:gridCol w="3063875"/>
                  <a:gridCol w="3063875"/>
                </a:tblGrid>
                <a:tr h="50482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현업 요청·불편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개선·반영 내용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350" b="1">
                            <a:solidFill>
                              <a:srgbClr val="22334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적용 결과·상태</a:t>
                        </a:r>
                      </a:p>
                    </a:txBody>
                    <a:tcPr marL="91440" marR="91440" marT="45720" marB="45720" anchor="ctr">
                      <a:solidFill>
                        <a:srgbClr val="E5ECF1"/>
                      </a:solidFill>
                    </a:tcPr>
                  </a:tc>
                </a:tr>
                <a:tr h="50482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[내용 입력]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[내용 입력]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[내용 입력]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</a:tr>
                <a:tr h="504825"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[내용 입력]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[내용 입력]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85725" tIns="57150" rIns="85725" bIns="57150">
                        <a:noAutofit/>
                      </a:bodyPr>
                      <a:lstStyle/>
                      <a:p>
                        <a:pPr algn="ctr"/>
                        <a:r>
                          <a:rPr sz="1275" b="0">
                            <a:solidFill>
                              <a:srgbClr val="43576A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[내용 입력]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76892964"/>
      </p:ext>
    </p:extLst>
  </p:cSld>
</p:sld>
</file>

<file path=import1/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99999" name="Original slide content"/>
          <p:cNvGrpSpPr/>
          <p:nvPr/>
        </p:nvGrpSpPr>
        <p:grpSpPr>
          <ns0:xfrm xmlns:ns0="http://schemas.openxmlformats.org/drawingml/2006/main">
            <ns0:off x="3211" y="0"/>
            <ns0:ext cx="7556428" cy="10696575"/>
            <ns0:chOff x="0" y="0"/>
            <ns0:chExt cx="10039350" cy="14211300"/>
          </ns0:xfrm>
        </p:grpSpPr>
        <p:grpSp>
          <p:nvGrpSpPr>
            <p:cNvPr id="10000" name="제목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87" name="header__450">
                <a:extLst xmlns:a="http://schemas.openxmlformats.org/drawingml/2006/main">
                  <a:ext uri="{FF2B5EF4-FFF2-40B4-BE49-F238E27FC236}">
                    <a16:creationId xmlns:a16="http://schemas.microsoft.com/office/drawing/2014/main" id="{6C1B024E-0050-4C16-888F-DE756CC49A0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71450"/>
                <a:ext cx="11334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SK hynix</a:t>
                </a:r>
              </a:p>
            </p:txBody>
          </p:sp>
          <p:sp>
            <p:nvSpPr>
              <p:cNvPr id="2" name="header__451">
                <a:extLst xmlns:a="http://schemas.openxmlformats.org/drawingml/2006/main">
                  <a:ext uri="{FF2B5EF4-FFF2-40B4-BE49-F238E27FC236}">
                    <a16:creationId xmlns:a16="http://schemas.microsoft.com/office/drawing/2014/main" id="{9FFF2F16-0A96-4A2D-B58A-A2C4E62AAD8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00200" y="171450"/>
                <a:ext cx="47625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공적 사례상세</a:t>
                </a:r>
              </a:p>
            </p:txBody>
          </p:sp>
          <p:sp>
            <p:nvSpPr>
              <p:cNvPr id="3" name="header__452">
                <a:extLst xmlns:a="http://schemas.openxmlformats.org/drawingml/2006/main">
                  <a:ext uri="{FF2B5EF4-FFF2-40B4-BE49-F238E27FC236}">
                    <a16:creationId xmlns:a16="http://schemas.microsoft.com/office/drawing/2014/main" id="{A40B03C7-4D1F-4AE6-9CA1-7C57025A40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772525" y="171450"/>
                <a:ext cx="86677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06 / 06</a:t>
                </a:r>
              </a:p>
            </p:txBody>
          </p:sp>
          <p:sp>
            <p:nvSpPr>
              <p:cNvPr id="4" name="header__453">
                <a:extLst xmlns:a="http://schemas.openxmlformats.org/drawingml/2006/main">
                  <a:ext uri="{FF2B5EF4-FFF2-40B4-BE49-F238E27FC236}">
                    <a16:creationId xmlns:a16="http://schemas.microsoft.com/office/drawing/2014/main" id="{F0826832-1EFC-4DEB-ACE3-AC1416EC2D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1950" y="533400"/>
                <a:ext cx="931545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4288">
                <a:solidFill>
                  <a:srgbClr val="CBD6DF"/>
                </a:solidFill>
              </a:ln>
            </p:spPr>
          </p:sp>
          <p:sp>
            <p:nvSpPr>
              <p:cNvPr id="5" name="header__454">
                <a:extLst xmlns:a="http://schemas.openxmlformats.org/drawingml/2006/main">
                  <a:ext uri="{FF2B5EF4-FFF2-40B4-BE49-F238E27FC236}">
                    <a16:creationId xmlns:a16="http://schemas.microsoft.com/office/drawing/2014/main" id="{ABE2B5E2-08E0-435C-A725-6BA857946A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742950"/>
                <a:ext cx="9286875" cy="1038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285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85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현업의 분석 경험을 조직 지식으로 축적</a:t>
                </a:r>
              </a:p>
              <a:p xmlns:a="http://schemas.openxmlformats.org/drawingml/2006/main">
                <a:pPr algn="l">
                  <a:defRPr sz="285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85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지식 기반 자율 분석으로 확장</a:t>
                </a:r>
              </a:p>
            </p:txBody>
          </p:sp>
          <p:sp>
            <p:nvSpPr>
              <p:cNvPr id="6" name="header__455">
                <a:extLst xmlns:a="http://schemas.openxmlformats.org/drawingml/2006/main">
                  <a:ext uri="{FF2B5EF4-FFF2-40B4-BE49-F238E27FC236}">
                    <a16:creationId xmlns:a16="http://schemas.microsoft.com/office/drawing/2014/main" id="{AAE2870C-0C9B-4D51-829C-D4006A030C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81000" y="1866900"/>
                <a:ext cx="92392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향후 방향  ·  Workflow 지식화 · 분석 추천 고도화 · 전사 확산</a:t>
                </a:r>
              </a:p>
            </p:txBody>
          </p:sp>
        </p:grpSp>
        <p:grpSp>
          <p:nvGrpSpPr>
            <p:cNvPr id="10001" name="1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7" name="section01__456">
                <a:extLst xmlns:a="http://schemas.openxmlformats.org/drawingml/2006/main">
                  <a:ext uri="{FF2B5EF4-FFF2-40B4-BE49-F238E27FC236}">
                    <a16:creationId xmlns:a16="http://schemas.microsoft.com/office/drawing/2014/main" id="{62F905D9-8E63-4A7A-8B8E-C1FBA26DE42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2400300"/>
                <a:ext cx="9601200" cy="5648325"/>
              </a:xfrm>
              <a:prstGeom xmlns:a="http://schemas.openxmlformats.org/drawingml/2006/main" prst="roundRect">
                <a:avLst>
                  <a:gd name="adj" fmla="val 1349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8" name="section01__457">
                <a:extLst xmlns:a="http://schemas.openxmlformats.org/drawingml/2006/main">
                  <a:ext uri="{FF2B5EF4-FFF2-40B4-BE49-F238E27FC236}">
                    <a16:creationId xmlns:a16="http://schemas.microsoft.com/office/drawing/2014/main" id="{96FEA3EF-2CB0-49A9-BD5E-B6386FE2259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" name="section01__458">
                <a:extLst xmlns:a="http://schemas.openxmlformats.org/drawingml/2006/main">
                  <a:ext uri="{FF2B5EF4-FFF2-40B4-BE49-F238E27FC236}">
                    <a16:creationId xmlns:a16="http://schemas.microsoft.com/office/drawing/2014/main" id="{1A06A687-066D-492E-8DE6-0ABA716ACF9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2409825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0" name="section01__459">
                <a:extLst xmlns:a="http://schemas.openxmlformats.org/drawingml/2006/main">
                  <a:ext uri="{FF2B5EF4-FFF2-40B4-BE49-F238E27FC236}">
                    <a16:creationId xmlns:a16="http://schemas.microsoft.com/office/drawing/2014/main" id="{2FFEC0A9-A794-4D92-B5A1-4FC65C6B723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2400300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01</a:t>
                </a:r>
              </a:p>
            </p:txBody>
          </p:sp>
          <p:sp>
            <p:nvSpPr>
              <p:cNvPr id="11" name="section01__460">
                <a:extLst xmlns:a="http://schemas.openxmlformats.org/drawingml/2006/main">
                  <a:ext uri="{FF2B5EF4-FFF2-40B4-BE49-F238E27FC236}">
                    <a16:creationId xmlns:a16="http://schemas.microsoft.com/office/drawing/2014/main" id="{EAC75427-745F-4F2E-808C-15C838102E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2400300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경험이 다시 분석 역량으로 돌아오는 지식화 구조</a:t>
                </a:r>
              </a:p>
            </p:txBody>
          </p:sp>
          <p:sp>
            <p:nvSpPr>
              <p:cNvPr id="12" name="section01__461">
                <a:extLst xmlns:a="http://schemas.openxmlformats.org/drawingml/2006/main">
                  <a:ext uri="{FF2B5EF4-FFF2-40B4-BE49-F238E27FC236}">
                    <a16:creationId xmlns:a16="http://schemas.microsoft.com/office/drawing/2014/main" id="{8EAC80DE-A4DB-4393-A91B-7A6FE33DF5A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2990850"/>
                <a:ext cx="3457575" cy="1343025"/>
              </a:xfrm>
              <a:prstGeom xmlns:a="http://schemas.openxmlformats.org/drawingml/2006/main" prst="roundRect">
                <a:avLst>
                  <a:gd name="adj" fmla="val 5674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13" name="section01__462">
                <a:extLst xmlns:a="http://schemas.openxmlformats.org/drawingml/2006/main">
                  <a:ext uri="{FF2B5EF4-FFF2-40B4-BE49-F238E27FC236}">
                    <a16:creationId xmlns:a16="http://schemas.microsoft.com/office/drawing/2014/main" id="{8F7B3975-F65F-41BD-A873-636D200732D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2925" y="3114675"/>
                <a:ext cx="333375" cy="3333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4" name="section01__463">
                <a:extLst xmlns:a="http://schemas.openxmlformats.org/drawingml/2006/main">
                  <a:ext uri="{FF2B5EF4-FFF2-40B4-BE49-F238E27FC236}">
                    <a16:creationId xmlns:a16="http://schemas.microsoft.com/office/drawing/2014/main" id="{AAAAF3F3-B18E-439D-838C-055B5DF22A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190875"/>
                <a:ext cx="180975" cy="1809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15" name="section01__464">
                <a:extLst xmlns:a="http://schemas.openxmlformats.org/drawingml/2006/main">
                  <a:ext uri="{FF2B5EF4-FFF2-40B4-BE49-F238E27FC236}">
                    <a16:creationId xmlns:a16="http://schemas.microsoft.com/office/drawing/2014/main" id="{112F1659-365F-43CD-972C-F6A20155B83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81075" y="3105150"/>
                <a:ext cx="2809875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현업 분석·경험 수집</a:t>
                </a:r>
              </a:p>
            </p:txBody>
          </p:sp>
          <p:sp>
            <p:nvSpPr>
              <p:cNvPr id="16" name="section01__465">
                <a:extLst xmlns:a="http://schemas.openxmlformats.org/drawingml/2006/main">
                  <a:ext uri="{FF2B5EF4-FFF2-40B4-BE49-F238E27FC236}">
                    <a16:creationId xmlns:a16="http://schemas.microsoft.com/office/drawing/2014/main" id="{D534044B-62C1-44E0-9E3C-DAA91A25F12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71500" y="3543300"/>
                <a:ext cx="3171825" cy="714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Fail · 분석 순서 · 결과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판단 포인트 · Action · CumMap</a:t>
                </a:r>
              </a:p>
            </p:txBody>
          </p:sp>
          <p:sp>
            <p:nvSpPr>
              <p:cNvPr id="17" name="section01__466">
                <a:extLst xmlns:a="http://schemas.openxmlformats.org/drawingml/2006/main">
                  <a:ext uri="{FF2B5EF4-FFF2-40B4-BE49-F238E27FC236}">
                    <a16:creationId xmlns:a16="http://schemas.microsoft.com/office/drawing/2014/main" id="{12F4C682-5281-4587-AD07-66F5F3400B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62675" y="2990850"/>
                <a:ext cx="3457575" cy="1343025"/>
              </a:xfrm>
              <a:prstGeom xmlns:a="http://schemas.openxmlformats.org/drawingml/2006/main" prst="roundRect">
                <a:avLst>
                  <a:gd name="adj" fmla="val 5674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18" name="section01__467">
                <a:extLst xmlns:a="http://schemas.openxmlformats.org/drawingml/2006/main">
                  <a:ext uri="{FF2B5EF4-FFF2-40B4-BE49-F238E27FC236}">
                    <a16:creationId xmlns:a16="http://schemas.microsoft.com/office/drawing/2014/main" id="{D593B386-FB87-4EA7-891C-3D386E1CB7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76975" y="3114675"/>
                <a:ext cx="333375" cy="3333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9" name="section01__468">
                <a:extLst xmlns:a="http://schemas.openxmlformats.org/drawingml/2006/main">
                  <a:ext uri="{FF2B5EF4-FFF2-40B4-BE49-F238E27FC236}">
                    <a16:creationId xmlns:a16="http://schemas.microsoft.com/office/drawing/2014/main" id="{646B025C-7AAF-4E17-9AEA-DDA8712396B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53175" y="3190875"/>
                <a:ext cx="180975" cy="1809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20" name="section01__469">
                <a:extLst xmlns:a="http://schemas.openxmlformats.org/drawingml/2006/main">
                  <a:ext uri="{FF2B5EF4-FFF2-40B4-BE49-F238E27FC236}">
                    <a16:creationId xmlns:a16="http://schemas.microsoft.com/office/drawing/2014/main" id="{79716C4A-D629-47E7-B1E3-2815B3F8C4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15125" y="3105150"/>
                <a:ext cx="2809875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LLM Wiki에 구조화</a:t>
                </a:r>
              </a:p>
            </p:txBody>
          </p:sp>
          <p:sp>
            <p:nvSpPr>
              <p:cNvPr id="21" name="section01__470">
                <a:extLst xmlns:a="http://schemas.openxmlformats.org/drawingml/2006/main">
                  <a:ext uri="{FF2B5EF4-FFF2-40B4-BE49-F238E27FC236}">
                    <a16:creationId xmlns:a16="http://schemas.microsoft.com/office/drawing/2014/main" id="{5ECC1CF5-1A33-42AD-B451-7BDADB9B9F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05550" y="3543300"/>
                <a:ext cx="3171825" cy="714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사례·Workflow 저장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유사 사례 태깅 · 검색</a:t>
                </a:r>
              </a:p>
            </p:txBody>
          </p:sp>
          <p:sp>
            <p:nvSpPr>
              <p:cNvPr id="22" name="section01__471">
                <a:extLst xmlns:a="http://schemas.openxmlformats.org/drawingml/2006/main">
                  <a:ext uri="{FF2B5EF4-FFF2-40B4-BE49-F238E27FC236}">
                    <a16:creationId xmlns:a16="http://schemas.microsoft.com/office/drawing/2014/main" id="{4EC9E903-1766-4273-B6E4-EDE668DF908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33850" y="3486150"/>
                <a:ext cx="1724025" cy="2952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3" name="section01__472">
                <a:extLst xmlns:a="http://schemas.openxmlformats.org/drawingml/2006/main">
                  <a:ext uri="{FF2B5EF4-FFF2-40B4-BE49-F238E27FC236}">
                    <a16:creationId xmlns:a16="http://schemas.microsoft.com/office/drawing/2014/main" id="{1D7269F5-2CF6-466B-A961-6D6182C89B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6391275"/>
                <a:ext cx="3457575" cy="1352550"/>
              </a:xfrm>
              <a:prstGeom xmlns:a="http://schemas.openxmlformats.org/drawingml/2006/main" prst="roundRect">
                <a:avLst>
                  <a:gd name="adj" fmla="val 5634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4" name="section01__473">
                <a:extLst xmlns:a="http://schemas.openxmlformats.org/drawingml/2006/main">
                  <a:ext uri="{FF2B5EF4-FFF2-40B4-BE49-F238E27FC236}">
                    <a16:creationId xmlns:a16="http://schemas.microsoft.com/office/drawing/2014/main" id="{4F7EC520-B5EC-467B-BFC4-4DD2D38925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42925" y="6515100"/>
                <a:ext cx="333375" cy="3333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5" name="section01__474">
                <a:extLst xmlns:a="http://schemas.openxmlformats.org/drawingml/2006/main">
                  <a:ext uri="{FF2B5EF4-FFF2-40B4-BE49-F238E27FC236}">
                    <a16:creationId xmlns:a16="http://schemas.microsoft.com/office/drawing/2014/main" id="{7FB93CFD-E723-4E01-BA28-40F8E7C6B0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6591300"/>
                <a:ext cx="180975" cy="1809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  <p:sp>
            <p:nvSpPr>
              <p:cNvPr id="26" name="section01__475">
                <a:extLst xmlns:a="http://schemas.openxmlformats.org/drawingml/2006/main">
                  <a:ext uri="{FF2B5EF4-FFF2-40B4-BE49-F238E27FC236}">
                    <a16:creationId xmlns:a16="http://schemas.microsoft.com/office/drawing/2014/main" id="{B5C68DD1-06E0-4340-8CE8-D80F74982E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81075" y="6505575"/>
                <a:ext cx="2809875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Agent 로직 고도화</a:t>
                </a:r>
              </a:p>
            </p:txBody>
          </p:sp>
          <p:sp>
            <p:nvSpPr>
              <p:cNvPr id="27" name="section01__476">
                <a:extLst xmlns:a="http://schemas.openxmlformats.org/drawingml/2006/main">
                  <a:ext uri="{FF2B5EF4-FFF2-40B4-BE49-F238E27FC236}">
                    <a16:creationId xmlns:a16="http://schemas.microsoft.com/office/drawing/2014/main" id="{A37BEC17-248C-43CB-B702-2056C9BB4E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71500" y="6943725"/>
                <a:ext cx="3171825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현업 피드백과 검증 경험을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 로직 개선에 반영</a:t>
                </a:r>
              </a:p>
            </p:txBody>
          </p:sp>
          <p:sp>
            <p:nvSpPr>
              <p:cNvPr id="28" name="section01__477">
                <a:extLst xmlns:a="http://schemas.openxmlformats.org/drawingml/2006/main">
                  <a:ext uri="{FF2B5EF4-FFF2-40B4-BE49-F238E27FC236}">
                    <a16:creationId xmlns:a16="http://schemas.microsoft.com/office/drawing/2014/main" id="{40788892-4662-4628-A02A-F37D972A9C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62675" y="6391275"/>
                <a:ext cx="3457575" cy="1352550"/>
              </a:xfrm>
              <a:prstGeom xmlns:a="http://schemas.openxmlformats.org/drawingml/2006/main" prst="roundRect">
                <a:avLst>
                  <a:gd name="adj" fmla="val 5634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29" name="section01__478">
                <a:extLst xmlns:a="http://schemas.openxmlformats.org/drawingml/2006/main">
                  <a:ext uri="{FF2B5EF4-FFF2-40B4-BE49-F238E27FC236}">
                    <a16:creationId xmlns:a16="http://schemas.microsoft.com/office/drawing/2014/main" id="{D1252B8A-8A78-4AFC-94FA-FDA06A26731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76975" y="6515100"/>
                <a:ext cx="333375" cy="3333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0" name="section01__479">
                <a:extLst xmlns:a="http://schemas.openxmlformats.org/drawingml/2006/main">
                  <a:ext uri="{FF2B5EF4-FFF2-40B4-BE49-F238E27FC236}">
                    <a16:creationId xmlns:a16="http://schemas.microsoft.com/office/drawing/2014/main" id="{E0FDCF38-4453-4690-931B-34E3B7A373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53175" y="6591300"/>
                <a:ext cx="180975" cy="1809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31" name="section01__480">
                <a:extLst xmlns:a="http://schemas.openxmlformats.org/drawingml/2006/main">
                  <a:ext uri="{FF2B5EF4-FFF2-40B4-BE49-F238E27FC236}">
                    <a16:creationId xmlns:a16="http://schemas.microsoft.com/office/drawing/2014/main" id="{32FB88B9-E652-4378-8E5B-322748B9A3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15125" y="6505575"/>
                <a:ext cx="2809875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분석 지식 재사용</a:t>
                </a:r>
              </a:p>
            </p:txBody>
          </p:sp>
          <p:sp>
            <p:nvSpPr>
              <p:cNvPr id="32" name="section01__481">
                <a:extLst xmlns:a="http://schemas.openxmlformats.org/drawingml/2006/main">
                  <a:ext uri="{FF2B5EF4-FFF2-40B4-BE49-F238E27FC236}">
                    <a16:creationId xmlns:a16="http://schemas.microsoft.com/office/drawing/2014/main" id="{9C01280E-F6F6-4418-B1AD-167C534174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05550" y="6943725"/>
                <a:ext cx="3171825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유사 Fail의 분석 방법 추천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과거 결과와 조치 이력 참조</a:t>
                </a:r>
              </a:p>
            </p:txBody>
          </p:sp>
          <p:sp>
            <p:nvSpPr>
              <p:cNvPr id="33" name="section01__482">
                <a:extLst xmlns:a="http://schemas.openxmlformats.org/drawingml/2006/main">
                  <a:ext uri="{FF2B5EF4-FFF2-40B4-BE49-F238E27FC236}">
                    <a16:creationId xmlns:a16="http://schemas.microsoft.com/office/drawing/2014/main" id="{CD054C98-6B3F-45DA-93B7-6B1EF5A5C5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10800000">
                <a:off x="4114800" y="6896100"/>
                <a:ext cx="1743075" cy="2952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4" name="section01__483">
                <a:extLst xmlns:a="http://schemas.openxmlformats.org/drawingml/2006/main">
                  <a:ext uri="{FF2B5EF4-FFF2-40B4-BE49-F238E27FC236}">
                    <a16:creationId xmlns:a16="http://schemas.microsoft.com/office/drawing/2014/main" id="{EB55A0E2-D5F0-444A-AD9E-9B7BDDD364E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5400000">
                <a:off x="9163050" y="5010150"/>
                <a:ext cx="533400" cy="2952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5" name="section01__484">
                <a:extLst xmlns:a="http://schemas.openxmlformats.org/drawingml/2006/main">
                  <a:ext uri="{FF2B5EF4-FFF2-40B4-BE49-F238E27FC236}">
                    <a16:creationId xmlns:a16="http://schemas.microsoft.com/office/drawing/2014/main" id="{E6FEA5D0-BF79-44D1-9E62-43DBBE54744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16200000">
                <a:off x="371475" y="5010150"/>
                <a:ext cx="533400" cy="2952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pic>
            <p:nvPicPr>
              <p:cNvPr id="122" name=""/>
              <p:cNvPicPr>
                <a:picLocks xmlns:a="http://schemas.openxmlformats.org/drawingml/2006/main" noChangeAspect="1"/>
              </p:cNvPicPr>
              <p:nvPr/>
            </p:nvPicPr>
            <p:blipFill>
              <a:blip xmlns:r="http://schemas.openxmlformats.org/officeDocument/2006/relationships" xmlns:a="http://schemas.openxmlformats.org/drawingml/2006/main" r:embed="R3920530881094aae"/>
              <a:stretch xmlns:a="http://schemas.openxmlformats.org/drawingml/2006/main"/>
            </p:blipFill>
            <p:spPr>
              <a:xfrm xmlns:a="http://schemas.openxmlformats.org/drawingml/2006/main">
                <a:off x="3742700" y="4514850"/>
                <a:ext cx="2553949" cy="1657350"/>
              </a:xfrm>
              <a:prstGeom xmlns:a="http://schemas.openxmlformats.org/drawingml/2006/main" prst="rect">
                <a:avLst/>
              </a:prstGeom>
            </p:spPr>
          </p:pic>
          <p:sp>
            <p:nvSpPr>
              <p:cNvPr id="37" name="section01__485">
                <a:extLst xmlns:a="http://schemas.openxmlformats.org/drawingml/2006/main">
                  <a:ext uri="{FF2B5EF4-FFF2-40B4-BE49-F238E27FC236}">
                    <a16:creationId xmlns:a16="http://schemas.microsoft.com/office/drawing/2014/main" id="{77E643B2-3BA9-43F8-A404-D1FED0E5CD6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71850" y="6067425"/>
                <a:ext cx="3295650" cy="266700"/>
              </a:xfrm>
              <a:prstGeom xmlns:a="http://schemas.openxmlformats.org/drawingml/2006/main" prst="roundRect">
                <a:avLst>
                  <a:gd name="adj" fmla="val 28571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8" name="section01__486">
                <a:extLst xmlns:a="http://schemas.openxmlformats.org/drawingml/2006/main">
                  <a:ext uri="{FF2B5EF4-FFF2-40B4-BE49-F238E27FC236}">
                    <a16:creationId xmlns:a16="http://schemas.microsoft.com/office/drawing/2014/main" id="{25DA35EC-ACF5-4762-9600-D438A57B3E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19475" y="6067425"/>
                <a:ext cx="320040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42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Workflow 지식화</a:t>
                </a:r>
              </a:p>
            </p:txBody>
          </p:sp>
          <p:sp>
            <p:nvSpPr>
              <p:cNvPr id="39" name="section01__487">
                <a:extLst xmlns:a="http://schemas.openxmlformats.org/drawingml/2006/main">
                  <a:ext uri="{FF2B5EF4-FFF2-40B4-BE49-F238E27FC236}">
                    <a16:creationId xmlns:a16="http://schemas.microsoft.com/office/drawing/2014/main" id="{67602B43-58EC-4E33-A2CA-5EA6586F3DC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52500" y="4695825"/>
                <a:ext cx="226695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6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 순서·판단·조치</a:t>
                </a:r>
              </a:p>
              <a:p xmlns:a="http://schemas.openxmlformats.org/drawingml/2006/main">
                <a:pPr algn="ctr">
                  <a:defRPr sz="16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65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기록 후 재사용</a:t>
                </a:r>
              </a:p>
            </p:txBody>
          </p:sp>
          <p:sp>
            <p:nvSpPr>
              <p:cNvPr id="40" name="section01__488">
                <a:extLst xmlns:a="http://schemas.openxmlformats.org/drawingml/2006/main">
                  <a:ext uri="{FF2B5EF4-FFF2-40B4-BE49-F238E27FC236}">
                    <a16:creationId xmlns:a16="http://schemas.microsoft.com/office/drawing/2014/main" id="{B873AB09-630A-4925-A100-777B0C8980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38950" y="4572000"/>
                <a:ext cx="220027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현재와의 차이</a:t>
                </a:r>
              </a:p>
            </p:txBody>
          </p:sp>
          <p:sp>
            <p:nvSpPr>
              <p:cNvPr id="41" name="section01__489">
                <a:extLst xmlns:a="http://schemas.openxmlformats.org/drawingml/2006/main">
                  <a:ext uri="{FF2B5EF4-FFF2-40B4-BE49-F238E27FC236}">
                    <a16:creationId xmlns:a16="http://schemas.microsoft.com/office/drawing/2014/main" id="{C6EA5585-65A9-4C66-B3DB-31D4FF399DE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38950" y="4962525"/>
                <a:ext cx="2200275" cy="781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정형 보고서 출력에서</a:t>
                </a:r>
              </a:p>
              <a:p xmlns:a="http://schemas.openxmlformats.org/drawingml/2006/main">
                <a:pPr algn="ctr">
                  <a:def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Workflow 재사용으로</a:t>
                </a:r>
              </a:p>
            </p:txBody>
          </p:sp>
        </p:grpSp>
        <p:grpSp>
          <p:nvGrpSpPr>
            <p:cNvPr id="10002" name="2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42" name="section02__490">
                <a:extLst xmlns:a="http://schemas.openxmlformats.org/drawingml/2006/main">
                  <a:ext uri="{FF2B5EF4-FFF2-40B4-BE49-F238E27FC236}">
                    <a16:creationId xmlns:a16="http://schemas.microsoft.com/office/drawing/2014/main" id="{A21365A6-5566-421B-B804-67A384DAA8E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8220075"/>
                <a:ext cx="9601200" cy="2114550"/>
              </a:xfrm>
              <a:prstGeom xmlns:a="http://schemas.openxmlformats.org/drawingml/2006/main" prst="roundRect">
                <a:avLst>
                  <a:gd name="adj" fmla="val 3604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3" name="section02__491">
                <a:extLst xmlns:a="http://schemas.openxmlformats.org/drawingml/2006/main">
                  <a:ext uri="{FF2B5EF4-FFF2-40B4-BE49-F238E27FC236}">
                    <a16:creationId xmlns:a16="http://schemas.microsoft.com/office/drawing/2014/main" id="{3A9877CF-1B1D-4EFA-92D5-0A7FD16ADB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8229600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4" name="section02__492">
                <a:extLst xmlns:a="http://schemas.openxmlformats.org/drawingml/2006/main">
                  <a:ext uri="{FF2B5EF4-FFF2-40B4-BE49-F238E27FC236}">
                    <a16:creationId xmlns:a16="http://schemas.microsoft.com/office/drawing/2014/main" id="{752292A4-2BB8-4FE3-946D-658208699E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8229600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5" name="section02__493">
                <a:extLst xmlns:a="http://schemas.openxmlformats.org/drawingml/2006/main">
                  <a:ext uri="{FF2B5EF4-FFF2-40B4-BE49-F238E27FC236}">
                    <a16:creationId xmlns:a16="http://schemas.microsoft.com/office/drawing/2014/main" id="{C489C592-3859-46C6-A6B6-157818A2CF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8220075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02</a:t>
                </a:r>
              </a:p>
            </p:txBody>
          </p:sp>
          <p:sp>
            <p:nvSpPr>
              <p:cNvPr id="46" name="section02__494">
                <a:extLst xmlns:a="http://schemas.openxmlformats.org/drawingml/2006/main">
                  <a:ext uri="{FF2B5EF4-FFF2-40B4-BE49-F238E27FC236}">
                    <a16:creationId xmlns:a16="http://schemas.microsoft.com/office/drawing/2014/main" id="{AF0B44C0-FE6B-4655-83DD-9D220D3FC0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8220075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Co-pilot에서 지식 기반 자율 분석으로</a:t>
                </a:r>
              </a:p>
            </p:txBody>
          </p:sp>
          <p:sp>
            <p:nvSpPr>
              <p:cNvPr id="47" name="section02__495">
                <a:extLst xmlns:a="http://schemas.openxmlformats.org/drawingml/2006/main">
                  <a:ext uri="{FF2B5EF4-FFF2-40B4-BE49-F238E27FC236}">
                    <a16:creationId xmlns:a16="http://schemas.microsoft.com/office/drawing/2014/main" id="{89E164EE-92FB-4A00-8264-8A6A850EB2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8753475"/>
                <a:ext cx="2898775" cy="1028700"/>
              </a:xfrm>
              <a:prstGeom xmlns:a="http://schemas.openxmlformats.org/drawingml/2006/main" prst="roundRect">
                <a:avLst>
                  <a:gd name="adj" fmla="val 740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48" name="section02__496">
                <a:extLst xmlns:a="http://schemas.openxmlformats.org/drawingml/2006/main">
                  <a:ext uri="{FF2B5EF4-FFF2-40B4-BE49-F238E27FC236}">
                    <a16:creationId xmlns:a16="http://schemas.microsoft.com/office/drawing/2014/main" id="{2D9BC0F5-89EE-457E-8233-F363933202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4825" y="8829675"/>
                <a:ext cx="2727325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현재 · 규칙 기반</a:t>
                </a:r>
              </a:p>
            </p:txBody>
          </p:sp>
          <p:sp>
            <p:nvSpPr>
              <p:cNvPr id="49" name="section02__497">
                <a:extLst xmlns:a="http://schemas.openxmlformats.org/drawingml/2006/main">
                  <a:ext uri="{FF2B5EF4-FFF2-40B4-BE49-F238E27FC236}">
                    <a16:creationId xmlns:a16="http://schemas.microsoft.com/office/drawing/2014/main" id="{37471CD4-D73E-47F5-AC95-2AF3C581C3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33400" y="9229725"/>
                <a:ext cx="2670175" cy="4857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엔지니어가 대상·Agent 선택</a:t>
                </a:r>
              </a:p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기본 Workflow + 자유 분석</a:t>
                </a:r>
              </a:p>
            </p:txBody>
          </p:sp>
          <p:sp>
            <p:nvSpPr>
              <p:cNvPr id="50" name="section02__498">
                <a:extLst xmlns:a="http://schemas.openxmlformats.org/drawingml/2006/main">
                  <a:ext uri="{FF2B5EF4-FFF2-40B4-BE49-F238E27FC236}">
                    <a16:creationId xmlns:a16="http://schemas.microsoft.com/office/drawing/2014/main" id="{ACE09469-7BDA-46F2-8F2A-4A1F8A4BE68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55975" y="9191625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1" name="section02__499">
                <a:extLst xmlns:a="http://schemas.openxmlformats.org/drawingml/2006/main">
                  <a:ext uri="{FF2B5EF4-FFF2-40B4-BE49-F238E27FC236}">
                    <a16:creationId xmlns:a16="http://schemas.microsoft.com/office/drawing/2014/main" id="{49B2C758-95D1-4B6C-A553-4EA129221E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65525" y="8753475"/>
                <a:ext cx="2898775" cy="1028700"/>
              </a:xfrm>
              <a:prstGeom xmlns:a="http://schemas.openxmlformats.org/drawingml/2006/main" prst="roundRect">
                <a:avLst>
                  <a:gd name="adj" fmla="val 740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2" name="section02__500">
                <a:extLst xmlns:a="http://schemas.openxmlformats.org/drawingml/2006/main">
                  <a:ext uri="{FF2B5EF4-FFF2-40B4-BE49-F238E27FC236}">
                    <a16:creationId xmlns:a16="http://schemas.microsoft.com/office/drawing/2014/main" id="{CF835E29-9E7C-428F-B95B-16C30C377CE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51250" y="8829675"/>
                <a:ext cx="2727325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지식 기반 추천</a:t>
                </a:r>
              </a:p>
            </p:txBody>
          </p:sp>
          <p:sp>
            <p:nvSpPr>
              <p:cNvPr id="53" name="section02__501">
                <a:extLst xmlns:a="http://schemas.openxmlformats.org/drawingml/2006/main">
                  <a:ext uri="{FF2B5EF4-FFF2-40B4-BE49-F238E27FC236}">
                    <a16:creationId xmlns:a16="http://schemas.microsoft.com/office/drawing/2014/main" id="{D0054542-813A-40BC-AB33-F0513E932C1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79825" y="9229725"/>
                <a:ext cx="2670175" cy="4857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유사 사례·검증된 방법 검색</a:t>
                </a:r>
              </a:p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분석 방식과 Action 제안</a:t>
                </a:r>
              </a:p>
            </p:txBody>
          </p:sp>
          <p:sp>
            <p:nvSpPr>
              <p:cNvPr id="54" name="section02__502">
                <a:extLst xmlns:a="http://schemas.openxmlformats.org/drawingml/2006/main">
                  <a:ext uri="{FF2B5EF4-FFF2-40B4-BE49-F238E27FC236}">
                    <a16:creationId xmlns:a16="http://schemas.microsoft.com/office/drawing/2014/main" id="{1CE2AA3B-3188-48BB-9D5F-10611FC0A2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502400" y="9191625"/>
                <a:ext cx="171450" cy="15240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5" name="section02__503">
                <a:extLst xmlns:a="http://schemas.openxmlformats.org/drawingml/2006/main">
                  <a:ext uri="{FF2B5EF4-FFF2-40B4-BE49-F238E27FC236}">
                    <a16:creationId xmlns:a16="http://schemas.microsoft.com/office/drawing/2014/main" id="{2C172BE3-1E47-4D62-B49A-3E9B5ADE52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11950" y="8753475"/>
                <a:ext cx="2898775" cy="1028700"/>
              </a:xfrm>
              <a:prstGeom xmlns:a="http://schemas.openxmlformats.org/drawingml/2006/main" prst="roundRect">
                <a:avLst>
                  <a:gd name="adj" fmla="val 740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56" name="section02__504">
                <a:extLst xmlns:a="http://schemas.openxmlformats.org/drawingml/2006/main">
                  <a:ext uri="{FF2B5EF4-FFF2-40B4-BE49-F238E27FC236}">
                    <a16:creationId xmlns:a16="http://schemas.microsoft.com/office/drawing/2014/main" id="{F7F8914B-C018-4943-B68C-2BA5F1D08C0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97675" y="8829675"/>
                <a:ext cx="2727325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Autonomous Agent</a:t>
                </a:r>
              </a:p>
            </p:txBody>
          </p:sp>
          <p:sp>
            <p:nvSpPr>
              <p:cNvPr id="57" name="section02__505">
                <a:extLst xmlns:a="http://schemas.openxmlformats.org/drawingml/2006/main">
                  <a:ext uri="{FF2B5EF4-FFF2-40B4-BE49-F238E27FC236}">
                    <a16:creationId xmlns:a16="http://schemas.microsoft.com/office/drawing/2014/main" id="{12F11710-2B49-4523-A479-3071AB828B3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26250" y="9229725"/>
                <a:ext cx="2670175" cy="4857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열화 감지·분석 수행</a:t>
                </a:r>
              </a:p>
              <a:p xmlns:a="http://schemas.openxmlformats.org/drawingml/2006/main">
                <a:pPr algn="ctr">
                  <a:def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결과 해석·Action 추천</a:t>
                </a:r>
              </a:p>
            </p:txBody>
          </p:sp>
          <p:sp>
            <p:nvSpPr>
              <p:cNvPr id="58" name="section02__506">
                <a:extLst xmlns:a="http://schemas.openxmlformats.org/drawingml/2006/main">
                  <a:ext uri="{FF2B5EF4-FFF2-40B4-BE49-F238E27FC236}">
                    <a16:creationId xmlns:a16="http://schemas.microsoft.com/office/drawing/2014/main" id="{7B63BAF8-775C-484B-B324-542DE930C0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47675" y="9925050"/>
                <a:ext cx="9134475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필요한 시점에 엔지니어 판단을 결합하며, 축적된 지식으로 분석·추천의 자율성 확대</a:t>
                </a:r>
              </a:p>
            </p:txBody>
          </p:sp>
        </p:grpSp>
        <p:grpSp>
          <p:nvGrpSpPr>
            <p:cNvPr id="10003" name="3 내용 블록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59" name="section03__507">
                <a:extLst xmlns:a="http://schemas.openxmlformats.org/drawingml/2006/main">
                  <a:ext uri="{FF2B5EF4-FFF2-40B4-BE49-F238E27FC236}">
                    <a16:creationId xmlns:a16="http://schemas.microsoft.com/office/drawing/2014/main" id="{AB051152-78B4-467C-AF7B-4168A9A599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9075" y="10506075"/>
                <a:ext cx="9601200" cy="2286000"/>
              </a:xfrm>
              <a:prstGeom xmlns:a="http://schemas.openxmlformats.org/drawingml/2006/main" prst="roundRect">
                <a:avLst>
                  <a:gd name="adj" fmla="val 333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0" name="section03__508">
                <a:extLst xmlns:a="http://schemas.openxmlformats.org/drawingml/2006/main">
                  <a:ext uri="{FF2B5EF4-FFF2-40B4-BE49-F238E27FC236}">
                    <a16:creationId xmlns:a16="http://schemas.microsoft.com/office/drawing/2014/main" id="{06E6E9E4-1C85-41E5-B555-5698B82B8DD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10515600"/>
                <a:ext cx="9563100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1" name="section03__509">
                <a:extLst xmlns:a="http://schemas.openxmlformats.org/drawingml/2006/main">
                  <a:ext uri="{FF2B5EF4-FFF2-40B4-BE49-F238E27FC236}">
                    <a16:creationId xmlns:a16="http://schemas.microsoft.com/office/drawing/2014/main" id="{B59A9A08-7DEE-41D7-B4EB-0BB6D8E055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10515600"/>
                <a:ext cx="561975" cy="390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2" name="section03__510">
                <a:extLst xmlns:a="http://schemas.openxmlformats.org/drawingml/2006/main">
                  <a:ext uri="{FF2B5EF4-FFF2-40B4-BE49-F238E27FC236}">
                    <a16:creationId xmlns:a16="http://schemas.microsoft.com/office/drawing/2014/main" id="{22651FB6-7CB5-4C97-BF4A-980B2DEEAD6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" y="10506075"/>
                <a:ext cx="4953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03</a:t>
                </a:r>
              </a:p>
            </p:txBody>
          </p:sp>
          <p:sp>
            <p:nvSpPr>
              <p:cNvPr id="63" name="section03__511">
                <a:extLst xmlns:a="http://schemas.openxmlformats.org/drawingml/2006/main">
                  <a:ext uri="{FF2B5EF4-FFF2-40B4-BE49-F238E27FC236}">
                    <a16:creationId xmlns:a16="http://schemas.microsoft.com/office/drawing/2014/main" id="{94005F43-0087-4E1F-8759-80330F34E78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3450" y="10506075"/>
                <a:ext cx="86868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00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확산 로드맵과 다음 단계의 기준</a:t>
                </a:r>
              </a:p>
            </p:txBody>
          </p:sp>
          <p:sp>
            <p:nvSpPr>
              <p:cNvPr id="64" name="section03__512">
                <a:extLst xmlns:a="http://schemas.openxmlformats.org/drawingml/2006/main">
                  <a:ext uri="{FF2B5EF4-FFF2-40B4-BE49-F238E27FC236}">
                    <a16:creationId xmlns:a16="http://schemas.microsoft.com/office/drawing/2014/main" id="{579DE554-760E-470C-A595-124659A363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" y="11020425"/>
                <a:ext cx="2971800" cy="1028700"/>
              </a:xfrm>
              <a:prstGeom xmlns:a="http://schemas.openxmlformats.org/drawingml/2006/main" prst="roundRect">
                <a:avLst>
                  <a:gd name="adj" fmla="val 740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65" name="section03__513">
                <a:extLst xmlns:a="http://schemas.openxmlformats.org/drawingml/2006/main">
                  <a:ext uri="{FF2B5EF4-FFF2-40B4-BE49-F238E27FC236}">
                    <a16:creationId xmlns:a16="http://schemas.microsoft.com/office/drawing/2014/main" id="{0EAC05CF-7A24-43C1-9CAC-E9C7D4CE12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33400" y="11144250"/>
                <a:ext cx="333375" cy="3333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6" name="section03__514">
                <a:extLst xmlns:a="http://schemas.openxmlformats.org/drawingml/2006/main">
                  <a:ext uri="{FF2B5EF4-FFF2-40B4-BE49-F238E27FC236}">
                    <a16:creationId xmlns:a16="http://schemas.microsoft.com/office/drawing/2014/main" id="{DD610513-D38F-4050-8006-9A03EA89FE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11220450"/>
                <a:ext cx="180975" cy="1809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67" name="section03__515">
                <a:extLst xmlns:a="http://schemas.openxmlformats.org/drawingml/2006/main">
                  <a:ext uri="{FF2B5EF4-FFF2-40B4-BE49-F238E27FC236}">
                    <a16:creationId xmlns:a16="http://schemas.microsoft.com/office/drawing/2014/main" id="{1862C22F-0076-4B91-92C0-56A0A25514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71550" y="11134725"/>
                <a:ext cx="232410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그룹 내 현업 적용</a:t>
                </a:r>
              </a:p>
            </p:txBody>
          </p:sp>
          <p:sp>
            <p:nvSpPr>
              <p:cNvPr id="68" name="section03__516">
                <a:extLst xmlns:a="http://schemas.openxmlformats.org/drawingml/2006/main">
                  <a:ext uri="{FF2B5EF4-FFF2-40B4-BE49-F238E27FC236}">
                    <a16:creationId xmlns:a16="http://schemas.microsoft.com/office/drawing/2014/main" id="{5EACA5C3-2E65-440C-8ADE-4B9253E2C9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1975" y="11572875"/>
                <a:ext cx="268605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사용자·제품 범위 확대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현업 피드백 반영</a:t>
                </a:r>
              </a:p>
            </p:txBody>
          </p:sp>
          <p:sp>
            <p:nvSpPr>
              <p:cNvPr id="69" name="section03__517">
                <a:extLst xmlns:a="http://schemas.openxmlformats.org/drawingml/2006/main">
                  <a:ext uri="{FF2B5EF4-FFF2-40B4-BE49-F238E27FC236}">
                    <a16:creationId xmlns:a16="http://schemas.microsoft.com/office/drawing/2014/main" id="{1A1B3C19-7A95-41C2-96E8-2A4F67356B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11449050"/>
                <a:ext cx="104775" cy="1809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0" name="section03__518">
                <a:extLst xmlns:a="http://schemas.openxmlformats.org/drawingml/2006/main">
                  <a:ext uri="{FF2B5EF4-FFF2-40B4-BE49-F238E27FC236}">
                    <a16:creationId xmlns:a16="http://schemas.microsoft.com/office/drawing/2014/main" id="{8A58D7A1-6C08-4815-8316-BB4EF484BD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24250" y="11020425"/>
                <a:ext cx="2971800" cy="1028700"/>
              </a:xfrm>
              <a:prstGeom xmlns:a="http://schemas.openxmlformats.org/drawingml/2006/main" prst="roundRect">
                <a:avLst>
                  <a:gd name="adj" fmla="val 740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1" name="section03__519">
                <a:extLst xmlns:a="http://schemas.openxmlformats.org/drawingml/2006/main">
                  <a:ext uri="{FF2B5EF4-FFF2-40B4-BE49-F238E27FC236}">
                    <a16:creationId xmlns:a16="http://schemas.microsoft.com/office/drawing/2014/main" id="{AB477C3D-5236-4E15-9E8E-922C3959DC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38550" y="11144250"/>
                <a:ext cx="333375" cy="3333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2" name="section03__520">
                <a:extLst xmlns:a="http://schemas.openxmlformats.org/drawingml/2006/main">
                  <a:ext uri="{FF2B5EF4-FFF2-40B4-BE49-F238E27FC236}">
                    <a16:creationId xmlns:a16="http://schemas.microsoft.com/office/drawing/2014/main" id="{FB393585-3A1F-495C-AF46-F75E974DA2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0" y="11220450"/>
                <a:ext cx="180975" cy="1809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73" name="section03__521">
                <a:extLst xmlns:a="http://schemas.openxmlformats.org/drawingml/2006/main">
                  <a:ext uri="{FF2B5EF4-FFF2-40B4-BE49-F238E27FC236}">
                    <a16:creationId xmlns:a16="http://schemas.microsoft.com/office/drawing/2014/main" id="{B6207384-9D8E-4EF8-B10A-5D6BEDF5FE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76700" y="11134725"/>
                <a:ext cx="232410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지식화·고도화</a:t>
                </a:r>
              </a:p>
            </p:txBody>
          </p:sp>
          <p:sp>
            <p:nvSpPr>
              <p:cNvPr id="74" name="section03__522">
                <a:extLst xmlns:a="http://schemas.openxmlformats.org/drawingml/2006/main">
                  <a:ext uri="{FF2B5EF4-FFF2-40B4-BE49-F238E27FC236}">
                    <a16:creationId xmlns:a16="http://schemas.microsoft.com/office/drawing/2014/main" id="{681D9C9E-A78B-47DA-B547-4257F71130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667125" y="11572875"/>
                <a:ext cx="268605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Workflow·Action 축적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지식 기반 추천 개선</a:t>
                </a:r>
              </a:p>
            </p:txBody>
          </p:sp>
          <p:sp>
            <p:nvSpPr>
              <p:cNvPr id="75" name="section03__523">
                <a:extLst xmlns:a="http://schemas.openxmlformats.org/drawingml/2006/main">
                  <a:ext uri="{FF2B5EF4-FFF2-40B4-BE49-F238E27FC236}">
                    <a16:creationId xmlns:a16="http://schemas.microsoft.com/office/drawing/2014/main" id="{CFBD9F2B-FA7A-46D0-A888-92F5BA6A6F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515100" y="11449050"/>
                <a:ext cx="104775" cy="180975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6" name="section03__524">
                <a:extLst xmlns:a="http://schemas.openxmlformats.org/drawingml/2006/main">
                  <a:ext uri="{FF2B5EF4-FFF2-40B4-BE49-F238E27FC236}">
                    <a16:creationId xmlns:a16="http://schemas.microsoft.com/office/drawing/2014/main" id="{CE00412E-438A-43E2-92AA-049CB652A0F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629400" y="11020425"/>
                <a:ext cx="2971800" cy="1028700"/>
              </a:xfrm>
              <a:prstGeom xmlns:a="http://schemas.openxmlformats.org/drawingml/2006/main" prst="roundRect">
                <a:avLst>
                  <a:gd name="adj" fmla="val 7407"/>
                </a:avLst>
              </a:prstGeom>
              <a:solidFill xmlns:a="http://schemas.openxmlformats.org/drawingml/2006/main">
                <a:srgbClr val="F6F8FA"/>
              </a:solidFill>
              <a:ln xmlns:a="http://schemas.openxmlformats.org/drawingml/2006/main" w="9525">
                <a:solidFill>
                  <a:srgbClr val="CBD6DF"/>
                </a:solidFill>
              </a:ln>
            </p:spPr>
          </p:sp>
          <p:sp>
            <p:nvSpPr>
              <p:cNvPr id="77" name="section03__525">
                <a:extLst xmlns:a="http://schemas.openxmlformats.org/drawingml/2006/main">
                  <a:ext uri="{FF2B5EF4-FFF2-40B4-BE49-F238E27FC236}">
                    <a16:creationId xmlns:a16="http://schemas.microsoft.com/office/drawing/2014/main" id="{9B7DAA91-7529-4191-BF27-FC514430D95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43700" y="11144250"/>
                <a:ext cx="333375" cy="3333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777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8" name="section03__526">
                <a:extLst xmlns:a="http://schemas.openxmlformats.org/drawingml/2006/main">
                  <a:ext uri="{FF2B5EF4-FFF2-40B4-BE49-F238E27FC236}">
                    <a16:creationId xmlns:a16="http://schemas.microsoft.com/office/drawing/2014/main" id="{E59FF95D-2972-4058-A7AF-AC1A6989C89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19900" y="11220450"/>
                <a:ext cx="180975" cy="1809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00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79" name="section03__527">
                <a:extLst xmlns:a="http://schemas.openxmlformats.org/drawingml/2006/main">
                  <a:ext uri="{FF2B5EF4-FFF2-40B4-BE49-F238E27FC236}">
                    <a16:creationId xmlns:a16="http://schemas.microsoft.com/office/drawing/2014/main" id="{06CA3C45-0DB8-41D1-8AB8-8F2965650A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81850" y="11134725"/>
                <a:ext cx="232410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575" b="1">
                    <a:solidFill>
                      <a:srgbClr val="223342"/>
                    </a:solidFill>
                    <a:latin typeface="Malgun Gothic"/>
                    <a:ea typeface="Malgun Gothic"/>
                    <a:cs typeface="Malgun Gothic"/>
                  </a:rPr>
                  <a:t>전사 확산</a:t>
                </a:r>
              </a:p>
            </p:txBody>
          </p:sp>
          <p:sp>
            <p:nvSpPr>
              <p:cNvPr id="80" name="section03__528">
                <a:extLst xmlns:a="http://schemas.openxmlformats.org/drawingml/2006/main">
                  <a:ext uri="{FF2B5EF4-FFF2-40B4-BE49-F238E27FC236}">
                    <a16:creationId xmlns:a16="http://schemas.microsoft.com/office/drawing/2014/main" id="{032A55B0-02A9-4B5D-BE44-46F63811F79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72275" y="11572875"/>
                <a:ext cx="268605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사내 MCP Market 등록</a:t>
                </a:r>
              </a:p>
              <a:p xmlns:a="http://schemas.openxmlformats.org/drawingml/2006/main">
                <a:pPr algn="ctr">
                  <a:def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350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수율·PI·개발 조직 연계</a:t>
                </a:r>
              </a:p>
            </p:txBody>
          </p:sp>
          <p:sp>
            <p:nvSpPr>
              <p:cNvPr id="81" name="section03__529">
                <a:extLst xmlns:a="http://schemas.openxmlformats.org/drawingml/2006/main">
                  <a:ext uri="{FF2B5EF4-FFF2-40B4-BE49-F238E27FC236}">
                    <a16:creationId xmlns:a16="http://schemas.microsoft.com/office/drawing/2014/main" id="{30E8EF41-003C-41E0-8BC1-80C890A32BF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2211050"/>
                <a:ext cx="9182100" cy="409575"/>
              </a:xfrm>
              <a:prstGeom xmlns:a="http://schemas.openxmlformats.org/drawingml/2006/main" prst="roundRect">
                <a:avLst>
                  <a:gd name="adj" fmla="val 18605"/>
                </a:avLst>
              </a:prstGeom>
              <a:solidFill xmlns:a="http://schemas.openxmlformats.org/drawingml/2006/main">
                <a:srgbClr val="E5ECF1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2" name="section03__530">
                <a:extLst xmlns:a="http://schemas.openxmlformats.org/drawingml/2006/main">
                  <a:ext uri="{FF2B5EF4-FFF2-40B4-BE49-F238E27FC236}">
                    <a16:creationId xmlns:a16="http://schemas.microsoft.com/office/drawing/2014/main" id="{A8DFF31B-4BA6-44F9-99D0-21F421FEDF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12211050"/>
                <a:ext cx="89916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2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275" b="1">
                    <a:solidFill>
                      <a:srgbClr val="57778C"/>
                    </a:solidFill>
                    <a:latin typeface="Malgun Gothic"/>
                    <a:ea typeface="Malgun Gothic"/>
                    <a:cs typeface="Malgun Gothic"/>
                  </a:rPr>
                  <a:t>다음 단계 기준   전 제품 Co-pilot의 실질적 도움 / Workflow 지속 축적 / 지식 활용 성공 사례 증가</a:t>
                </a:r>
              </a:p>
            </p:txBody>
          </p:sp>
        </p:grpSp>
        <p:grpSp>
          <p:nvGrpSpPr>
            <p:cNvPr id="10004" name="핵심 메시지"/>
            <p:cNvGrpSpPr/>
            <p:nvPr/>
          </p:nvGrpSpPr>
          <p:grpSpPr>
            <ns0:xfrm xmlns:ns0="http://schemas.openxmlformats.org/drawingml/2006/main">
              <ns0:off x="0" y="0"/>
              <ns0:ext cx="10039350" cy="14211300"/>
              <ns0:chOff x="0" y="0"/>
              <ns0:chExt cx="10039350" cy="14211300"/>
            </ns0:xfrm>
          </p:grpSpPr>
          <p:sp>
            <p:nvSpPr>
              <p:cNvPr id="83" name="footer__531">
                <a:extLst xmlns:a="http://schemas.openxmlformats.org/drawingml/2006/main">
                  <a:ext uri="{FF2B5EF4-FFF2-40B4-BE49-F238E27FC236}">
                    <a16:creationId xmlns:a16="http://schemas.microsoft.com/office/drawing/2014/main" id="{48D0728F-5D5F-43C1-8FFA-2A68CEF4CA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28600" y="12963525"/>
                <a:ext cx="9582150" cy="904875"/>
              </a:xfrm>
              <a:prstGeom xmlns:a="http://schemas.openxmlformats.org/drawingml/2006/main" prst="roundRect">
                <a:avLst>
                  <a:gd name="adj" fmla="val 8421"/>
                </a:avLst>
              </a:prstGeom>
              <a:solidFill xmlns:a="http://schemas.openxmlformats.org/drawingml/2006/main">
                <a:srgbClr val="2E404D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4" name="footer__532">
                <a:extLst xmlns:a="http://schemas.openxmlformats.org/drawingml/2006/main">
                  <a:ext uri="{FF2B5EF4-FFF2-40B4-BE49-F238E27FC236}">
                    <a16:creationId xmlns:a16="http://schemas.microsoft.com/office/drawing/2014/main" id="{076F78D4-072A-4499-B43A-D2B3AA9A3D1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13087350"/>
                <a:ext cx="9182100" cy="638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개인의 전문성을 조직이 공유하는 분석 자산으로 전환하고,</a:t>
                </a:r>
              </a:p>
              <a:p xmlns:a="http://schemas.openxmlformats.org/drawingml/2006/main">
                <a:pPr algn="ctr">
                  <a:def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1875" b="1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현업 경험이 쌓일수록 분석 역량이 고도화되는 체계로 발전</a:t>
                </a:r>
              </a:p>
            </p:txBody>
          </p:sp>
          <p:sp>
            <p:nvSpPr>
              <p:cNvPr id="85" name="footer__533">
                <a:extLst xmlns:a="http://schemas.openxmlformats.org/drawingml/2006/main">
                  <a:ext uri="{FF2B5EF4-FFF2-40B4-BE49-F238E27FC236}">
                    <a16:creationId xmlns:a16="http://schemas.microsoft.com/office/drawing/2014/main" id="{0E54BAAB-1AE1-437F-A943-E6452828FAB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1475" y="13954125"/>
                <a:ext cx="82867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def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0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Y-Agent · 수율분석 혁신</a:t>
                </a:r>
              </a:p>
            </p:txBody>
          </p:sp>
          <p:sp>
            <p:nvSpPr>
              <p:cNvPr id="86" name="footer__534">
                <a:extLst xmlns:a="http://schemas.openxmlformats.org/drawingml/2006/main">
                  <a:ext uri="{FF2B5EF4-FFF2-40B4-BE49-F238E27FC236}">
                    <a16:creationId xmlns:a16="http://schemas.microsoft.com/office/drawing/2014/main" id="{AECB2F94-8D3B-419A-9CDB-26F361D5006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53525" y="13954125"/>
                <a:ext cx="514350" cy="171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def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defRPr>
                </a:pPr>
                <a:r>
                  <a:rPr sz="975" b="1">
                    <a:solidFill>
                      <a:srgbClr val="43576A"/>
                    </a:solidFill>
                    <a:latin typeface="Malgun Gothic"/>
                    <a:ea typeface="Malgun Gothic"/>
                    <a:cs typeface="Malgun Gothic"/>
                  </a:rPr>
                  <a:t>06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559345"/>
      </p:ext>
    </p:extLst>
  </p:cSld>
</p:sld>
</file>

<file path=import1/ppt/tableStyles.xml><?xml version="1.0" encoding="utf-8"?>
<a:tblStyleLst xmlns:a="http://schemas.openxmlformats.org/drawingml/2006/main" def="{5C22544A-7EE6-4342-B048-85BDC9FD1C3A}"/>
</file>

<file path=import1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import2/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import2/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import2/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import2/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import2/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import2/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2850" cy="1069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import2/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import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import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import2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import2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import2/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import2/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import2/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import2/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import2/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import2/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import2/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import2/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import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import2/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import2/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import2/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-Agent 도메인 지식 기반 수율 분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" y="0"/>
            <a:ext cx="7556428" cy="10696575"/>
          </a:xfrm>
          <a:prstGeom prst="rect">
            <a:avLst/>
          </a:prstGeom>
        </p:spPr>
      </p:pic>
    </p:spTree>
  </p:cSld>
  <p:clrMapOvr>
    <a:masterClrMapping/>
  </p:clrMapOvr>
</p:sld>
</file>

<file path=import2/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분석 재설계와 현업 검증의 선순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2"/>
            <a:ext cx="7562850" cy="10688350"/>
          </a:xfrm>
          <a:prstGeom prst="rect">
            <a:avLst/>
          </a:prstGeom>
        </p:spPr>
      </p:pic>
    </p:spTree>
  </p:cSld>
  <p:clrMapOvr>
    <a:masterClrMapping/>
  </p:clrMapOvr>
</p:sld>
</file>

<file path=import2/ppt/tableStyles.xml><?xml version="1.0" encoding="utf-8"?>
<a:tblStyleLst xmlns:a="http://schemas.openxmlformats.org/drawingml/2006/main" def="{5C22544A-7EE6-4342-B048-85BDC9FD1C3A}"/>
</file>

<file path=import2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import2/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import3/_rels/.rels><?xml version='1.0' encoding='UTF-8' standalone='yes'?>
<Relationships xmlns="http://schemas.openxmlformats.org/package/2006/relationships"><Relationship Type="http://schemas.openxmlformats.org/package/2006/relationships/metadata/core-properties" Target="/import3/docProps/core.xml" Id="R20e6ea2f540b4240"/><Relationship Type="http://schemas.openxmlformats.org/officeDocument/2006/relationships/extended-properties" Target="/import3/docProps/app.xml" Id="R173fd58cfb01436f"/><Relationship Type="http://schemas.openxmlformats.org/officeDocument/2006/relationships/officeDocument" Target="/import3/ppt/presentation.xml" Id="R8310e9d247684d69"/></Relationships>
</file>

<file path=import3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import3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2026-09-22T22:40:27.2740000Z</dcterms:created>
  <dcterms:modified xsi:type="dcterms:W3CDTF">2026-09-22T22:40:27.2740000Z</dcterms:modified>
</coreProperties>
</file>

<file path=import3/ppt/_rels/presentation.xml.rels><?xml version='1.0' encoding='UTF-8' standalone='yes'?>
<Relationships xmlns="http://schemas.openxmlformats.org/package/2006/relationships"><Relationship Type="http://schemas.openxmlformats.org/officeDocument/2006/relationships/theme" Target="/import3/ppt/theme/theme1.xml" Id="R9abdae60ebcd4a74"/><Relationship Type="http://schemas.openxmlformats.org/officeDocument/2006/relationships/slideMaster" Target="/import3/ppt/slideMasters/slideMaster1.xml" Id="Rb6dae232047e49f1"/><Relationship Type="http://schemas.openxmlformats.org/officeDocument/2006/relationships/notesMaster" Target="/import3/ppt/notesMasters/notesMaster1.xml" Id="R691a8feb23fc4d4e"/><Relationship Type="http://schemas.openxmlformats.org/officeDocument/2006/relationships/presProps" Target="/import3/ppt/presProps.xml" Id="Rda4857313965454a"/><Relationship Type="http://schemas.openxmlformats.org/officeDocument/2006/relationships/tableStyles" Target="/import3/ppt/tableStyles.xml" Id="R117e885919f0451a"/><Relationship Type="http://schemas.openxmlformats.org/officeDocument/2006/relationships/slide" Target="/import3/ppt/slides/slide1.xml" Id="R35812c004a0445bd"/><Relationship Type="http://schemas.openxmlformats.org/officeDocument/2006/relationships/slide" Target="/import3/ppt/slides/slide2.xml" Id="Ra876ca67d8b74f68"/></Relationships>
</file>

<file path=import3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import3/ppt/notesMasters/theme/theme3.xml" Id="R2ebe4871925942b9"/></Relationships>
</file>

<file path=import3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import3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import3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import3/ppt/slides/slide1.xml" Id="Rb9d29581439046a0"/><Relationship Type="http://schemas.openxmlformats.org/officeDocument/2006/relationships/notesMaster" Target="/import3/ppt/notesMasters/notesMaster1.xml" Id="Rc46c75c949a948c8"/></Relationships>
</file>

<file path=import3/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import3/ppt/slides/slide2.xml" Id="Rd0bfc70aee1e4464"/><Relationship Type="http://schemas.openxmlformats.org/officeDocument/2006/relationships/notesMaster" Target="/import3/ppt/notesMasters/notesMaster1.xml" Id="Rbd6c8eae26b3477c"/></Relationships>
</file>

<file path=import3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승인한 OI 인포그래픽 1장 및 Y_Agent_OI_Portrait_2p.pptx. Mining 3종 비교의 정량 성능 수치는 제공되지 않았음. Map과 Trend는 개념도.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3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승인한 OI 인포그래픽 2장 및 Y_Agent_OI_Portrait_2p.pptx. 81개는 도출된 개선 과제 수이며 완료 건수가 아님. 실제 이슈 7건 중 5건 검출. 나머지 2건은 미구현 분석 방법 필요. MCP × BoI Wiki 하네스를 통한 정형 분석보고서 배치 작성은 현재 구현. Sequence·Action·CumMap 축적, Workflow 검색·재사용 및 분석 추천은 향후 고도화 계획.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import3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import3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dae232047e49f1"/>
  </p:sldMasterIdLst>
  <p:notesMasterIdLst>
    <p:notesMasterId xmlns:r="http://schemas.openxmlformats.org/officeDocument/2006/relationships" r:id="R691a8feb23fc4d4e"/>
  </p:notesMasterIdLst>
  <p:sldIdLst>
    <p:sldId xmlns:r="http://schemas.openxmlformats.org/officeDocument/2006/relationships" id="256" r:id="R35812c004a0445bd"/>
    <p:sldId xmlns:r="http://schemas.openxmlformats.org/officeDocument/2006/relationships" id="257" r:id="Ra876ca67d8b74f68"/>
  </p:sldIdLst>
  <p:sldSz cx="7620000" cy="10782300"/>
  <p:notesSz cx="6858000" cy="9144000"/>
</p:presentation>
</file>

<file path=import3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import3/ppt/slideMasters/slideMaster1.xml" Id="Rfa1e0ac581ce4f45"/></Relationships>
</file>

<file path=import3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import3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import3/ppt/slideMasters/theme/theme2.xml" Id="R70f2100ab7074852"/><Relationship Type="http://schemas.openxmlformats.org/officeDocument/2006/relationships/slideLayout" Target="/import3/ppt/slideLayouts/slideLayout1.xml" Id="R1d367fa9357d45ec"/></Relationships>
</file>

<file path=import3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67fa9357d45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import3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import3/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import3/ppt/slideLayouts/slideLayout1.xml" Id="R895709d67f7749de"/><Relationship Type="http://schemas.openxmlformats.org/officeDocument/2006/relationships/notesSlide" Target="/import3/ppt/notesSlides/notesSlide1.xml" Id="Ra85da590d0504cce"/></Relationships>
</file>

<file path=import3/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import3/ppt/slideLayouts/slideLayout1.xml" Id="R1033185f19314db4"/><Relationship Type="http://schemas.openxmlformats.org/officeDocument/2006/relationships/notesSlide" Target="/import3/ppt/notesSlides/notesSlide2.xml" Id="R9e872523b15b4917"/></Relationships>
</file>

<file path=import3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99999" name="Original slide content"/>
          <p:cNvGrpSpPr/>
          <p:nvPr/>
        </p:nvGrpSpPr>
        <p:grpSpPr>
          <ns0:xfrm xmlns:ns0="http://schemas.openxmlformats.org/drawingml/2006/main">
            <ns0:off x="1716" y="0"/>
            <ns0:ext cx="7559417" cy="10696575"/>
            <ns0:chOff x="0" y="0"/>
            <ns0:chExt cx="7620000" cy="10782300"/>
          </ns0:xfrm>
        </p:grpSpPr>
        <p:sp>
          <p:nvSpPr>
            <p:cNvPr id="316" name="">
              <a:extLst xmlns:a="http://schemas.openxmlformats.org/drawingml/2006/main">
                <a:ext uri="{FF2B5EF4-FFF2-40B4-BE49-F238E27FC236}">
                  <a16:creationId xmlns:a16="http://schemas.microsoft.com/office/drawing/2014/main" id="{6B46DC77-7FB7-46B9-9B3E-F89D69C165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142875"/>
              <a:ext cx="5238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소구 포인트  |  OI 측면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FB57B951-8F7A-49A3-9541-AC0DC0EE44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81825" y="142875"/>
              <a:ext cx="333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125" b="1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1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CAF0EA2-0B25-4794-8021-65D8B8A4CC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304800" y="400050"/>
              <a:ext cx="70104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3335">
              <a:solidFill>
                <a:srgbClr val="344454"/>
              </a:solidFill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B47615C8-7D23-4C48-91F1-7850056D70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514350"/>
              <a:ext cx="7029450" cy="990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7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7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도메인 지식의 내재화를 통한</a:t>
              </a:r>
            </a:p>
            <a:p xmlns:a="http://schemas.openxmlformats.org/drawingml/2006/main">
              <a:pPr algn="l">
                <a:defRPr sz="27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7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수율 분석의 본원적 경쟁력 강화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5B95E94B-C74D-4E09-944B-2F8885A3DC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1600200"/>
              <a:ext cx="7048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숙련자의 판단 기준과 분석 방법을 Agent 실행 로직으로 구현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A1AB9D2D-B424-4DD0-BA7D-CC9E68006F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2057400"/>
              <a:ext cx="409575" cy="295275"/>
            </a:xfrm>
            <a:prstGeom xmlns:a="http://schemas.openxmlformats.org/drawingml/2006/main" prst="roundRect">
              <a:avLst>
                <a:gd name="adj" fmla="val 16129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BD76C830-329F-478D-AC16-50A161B58D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2057400"/>
              <a:ext cx="409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FFAFA6A-FB31-46C1-BC38-234590923A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2057400"/>
              <a:ext cx="6477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본원적 경쟁력의 정의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4CDCAB14-EF01-49A4-A33F-9BF7ACE69F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2466975"/>
              <a:ext cx="2171700" cy="1466850"/>
            </a:xfrm>
            <a:prstGeom xmlns:a="http://schemas.openxmlformats.org/drawingml/2006/main" prst="roundRect">
              <a:avLst>
                <a:gd name="adj" fmla="val 454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E6320BD4-F4AA-4DA1-A923-3049D942D2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2552700"/>
              <a:ext cx="20193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열화 파악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3E80A6B2-978D-47EE-B060-BA98D1D14A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24150" y="2466975"/>
              <a:ext cx="2171700" cy="1466850"/>
            </a:xfrm>
            <a:prstGeom xmlns:a="http://schemas.openxmlformats.org/drawingml/2006/main" prst="roundRect">
              <a:avLst>
                <a:gd name="adj" fmla="val 454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620D57AF-D597-4469-80BA-CE028496A4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0350" y="2552700"/>
              <a:ext cx="20193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원인 후보 축소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F9D46BD6-6BBF-4C33-BF08-FCB384231E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2466975"/>
              <a:ext cx="2171700" cy="1466850"/>
            </a:xfrm>
            <a:prstGeom xmlns:a="http://schemas.openxmlformats.org/drawingml/2006/main" prst="roundRect">
              <a:avLst>
                <a:gd name="adj" fmla="val 454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898EBE76-0A02-44C8-9B4A-326A0AAF3A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19700" y="2552700"/>
              <a:ext cx="20193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후속 판단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BE955F69-2D9A-40FF-9A1F-A1A18E5CD8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2990850"/>
              <a:ext cx="742950" cy="7429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6F9FB"/>
            </a:solidFill>
            <a:ln xmlns:a="http://schemas.openxmlformats.org/drawingml/2006/main" w="12383">
              <a:solidFill>
                <a:srgbClr val="657D94"/>
              </a:solidFill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713E269C-B7EE-40FA-971B-E1E9690253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02799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640CEF2-2327-41CF-93B3-8DA50D0C4F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02799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8C584049-A804-49E6-AB45-69F5169F5C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02799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7241415C-6887-4EA4-86A8-9DF0C4CF9A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8643" y="310229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7AB2C113-593E-4339-B518-0EB1CE8455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8" y="310229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87F86C09-0C7E-49F7-8A8F-9143249016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10229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5613E955-3307-4BAE-AD04-CAB6156FB9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10229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A3E3414C-9CC3-4AAE-B366-DD266A8098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10229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F9F29D18-7836-4D30-B22C-12B828FA92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0117" y="310229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C2146B29-DAC2-488E-AC95-7420E22CC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4413" y="310229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A6A220AC-F57B-449E-BB9B-59F0B42611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8643" y="317658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557C749F-5D5B-43FC-808B-83AB3A184F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8" y="317658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16F9E1A3-61D9-48E8-9C14-5B8A224609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17658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BB8E3EC0-E75A-4EE9-9E43-9366F10B6A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17658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28A124DF-2BC2-45DA-9351-E56BC942A2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17658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A67A69F3-7085-4DB2-9B41-7F5B5539D3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0117" y="317658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71018EE3-C89E-4C3A-A177-2E449108FE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4413" y="317658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655BB612-AC78-4A05-8874-90D096C66A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348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EDC6474B-365B-4D5E-9875-8C65D935E3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8643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2E46BE6A-A2FA-4B8F-9C4E-C375F4FA65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8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BD173406-97F9-4A7E-B114-8DABC90CFF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A10D5997-F0E5-426F-8AD9-E9ED9321DE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E1CE7492-FE40-4629-BE6C-011DB85AAC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5068E1F4-4A9F-4123-B65F-DDAE2B6C11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0117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DD87A2FE-4908-4519-B6B9-58B251FA3F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4413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F82DB22F-15BD-4621-83F2-66ED28D3FD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8708" y="325088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F447FA69-A0BF-433A-9902-0594ED518C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348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E01349B2-B82B-4766-834F-681E8E9E6B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8643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86667621-9F6F-4FF9-BAA3-38BF3BE45A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8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DD7BE9EE-E454-442D-978A-30A9989FF7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C1EB364C-EEC4-460F-8A0D-CB404FDADC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D7E00806-E7AE-4D4F-A40A-FD54858B4C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F83620CC-6183-4854-93DB-85266E1A46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0117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C8D79409-479E-4B74-8C7C-830291131E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4413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93BA8AB8-D1C4-46D6-9AC0-81BF4CEF46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8708" y="332517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80AC7593-4D71-4FC4-8F69-9CAE14BAE5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348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52" name="">
              <a:extLst xmlns:a="http://schemas.openxmlformats.org/drawingml/2006/main">
                <a:ext uri="{FF2B5EF4-FFF2-40B4-BE49-F238E27FC236}">
                  <a16:creationId xmlns:a16="http://schemas.microsoft.com/office/drawing/2014/main" id="{BB09FA4A-CD47-409D-8EFC-AD977E3B3B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8643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F9D17E8B-37AD-4D2D-BF72-99C885FBD1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8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46A4041A-DABE-4751-BEEF-C5A9E77FFA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55" name="">
              <a:extLst xmlns:a="http://schemas.openxmlformats.org/drawingml/2006/main">
                <a:ext uri="{FF2B5EF4-FFF2-40B4-BE49-F238E27FC236}">
                  <a16:creationId xmlns:a16="http://schemas.microsoft.com/office/drawing/2014/main" id="{4A13FB68-6EA6-4B74-9FEB-4E5558D71B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16368C41-1759-4C4E-BC5A-E3A50B9706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13E04884-9BA9-41B1-8396-595C2273E8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0117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56081F16-0AEF-48BC-A241-15F025B31F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4413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59" name="">
              <a:extLst xmlns:a="http://schemas.openxmlformats.org/drawingml/2006/main">
                <a:ext uri="{FF2B5EF4-FFF2-40B4-BE49-F238E27FC236}">
                  <a16:creationId xmlns:a16="http://schemas.microsoft.com/office/drawing/2014/main" id="{ECD00054-ADF3-4032-AA30-228466A9EC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8708" y="339947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F5E5AB85-DD97-4A4D-B8BB-0BEF268936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8643" y="347376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BCE6072F-465F-41D0-8BD9-1F724E4865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8" y="347376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7543AEBF-FD4E-4560-B117-5686D9219D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47376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63" name="">
              <a:extLst xmlns:a="http://schemas.openxmlformats.org/drawingml/2006/main">
                <a:ext uri="{FF2B5EF4-FFF2-40B4-BE49-F238E27FC236}">
                  <a16:creationId xmlns:a16="http://schemas.microsoft.com/office/drawing/2014/main" id="{176BF455-2442-426B-8E8E-003E113223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47376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64" name="">
              <a:extLst xmlns:a="http://schemas.openxmlformats.org/drawingml/2006/main">
                <a:ext uri="{FF2B5EF4-FFF2-40B4-BE49-F238E27FC236}">
                  <a16:creationId xmlns:a16="http://schemas.microsoft.com/office/drawing/2014/main" id="{3CCD3B01-26DD-48DB-9893-C9C1DB52DE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47376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65" name="">
              <a:extLst xmlns:a="http://schemas.openxmlformats.org/drawingml/2006/main">
                <a:ext uri="{FF2B5EF4-FFF2-40B4-BE49-F238E27FC236}">
                  <a16:creationId xmlns:a16="http://schemas.microsoft.com/office/drawing/2014/main" id="{B4105196-4C24-42CD-B1BF-01CD6BFEFD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0117" y="347376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66" name="">
              <a:extLst xmlns:a="http://schemas.openxmlformats.org/drawingml/2006/main">
                <a:ext uri="{FF2B5EF4-FFF2-40B4-BE49-F238E27FC236}">
                  <a16:creationId xmlns:a16="http://schemas.microsoft.com/office/drawing/2014/main" id="{F8A4F5DB-5B4A-4B20-A127-11E6A765CC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4413" y="347376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67" name="">
              <a:extLst xmlns:a="http://schemas.openxmlformats.org/drawingml/2006/main">
                <a:ext uri="{FF2B5EF4-FFF2-40B4-BE49-F238E27FC236}">
                  <a16:creationId xmlns:a16="http://schemas.microsoft.com/office/drawing/2014/main" id="{F8AC6B18-A7D9-4769-B0B7-98247AA860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8643" y="354806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68" name="">
              <a:extLst xmlns:a="http://schemas.openxmlformats.org/drawingml/2006/main">
                <a:ext uri="{FF2B5EF4-FFF2-40B4-BE49-F238E27FC236}">
                  <a16:creationId xmlns:a16="http://schemas.microsoft.com/office/drawing/2014/main" id="{D59DB286-7F9A-48BA-9B3C-9693124972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8" y="354806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69" name="">
              <a:extLst xmlns:a="http://schemas.openxmlformats.org/drawingml/2006/main">
                <a:ext uri="{FF2B5EF4-FFF2-40B4-BE49-F238E27FC236}">
                  <a16:creationId xmlns:a16="http://schemas.microsoft.com/office/drawing/2014/main" id="{99B0D90E-00D2-4D7E-B913-690A84360D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54806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70" name="">
              <a:extLst xmlns:a="http://schemas.openxmlformats.org/drawingml/2006/main">
                <a:ext uri="{FF2B5EF4-FFF2-40B4-BE49-F238E27FC236}">
                  <a16:creationId xmlns:a16="http://schemas.microsoft.com/office/drawing/2014/main" id="{BF13753A-4D78-467C-AA2D-A282B890B5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54806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71" name="">
              <a:extLst xmlns:a="http://schemas.openxmlformats.org/drawingml/2006/main">
                <a:ext uri="{FF2B5EF4-FFF2-40B4-BE49-F238E27FC236}">
                  <a16:creationId xmlns:a16="http://schemas.microsoft.com/office/drawing/2014/main" id="{AE501CF1-DEA3-4F31-B203-0D356C4986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54806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72" name="">
              <a:extLst xmlns:a="http://schemas.openxmlformats.org/drawingml/2006/main">
                <a:ext uri="{FF2B5EF4-FFF2-40B4-BE49-F238E27FC236}">
                  <a16:creationId xmlns:a16="http://schemas.microsoft.com/office/drawing/2014/main" id="{D947FF59-E4D7-41AA-B952-62ED0C7A93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0117" y="354806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73" name="">
              <a:extLst xmlns:a="http://schemas.openxmlformats.org/drawingml/2006/main">
                <a:ext uri="{FF2B5EF4-FFF2-40B4-BE49-F238E27FC236}">
                  <a16:creationId xmlns:a16="http://schemas.microsoft.com/office/drawing/2014/main" id="{AB0759B2-5B6A-409A-B992-02BB660E75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4413" y="3548063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74" name="">
              <a:extLst xmlns:a="http://schemas.openxmlformats.org/drawingml/2006/main">
                <a:ext uri="{FF2B5EF4-FFF2-40B4-BE49-F238E27FC236}">
                  <a16:creationId xmlns:a16="http://schemas.microsoft.com/office/drawing/2014/main" id="{F1AD3064-DC69-4EA1-A0C2-48D3C0001D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7233" y="362235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75" name="">
              <a:extLst xmlns:a="http://schemas.openxmlformats.org/drawingml/2006/main">
                <a:ext uri="{FF2B5EF4-FFF2-40B4-BE49-F238E27FC236}">
                  <a16:creationId xmlns:a16="http://schemas.microsoft.com/office/drawing/2014/main" id="{32E39540-AA0F-4273-A2EE-96193D60DB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1528" y="362235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76" name="">
              <a:extLst xmlns:a="http://schemas.openxmlformats.org/drawingml/2006/main">
                <a:ext uri="{FF2B5EF4-FFF2-40B4-BE49-F238E27FC236}">
                  <a16:creationId xmlns:a16="http://schemas.microsoft.com/office/drawing/2014/main" id="{62AFB816-B2F8-48F8-8CBB-806F2DB483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5823" y="3622358"/>
              <a:ext cx="64770" cy="647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77" name="">
              <a:extLst xmlns:a="http://schemas.openxmlformats.org/drawingml/2006/main">
                <a:ext uri="{FF2B5EF4-FFF2-40B4-BE49-F238E27FC236}">
                  <a16:creationId xmlns:a16="http://schemas.microsoft.com/office/drawing/2014/main" id="{16687696-9154-47D1-B612-9071AA0092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409700" y="3114675"/>
              <a:ext cx="0" cy="571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586778"/>
              </a:solidFill>
            </a:ln>
          </p:spPr>
        </p:sp>
        <p:sp>
          <p:nvSpPr>
            <p:cNvPr id="78" name="">
              <a:extLst xmlns:a="http://schemas.openxmlformats.org/drawingml/2006/main">
                <a:ext uri="{FF2B5EF4-FFF2-40B4-BE49-F238E27FC236}">
                  <a16:creationId xmlns:a16="http://schemas.microsoft.com/office/drawing/2014/main" id="{3EDCBC6B-0EA7-4989-BA38-3DA4C4BDF9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409700" y="3686175"/>
              <a:ext cx="8382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586778"/>
              </a:solidFill>
            </a:ln>
          </p:spPr>
        </p:sp>
        <p:sp>
          <p:nvSpPr>
            <p:cNvPr id="79" name="">
              <a:extLst xmlns:a="http://schemas.openxmlformats.org/drawingml/2006/main">
                <a:ext uri="{FF2B5EF4-FFF2-40B4-BE49-F238E27FC236}">
                  <a16:creationId xmlns:a16="http://schemas.microsoft.com/office/drawing/2014/main" id="{3A1125E2-0086-4846-BEAF-C2F55BD341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09700" y="3246120"/>
              <a:ext cx="119743" cy="285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80" name="">
              <a:extLst xmlns:a="http://schemas.openxmlformats.org/drawingml/2006/main">
                <a:ext uri="{FF2B5EF4-FFF2-40B4-BE49-F238E27FC236}">
                  <a16:creationId xmlns:a16="http://schemas.microsoft.com/office/drawing/2014/main" id="{2858E440-C9BC-4565-AF61-C61AE81078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529443" y="3246120"/>
              <a:ext cx="119743" cy="6858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81" name="">
              <a:extLst xmlns:a="http://schemas.openxmlformats.org/drawingml/2006/main">
                <a:ext uri="{FF2B5EF4-FFF2-40B4-BE49-F238E27FC236}">
                  <a16:creationId xmlns:a16="http://schemas.microsoft.com/office/drawing/2014/main" id="{098EC44A-B0CD-4143-95B0-E2FD468DE1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649186" y="3314700"/>
              <a:ext cx="119743" cy="1714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82" name="">
              <a:extLst xmlns:a="http://schemas.openxmlformats.org/drawingml/2006/main">
                <a:ext uri="{FF2B5EF4-FFF2-40B4-BE49-F238E27FC236}">
                  <a16:creationId xmlns:a16="http://schemas.microsoft.com/office/drawing/2014/main" id="{C7BBD8CE-C4B8-463A-A2AC-D3498ACF54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768929" y="3331845"/>
              <a:ext cx="119743" cy="2286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83" name="">
              <a:extLst xmlns:a="http://schemas.openxmlformats.org/drawingml/2006/main">
                <a:ext uri="{FF2B5EF4-FFF2-40B4-BE49-F238E27FC236}">
                  <a16:creationId xmlns:a16="http://schemas.microsoft.com/office/drawing/2014/main" id="{0AACAE0E-5DEE-4A2C-BE41-6218F59DE1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888671" y="3354705"/>
              <a:ext cx="119743" cy="21717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84" name="">
              <a:extLst xmlns:a="http://schemas.openxmlformats.org/drawingml/2006/main">
                <a:ext uri="{FF2B5EF4-FFF2-40B4-BE49-F238E27FC236}">
                  <a16:creationId xmlns:a16="http://schemas.microsoft.com/office/drawing/2014/main" id="{197697D7-7FEB-42B9-85D6-317AA0248B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008414" y="3366135"/>
              <a:ext cx="119743" cy="20574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85" name="">
              <a:extLst xmlns:a="http://schemas.openxmlformats.org/drawingml/2006/main">
                <a:ext uri="{FF2B5EF4-FFF2-40B4-BE49-F238E27FC236}">
                  <a16:creationId xmlns:a16="http://schemas.microsoft.com/office/drawing/2014/main" id="{C3E4ACCF-1826-4A9E-9165-AF1A99E934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128157" y="3320415"/>
              <a:ext cx="119743" cy="4572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86" name="">
              <a:extLst xmlns:a="http://schemas.openxmlformats.org/drawingml/2006/main">
                <a:ext uri="{FF2B5EF4-FFF2-40B4-BE49-F238E27FC236}">
                  <a16:creationId xmlns:a16="http://schemas.microsoft.com/office/drawing/2014/main" id="{CB070E04-583E-4F37-BF27-4E441738A5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83030" y="3248025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87" name="">
              <a:extLst xmlns:a="http://schemas.openxmlformats.org/drawingml/2006/main">
                <a:ext uri="{FF2B5EF4-FFF2-40B4-BE49-F238E27FC236}">
                  <a16:creationId xmlns:a16="http://schemas.microsoft.com/office/drawing/2014/main" id="{F9AB2306-8089-4184-A88B-68949B1A5C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02773" y="3219450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88" name="">
              <a:extLst xmlns:a="http://schemas.openxmlformats.org/drawingml/2006/main">
                <a:ext uri="{FF2B5EF4-FFF2-40B4-BE49-F238E27FC236}">
                  <a16:creationId xmlns:a16="http://schemas.microsoft.com/office/drawing/2014/main" id="{890459ED-9805-4A3C-82E0-3BA29144B9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22516" y="3288030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89" name="">
              <a:extLst xmlns:a="http://schemas.openxmlformats.org/drawingml/2006/main">
                <a:ext uri="{FF2B5EF4-FFF2-40B4-BE49-F238E27FC236}">
                  <a16:creationId xmlns:a16="http://schemas.microsoft.com/office/drawing/2014/main" id="{44C15211-ADE8-4BC2-82A6-A356DDB648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42259" y="3305175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90" name="">
              <a:extLst xmlns:a="http://schemas.openxmlformats.org/drawingml/2006/main">
                <a:ext uri="{FF2B5EF4-FFF2-40B4-BE49-F238E27FC236}">
                  <a16:creationId xmlns:a16="http://schemas.microsoft.com/office/drawing/2014/main" id="{3296DBA2-58CE-4825-88BD-D2E43AB692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62001" y="3328035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91" name="">
              <a:extLst xmlns:a="http://schemas.openxmlformats.org/drawingml/2006/main">
                <a:ext uri="{FF2B5EF4-FFF2-40B4-BE49-F238E27FC236}">
                  <a16:creationId xmlns:a16="http://schemas.microsoft.com/office/drawing/2014/main" id="{05ECC2C6-4519-4215-817A-94F5776F41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81744" y="3545205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92" name="">
              <a:extLst xmlns:a="http://schemas.openxmlformats.org/drawingml/2006/main">
                <a:ext uri="{FF2B5EF4-FFF2-40B4-BE49-F238E27FC236}">
                  <a16:creationId xmlns:a16="http://schemas.microsoft.com/office/drawing/2014/main" id="{18B2FBA7-3382-445F-8DB7-1C38373EE7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01487" y="3339465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93" name="">
              <a:extLst xmlns:a="http://schemas.openxmlformats.org/drawingml/2006/main">
                <a:ext uri="{FF2B5EF4-FFF2-40B4-BE49-F238E27FC236}">
                  <a16:creationId xmlns:a16="http://schemas.microsoft.com/office/drawing/2014/main" id="{16074F46-70EB-4791-8704-55991C823A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21230" y="3293745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94" name="">
              <a:extLst xmlns:a="http://schemas.openxmlformats.org/drawingml/2006/main">
                <a:ext uri="{FF2B5EF4-FFF2-40B4-BE49-F238E27FC236}">
                  <a16:creationId xmlns:a16="http://schemas.microsoft.com/office/drawing/2014/main" id="{98A15F34-0438-47C0-8E25-BBA55BFEAE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9384" y="3371850"/>
              <a:ext cx="304800" cy="304800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2383">
              <a:solidFill>
                <a:srgbClr val="C96454"/>
              </a:solidFill>
              <a:prstDash val="dash"/>
            </a:ln>
          </p:spPr>
        </p:sp>
        <p:sp>
          <p:nvSpPr>
            <p:cNvPr id="95" name="">
              <a:extLst xmlns:a="http://schemas.openxmlformats.org/drawingml/2006/main">
                <a:ext uri="{FF2B5EF4-FFF2-40B4-BE49-F238E27FC236}">
                  <a16:creationId xmlns:a16="http://schemas.microsoft.com/office/drawing/2014/main" id="{A1158978-5AD4-4DA3-AC6E-0B6656317F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38450" y="2952750"/>
              <a:ext cx="19431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공정·자재·Map</a:t>
              </a:r>
            </a:p>
          </p:txBody>
        </p:sp>
        <p:sp>
          <p:nvSpPr>
            <p:cNvPr id="96" name="">
              <a:extLst xmlns:a="http://schemas.openxmlformats.org/drawingml/2006/main">
                <a:ext uri="{FF2B5EF4-FFF2-40B4-BE49-F238E27FC236}">
                  <a16:creationId xmlns:a16="http://schemas.microsoft.com/office/drawing/2014/main" id="{8D95176A-AA51-49F6-B963-6BFD462A49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52750" y="3295650"/>
              <a:ext cx="581025" cy="428625"/>
            </a:xfrm>
            <a:prstGeom xmlns:a="http://schemas.openxmlformats.org/drawingml/2006/main" prst="roundRect">
              <a:avLst>
                <a:gd name="adj" fmla="val 1555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97" name="">
              <a:extLst xmlns:a="http://schemas.openxmlformats.org/drawingml/2006/main">
                <a:ext uri="{FF2B5EF4-FFF2-40B4-BE49-F238E27FC236}">
                  <a16:creationId xmlns:a16="http://schemas.microsoft.com/office/drawing/2014/main" id="{267F9A44-E885-41C3-B664-3CD55A82F4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52750" y="3295650"/>
              <a:ext cx="581025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연계</a:t>
              </a:r>
            </a:p>
          </p:txBody>
        </p:sp>
        <p:sp>
          <p:nvSpPr>
            <p:cNvPr id="98" name="">
              <a:extLst xmlns:a="http://schemas.openxmlformats.org/drawingml/2006/main">
                <a:ext uri="{FF2B5EF4-FFF2-40B4-BE49-F238E27FC236}">
                  <a16:creationId xmlns:a16="http://schemas.microsoft.com/office/drawing/2014/main" id="{06F09CF4-89C1-451C-8592-A9522C2439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38550" y="3429000"/>
              <a:ext cx="257175" cy="1619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99" name="">
              <a:extLst xmlns:a="http://schemas.openxmlformats.org/drawingml/2006/main">
                <a:ext uri="{FF2B5EF4-FFF2-40B4-BE49-F238E27FC236}">
                  <a16:creationId xmlns:a16="http://schemas.microsoft.com/office/drawing/2014/main" id="{7EFAA6B8-38B4-45B9-8ACD-A4AC7DC5A3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0" y="3295650"/>
              <a:ext cx="619125" cy="428625"/>
            </a:xfrm>
            <a:prstGeom xmlns:a="http://schemas.openxmlformats.org/drawingml/2006/main" prst="roundRect">
              <a:avLst>
                <a:gd name="adj" fmla="val 1555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00" name="">
              <a:extLst xmlns:a="http://schemas.openxmlformats.org/drawingml/2006/main">
                <a:ext uri="{FF2B5EF4-FFF2-40B4-BE49-F238E27FC236}">
                  <a16:creationId xmlns:a16="http://schemas.microsoft.com/office/drawing/2014/main" id="{238E259C-969F-4DC6-9950-B7B6901A7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0" y="3295650"/>
              <a:ext cx="619125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후보</a:t>
              </a:r>
            </a:p>
          </p:txBody>
        </p:sp>
        <p:sp>
          <p:nvSpPr>
            <p:cNvPr id="101" name="">
              <a:extLst xmlns:a="http://schemas.openxmlformats.org/drawingml/2006/main">
                <a:ext uri="{FF2B5EF4-FFF2-40B4-BE49-F238E27FC236}">
                  <a16:creationId xmlns:a16="http://schemas.microsoft.com/office/drawing/2014/main" id="{9D0821C9-335B-4B4F-A666-DAAA63E439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0" y="3038475"/>
              <a:ext cx="1781175" cy="304800"/>
            </a:xfrm>
            <a:prstGeom xmlns:a="http://schemas.openxmlformats.org/drawingml/2006/main" prst="roundRect">
              <a:avLst>
                <a:gd name="adj" fmla="val 2187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02" name="">
              <a:extLst xmlns:a="http://schemas.openxmlformats.org/drawingml/2006/main">
                <a:ext uri="{FF2B5EF4-FFF2-40B4-BE49-F238E27FC236}">
                  <a16:creationId xmlns:a16="http://schemas.microsoft.com/office/drawing/2014/main" id="{130B32F8-9A0F-4FAD-83DF-5E7C229B5C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0" y="3038475"/>
              <a:ext cx="17811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결과 해석</a:t>
              </a:r>
            </a:p>
          </p:txBody>
        </p:sp>
        <p:sp>
          <p:nvSpPr>
            <p:cNvPr id="103" name="">
              <a:extLst xmlns:a="http://schemas.openxmlformats.org/drawingml/2006/main">
                <a:ext uri="{FF2B5EF4-FFF2-40B4-BE49-F238E27FC236}">
                  <a16:creationId xmlns:a16="http://schemas.microsoft.com/office/drawing/2014/main" id="{680E3C1A-FA66-41D0-8DEB-2F333B638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0" y="3457575"/>
              <a:ext cx="1781175" cy="304800"/>
            </a:xfrm>
            <a:prstGeom xmlns:a="http://schemas.openxmlformats.org/drawingml/2006/main" prst="roundRect">
              <a:avLst>
                <a:gd name="adj" fmla="val 2187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04" name="">
              <a:extLst xmlns:a="http://schemas.openxmlformats.org/drawingml/2006/main">
                <a:ext uri="{FF2B5EF4-FFF2-40B4-BE49-F238E27FC236}">
                  <a16:creationId xmlns:a16="http://schemas.microsoft.com/office/drawing/2014/main" id="{3FC61DB0-3E2C-4A82-936A-6C423B16C4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0" y="3457575"/>
              <a:ext cx="17811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추가 분석 선택</a:t>
              </a:r>
            </a:p>
          </p:txBody>
        </p:sp>
        <p:sp>
          <p:nvSpPr>
            <p:cNvPr id="105" name="">
              <a:extLst xmlns:a="http://schemas.openxmlformats.org/drawingml/2006/main">
                <a:ext uri="{FF2B5EF4-FFF2-40B4-BE49-F238E27FC236}">
                  <a16:creationId xmlns:a16="http://schemas.microsoft.com/office/drawing/2014/main" id="{47E77FD2-32E2-4F76-9413-9F728E36DF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33650" y="3152775"/>
              <a:ext cx="142875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06" name="">
              <a:extLst xmlns:a="http://schemas.openxmlformats.org/drawingml/2006/main">
                <a:ext uri="{FF2B5EF4-FFF2-40B4-BE49-F238E27FC236}">
                  <a16:creationId xmlns:a16="http://schemas.microsoft.com/office/drawing/2014/main" id="{1B436C5C-540D-49D5-854F-0EE66969D7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0" y="3152775"/>
              <a:ext cx="142875" cy="21907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07" name="">
              <a:extLst xmlns:a="http://schemas.openxmlformats.org/drawingml/2006/main">
                <a:ext uri="{FF2B5EF4-FFF2-40B4-BE49-F238E27FC236}">
                  <a16:creationId xmlns:a16="http://schemas.microsoft.com/office/drawing/2014/main" id="{32AFB231-0AA1-4E69-B7B5-5A166C9E84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4057650"/>
              <a:ext cx="7010400" cy="323850"/>
            </a:xfrm>
            <a:prstGeom xmlns:a="http://schemas.openxmlformats.org/drawingml/2006/main" prst="roundRect">
              <a:avLst>
                <a:gd name="adj" fmla="val 20588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08" name="">
              <a:extLst xmlns:a="http://schemas.openxmlformats.org/drawingml/2006/main">
                <a:ext uri="{FF2B5EF4-FFF2-40B4-BE49-F238E27FC236}">
                  <a16:creationId xmlns:a16="http://schemas.microsoft.com/office/drawing/2014/main" id="{E875FBCC-721C-439F-967C-86909BDC38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4057650"/>
              <a:ext cx="6800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열화를 파악하고 원인 후보를 좁혀, 후속 판단으로 연결하는 역량</a:t>
              </a:r>
            </a:p>
          </p:txBody>
        </p:sp>
        <p:sp>
          <p:nvSpPr>
            <p:cNvPr id="109" name="">
              <a:extLst xmlns:a="http://schemas.openxmlformats.org/drawingml/2006/main">
                <a:ext uri="{FF2B5EF4-FFF2-40B4-BE49-F238E27FC236}">
                  <a16:creationId xmlns:a16="http://schemas.microsoft.com/office/drawing/2014/main" id="{1837613D-BD32-45D7-9C4B-42ADB33D3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4591050"/>
              <a:ext cx="409575" cy="295275"/>
            </a:xfrm>
            <a:prstGeom xmlns:a="http://schemas.openxmlformats.org/drawingml/2006/main" prst="roundRect">
              <a:avLst>
                <a:gd name="adj" fmla="val 16129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110" name="">
              <a:extLst xmlns:a="http://schemas.openxmlformats.org/drawingml/2006/main">
                <a:ext uri="{FF2B5EF4-FFF2-40B4-BE49-F238E27FC236}">
                  <a16:creationId xmlns:a16="http://schemas.microsoft.com/office/drawing/2014/main" id="{9794485D-ACD9-40D0-BB83-A44B1CC525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4591050"/>
              <a:ext cx="409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111" name="">
              <a:extLst xmlns:a="http://schemas.openxmlformats.org/drawingml/2006/main">
                <a:ext uri="{FF2B5EF4-FFF2-40B4-BE49-F238E27FC236}">
                  <a16:creationId xmlns:a16="http://schemas.microsoft.com/office/drawing/2014/main" id="{2517A0CD-7723-4644-985C-F1F5776E28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4591050"/>
              <a:ext cx="6477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숙련자의 판단을 실행 로직으로 전환</a:t>
              </a:r>
            </a:p>
          </p:txBody>
        </p:sp>
        <p:sp>
          <p:nvSpPr>
            <p:cNvPr id="112" name="">
              <a:extLst xmlns:a="http://schemas.openxmlformats.org/drawingml/2006/main">
                <a:ext uri="{FF2B5EF4-FFF2-40B4-BE49-F238E27FC236}">
                  <a16:creationId xmlns:a16="http://schemas.microsoft.com/office/drawing/2014/main" id="{2FAA9346-3DFB-4B15-A99E-0B2BE88245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5010150"/>
              <a:ext cx="1638300" cy="1390650"/>
            </a:xfrm>
            <a:prstGeom xmlns:a="http://schemas.openxmlformats.org/drawingml/2006/main" prst="roundRect">
              <a:avLst>
                <a:gd name="adj" fmla="val 479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13" name="">
              <a:extLst xmlns:a="http://schemas.openxmlformats.org/drawingml/2006/main">
                <a:ext uri="{FF2B5EF4-FFF2-40B4-BE49-F238E27FC236}">
                  <a16:creationId xmlns:a16="http://schemas.microsoft.com/office/drawing/2014/main" id="{A20199B2-92E0-47BB-81CB-3166DEF285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5143500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16D93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14" name="">
              <a:extLst xmlns:a="http://schemas.openxmlformats.org/drawingml/2006/main">
                <a:ext uri="{FF2B5EF4-FFF2-40B4-BE49-F238E27FC236}">
                  <a16:creationId xmlns:a16="http://schemas.microsoft.com/office/drawing/2014/main" id="{221061BE-AA48-4C1D-88B3-C026573C77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5143500"/>
              <a:ext cx="28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</a:p>
          </p:txBody>
        </p:sp>
        <p:sp>
          <p:nvSpPr>
            <p:cNvPr id="115" name="">
              <a:extLst xmlns:a="http://schemas.openxmlformats.org/drawingml/2006/main">
                <a:ext uri="{FF2B5EF4-FFF2-40B4-BE49-F238E27FC236}">
                  <a16:creationId xmlns:a16="http://schemas.microsoft.com/office/drawing/2014/main" id="{8EE903F1-F8FC-40B2-A140-877A27ABBE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1525" y="5133975"/>
              <a:ext cx="11334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숙련자 판단</a:t>
              </a:r>
            </a:p>
          </p:txBody>
        </p:sp>
        <p:sp>
          <p:nvSpPr>
            <p:cNvPr id="116" name="">
              <a:extLst xmlns:a="http://schemas.openxmlformats.org/drawingml/2006/main">
                <a:ext uri="{FF2B5EF4-FFF2-40B4-BE49-F238E27FC236}">
                  <a16:creationId xmlns:a16="http://schemas.microsoft.com/office/drawing/2014/main" id="{CF297D11-FA5F-42D4-A0ED-75C2109E05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5638800"/>
              <a:ext cx="14859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OPLS SOP 검토</a:t>
              </a:r>
            </a:p>
          </p:txBody>
        </p:sp>
        <p:sp>
          <p:nvSpPr>
            <p:cNvPr id="117" name="">
              <a:extLst xmlns:a="http://schemas.openxmlformats.org/drawingml/2006/main">
                <a:ext uri="{FF2B5EF4-FFF2-40B4-BE49-F238E27FC236}">
                  <a16:creationId xmlns:a16="http://schemas.microsoft.com/office/drawing/2014/main" id="{AB03A435-4229-49A7-9BD8-3C19CFDFDB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5953125"/>
              <a:ext cx="14859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현업 인터뷰</a:t>
              </a:r>
            </a:p>
          </p:txBody>
        </p:sp>
        <p:sp>
          <p:nvSpPr>
            <p:cNvPr id="118" name="">
              <a:extLst xmlns:a="http://schemas.openxmlformats.org/drawingml/2006/main">
                <a:ext uri="{FF2B5EF4-FFF2-40B4-BE49-F238E27FC236}">
                  <a16:creationId xmlns:a16="http://schemas.microsoft.com/office/drawing/2014/main" id="{CCA97E69-4634-4993-864B-48568FF99E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81200" y="5619750"/>
              <a:ext cx="95250" cy="1714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19" name="">
              <a:extLst xmlns:a="http://schemas.openxmlformats.org/drawingml/2006/main">
                <a:ext uri="{FF2B5EF4-FFF2-40B4-BE49-F238E27FC236}">
                  <a16:creationId xmlns:a16="http://schemas.microsoft.com/office/drawing/2014/main" id="{93A40A3F-B67C-46BF-A4E3-BC4F8F4B5A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0" y="5010150"/>
              <a:ext cx="1638300" cy="1390650"/>
            </a:xfrm>
            <a:prstGeom xmlns:a="http://schemas.openxmlformats.org/drawingml/2006/main" prst="roundRect">
              <a:avLst>
                <a:gd name="adj" fmla="val 479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20" name="">
              <a:extLst xmlns:a="http://schemas.openxmlformats.org/drawingml/2006/main">
                <a:ext uri="{FF2B5EF4-FFF2-40B4-BE49-F238E27FC236}">
                  <a16:creationId xmlns:a16="http://schemas.microsoft.com/office/drawing/2014/main" id="{D90532FC-7077-49DE-962F-A0F74109AD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09800" y="5143500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16D93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21" name="">
              <a:extLst xmlns:a="http://schemas.openxmlformats.org/drawingml/2006/main">
                <a:ext uri="{FF2B5EF4-FFF2-40B4-BE49-F238E27FC236}">
                  <a16:creationId xmlns:a16="http://schemas.microsoft.com/office/drawing/2014/main" id="{783C71AE-EE03-429B-9C77-9BBA2AA6C5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09800" y="5143500"/>
              <a:ext cx="28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</a:t>
              </a:r>
            </a:p>
          </p:txBody>
        </p:sp>
        <p:sp>
          <p:nvSpPr>
            <p:cNvPr id="122" name="">
              <a:extLst xmlns:a="http://schemas.openxmlformats.org/drawingml/2006/main">
                <a:ext uri="{FF2B5EF4-FFF2-40B4-BE49-F238E27FC236}">
                  <a16:creationId xmlns:a16="http://schemas.microsoft.com/office/drawing/2014/main" id="{4FF2425C-1AF3-4D7D-977B-76D6FFE24C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2225" y="5133975"/>
              <a:ext cx="11334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로직화·비교</a:t>
              </a:r>
            </a:p>
          </p:txBody>
        </p:sp>
        <p:sp>
          <p:nvSpPr>
            <p:cNvPr id="123" name="">
              <a:extLst xmlns:a="http://schemas.openxmlformats.org/drawingml/2006/main">
                <a:ext uri="{FF2B5EF4-FFF2-40B4-BE49-F238E27FC236}">
                  <a16:creationId xmlns:a16="http://schemas.microsoft.com/office/drawing/2014/main" id="{0E507039-5E0B-4963-94EB-A70E70D9F9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71700" y="5638800"/>
              <a:ext cx="14859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분석 순서·입력 정의</a:t>
              </a:r>
            </a:p>
          </p:txBody>
        </p:sp>
        <p:sp>
          <p:nvSpPr>
            <p:cNvPr id="124" name="">
              <a:extLst xmlns:a="http://schemas.openxmlformats.org/drawingml/2006/main">
                <a:ext uri="{FF2B5EF4-FFF2-40B4-BE49-F238E27FC236}">
                  <a16:creationId xmlns:a16="http://schemas.microsoft.com/office/drawing/2014/main" id="{9D25B037-DC0B-43A1-8DA9-F12641173A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71700" y="5953125"/>
              <a:ext cx="14859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해석 기준 비교</a:t>
              </a:r>
            </a:p>
          </p:txBody>
        </p:sp>
        <p:sp>
          <p:nvSpPr>
            <p:cNvPr id="125" name="">
              <a:extLst xmlns:a="http://schemas.openxmlformats.org/drawingml/2006/main">
                <a:ext uri="{FF2B5EF4-FFF2-40B4-BE49-F238E27FC236}">
                  <a16:creationId xmlns:a16="http://schemas.microsoft.com/office/drawing/2014/main" id="{3986C0A7-03AF-44CD-B8E0-0B9B7177E8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71900" y="5619750"/>
              <a:ext cx="95250" cy="1714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26" name="">
              <a:extLst xmlns:a="http://schemas.openxmlformats.org/drawingml/2006/main">
                <a:ext uri="{FF2B5EF4-FFF2-40B4-BE49-F238E27FC236}">
                  <a16:creationId xmlns:a16="http://schemas.microsoft.com/office/drawing/2014/main" id="{7A061C80-52D3-492D-8EF1-2265883010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6200" y="5010150"/>
              <a:ext cx="1638300" cy="1390650"/>
            </a:xfrm>
            <a:prstGeom xmlns:a="http://schemas.openxmlformats.org/drawingml/2006/main" prst="roundRect">
              <a:avLst>
                <a:gd name="adj" fmla="val 479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27" name="">
              <a:extLst xmlns:a="http://schemas.openxmlformats.org/drawingml/2006/main">
                <a:ext uri="{FF2B5EF4-FFF2-40B4-BE49-F238E27FC236}">
                  <a16:creationId xmlns:a16="http://schemas.microsoft.com/office/drawing/2014/main" id="{DAFB4B8D-3B1B-4CC8-97FB-B3D59DFEAB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0" y="5143500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16D93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28" name="">
              <a:extLst xmlns:a="http://schemas.openxmlformats.org/drawingml/2006/main">
                <a:ext uri="{FF2B5EF4-FFF2-40B4-BE49-F238E27FC236}">
                  <a16:creationId xmlns:a16="http://schemas.microsoft.com/office/drawing/2014/main" id="{C3B4258E-9C2F-4C60-AB6E-CE081298F3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0" y="5143500"/>
              <a:ext cx="28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</a:t>
              </a:r>
            </a:p>
          </p:txBody>
        </p:sp>
        <p:sp>
          <p:nvSpPr>
            <p:cNvPr id="129" name="">
              <a:extLst xmlns:a="http://schemas.openxmlformats.org/drawingml/2006/main">
                <a:ext uri="{FF2B5EF4-FFF2-40B4-BE49-F238E27FC236}">
                  <a16:creationId xmlns:a16="http://schemas.microsoft.com/office/drawing/2014/main" id="{6A38EBDC-A7DD-4EEF-9F3A-B01A40D473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2925" y="5133975"/>
              <a:ext cx="11334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Agent 구현</a:t>
              </a:r>
            </a:p>
          </p:txBody>
        </p:sp>
        <p:sp>
          <p:nvSpPr>
            <p:cNvPr id="130" name="">
              <a:extLst xmlns:a="http://schemas.openxmlformats.org/drawingml/2006/main">
                <a:ext uri="{FF2B5EF4-FFF2-40B4-BE49-F238E27FC236}">
                  <a16:creationId xmlns:a16="http://schemas.microsoft.com/office/drawing/2014/main" id="{69BAC2D0-D081-4FDD-AB29-EADC70F560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5638800"/>
              <a:ext cx="14859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전문 Agent 분석</a:t>
              </a:r>
            </a:p>
          </p:txBody>
        </p:sp>
        <p:sp>
          <p:nvSpPr>
            <p:cNvPr id="131" name="">
              <a:extLst xmlns:a="http://schemas.openxmlformats.org/drawingml/2006/main">
                <a:ext uri="{FF2B5EF4-FFF2-40B4-BE49-F238E27FC236}">
                  <a16:creationId xmlns:a16="http://schemas.microsoft.com/office/drawing/2014/main" id="{E250DACD-ABC4-4D2D-8939-D563C8F77A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5953125"/>
              <a:ext cx="14859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Workflow 연결</a:t>
              </a:r>
            </a:p>
          </p:txBody>
        </p:sp>
        <p:sp>
          <p:nvSpPr>
            <p:cNvPr id="132" name="">
              <a:extLst xmlns:a="http://schemas.openxmlformats.org/drawingml/2006/main">
                <a:ext uri="{FF2B5EF4-FFF2-40B4-BE49-F238E27FC236}">
                  <a16:creationId xmlns:a16="http://schemas.microsoft.com/office/drawing/2014/main" id="{7210B9C4-6518-40D3-8BC6-6754187BC4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62600" y="5619750"/>
              <a:ext cx="95250" cy="1714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33" name="">
              <a:extLst xmlns:a="http://schemas.openxmlformats.org/drawingml/2006/main">
                <a:ext uri="{FF2B5EF4-FFF2-40B4-BE49-F238E27FC236}">
                  <a16:creationId xmlns:a16="http://schemas.microsoft.com/office/drawing/2014/main" id="{A3505161-BAA1-422A-8F8B-E3604E641A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76900" y="5010150"/>
              <a:ext cx="1638300" cy="1390650"/>
            </a:xfrm>
            <a:prstGeom xmlns:a="http://schemas.openxmlformats.org/drawingml/2006/main" prst="roundRect">
              <a:avLst>
                <a:gd name="adj" fmla="val 479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34" name="">
              <a:extLst xmlns:a="http://schemas.openxmlformats.org/drawingml/2006/main">
                <a:ext uri="{FF2B5EF4-FFF2-40B4-BE49-F238E27FC236}">
                  <a16:creationId xmlns:a16="http://schemas.microsoft.com/office/drawing/2014/main" id="{B493FE8F-825C-4ADF-84DB-C333AC93A3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1200" y="5143500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16D93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35" name="">
              <a:extLst xmlns:a="http://schemas.openxmlformats.org/drawingml/2006/main">
                <a:ext uri="{FF2B5EF4-FFF2-40B4-BE49-F238E27FC236}">
                  <a16:creationId xmlns:a16="http://schemas.microsoft.com/office/drawing/2014/main" id="{43A27DC2-7C1F-4629-94FF-26A5145E0A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1200" y="5143500"/>
              <a:ext cx="28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4</a:t>
              </a:r>
            </a:p>
          </p:txBody>
        </p:sp>
        <p:sp>
          <p:nvSpPr>
            <p:cNvPr id="136" name="">
              <a:extLst xmlns:a="http://schemas.openxmlformats.org/drawingml/2006/main">
                <a:ext uri="{FF2B5EF4-FFF2-40B4-BE49-F238E27FC236}">
                  <a16:creationId xmlns:a16="http://schemas.microsoft.com/office/drawing/2014/main" id="{1C4A1A41-87E0-4128-9B88-983471FC0F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3625" y="5133975"/>
              <a:ext cx="11334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현업 검증</a:t>
              </a:r>
            </a:p>
          </p:txBody>
        </p:sp>
        <p:sp>
          <p:nvSpPr>
            <p:cNvPr id="137" name="">
              <a:extLst xmlns:a="http://schemas.openxmlformats.org/drawingml/2006/main">
                <a:ext uri="{FF2B5EF4-FFF2-40B4-BE49-F238E27FC236}">
                  <a16:creationId xmlns:a16="http://schemas.microsoft.com/office/drawing/2014/main" id="{DDB13307-A466-471D-AEBE-F68C11B069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53100" y="5638800"/>
              <a:ext cx="14859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실제 결과 비교</a:t>
              </a:r>
            </a:p>
          </p:txBody>
        </p:sp>
        <p:sp>
          <p:nvSpPr>
            <p:cNvPr id="138" name="">
              <a:extLst xmlns:a="http://schemas.openxmlformats.org/drawingml/2006/main">
                <a:ext uri="{FF2B5EF4-FFF2-40B4-BE49-F238E27FC236}">
                  <a16:creationId xmlns:a16="http://schemas.microsoft.com/office/drawing/2014/main" id="{F85942D1-C1F8-4FAC-9DE4-14A7F9C80E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53100" y="5953125"/>
              <a:ext cx="14859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보완 사항 반영</a:t>
              </a:r>
            </a:p>
          </p:txBody>
        </p:sp>
        <p:sp>
          <p:nvSpPr>
            <p:cNvPr id="139" name="">
              <a:extLst xmlns:a="http://schemas.openxmlformats.org/drawingml/2006/main">
                <a:ext uri="{FF2B5EF4-FFF2-40B4-BE49-F238E27FC236}">
                  <a16:creationId xmlns:a16="http://schemas.microsoft.com/office/drawing/2014/main" id="{B69BD8EA-FD7E-43A4-9E88-CC927870CC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6515100"/>
              <a:ext cx="7010400" cy="333375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140" name="">
              <a:extLst xmlns:a="http://schemas.openxmlformats.org/drawingml/2006/main">
                <a:ext uri="{FF2B5EF4-FFF2-40B4-BE49-F238E27FC236}">
                  <a16:creationId xmlns:a16="http://schemas.microsoft.com/office/drawing/2014/main" id="{794D5937-F697-4F4D-8EAD-9EE1E4BD9D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6515100"/>
              <a:ext cx="68199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무엇을 확인할지     →     어떻게 해석할지     →     다음에 무엇을 분석할지</a:t>
              </a:r>
            </a:p>
          </p:txBody>
        </p:sp>
        <p:sp>
          <p:nvSpPr>
            <p:cNvPr id="141" name="">
              <a:extLst xmlns:a="http://schemas.openxmlformats.org/drawingml/2006/main">
                <a:ext uri="{FF2B5EF4-FFF2-40B4-BE49-F238E27FC236}">
                  <a16:creationId xmlns:a16="http://schemas.microsoft.com/office/drawing/2014/main" id="{36E8FC99-8A6D-45BD-BE26-3716B270CB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7038975"/>
              <a:ext cx="409575" cy="295275"/>
            </a:xfrm>
            <a:prstGeom xmlns:a="http://schemas.openxmlformats.org/drawingml/2006/main" prst="roundRect">
              <a:avLst>
                <a:gd name="adj" fmla="val 16129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142" name="">
              <a:extLst xmlns:a="http://schemas.openxmlformats.org/drawingml/2006/main">
                <a:ext uri="{FF2B5EF4-FFF2-40B4-BE49-F238E27FC236}">
                  <a16:creationId xmlns:a16="http://schemas.microsoft.com/office/drawing/2014/main" id="{0D240436-61B1-49CC-8B09-0DF666BA8E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7038975"/>
              <a:ext cx="409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143" name="">
              <a:extLst xmlns:a="http://schemas.openxmlformats.org/drawingml/2006/main">
                <a:ext uri="{FF2B5EF4-FFF2-40B4-BE49-F238E27FC236}">
                  <a16:creationId xmlns:a16="http://schemas.microsoft.com/office/drawing/2014/main" id="{9C63B9BA-4899-47A6-BFFB-E84735D9EE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7038975"/>
              <a:ext cx="6477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현업 지식을 내재화한 대표 Agent</a:t>
              </a:r>
            </a:p>
          </p:txBody>
        </p:sp>
        <p:sp>
          <p:nvSpPr>
            <p:cNvPr id="144" name="">
              <a:extLst xmlns:a="http://schemas.openxmlformats.org/drawingml/2006/main">
                <a:ext uri="{FF2B5EF4-FFF2-40B4-BE49-F238E27FC236}">
                  <a16:creationId xmlns:a16="http://schemas.microsoft.com/office/drawing/2014/main" id="{DCFCB206-F9D7-40B0-A1EE-D18E90350E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7458075"/>
              <a:ext cx="3438525" cy="2143125"/>
            </a:xfrm>
            <a:prstGeom xmlns:a="http://schemas.openxmlformats.org/drawingml/2006/main" prst="roundRect">
              <a:avLst>
                <a:gd name="adj" fmla="val 311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45" name="">
              <a:extLst xmlns:a="http://schemas.openxmlformats.org/drawingml/2006/main">
                <a:ext uri="{FF2B5EF4-FFF2-40B4-BE49-F238E27FC236}">
                  <a16:creationId xmlns:a16="http://schemas.microsoft.com/office/drawing/2014/main" id="{24651C47-58E9-430E-BB2B-22FA40FFF5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76675" y="7458075"/>
              <a:ext cx="3438525" cy="2143125"/>
            </a:xfrm>
            <a:prstGeom xmlns:a="http://schemas.openxmlformats.org/drawingml/2006/main" prst="roundRect">
              <a:avLst>
                <a:gd name="adj" fmla="val 311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46" name="">
              <a:extLst xmlns:a="http://schemas.openxmlformats.org/drawingml/2006/main">
                <a:ext uri="{FF2B5EF4-FFF2-40B4-BE49-F238E27FC236}">
                  <a16:creationId xmlns:a16="http://schemas.microsoft.com/office/drawing/2014/main" id="{39E0A559-8D7B-4D27-8392-BAFC39F647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7562850"/>
              <a:ext cx="30480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열화감지 Agent</a:t>
              </a:r>
            </a:p>
          </p:txBody>
        </p:sp>
        <p:sp>
          <p:nvSpPr>
            <p:cNvPr id="147" name="">
              <a:extLst xmlns:a="http://schemas.openxmlformats.org/drawingml/2006/main">
                <a:ext uri="{FF2B5EF4-FFF2-40B4-BE49-F238E27FC236}">
                  <a16:creationId xmlns:a16="http://schemas.microsoft.com/office/drawing/2014/main" id="{ED21AB97-EA0F-457F-8D6B-CDC756F8A7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7867650"/>
              <a:ext cx="30480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현업의 열화감지 로직 구현</a:t>
              </a:r>
            </a:p>
          </p:txBody>
        </p:sp>
        <p:sp>
          <p:nvSpPr>
            <p:cNvPr id="148" name="">
              <a:extLst xmlns:a="http://schemas.openxmlformats.org/drawingml/2006/main">
                <a:ext uri="{FF2B5EF4-FFF2-40B4-BE49-F238E27FC236}">
                  <a16:creationId xmlns:a16="http://schemas.microsoft.com/office/drawing/2014/main" id="{269270A5-5F3C-4B1E-BD55-296D48266A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85775" y="8353425"/>
              <a:ext cx="0" cy="6286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586778"/>
              </a:solidFill>
            </a:ln>
          </p:spPr>
        </p:sp>
        <p:sp>
          <p:nvSpPr>
            <p:cNvPr id="149" name="">
              <a:extLst xmlns:a="http://schemas.openxmlformats.org/drawingml/2006/main">
                <a:ext uri="{FF2B5EF4-FFF2-40B4-BE49-F238E27FC236}">
                  <a16:creationId xmlns:a16="http://schemas.microsoft.com/office/drawing/2014/main" id="{2B9B7823-6F65-4F4C-993B-58FA6889D8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85775" y="8982075"/>
              <a:ext cx="933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586778"/>
              </a:solidFill>
            </a:ln>
          </p:spPr>
        </p:sp>
        <p:sp>
          <p:nvSpPr>
            <p:cNvPr id="150" name="">
              <a:extLst xmlns:a="http://schemas.openxmlformats.org/drawingml/2006/main">
                <a:ext uri="{FF2B5EF4-FFF2-40B4-BE49-F238E27FC236}">
                  <a16:creationId xmlns:a16="http://schemas.microsoft.com/office/drawing/2014/main" id="{5C53EAF0-01BA-4C2F-A8B9-9941B1730B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85775" y="8498015"/>
              <a:ext cx="133350" cy="3143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151" name="">
              <a:extLst xmlns:a="http://schemas.openxmlformats.org/drawingml/2006/main">
                <a:ext uri="{FF2B5EF4-FFF2-40B4-BE49-F238E27FC236}">
                  <a16:creationId xmlns:a16="http://schemas.microsoft.com/office/drawing/2014/main" id="{3543E430-B622-4DF7-AFEF-1838B80971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19125" y="8498015"/>
              <a:ext cx="133350" cy="75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152" name="">
              <a:extLst xmlns:a="http://schemas.openxmlformats.org/drawingml/2006/main">
                <a:ext uri="{FF2B5EF4-FFF2-40B4-BE49-F238E27FC236}">
                  <a16:creationId xmlns:a16="http://schemas.microsoft.com/office/drawing/2014/main" id="{32FDA6FF-3153-43B1-A51D-AF09BBED24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52475" y="8573453"/>
              <a:ext cx="133350" cy="1886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153" name="">
              <a:extLst xmlns:a="http://schemas.openxmlformats.org/drawingml/2006/main">
                <a:ext uri="{FF2B5EF4-FFF2-40B4-BE49-F238E27FC236}">
                  <a16:creationId xmlns:a16="http://schemas.microsoft.com/office/drawing/2014/main" id="{37594838-25A3-4273-A0B3-5C3129243A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885825" y="8592312"/>
              <a:ext cx="133350" cy="2514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154" name="">
              <a:extLst xmlns:a="http://schemas.openxmlformats.org/drawingml/2006/main">
                <a:ext uri="{FF2B5EF4-FFF2-40B4-BE49-F238E27FC236}">
                  <a16:creationId xmlns:a16="http://schemas.microsoft.com/office/drawing/2014/main" id="{8E34F2CA-7492-44A5-A4A1-CEA05A6ED6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019175" y="8617458"/>
              <a:ext cx="133350" cy="23888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155" name="">
              <a:extLst xmlns:a="http://schemas.openxmlformats.org/drawingml/2006/main">
                <a:ext uri="{FF2B5EF4-FFF2-40B4-BE49-F238E27FC236}">
                  <a16:creationId xmlns:a16="http://schemas.microsoft.com/office/drawing/2014/main" id="{5C4479E7-7346-4B05-A7E6-4807E2B041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52525" y="8630031"/>
              <a:ext cx="133350" cy="2263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156" name="">
              <a:extLst xmlns:a="http://schemas.openxmlformats.org/drawingml/2006/main">
                <a:ext uri="{FF2B5EF4-FFF2-40B4-BE49-F238E27FC236}">
                  <a16:creationId xmlns:a16="http://schemas.microsoft.com/office/drawing/2014/main" id="{A3F51C26-C92E-4C12-B540-0622734290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85875" y="8579739"/>
              <a:ext cx="133350" cy="5029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16D93"/>
              </a:solidFill>
            </a:ln>
          </p:spPr>
        </p:sp>
        <p:sp>
          <p:nvSpPr>
            <p:cNvPr id="157" name="">
              <a:extLst xmlns:a="http://schemas.openxmlformats.org/drawingml/2006/main">
                <a:ext uri="{FF2B5EF4-FFF2-40B4-BE49-F238E27FC236}">
                  <a16:creationId xmlns:a16="http://schemas.microsoft.com/office/drawing/2014/main" id="{F9042D5F-8123-47BD-B0CB-9C80FA0759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105" y="8502777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58" name="">
              <a:extLst xmlns:a="http://schemas.openxmlformats.org/drawingml/2006/main">
                <a:ext uri="{FF2B5EF4-FFF2-40B4-BE49-F238E27FC236}">
                  <a16:creationId xmlns:a16="http://schemas.microsoft.com/office/drawing/2014/main" id="{EAA310CD-C957-4109-8A7B-766B2660BD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2455" y="8471345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59" name="">
              <a:extLst xmlns:a="http://schemas.openxmlformats.org/drawingml/2006/main">
                <a:ext uri="{FF2B5EF4-FFF2-40B4-BE49-F238E27FC236}">
                  <a16:creationId xmlns:a16="http://schemas.microsoft.com/office/drawing/2014/main" id="{6888C35C-855C-45A7-B66E-6E3D9E21C8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5805" y="8546783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60" name="">
              <a:extLst xmlns:a="http://schemas.openxmlformats.org/drawingml/2006/main">
                <a:ext uri="{FF2B5EF4-FFF2-40B4-BE49-F238E27FC236}">
                  <a16:creationId xmlns:a16="http://schemas.microsoft.com/office/drawing/2014/main" id="{0F22CD48-13C1-4139-9565-6AA4A62F23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155" y="8565642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61" name="">
              <a:extLst xmlns:a="http://schemas.openxmlformats.org/drawingml/2006/main">
                <a:ext uri="{FF2B5EF4-FFF2-40B4-BE49-F238E27FC236}">
                  <a16:creationId xmlns:a16="http://schemas.microsoft.com/office/drawing/2014/main" id="{F6CB5A92-9705-4945-ABD3-6977D52B25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" y="8590788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62" name="">
              <a:extLst xmlns:a="http://schemas.openxmlformats.org/drawingml/2006/main">
                <a:ext uri="{FF2B5EF4-FFF2-40B4-BE49-F238E27FC236}">
                  <a16:creationId xmlns:a16="http://schemas.microsoft.com/office/drawing/2014/main" id="{AF0CBD36-FF73-4425-9A38-512B388B60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5855" y="8829675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63" name="">
              <a:extLst xmlns:a="http://schemas.openxmlformats.org/drawingml/2006/main">
                <a:ext uri="{FF2B5EF4-FFF2-40B4-BE49-F238E27FC236}">
                  <a16:creationId xmlns:a16="http://schemas.microsoft.com/office/drawing/2014/main" id="{357F87D1-E36B-4D98-9B03-765E4F952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59205" y="8603361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64" name="">
              <a:extLst xmlns:a="http://schemas.openxmlformats.org/drawingml/2006/main">
                <a:ext uri="{FF2B5EF4-FFF2-40B4-BE49-F238E27FC236}">
                  <a16:creationId xmlns:a16="http://schemas.microsoft.com/office/drawing/2014/main" id="{B4D79F5D-1542-4BB7-86CC-84B211186C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2555" y="8553069"/>
              <a:ext cx="53340" cy="53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416D93"/>
              </a:solidFill>
            </a:ln>
          </p:spPr>
        </p:sp>
        <p:sp>
          <p:nvSpPr>
            <p:cNvPr id="165" name="">
              <a:extLst xmlns:a="http://schemas.openxmlformats.org/drawingml/2006/main">
                <a:ext uri="{FF2B5EF4-FFF2-40B4-BE49-F238E27FC236}">
                  <a16:creationId xmlns:a16="http://schemas.microsoft.com/office/drawing/2014/main" id="{F13BC87A-1919-486E-8A77-EBEC368F04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4514" y="8636318"/>
              <a:ext cx="304800" cy="304800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2383">
              <a:solidFill>
                <a:srgbClr val="C96454"/>
              </a:solidFill>
              <a:prstDash val="dash"/>
            </a:ln>
          </p:spPr>
        </p:sp>
        <p:sp>
          <p:nvSpPr>
            <p:cNvPr id="166" name="">
              <a:extLst xmlns:a="http://schemas.openxmlformats.org/drawingml/2006/main">
                <a:ext uri="{FF2B5EF4-FFF2-40B4-BE49-F238E27FC236}">
                  <a16:creationId xmlns:a16="http://schemas.microsoft.com/office/drawing/2014/main" id="{E9D87AAC-B992-4190-AD8F-CCF05A7697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24000" y="8562975"/>
              <a:ext cx="238125" cy="1619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67" name="">
              <a:extLst xmlns:a="http://schemas.openxmlformats.org/drawingml/2006/main">
                <a:ext uri="{FF2B5EF4-FFF2-40B4-BE49-F238E27FC236}">
                  <a16:creationId xmlns:a16="http://schemas.microsoft.com/office/drawing/2014/main" id="{4AD06898-A775-4EF3-A6E5-D201A5DB7E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6425" y="8267700"/>
              <a:ext cx="523875" cy="742950"/>
            </a:xfrm>
            <a:prstGeom xmlns:a="http://schemas.openxmlformats.org/drawingml/2006/main" prst="roundRect">
              <a:avLst>
                <a:gd name="adj" fmla="val 545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9BB2C8"/>
              </a:solidFill>
            </a:ln>
          </p:spPr>
        </p:sp>
        <p:sp>
          <p:nvSpPr>
            <p:cNvPr id="168" name="">
              <a:extLst xmlns:a="http://schemas.openxmlformats.org/drawingml/2006/main">
                <a:ext uri="{FF2B5EF4-FFF2-40B4-BE49-F238E27FC236}">
                  <a16:creationId xmlns:a16="http://schemas.microsoft.com/office/drawing/2014/main" id="{A5698EA2-23F7-4932-8C86-9EDB42B5EF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52625" y="8382000"/>
              <a:ext cx="371475" cy="381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C5D3E0"/>
            </a:solidFill>
            <a:ln xmlns:a="http://schemas.openxmlformats.org/drawingml/2006/main" w="9525">
              <a:solidFill>
                <a:srgbClr val="C5D3E0"/>
              </a:solidFill>
            </a:ln>
          </p:spPr>
        </p:sp>
        <p:sp>
          <p:nvSpPr>
            <p:cNvPr id="169" name="">
              <a:extLst xmlns:a="http://schemas.openxmlformats.org/drawingml/2006/main">
                <a:ext uri="{FF2B5EF4-FFF2-40B4-BE49-F238E27FC236}">
                  <a16:creationId xmlns:a16="http://schemas.microsoft.com/office/drawing/2014/main" id="{A220ACED-EFDA-496E-B8DB-93F2AD98C2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52625" y="8524875"/>
              <a:ext cx="371475" cy="381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C5D3E0"/>
            </a:solidFill>
            <a:ln xmlns:a="http://schemas.openxmlformats.org/drawingml/2006/main" w="9525">
              <a:solidFill>
                <a:srgbClr val="C5D3E0"/>
              </a:solidFill>
            </a:ln>
          </p:spPr>
        </p:sp>
        <p:sp>
          <p:nvSpPr>
            <p:cNvPr id="170" name="">
              <a:extLst xmlns:a="http://schemas.openxmlformats.org/drawingml/2006/main">
                <a:ext uri="{FF2B5EF4-FFF2-40B4-BE49-F238E27FC236}">
                  <a16:creationId xmlns:a16="http://schemas.microsoft.com/office/drawing/2014/main" id="{0E60C80C-B71C-4A8C-892A-297789DB49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52625" y="8667750"/>
              <a:ext cx="371475" cy="381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C5D3E0"/>
            </a:solidFill>
            <a:ln xmlns:a="http://schemas.openxmlformats.org/drawingml/2006/main" w="9525">
              <a:solidFill>
                <a:srgbClr val="C5D3E0"/>
              </a:solidFill>
            </a:ln>
          </p:spPr>
        </p:sp>
        <p:sp>
          <p:nvSpPr>
            <p:cNvPr id="171" name="">
              <a:extLst xmlns:a="http://schemas.openxmlformats.org/drawingml/2006/main">
                <a:ext uri="{FF2B5EF4-FFF2-40B4-BE49-F238E27FC236}">
                  <a16:creationId xmlns:a16="http://schemas.microsoft.com/office/drawing/2014/main" id="{2CCA0913-3B37-41FD-AA1B-B965D4FA4A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05075" y="8562975"/>
              <a:ext cx="228600" cy="1619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72" name="">
              <a:extLst xmlns:a="http://schemas.openxmlformats.org/drawingml/2006/main">
                <a:ext uri="{FF2B5EF4-FFF2-40B4-BE49-F238E27FC236}">
                  <a16:creationId xmlns:a16="http://schemas.microsoft.com/office/drawing/2014/main" id="{09CA0C6B-0D9F-41C2-B850-A2D12538AB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76550" y="8286750"/>
              <a:ext cx="666750" cy="704850"/>
            </a:xfrm>
            <a:prstGeom xmlns:a="http://schemas.openxmlformats.org/drawingml/2006/main" prst="roundRect">
              <a:avLst>
                <a:gd name="adj" fmla="val 10000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73" name="">
              <a:extLst xmlns:a="http://schemas.openxmlformats.org/drawingml/2006/main">
                <a:ext uri="{FF2B5EF4-FFF2-40B4-BE49-F238E27FC236}">
                  <a16:creationId xmlns:a16="http://schemas.microsoft.com/office/drawing/2014/main" id="{788284B6-9D3F-418E-AF55-B4AE7ACFAF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14650" y="8334375"/>
              <a:ext cx="590550" cy="600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후속</a:t>
              </a:r>
            </a:p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분석</a:t>
              </a:r>
            </a:p>
          </p:txBody>
        </p:sp>
        <p:sp>
          <p:nvSpPr>
            <p:cNvPr id="174" name="">
              <a:extLst xmlns:a="http://schemas.openxmlformats.org/drawingml/2006/main">
                <a:ext uri="{FF2B5EF4-FFF2-40B4-BE49-F238E27FC236}">
                  <a16:creationId xmlns:a16="http://schemas.microsoft.com/office/drawing/2014/main" id="{E3079F2F-3D12-4300-B60D-3F7B2263A6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9058275"/>
              <a:ext cx="10953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수율 데이터</a:t>
              </a:r>
            </a:p>
          </p:txBody>
        </p:sp>
        <p:sp>
          <p:nvSpPr>
            <p:cNvPr id="175" name="">
              <a:extLst xmlns:a="http://schemas.openxmlformats.org/drawingml/2006/main">
                <a:ext uri="{FF2B5EF4-FFF2-40B4-BE49-F238E27FC236}">
                  <a16:creationId xmlns:a16="http://schemas.microsoft.com/office/drawing/2014/main" id="{EB029366-CB30-4A10-A2EA-1C00D0E6B0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2125" y="9058275"/>
              <a:ext cx="790575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열화 내용</a:t>
              </a:r>
            </a:p>
          </p:txBody>
        </p:sp>
        <p:sp>
          <p:nvSpPr>
            <p:cNvPr id="176" name="">
              <a:extLst xmlns:a="http://schemas.openxmlformats.org/drawingml/2006/main">
                <a:ext uri="{FF2B5EF4-FFF2-40B4-BE49-F238E27FC236}">
                  <a16:creationId xmlns:a16="http://schemas.microsoft.com/office/drawing/2014/main" id="{66E2CDA9-73E9-4259-8B88-CC5B139015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9353550"/>
              <a:ext cx="32004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기간별 수율 확인과 분석 대상 검토를 한 환경에서 수행</a:t>
              </a:r>
            </a:p>
          </p:txBody>
        </p:sp>
        <p:sp>
          <p:nvSpPr>
            <p:cNvPr id="177" name="">
              <a:extLst xmlns:a="http://schemas.openxmlformats.org/drawingml/2006/main">
                <a:ext uri="{FF2B5EF4-FFF2-40B4-BE49-F238E27FC236}">
                  <a16:creationId xmlns:a16="http://schemas.microsoft.com/office/drawing/2014/main" id="{23B6BE8B-1DC5-4D2F-AC16-0012DAAD63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29075" y="7562850"/>
              <a:ext cx="309562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Mining Agent</a:t>
              </a:r>
            </a:p>
          </p:txBody>
        </p:sp>
        <p:sp>
          <p:nvSpPr>
            <p:cNvPr id="178" name="">
              <a:extLst xmlns:a="http://schemas.openxmlformats.org/drawingml/2006/main">
                <a:ext uri="{FF2B5EF4-FFF2-40B4-BE49-F238E27FC236}">
                  <a16:creationId xmlns:a16="http://schemas.microsoft.com/office/drawing/2014/main" id="{151AE2FB-1164-4F74-A124-A14552338A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29075" y="7867650"/>
              <a:ext cx="30956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분류 머신러닝 × Wafer Map</a:t>
              </a:r>
            </a:p>
          </p:txBody>
        </p:sp>
        <p:sp>
          <p:nvSpPr>
            <p:cNvPr id="179" name="">
              <a:extLst xmlns:a="http://schemas.openxmlformats.org/drawingml/2006/main">
                <a:ext uri="{FF2B5EF4-FFF2-40B4-BE49-F238E27FC236}">
                  <a16:creationId xmlns:a16="http://schemas.microsoft.com/office/drawing/2014/main" id="{57D289B3-421E-487C-9545-5F1088B25D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76700" y="8229600"/>
              <a:ext cx="781050" cy="7810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6F9FB"/>
            </a:solidFill>
            <a:ln xmlns:a="http://schemas.openxmlformats.org/drawingml/2006/main" w="12383">
              <a:solidFill>
                <a:srgbClr val="657D94"/>
              </a:solidFill>
            </a:ln>
          </p:spPr>
        </p:sp>
        <p:sp>
          <p:nvSpPr>
            <p:cNvPr id="180" name="">
              <a:extLst xmlns:a="http://schemas.openxmlformats.org/drawingml/2006/main">
                <a:ext uri="{FF2B5EF4-FFF2-40B4-BE49-F238E27FC236}">
                  <a16:creationId xmlns:a16="http://schemas.microsoft.com/office/drawing/2014/main" id="{311BD15D-F82D-48E0-B96D-B53C7A8224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26865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181" name="">
              <a:extLst xmlns:a="http://schemas.openxmlformats.org/drawingml/2006/main">
                <a:ext uri="{FF2B5EF4-FFF2-40B4-BE49-F238E27FC236}">
                  <a16:creationId xmlns:a16="http://schemas.microsoft.com/office/drawing/2014/main" id="{7AF1E747-C74A-4E99-99E5-9E58B9EFCB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26865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82" name="">
              <a:extLst xmlns:a="http://schemas.openxmlformats.org/drawingml/2006/main">
                <a:ext uri="{FF2B5EF4-FFF2-40B4-BE49-F238E27FC236}">
                  <a16:creationId xmlns:a16="http://schemas.microsoft.com/office/drawing/2014/main" id="{A6CD0B49-782B-41F9-94DF-66D4FA2AB1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26865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83" name="">
              <a:extLst xmlns:a="http://schemas.openxmlformats.org/drawingml/2006/main">
                <a:ext uri="{FF2B5EF4-FFF2-40B4-BE49-F238E27FC236}">
                  <a16:creationId xmlns:a16="http://schemas.microsoft.com/office/drawing/2014/main" id="{69EE50FC-ADF7-4D72-AC41-264540DC8F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3858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84" name="">
              <a:extLst xmlns:a="http://schemas.openxmlformats.org/drawingml/2006/main">
                <a:ext uri="{FF2B5EF4-FFF2-40B4-BE49-F238E27FC236}">
                  <a16:creationId xmlns:a16="http://schemas.microsoft.com/office/drawing/2014/main" id="{9043A111-3D77-492E-ADB9-F2B9756629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1963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185" name="">
              <a:extLst xmlns:a="http://schemas.openxmlformats.org/drawingml/2006/main">
                <a:ext uri="{FF2B5EF4-FFF2-40B4-BE49-F238E27FC236}">
                  <a16:creationId xmlns:a16="http://schemas.microsoft.com/office/drawing/2014/main" id="{F2D567FB-8014-4042-A74E-A1B6898E14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86" name="">
              <a:extLst xmlns:a="http://schemas.openxmlformats.org/drawingml/2006/main">
                <a:ext uri="{FF2B5EF4-FFF2-40B4-BE49-F238E27FC236}">
                  <a16:creationId xmlns:a16="http://schemas.microsoft.com/office/drawing/2014/main" id="{D6AFCF47-2E80-4C4A-9649-E170B998D4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87" name="">
              <a:extLst xmlns:a="http://schemas.openxmlformats.org/drawingml/2006/main">
                <a:ext uri="{FF2B5EF4-FFF2-40B4-BE49-F238E27FC236}">
                  <a16:creationId xmlns:a16="http://schemas.microsoft.com/office/drawing/2014/main" id="{E6519B3D-6386-411C-9D28-A5EB0BFF72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188" name="">
              <a:extLst xmlns:a="http://schemas.openxmlformats.org/drawingml/2006/main">
                <a:ext uri="{FF2B5EF4-FFF2-40B4-BE49-F238E27FC236}">
                  <a16:creationId xmlns:a16="http://schemas.microsoft.com/office/drawing/2014/main" id="{1A114696-5AAA-4CDC-8750-BF8C261278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84383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89" name="">
              <a:extLst xmlns:a="http://schemas.openxmlformats.org/drawingml/2006/main">
                <a:ext uri="{FF2B5EF4-FFF2-40B4-BE49-F238E27FC236}">
                  <a16:creationId xmlns:a16="http://schemas.microsoft.com/office/drawing/2014/main" id="{40742ED6-7EC8-4DE1-B37E-63787B4748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2488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90" name="">
              <a:extLst xmlns:a="http://schemas.openxmlformats.org/drawingml/2006/main">
                <a:ext uri="{FF2B5EF4-FFF2-40B4-BE49-F238E27FC236}">
                  <a16:creationId xmlns:a16="http://schemas.microsoft.com/office/drawing/2014/main" id="{322E224A-A798-4F80-AC0E-4B6ECAF23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3858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191" name="">
              <a:extLst xmlns:a="http://schemas.openxmlformats.org/drawingml/2006/main">
                <a:ext uri="{FF2B5EF4-FFF2-40B4-BE49-F238E27FC236}">
                  <a16:creationId xmlns:a16="http://schemas.microsoft.com/office/drawing/2014/main" id="{CD7FD4B2-2BA5-4187-9B8D-04DD9AFE3C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1963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92" name="">
              <a:extLst xmlns:a="http://schemas.openxmlformats.org/drawingml/2006/main">
                <a:ext uri="{FF2B5EF4-FFF2-40B4-BE49-F238E27FC236}">
                  <a16:creationId xmlns:a16="http://schemas.microsoft.com/office/drawing/2014/main" id="{6F1A9AD6-8675-41CA-B94A-79CCEE6F40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93" name="">
              <a:extLst xmlns:a="http://schemas.openxmlformats.org/drawingml/2006/main">
                <a:ext uri="{FF2B5EF4-FFF2-40B4-BE49-F238E27FC236}">
                  <a16:creationId xmlns:a16="http://schemas.microsoft.com/office/drawing/2014/main" id="{DCF92FAB-A5DE-4FC5-86BF-3E10C490B6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194" name="">
              <a:extLst xmlns:a="http://schemas.openxmlformats.org/drawingml/2006/main">
                <a:ext uri="{FF2B5EF4-FFF2-40B4-BE49-F238E27FC236}">
                  <a16:creationId xmlns:a16="http://schemas.microsoft.com/office/drawing/2014/main" id="{25D3F028-FFD7-41B7-9E53-70F4D983EF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95" name="">
              <a:extLst xmlns:a="http://schemas.openxmlformats.org/drawingml/2006/main">
                <a:ext uri="{FF2B5EF4-FFF2-40B4-BE49-F238E27FC236}">
                  <a16:creationId xmlns:a16="http://schemas.microsoft.com/office/drawing/2014/main" id="{38896B30-FF35-4675-AAD8-C3BC05F4CA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84383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96" name="">
              <a:extLst xmlns:a="http://schemas.openxmlformats.org/drawingml/2006/main">
                <a:ext uri="{FF2B5EF4-FFF2-40B4-BE49-F238E27FC236}">
                  <a16:creationId xmlns:a16="http://schemas.microsoft.com/office/drawing/2014/main" id="{3ACF20BB-FD0A-437D-9EFC-03F1230AA6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2488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197" name="">
              <a:extLst xmlns:a="http://schemas.openxmlformats.org/drawingml/2006/main">
                <a:ext uri="{FF2B5EF4-FFF2-40B4-BE49-F238E27FC236}">
                  <a16:creationId xmlns:a16="http://schemas.microsoft.com/office/drawing/2014/main" id="{9D5DDBD6-53A1-4515-8159-0F62253096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1575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198" name="">
              <a:extLst xmlns:a="http://schemas.openxmlformats.org/drawingml/2006/main">
                <a:ext uri="{FF2B5EF4-FFF2-40B4-BE49-F238E27FC236}">
                  <a16:creationId xmlns:a16="http://schemas.microsoft.com/office/drawing/2014/main" id="{9680DA85-8B1E-4717-AAD4-AAD439BC78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3858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199" name="">
              <a:extLst xmlns:a="http://schemas.openxmlformats.org/drawingml/2006/main">
                <a:ext uri="{FF2B5EF4-FFF2-40B4-BE49-F238E27FC236}">
                  <a16:creationId xmlns:a16="http://schemas.microsoft.com/office/drawing/2014/main" id="{AEDEA112-9B9C-4511-A2D8-32E6EB8E56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196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00" name="">
              <a:extLst xmlns:a="http://schemas.openxmlformats.org/drawingml/2006/main">
                <a:ext uri="{FF2B5EF4-FFF2-40B4-BE49-F238E27FC236}">
                  <a16:creationId xmlns:a16="http://schemas.microsoft.com/office/drawing/2014/main" id="{5BA463F3-18AA-4E93-9577-166214C949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01" name="">
              <a:extLst xmlns:a="http://schemas.openxmlformats.org/drawingml/2006/main">
                <a:ext uri="{FF2B5EF4-FFF2-40B4-BE49-F238E27FC236}">
                  <a16:creationId xmlns:a16="http://schemas.microsoft.com/office/drawing/2014/main" id="{CAC92990-3104-4C9F-A285-A1AFD98013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02" name="">
              <a:extLst xmlns:a="http://schemas.openxmlformats.org/drawingml/2006/main">
                <a:ext uri="{FF2B5EF4-FFF2-40B4-BE49-F238E27FC236}">
                  <a16:creationId xmlns:a16="http://schemas.microsoft.com/office/drawing/2014/main" id="{6A57BCA0-ACC1-4B43-96A9-86FB50CE41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03" name="">
              <a:extLst xmlns:a="http://schemas.openxmlformats.org/drawingml/2006/main">
                <a:ext uri="{FF2B5EF4-FFF2-40B4-BE49-F238E27FC236}">
                  <a16:creationId xmlns:a16="http://schemas.microsoft.com/office/drawing/2014/main" id="{0E42F7BD-8E79-4B59-8500-C852EFD82E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8438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04" name="">
              <a:extLst xmlns:a="http://schemas.openxmlformats.org/drawingml/2006/main">
                <a:ext uri="{FF2B5EF4-FFF2-40B4-BE49-F238E27FC236}">
                  <a16:creationId xmlns:a16="http://schemas.microsoft.com/office/drawing/2014/main" id="{D9A6DD28-FC41-4028-99F5-A1B372DB0D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2488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05" name="">
              <a:extLst xmlns:a="http://schemas.openxmlformats.org/drawingml/2006/main">
                <a:ext uri="{FF2B5EF4-FFF2-40B4-BE49-F238E27FC236}">
                  <a16:creationId xmlns:a16="http://schemas.microsoft.com/office/drawing/2014/main" id="{14DA75B8-522A-40B0-A3D9-1890F6578E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059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06" name="">
              <a:extLst xmlns:a="http://schemas.openxmlformats.org/drawingml/2006/main">
                <a:ext uri="{FF2B5EF4-FFF2-40B4-BE49-F238E27FC236}">
                  <a16:creationId xmlns:a16="http://schemas.microsoft.com/office/drawing/2014/main" id="{F2CD9B9F-239C-4308-8866-554D8EFDB0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1575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07" name="">
              <a:extLst xmlns:a="http://schemas.openxmlformats.org/drawingml/2006/main">
                <a:ext uri="{FF2B5EF4-FFF2-40B4-BE49-F238E27FC236}">
                  <a16:creationId xmlns:a16="http://schemas.microsoft.com/office/drawing/2014/main" id="{11C01E8E-AD05-4878-8767-8B658B8067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3858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08" name="">
              <a:extLst xmlns:a="http://schemas.openxmlformats.org/drawingml/2006/main">
                <a:ext uri="{FF2B5EF4-FFF2-40B4-BE49-F238E27FC236}">
                  <a16:creationId xmlns:a16="http://schemas.microsoft.com/office/drawing/2014/main" id="{45896105-C162-4B70-9999-A12E010B4D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196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09" name="">
              <a:extLst xmlns:a="http://schemas.openxmlformats.org/drawingml/2006/main">
                <a:ext uri="{FF2B5EF4-FFF2-40B4-BE49-F238E27FC236}">
                  <a16:creationId xmlns:a16="http://schemas.microsoft.com/office/drawing/2014/main" id="{6A6E2EBC-26AB-457E-92A8-92A1C45F0E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10" name="">
              <a:extLst xmlns:a="http://schemas.openxmlformats.org/drawingml/2006/main">
                <a:ext uri="{FF2B5EF4-FFF2-40B4-BE49-F238E27FC236}">
                  <a16:creationId xmlns:a16="http://schemas.microsoft.com/office/drawing/2014/main" id="{69264D43-3F60-4D29-BF83-310C13E1F9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11" name="">
              <a:extLst xmlns:a="http://schemas.openxmlformats.org/drawingml/2006/main">
                <a:ext uri="{FF2B5EF4-FFF2-40B4-BE49-F238E27FC236}">
                  <a16:creationId xmlns:a16="http://schemas.microsoft.com/office/drawing/2014/main" id="{9947C2CD-A7B2-450B-B318-E9D29535EE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12" name="">
              <a:extLst xmlns:a="http://schemas.openxmlformats.org/drawingml/2006/main">
                <a:ext uri="{FF2B5EF4-FFF2-40B4-BE49-F238E27FC236}">
                  <a16:creationId xmlns:a16="http://schemas.microsoft.com/office/drawing/2014/main" id="{99DBD694-8274-4649-9052-9CC81895EC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8438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13" name="">
              <a:extLst xmlns:a="http://schemas.openxmlformats.org/drawingml/2006/main">
                <a:ext uri="{FF2B5EF4-FFF2-40B4-BE49-F238E27FC236}">
                  <a16:creationId xmlns:a16="http://schemas.microsoft.com/office/drawing/2014/main" id="{5822045F-61D2-4132-9B01-CD8E025420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2488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14" name="">
              <a:extLst xmlns:a="http://schemas.openxmlformats.org/drawingml/2006/main">
                <a:ext uri="{FF2B5EF4-FFF2-40B4-BE49-F238E27FC236}">
                  <a16:creationId xmlns:a16="http://schemas.microsoft.com/office/drawing/2014/main" id="{BB971D76-7907-4129-8D0C-77D59F1A7E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059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15" name="">
              <a:extLst xmlns:a="http://schemas.openxmlformats.org/drawingml/2006/main">
                <a:ext uri="{FF2B5EF4-FFF2-40B4-BE49-F238E27FC236}">
                  <a16:creationId xmlns:a16="http://schemas.microsoft.com/office/drawing/2014/main" id="{8D9BF89A-0507-489C-8895-EB1B732B40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1575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16" name="">
              <a:extLst xmlns:a="http://schemas.openxmlformats.org/drawingml/2006/main">
                <a:ext uri="{FF2B5EF4-FFF2-40B4-BE49-F238E27FC236}">
                  <a16:creationId xmlns:a16="http://schemas.microsoft.com/office/drawing/2014/main" id="{B487C90E-C365-40FD-8BD0-202117E6DD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3858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17" name="">
              <a:extLst xmlns:a="http://schemas.openxmlformats.org/drawingml/2006/main">
                <a:ext uri="{FF2B5EF4-FFF2-40B4-BE49-F238E27FC236}">
                  <a16:creationId xmlns:a16="http://schemas.microsoft.com/office/drawing/2014/main" id="{58934424-59FB-4B91-BABC-8F4B6886EF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196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18" name="">
              <a:extLst xmlns:a="http://schemas.openxmlformats.org/drawingml/2006/main">
                <a:ext uri="{FF2B5EF4-FFF2-40B4-BE49-F238E27FC236}">
                  <a16:creationId xmlns:a16="http://schemas.microsoft.com/office/drawing/2014/main" id="{B25516C8-FF15-4923-AB1D-BD3E881E0F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19" name="">
              <a:extLst xmlns:a="http://schemas.openxmlformats.org/drawingml/2006/main">
                <a:ext uri="{FF2B5EF4-FFF2-40B4-BE49-F238E27FC236}">
                  <a16:creationId xmlns:a16="http://schemas.microsoft.com/office/drawing/2014/main" id="{EF857EAC-9B1C-451C-91F5-F0120B2D3B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20" name="">
              <a:extLst xmlns:a="http://schemas.openxmlformats.org/drawingml/2006/main">
                <a:ext uri="{FF2B5EF4-FFF2-40B4-BE49-F238E27FC236}">
                  <a16:creationId xmlns:a16="http://schemas.microsoft.com/office/drawing/2014/main" id="{27B35A8C-62DA-471E-8870-A65CAA615E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21" name="">
              <a:extLst xmlns:a="http://schemas.openxmlformats.org/drawingml/2006/main">
                <a:ext uri="{FF2B5EF4-FFF2-40B4-BE49-F238E27FC236}">
                  <a16:creationId xmlns:a16="http://schemas.microsoft.com/office/drawing/2014/main" id="{9CCAF877-2DCD-4496-B338-175E870E1C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8438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22" name="">
              <a:extLst xmlns:a="http://schemas.openxmlformats.org/drawingml/2006/main">
                <a:ext uri="{FF2B5EF4-FFF2-40B4-BE49-F238E27FC236}">
                  <a16:creationId xmlns:a16="http://schemas.microsoft.com/office/drawing/2014/main" id="{B0D6E06F-70A5-43FA-97B5-7BB277CCA7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2488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23" name="">
              <a:extLst xmlns:a="http://schemas.openxmlformats.org/drawingml/2006/main">
                <a:ext uri="{FF2B5EF4-FFF2-40B4-BE49-F238E27FC236}">
                  <a16:creationId xmlns:a16="http://schemas.microsoft.com/office/drawing/2014/main" id="{310921B9-14D8-4C6B-A907-95F6FFD6E3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059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24" name="">
              <a:extLst xmlns:a="http://schemas.openxmlformats.org/drawingml/2006/main">
                <a:ext uri="{FF2B5EF4-FFF2-40B4-BE49-F238E27FC236}">
                  <a16:creationId xmlns:a16="http://schemas.microsoft.com/office/drawing/2014/main" id="{827702B5-4489-44FD-AE0A-5AEDFE0D2E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3858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25" name="">
              <a:extLst xmlns:a="http://schemas.openxmlformats.org/drawingml/2006/main">
                <a:ext uri="{FF2B5EF4-FFF2-40B4-BE49-F238E27FC236}">
                  <a16:creationId xmlns:a16="http://schemas.microsoft.com/office/drawing/2014/main" id="{A86F9171-1052-408A-B7E5-74B8C15644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1963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26" name="">
              <a:extLst xmlns:a="http://schemas.openxmlformats.org/drawingml/2006/main">
                <a:ext uri="{FF2B5EF4-FFF2-40B4-BE49-F238E27FC236}">
                  <a16:creationId xmlns:a16="http://schemas.microsoft.com/office/drawing/2014/main" id="{AC58639E-4690-4B48-A32B-9211AA8D58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27" name="">
              <a:extLst xmlns:a="http://schemas.openxmlformats.org/drawingml/2006/main">
                <a:ext uri="{FF2B5EF4-FFF2-40B4-BE49-F238E27FC236}">
                  <a16:creationId xmlns:a16="http://schemas.microsoft.com/office/drawing/2014/main" id="{868B48F8-B69F-440C-9361-D78E405EE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28" name="">
              <a:extLst xmlns:a="http://schemas.openxmlformats.org/drawingml/2006/main">
                <a:ext uri="{FF2B5EF4-FFF2-40B4-BE49-F238E27FC236}">
                  <a16:creationId xmlns:a16="http://schemas.microsoft.com/office/drawing/2014/main" id="{A0177841-6D37-4B6E-AFF3-FEC7F7EBC1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29" name="">
              <a:extLst xmlns:a="http://schemas.openxmlformats.org/drawingml/2006/main">
                <a:ext uri="{FF2B5EF4-FFF2-40B4-BE49-F238E27FC236}">
                  <a16:creationId xmlns:a16="http://schemas.microsoft.com/office/drawing/2014/main" id="{13CC4CFA-BBE0-43B0-8C44-B18C51EB69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84383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30" name="">
              <a:extLst xmlns:a="http://schemas.openxmlformats.org/drawingml/2006/main">
                <a:ext uri="{FF2B5EF4-FFF2-40B4-BE49-F238E27FC236}">
                  <a16:creationId xmlns:a16="http://schemas.microsoft.com/office/drawing/2014/main" id="{B30B715E-9E84-4C39-9025-2C8A92F91A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2488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31" name="">
              <a:extLst xmlns:a="http://schemas.openxmlformats.org/drawingml/2006/main">
                <a:ext uri="{FF2B5EF4-FFF2-40B4-BE49-F238E27FC236}">
                  <a16:creationId xmlns:a16="http://schemas.microsoft.com/office/drawing/2014/main" id="{A8D2A721-AC3A-406B-8256-A5C1282473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3858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32" name="">
              <a:extLst xmlns:a="http://schemas.openxmlformats.org/drawingml/2006/main">
                <a:ext uri="{FF2B5EF4-FFF2-40B4-BE49-F238E27FC236}">
                  <a16:creationId xmlns:a16="http://schemas.microsoft.com/office/drawing/2014/main" id="{EBA05917-479C-4602-9C36-890318B8D1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1963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33" name="">
              <a:extLst xmlns:a="http://schemas.openxmlformats.org/drawingml/2006/main">
                <a:ext uri="{FF2B5EF4-FFF2-40B4-BE49-F238E27FC236}">
                  <a16:creationId xmlns:a16="http://schemas.microsoft.com/office/drawing/2014/main" id="{731018A4-91B3-4EB7-98C6-145CA4238F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34" name="">
              <a:extLst xmlns:a="http://schemas.openxmlformats.org/drawingml/2006/main">
                <a:ext uri="{FF2B5EF4-FFF2-40B4-BE49-F238E27FC236}">
                  <a16:creationId xmlns:a16="http://schemas.microsoft.com/office/drawing/2014/main" id="{2F89BCEE-78B0-402E-87A5-A17D4341F7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35" name="">
              <a:extLst xmlns:a="http://schemas.openxmlformats.org/drawingml/2006/main">
                <a:ext uri="{FF2B5EF4-FFF2-40B4-BE49-F238E27FC236}">
                  <a16:creationId xmlns:a16="http://schemas.microsoft.com/office/drawing/2014/main" id="{C6E4B3EA-AF8A-4707-AAF6-C2B8DC1702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36" name="">
              <a:extLst xmlns:a="http://schemas.openxmlformats.org/drawingml/2006/main">
                <a:ext uri="{FF2B5EF4-FFF2-40B4-BE49-F238E27FC236}">
                  <a16:creationId xmlns:a16="http://schemas.microsoft.com/office/drawing/2014/main" id="{69210839-CBF2-4687-99F1-9DFE3895CD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84383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37" name="">
              <a:extLst xmlns:a="http://schemas.openxmlformats.org/drawingml/2006/main">
                <a:ext uri="{FF2B5EF4-FFF2-40B4-BE49-F238E27FC236}">
                  <a16:creationId xmlns:a16="http://schemas.microsoft.com/office/drawing/2014/main" id="{476E9DA2-F691-4C3F-812C-3A882B6759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2488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38" name="">
              <a:extLst xmlns:a="http://schemas.openxmlformats.org/drawingml/2006/main">
                <a:ext uri="{FF2B5EF4-FFF2-40B4-BE49-F238E27FC236}">
                  <a16:creationId xmlns:a16="http://schemas.microsoft.com/office/drawing/2014/main" id="{435BCD52-D4E8-40DD-95E9-5F557B370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50068" y="889349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39" name="">
              <a:extLst xmlns:a="http://schemas.openxmlformats.org/drawingml/2006/main">
                <a:ext uri="{FF2B5EF4-FFF2-40B4-BE49-F238E27FC236}">
                  <a16:creationId xmlns:a16="http://schemas.microsoft.com/office/drawing/2014/main" id="{4B0103C5-63EB-45C3-AC31-8E206B706F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8173" y="889349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40" name="">
              <a:extLst xmlns:a="http://schemas.openxmlformats.org/drawingml/2006/main">
                <a:ext uri="{FF2B5EF4-FFF2-40B4-BE49-F238E27FC236}">
                  <a16:creationId xmlns:a16="http://schemas.microsoft.com/office/drawing/2014/main" id="{10F86C5F-E71E-47C5-933A-217A54CA5F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278" y="889349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41" name="">
              <a:extLst xmlns:a="http://schemas.openxmlformats.org/drawingml/2006/main">
                <a:ext uri="{FF2B5EF4-FFF2-40B4-BE49-F238E27FC236}">
                  <a16:creationId xmlns:a16="http://schemas.microsoft.com/office/drawing/2014/main" id="{9F85FCD7-9C95-4A14-8878-5FB0535A28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0" y="8543925"/>
              <a:ext cx="209550" cy="1619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242" name="">
              <a:extLst xmlns:a="http://schemas.openxmlformats.org/drawingml/2006/main">
                <a:ext uri="{FF2B5EF4-FFF2-40B4-BE49-F238E27FC236}">
                  <a16:creationId xmlns:a16="http://schemas.microsoft.com/office/drawing/2014/main" id="{D3E71B09-B52A-4D68-B52C-294125AF89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6850" y="8353425"/>
              <a:ext cx="619125" cy="523875"/>
            </a:xfrm>
            <a:prstGeom xmlns:a="http://schemas.openxmlformats.org/drawingml/2006/main" prst="roundRect">
              <a:avLst>
                <a:gd name="adj" fmla="val 12727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243" name="">
              <a:extLst xmlns:a="http://schemas.openxmlformats.org/drawingml/2006/main">
                <a:ext uri="{FF2B5EF4-FFF2-40B4-BE49-F238E27FC236}">
                  <a16:creationId xmlns:a16="http://schemas.microsoft.com/office/drawing/2014/main" id="{64AEE87E-3423-4C0D-A096-42843859C9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950" y="8372475"/>
              <a:ext cx="542925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유사</a:t>
              </a:r>
            </a:p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양상</a:t>
              </a:r>
            </a:p>
          </p:txBody>
        </p:sp>
        <p:sp>
          <p:nvSpPr>
            <p:cNvPr id="244" name="">
              <a:extLst xmlns:a="http://schemas.openxmlformats.org/drawingml/2006/main">
                <a:ext uri="{FF2B5EF4-FFF2-40B4-BE49-F238E27FC236}">
                  <a16:creationId xmlns:a16="http://schemas.microsoft.com/office/drawing/2014/main" id="{586F7273-2E01-4506-B468-302E9E4CF5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1700" y="8543925"/>
              <a:ext cx="209550" cy="1619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245" name="">
              <a:extLst xmlns:a="http://schemas.openxmlformats.org/drawingml/2006/main">
                <a:ext uri="{FF2B5EF4-FFF2-40B4-BE49-F238E27FC236}">
                  <a16:creationId xmlns:a16="http://schemas.microsoft.com/office/drawing/2014/main" id="{43C8A270-6F78-46A7-93D6-BCF40FA171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6500" y="8229600"/>
              <a:ext cx="781050" cy="7810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6F9FB"/>
            </a:solidFill>
            <a:ln xmlns:a="http://schemas.openxmlformats.org/drawingml/2006/main" w="12383">
              <a:solidFill>
                <a:srgbClr val="657D94"/>
              </a:solidFill>
            </a:ln>
          </p:spPr>
        </p:sp>
        <p:sp>
          <p:nvSpPr>
            <p:cNvPr id="246" name="">
              <a:extLst xmlns:a="http://schemas.openxmlformats.org/drawingml/2006/main">
                <a:ext uri="{FF2B5EF4-FFF2-40B4-BE49-F238E27FC236}">
                  <a16:creationId xmlns:a16="http://schemas.microsoft.com/office/drawing/2014/main" id="{347A8DA1-8EDC-42D0-BE83-156D930219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26865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47" name="">
              <a:extLst xmlns:a="http://schemas.openxmlformats.org/drawingml/2006/main">
                <a:ext uri="{FF2B5EF4-FFF2-40B4-BE49-F238E27FC236}">
                  <a16:creationId xmlns:a16="http://schemas.microsoft.com/office/drawing/2014/main" id="{87A49062-CCB9-4C53-9112-9D97BED06E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26865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48" name="">
              <a:extLst xmlns:a="http://schemas.openxmlformats.org/drawingml/2006/main">
                <a:ext uri="{FF2B5EF4-FFF2-40B4-BE49-F238E27FC236}">
                  <a16:creationId xmlns:a16="http://schemas.microsoft.com/office/drawing/2014/main" id="{394C9967-4F2A-4471-8699-EF6DED07E0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26865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49" name="">
              <a:extLst xmlns:a="http://schemas.openxmlformats.org/drawingml/2006/main">
                <a:ext uri="{FF2B5EF4-FFF2-40B4-BE49-F238E27FC236}">
                  <a16:creationId xmlns:a16="http://schemas.microsoft.com/office/drawing/2014/main" id="{DB82EBA6-2EA0-4820-B53C-E081CF0959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3658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50" name="">
              <a:extLst xmlns:a="http://schemas.openxmlformats.org/drawingml/2006/main">
                <a:ext uri="{FF2B5EF4-FFF2-40B4-BE49-F238E27FC236}">
                  <a16:creationId xmlns:a16="http://schemas.microsoft.com/office/drawing/2014/main" id="{A42023FC-EC1F-4A1A-B5CD-39D0A105D2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1763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51" name="">
              <a:extLst xmlns:a="http://schemas.openxmlformats.org/drawingml/2006/main">
                <a:ext uri="{FF2B5EF4-FFF2-40B4-BE49-F238E27FC236}">
                  <a16:creationId xmlns:a16="http://schemas.microsoft.com/office/drawing/2014/main" id="{EEA9649D-1463-4633-AA0E-AF6D52585F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52" name="">
              <a:extLst xmlns:a="http://schemas.openxmlformats.org/drawingml/2006/main">
                <a:ext uri="{FF2B5EF4-FFF2-40B4-BE49-F238E27FC236}">
                  <a16:creationId xmlns:a16="http://schemas.microsoft.com/office/drawing/2014/main" id="{3C572725-F6CA-4B0D-A797-D59453C4AE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53" name="">
              <a:extLst xmlns:a="http://schemas.openxmlformats.org/drawingml/2006/main">
                <a:ext uri="{FF2B5EF4-FFF2-40B4-BE49-F238E27FC236}">
                  <a16:creationId xmlns:a16="http://schemas.microsoft.com/office/drawing/2014/main" id="{782DDE89-BB06-4AFF-BF7C-21A8691124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54" name="">
              <a:extLst xmlns:a="http://schemas.openxmlformats.org/drawingml/2006/main">
                <a:ext uri="{FF2B5EF4-FFF2-40B4-BE49-F238E27FC236}">
                  <a16:creationId xmlns:a16="http://schemas.microsoft.com/office/drawing/2014/main" id="{27188CB1-F2BD-4491-B7B7-C2B050ACDD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4183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55" name="">
              <a:extLst xmlns:a="http://schemas.openxmlformats.org/drawingml/2006/main">
                <a:ext uri="{FF2B5EF4-FFF2-40B4-BE49-F238E27FC236}">
                  <a16:creationId xmlns:a16="http://schemas.microsoft.com/office/drawing/2014/main" id="{D1A2864E-10C2-4CB1-BB3B-21A77CE83B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72288" y="834675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56" name="">
              <a:extLst xmlns:a="http://schemas.openxmlformats.org/drawingml/2006/main">
                <a:ext uri="{FF2B5EF4-FFF2-40B4-BE49-F238E27FC236}">
                  <a16:creationId xmlns:a16="http://schemas.microsoft.com/office/drawing/2014/main" id="{2862E70B-0472-4569-9E07-5EA87E62AB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3658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57" name="">
              <a:extLst xmlns:a="http://schemas.openxmlformats.org/drawingml/2006/main">
                <a:ext uri="{FF2B5EF4-FFF2-40B4-BE49-F238E27FC236}">
                  <a16:creationId xmlns:a16="http://schemas.microsoft.com/office/drawing/2014/main" id="{E0A0A91D-317A-473C-A634-F02FED8877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1763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58" name="">
              <a:extLst xmlns:a="http://schemas.openxmlformats.org/drawingml/2006/main">
                <a:ext uri="{FF2B5EF4-FFF2-40B4-BE49-F238E27FC236}">
                  <a16:creationId xmlns:a16="http://schemas.microsoft.com/office/drawing/2014/main" id="{3E167EF6-C127-409E-9768-737E357657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59" name="">
              <a:extLst xmlns:a="http://schemas.openxmlformats.org/drawingml/2006/main">
                <a:ext uri="{FF2B5EF4-FFF2-40B4-BE49-F238E27FC236}">
                  <a16:creationId xmlns:a16="http://schemas.microsoft.com/office/drawing/2014/main" id="{01FA22E0-1EE6-4F84-836B-A0DBEE5FA2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60" name="">
              <a:extLst xmlns:a="http://schemas.openxmlformats.org/drawingml/2006/main">
                <a:ext uri="{FF2B5EF4-FFF2-40B4-BE49-F238E27FC236}">
                  <a16:creationId xmlns:a16="http://schemas.microsoft.com/office/drawing/2014/main" id="{DEFB457B-859D-4DB2-B014-5507666BF0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61" name="">
              <a:extLst xmlns:a="http://schemas.openxmlformats.org/drawingml/2006/main">
                <a:ext uri="{FF2B5EF4-FFF2-40B4-BE49-F238E27FC236}">
                  <a16:creationId xmlns:a16="http://schemas.microsoft.com/office/drawing/2014/main" id="{0224DF9A-5F7B-4B1D-BFDC-7877B05CF5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4183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62" name="">
              <a:extLst xmlns:a="http://schemas.openxmlformats.org/drawingml/2006/main">
                <a:ext uri="{FF2B5EF4-FFF2-40B4-BE49-F238E27FC236}">
                  <a16:creationId xmlns:a16="http://schemas.microsoft.com/office/drawing/2014/main" id="{C47D4F6F-4755-4DB5-B751-E094C08004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72288" y="842486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63" name="">
              <a:extLst xmlns:a="http://schemas.openxmlformats.org/drawingml/2006/main">
                <a:ext uri="{FF2B5EF4-FFF2-40B4-BE49-F238E27FC236}">
                  <a16:creationId xmlns:a16="http://schemas.microsoft.com/office/drawing/2014/main" id="{A88B2C90-E238-41B2-A3ED-6C0DA0E9AF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2555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64" name="">
              <a:extLst xmlns:a="http://schemas.openxmlformats.org/drawingml/2006/main">
                <a:ext uri="{FF2B5EF4-FFF2-40B4-BE49-F238E27FC236}">
                  <a16:creationId xmlns:a16="http://schemas.microsoft.com/office/drawing/2014/main" id="{DAFDD8B0-A9D2-45A7-8B65-D8C4E5EFAC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3658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65" name="">
              <a:extLst xmlns:a="http://schemas.openxmlformats.org/drawingml/2006/main">
                <a:ext uri="{FF2B5EF4-FFF2-40B4-BE49-F238E27FC236}">
                  <a16:creationId xmlns:a16="http://schemas.microsoft.com/office/drawing/2014/main" id="{F03D2CBB-DBA9-417D-82F6-13FFEAD3C0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176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66" name="">
              <a:extLst xmlns:a="http://schemas.openxmlformats.org/drawingml/2006/main">
                <a:ext uri="{FF2B5EF4-FFF2-40B4-BE49-F238E27FC236}">
                  <a16:creationId xmlns:a16="http://schemas.microsoft.com/office/drawing/2014/main" id="{1782EAE5-CD18-45AB-AF1F-36A0ACB605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67" name="">
              <a:extLst xmlns:a="http://schemas.openxmlformats.org/drawingml/2006/main">
                <a:ext uri="{FF2B5EF4-FFF2-40B4-BE49-F238E27FC236}">
                  <a16:creationId xmlns:a16="http://schemas.microsoft.com/office/drawing/2014/main" id="{DFDF906E-2247-4731-9B47-C6177E5784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68" name="">
              <a:extLst xmlns:a="http://schemas.openxmlformats.org/drawingml/2006/main">
                <a:ext uri="{FF2B5EF4-FFF2-40B4-BE49-F238E27FC236}">
                  <a16:creationId xmlns:a16="http://schemas.microsoft.com/office/drawing/2014/main" id="{14D249A9-DFB4-47B0-B501-98FBB218ED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69" name="">
              <a:extLst xmlns:a="http://schemas.openxmlformats.org/drawingml/2006/main">
                <a:ext uri="{FF2B5EF4-FFF2-40B4-BE49-F238E27FC236}">
                  <a16:creationId xmlns:a16="http://schemas.microsoft.com/office/drawing/2014/main" id="{C4E8521D-7637-4ED8-8804-86AE726051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418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70" name="">
              <a:extLst xmlns:a="http://schemas.openxmlformats.org/drawingml/2006/main">
                <a:ext uri="{FF2B5EF4-FFF2-40B4-BE49-F238E27FC236}">
                  <a16:creationId xmlns:a16="http://schemas.microsoft.com/office/drawing/2014/main" id="{6441A5AF-650E-410F-AE22-733836C113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72288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71" name="">
              <a:extLst xmlns:a="http://schemas.openxmlformats.org/drawingml/2006/main">
                <a:ext uri="{FF2B5EF4-FFF2-40B4-BE49-F238E27FC236}">
                  <a16:creationId xmlns:a16="http://schemas.microsoft.com/office/drawing/2014/main" id="{686E1290-2FEF-4D90-B7EA-6726064B39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0393" y="850296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72" name="">
              <a:extLst xmlns:a="http://schemas.openxmlformats.org/drawingml/2006/main">
                <a:ext uri="{FF2B5EF4-FFF2-40B4-BE49-F238E27FC236}">
                  <a16:creationId xmlns:a16="http://schemas.microsoft.com/office/drawing/2014/main" id="{27055BAE-2A2B-46B6-99C5-58FFFD7E11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2555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73" name="">
              <a:extLst xmlns:a="http://schemas.openxmlformats.org/drawingml/2006/main">
                <a:ext uri="{FF2B5EF4-FFF2-40B4-BE49-F238E27FC236}">
                  <a16:creationId xmlns:a16="http://schemas.microsoft.com/office/drawing/2014/main" id="{41E9A84B-BF8A-4746-BFE8-478C0D64CA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3658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74" name="">
              <a:extLst xmlns:a="http://schemas.openxmlformats.org/drawingml/2006/main">
                <a:ext uri="{FF2B5EF4-FFF2-40B4-BE49-F238E27FC236}">
                  <a16:creationId xmlns:a16="http://schemas.microsoft.com/office/drawing/2014/main" id="{F5837BA4-3B54-4953-8512-EC22E3DA62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176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75" name="">
              <a:extLst xmlns:a="http://schemas.openxmlformats.org/drawingml/2006/main">
                <a:ext uri="{FF2B5EF4-FFF2-40B4-BE49-F238E27FC236}">
                  <a16:creationId xmlns:a16="http://schemas.microsoft.com/office/drawing/2014/main" id="{90A97ABB-7AFB-46CF-9AAC-EDDDB41A1C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76" name="">
              <a:extLst xmlns:a="http://schemas.openxmlformats.org/drawingml/2006/main">
                <a:ext uri="{FF2B5EF4-FFF2-40B4-BE49-F238E27FC236}">
                  <a16:creationId xmlns:a16="http://schemas.microsoft.com/office/drawing/2014/main" id="{98BFD3A6-220C-48CE-B4C1-789868EDC7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77" name="">
              <a:extLst xmlns:a="http://schemas.openxmlformats.org/drawingml/2006/main">
                <a:ext uri="{FF2B5EF4-FFF2-40B4-BE49-F238E27FC236}">
                  <a16:creationId xmlns:a16="http://schemas.microsoft.com/office/drawing/2014/main" id="{8A508B91-0E9B-4381-A6AB-9B3592EA7D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78" name="">
              <a:extLst xmlns:a="http://schemas.openxmlformats.org/drawingml/2006/main">
                <a:ext uri="{FF2B5EF4-FFF2-40B4-BE49-F238E27FC236}">
                  <a16:creationId xmlns:a16="http://schemas.microsoft.com/office/drawing/2014/main" id="{27FFF209-AB11-4075-9AF2-B1A5F51990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418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79" name="">
              <a:extLst xmlns:a="http://schemas.openxmlformats.org/drawingml/2006/main">
                <a:ext uri="{FF2B5EF4-FFF2-40B4-BE49-F238E27FC236}">
                  <a16:creationId xmlns:a16="http://schemas.microsoft.com/office/drawing/2014/main" id="{726828FA-6036-41D4-AF38-2272C950E4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72288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80" name="">
              <a:extLst xmlns:a="http://schemas.openxmlformats.org/drawingml/2006/main">
                <a:ext uri="{FF2B5EF4-FFF2-40B4-BE49-F238E27FC236}">
                  <a16:creationId xmlns:a16="http://schemas.microsoft.com/office/drawing/2014/main" id="{86496185-4274-41E9-88BA-F23887EEC6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0393" y="858107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81" name="">
              <a:extLst xmlns:a="http://schemas.openxmlformats.org/drawingml/2006/main">
                <a:ext uri="{FF2B5EF4-FFF2-40B4-BE49-F238E27FC236}">
                  <a16:creationId xmlns:a16="http://schemas.microsoft.com/office/drawing/2014/main" id="{E3992F2F-4100-4B3E-A88E-924768FAD2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2555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82" name="">
              <a:extLst xmlns:a="http://schemas.openxmlformats.org/drawingml/2006/main">
                <a:ext uri="{FF2B5EF4-FFF2-40B4-BE49-F238E27FC236}">
                  <a16:creationId xmlns:a16="http://schemas.microsoft.com/office/drawing/2014/main" id="{0050BF81-BAA8-4E52-BB08-6B07C6985E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3658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83" name="">
              <a:extLst xmlns:a="http://schemas.openxmlformats.org/drawingml/2006/main">
                <a:ext uri="{FF2B5EF4-FFF2-40B4-BE49-F238E27FC236}">
                  <a16:creationId xmlns:a16="http://schemas.microsoft.com/office/drawing/2014/main" id="{07956401-05A8-4F06-9302-EDAB330E9E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176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84" name="">
              <a:extLst xmlns:a="http://schemas.openxmlformats.org/drawingml/2006/main">
                <a:ext uri="{FF2B5EF4-FFF2-40B4-BE49-F238E27FC236}">
                  <a16:creationId xmlns:a16="http://schemas.microsoft.com/office/drawing/2014/main" id="{1E3CF615-788F-4A35-B58E-BC1346066C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85" name="">
              <a:extLst xmlns:a="http://schemas.openxmlformats.org/drawingml/2006/main">
                <a:ext uri="{FF2B5EF4-FFF2-40B4-BE49-F238E27FC236}">
                  <a16:creationId xmlns:a16="http://schemas.microsoft.com/office/drawing/2014/main" id="{D38F6605-0FCB-4883-9F3C-61F3D831B8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86" name="">
              <a:extLst xmlns:a="http://schemas.openxmlformats.org/drawingml/2006/main">
                <a:ext uri="{FF2B5EF4-FFF2-40B4-BE49-F238E27FC236}">
                  <a16:creationId xmlns:a16="http://schemas.microsoft.com/office/drawing/2014/main" id="{B06A0A3E-0B9A-4F5E-B8ED-8B89282339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87" name="">
              <a:extLst xmlns:a="http://schemas.openxmlformats.org/drawingml/2006/main">
                <a:ext uri="{FF2B5EF4-FFF2-40B4-BE49-F238E27FC236}">
                  <a16:creationId xmlns:a16="http://schemas.microsoft.com/office/drawing/2014/main" id="{735A6B96-53C7-4476-800D-DD1D9CBDC0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418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8A78"/>
            </a:solidFill>
            <a:ln xmlns:a="http://schemas.openxmlformats.org/drawingml/2006/main" w="0">
              <a:noFill/>
            </a:ln>
          </p:spPr>
        </p:sp>
        <p:sp>
          <p:nvSpPr>
            <p:cNvPr id="288" name="">
              <a:extLst xmlns:a="http://schemas.openxmlformats.org/drawingml/2006/main">
                <a:ext uri="{FF2B5EF4-FFF2-40B4-BE49-F238E27FC236}">
                  <a16:creationId xmlns:a16="http://schemas.microsoft.com/office/drawing/2014/main" id="{EF5660CE-454C-4A37-BD9E-9F52A7BED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72288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89" name="">
              <a:extLst xmlns:a="http://schemas.openxmlformats.org/drawingml/2006/main">
                <a:ext uri="{FF2B5EF4-FFF2-40B4-BE49-F238E27FC236}">
                  <a16:creationId xmlns:a16="http://schemas.microsoft.com/office/drawing/2014/main" id="{19F57B8C-0778-41FE-BD59-6F5A2155D9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0393" y="865917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90" name="">
              <a:extLst xmlns:a="http://schemas.openxmlformats.org/drawingml/2006/main">
                <a:ext uri="{FF2B5EF4-FFF2-40B4-BE49-F238E27FC236}">
                  <a16:creationId xmlns:a16="http://schemas.microsoft.com/office/drawing/2014/main" id="{1461AF91-92D1-416B-9EC4-162F2E01BA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3658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91" name="">
              <a:extLst xmlns:a="http://schemas.openxmlformats.org/drawingml/2006/main">
                <a:ext uri="{FF2B5EF4-FFF2-40B4-BE49-F238E27FC236}">
                  <a16:creationId xmlns:a16="http://schemas.microsoft.com/office/drawing/2014/main" id="{00B498FA-5E52-4A21-A18A-A85F482A16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1763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92" name="">
              <a:extLst xmlns:a="http://schemas.openxmlformats.org/drawingml/2006/main">
                <a:ext uri="{FF2B5EF4-FFF2-40B4-BE49-F238E27FC236}">
                  <a16:creationId xmlns:a16="http://schemas.microsoft.com/office/drawing/2014/main" id="{8AE5885A-FA30-43F3-B717-794C132E6F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93" name="">
              <a:extLst xmlns:a="http://schemas.openxmlformats.org/drawingml/2006/main">
                <a:ext uri="{FF2B5EF4-FFF2-40B4-BE49-F238E27FC236}">
                  <a16:creationId xmlns:a16="http://schemas.microsoft.com/office/drawing/2014/main" id="{5EEF757B-6B4D-40F0-B304-379F182FC3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94" name="">
              <a:extLst xmlns:a="http://schemas.openxmlformats.org/drawingml/2006/main">
                <a:ext uri="{FF2B5EF4-FFF2-40B4-BE49-F238E27FC236}">
                  <a16:creationId xmlns:a16="http://schemas.microsoft.com/office/drawing/2014/main" id="{E878D488-09ED-4833-9253-2E09F49D26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95" name="">
              <a:extLst xmlns:a="http://schemas.openxmlformats.org/drawingml/2006/main">
                <a:ext uri="{FF2B5EF4-FFF2-40B4-BE49-F238E27FC236}">
                  <a16:creationId xmlns:a16="http://schemas.microsoft.com/office/drawing/2014/main" id="{7331179A-92E0-4023-99D8-92FDBF416A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4183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96" name="">
              <a:extLst xmlns:a="http://schemas.openxmlformats.org/drawingml/2006/main">
                <a:ext uri="{FF2B5EF4-FFF2-40B4-BE49-F238E27FC236}">
                  <a16:creationId xmlns:a16="http://schemas.microsoft.com/office/drawing/2014/main" id="{9877D871-8E1B-4042-BECC-99DFEEE828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72288" y="873728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97" name="">
              <a:extLst xmlns:a="http://schemas.openxmlformats.org/drawingml/2006/main">
                <a:ext uri="{FF2B5EF4-FFF2-40B4-BE49-F238E27FC236}">
                  <a16:creationId xmlns:a16="http://schemas.microsoft.com/office/drawing/2014/main" id="{A0730C5F-A49A-49C1-9B6A-DB29BF187C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3658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298" name="">
              <a:extLst xmlns:a="http://schemas.openxmlformats.org/drawingml/2006/main">
                <a:ext uri="{FF2B5EF4-FFF2-40B4-BE49-F238E27FC236}">
                  <a16:creationId xmlns:a16="http://schemas.microsoft.com/office/drawing/2014/main" id="{73173720-D1B8-4E7C-B461-320AA57E9A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1763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299" name="">
              <a:extLst xmlns:a="http://schemas.openxmlformats.org/drawingml/2006/main">
                <a:ext uri="{FF2B5EF4-FFF2-40B4-BE49-F238E27FC236}">
                  <a16:creationId xmlns:a16="http://schemas.microsoft.com/office/drawing/2014/main" id="{F9A1AFFB-24FA-45D2-9552-106F35B935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00" name="">
              <a:extLst xmlns:a="http://schemas.openxmlformats.org/drawingml/2006/main">
                <a:ext uri="{FF2B5EF4-FFF2-40B4-BE49-F238E27FC236}">
                  <a16:creationId xmlns:a16="http://schemas.microsoft.com/office/drawing/2014/main" id="{9FFD669E-6994-4828-ACAD-E456933B18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01" name="">
              <a:extLst xmlns:a="http://schemas.openxmlformats.org/drawingml/2006/main">
                <a:ext uri="{FF2B5EF4-FFF2-40B4-BE49-F238E27FC236}">
                  <a16:creationId xmlns:a16="http://schemas.microsoft.com/office/drawing/2014/main" id="{07083C81-B587-42DF-89FE-57FF5AE122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302" name="">
              <a:extLst xmlns:a="http://schemas.openxmlformats.org/drawingml/2006/main">
                <a:ext uri="{FF2B5EF4-FFF2-40B4-BE49-F238E27FC236}">
                  <a16:creationId xmlns:a16="http://schemas.microsoft.com/office/drawing/2014/main" id="{88CFF189-9F8B-4C5F-BEF4-F8887AC049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4183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03" name="">
              <a:extLst xmlns:a="http://schemas.openxmlformats.org/drawingml/2006/main">
                <a:ext uri="{FF2B5EF4-FFF2-40B4-BE49-F238E27FC236}">
                  <a16:creationId xmlns:a16="http://schemas.microsoft.com/office/drawing/2014/main" id="{1365B88D-FF3D-4E56-B5F5-4E2097E490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72288" y="8815388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04" name="">
              <a:extLst xmlns:a="http://schemas.openxmlformats.org/drawingml/2006/main">
                <a:ext uri="{FF2B5EF4-FFF2-40B4-BE49-F238E27FC236}">
                  <a16:creationId xmlns:a16="http://schemas.microsoft.com/office/drawing/2014/main" id="{43D20487-6CB9-4FB4-9266-EF715B5AF0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9868" y="889349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05" name="">
              <a:extLst xmlns:a="http://schemas.openxmlformats.org/drawingml/2006/main">
                <a:ext uri="{FF2B5EF4-FFF2-40B4-BE49-F238E27FC236}">
                  <a16:creationId xmlns:a16="http://schemas.microsoft.com/office/drawing/2014/main" id="{5A837611-9A3C-4BCD-B679-0C735C1BC9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7973" y="889349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59ABA"/>
            </a:solidFill>
            <a:ln xmlns:a="http://schemas.openxmlformats.org/drawingml/2006/main" w="0">
              <a:noFill/>
            </a:ln>
          </p:spPr>
        </p:sp>
        <p:sp>
          <p:nvSpPr>
            <p:cNvPr id="306" name="">
              <a:extLst xmlns:a="http://schemas.openxmlformats.org/drawingml/2006/main">
                <a:ext uri="{FF2B5EF4-FFF2-40B4-BE49-F238E27FC236}">
                  <a16:creationId xmlns:a16="http://schemas.microsoft.com/office/drawing/2014/main" id="{066EBA2D-645A-4180-A007-4F88637B22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6078" y="8893493"/>
              <a:ext cx="68580" cy="685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B9D0"/>
            </a:solidFill>
            <a:ln xmlns:a="http://schemas.openxmlformats.org/drawingml/2006/main" w="0">
              <a:noFill/>
            </a:ln>
          </p:spPr>
        </p:sp>
        <p:sp>
          <p:nvSpPr>
            <p:cNvPr id="307" name="">
              <a:extLst xmlns:a="http://schemas.openxmlformats.org/drawingml/2006/main">
                <a:ext uri="{FF2B5EF4-FFF2-40B4-BE49-F238E27FC236}">
                  <a16:creationId xmlns:a16="http://schemas.microsoft.com/office/drawing/2014/main" id="{10350D8B-1997-47F0-A43E-A14F283E67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57650" y="9058275"/>
              <a:ext cx="8382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Fail Map</a:t>
              </a:r>
            </a:p>
          </p:txBody>
        </p:sp>
        <p:sp>
          <p:nvSpPr>
            <p:cNvPr id="308" name="">
              <a:extLst xmlns:a="http://schemas.openxmlformats.org/drawingml/2006/main">
                <a:ext uri="{FF2B5EF4-FFF2-40B4-BE49-F238E27FC236}">
                  <a16:creationId xmlns:a16="http://schemas.microsoft.com/office/drawing/2014/main" id="{C79E2A5D-7265-4668-9F95-38D0070DB8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6500" y="9058275"/>
              <a:ext cx="8572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원인 후보</a:t>
              </a:r>
            </a:p>
          </p:txBody>
        </p:sp>
        <p:sp>
          <p:nvSpPr>
            <p:cNvPr id="309" name="">
              <a:extLst xmlns:a="http://schemas.openxmlformats.org/drawingml/2006/main">
                <a:ext uri="{FF2B5EF4-FFF2-40B4-BE49-F238E27FC236}">
                  <a16:creationId xmlns:a16="http://schemas.microsoft.com/office/drawing/2014/main" id="{22925D88-8A0E-42A7-A580-89E36EE733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0" y="9353550"/>
              <a:ext cx="31908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05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불량 분포와 유사한 원인 후보를 추출</a:t>
              </a:r>
            </a:p>
          </p:txBody>
        </p:sp>
        <p:sp>
          <p:nvSpPr>
            <p:cNvPr id="310" name="">
              <a:extLst xmlns:a="http://schemas.openxmlformats.org/drawingml/2006/main">
                <a:ext uri="{FF2B5EF4-FFF2-40B4-BE49-F238E27FC236}">
                  <a16:creationId xmlns:a16="http://schemas.microsoft.com/office/drawing/2014/main" id="{921B43FB-B5B6-460A-B6C0-D2B865C1C6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9705975"/>
              <a:ext cx="7010400" cy="304800"/>
            </a:xfrm>
            <a:prstGeom xmlns:a="http://schemas.openxmlformats.org/drawingml/2006/main" prst="roundRect">
              <a:avLst>
                <a:gd name="adj" fmla="val 2187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EDF3F8"/>
              </a:solidFill>
            </a:ln>
          </p:spPr>
        </p:sp>
        <p:sp>
          <p:nvSpPr>
            <p:cNvPr id="311" name="">
              <a:extLst xmlns:a="http://schemas.openxmlformats.org/drawingml/2006/main">
                <a:ext uri="{FF2B5EF4-FFF2-40B4-BE49-F238E27FC236}">
                  <a16:creationId xmlns:a16="http://schemas.microsoft.com/office/drawing/2014/main" id="{C7D7347B-4261-479B-BCAA-B4605485F6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9705975"/>
              <a:ext cx="8572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비교 검증</a:t>
              </a:r>
            </a:p>
          </p:txBody>
        </p:sp>
        <p:sp>
          <p:nvSpPr>
            <p:cNvPr id="312" name="">
              <a:extLst xmlns:a="http://schemas.openxmlformats.org/drawingml/2006/main">
                <a:ext uri="{FF2B5EF4-FFF2-40B4-BE49-F238E27FC236}">
                  <a16:creationId xmlns:a16="http://schemas.microsoft.com/office/drawing/2014/main" id="{2A1875E3-77E1-4E42-9A19-33E21CD732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3975" y="9705975"/>
              <a:ext cx="58959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5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3가지 Mining 결과 비교에서 도메인 지식 기반 방식의 우수성 확인</a:t>
              </a:r>
            </a:p>
          </p:txBody>
        </p:sp>
        <p:sp>
          <p:nvSpPr>
            <p:cNvPr id="313" name="">
              <a:extLst xmlns:a="http://schemas.openxmlformats.org/drawingml/2006/main">
                <a:ext uri="{FF2B5EF4-FFF2-40B4-BE49-F238E27FC236}">
                  <a16:creationId xmlns:a16="http://schemas.microsoft.com/office/drawing/2014/main" id="{BD58BDF5-FFC5-40D7-A709-A7DBED07B4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10039350"/>
              <a:ext cx="70104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825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825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Map·Trend는 개념도이며 정량 성능 수치는 미표기</a:t>
              </a:r>
            </a:p>
          </p:txBody>
        </p:sp>
        <p:sp>
          <p:nvSpPr>
            <p:cNvPr id="314" name="">
              <a:extLst xmlns:a="http://schemas.openxmlformats.org/drawingml/2006/main">
                <a:ext uri="{FF2B5EF4-FFF2-40B4-BE49-F238E27FC236}">
                  <a16:creationId xmlns:a16="http://schemas.microsoft.com/office/drawing/2014/main" id="{F07562D4-6155-4C0F-A18E-8B4BC0DF78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0267950"/>
              <a:ext cx="7162800" cy="466725"/>
            </a:xfrm>
            <a:prstGeom xmlns:a="http://schemas.openxmlformats.org/drawingml/2006/main" prst="roundRect">
              <a:avLst>
                <a:gd name="adj" fmla="val 12245"/>
              </a:avLst>
            </a:prstGeom>
            <a:solidFill xmlns:a="http://schemas.openxmlformats.org/drawingml/2006/main">
              <a:srgbClr val="344454"/>
            </a:solidFill>
            <a:ln xmlns:a="http://schemas.openxmlformats.org/drawingml/2006/main" w="9525">
              <a:solidFill>
                <a:srgbClr val="344454"/>
              </a:solidFill>
            </a:ln>
          </p:spPr>
        </p:sp>
        <p:sp>
          <p:nvSpPr>
            <p:cNvPr id="315" name="">
              <a:extLst xmlns:a="http://schemas.openxmlformats.org/drawingml/2006/main">
                <a:ext uri="{FF2B5EF4-FFF2-40B4-BE49-F238E27FC236}">
                  <a16:creationId xmlns:a16="http://schemas.microsoft.com/office/drawing/2014/main" id="{0CFDAC9A-B687-466F-8547-3721680169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" y="10267950"/>
              <a:ext cx="6953250" cy="466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숙련자의 전문성을 반복 활용 가능한 분석 역량으로 내재화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435485"/>
      </p:ext>
    </p:extLst>
  </p:cSld>
</p:sld>
</file>

<file path=import3/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99999" name="Original slide content"/>
          <p:cNvGrpSpPr/>
          <p:nvPr/>
        </p:nvGrpSpPr>
        <p:grpSpPr>
          <ns0:xfrm xmlns:ns0="http://schemas.openxmlformats.org/drawingml/2006/main">
            <ns0:off x="1716" y="0"/>
            <ns0:ext cx="7559417" cy="10696575"/>
            <ns0:chOff x="0" y="0"/>
            <ns0:chExt cx="7620000" cy="10782300"/>
          </ns0:xfrm>
        </p:grpSpPr>
        <p:sp>
          <p:nvSpPr>
            <p:cNvPr id="79" name="">
              <a:extLst xmlns:a="http://schemas.openxmlformats.org/drawingml/2006/main">
                <a:ext uri="{FF2B5EF4-FFF2-40B4-BE49-F238E27FC236}">
                  <a16:creationId xmlns:a16="http://schemas.microsoft.com/office/drawing/2014/main" id="{DECBD638-8B2C-46AA-B989-1C19113D4E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142875"/>
              <a:ext cx="5238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소구 포인트  |  OI 측면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17F0A5E7-A9D8-4AA3-8BE8-4A3FD4BF71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81825" y="142875"/>
              <a:ext cx="333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125" b="1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1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8ABCFB88-9D52-4E3C-98A6-130D76B493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304800" y="400050"/>
              <a:ext cx="70104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3335">
              <a:solidFill>
                <a:srgbClr val="344454"/>
              </a:solidFill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B00CFE8C-8DF0-466D-A7AA-069DE2050B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514350"/>
              <a:ext cx="7029450" cy="990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7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7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분석 전 과정의 재설계와</a:t>
              </a:r>
            </a:p>
            <a:p xmlns:a="http://schemas.openxmlformats.org/drawingml/2006/main">
              <a:pPr algn="l">
                <a:defRPr sz="27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7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현업 검증 기반 지속 개선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04D65D7E-9A1C-4834-BAA6-21B16A6C36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1600200"/>
              <a:ext cx="7048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업무 연결 구조를 개선하고, 실제 사용에서 나온 요구를 고도화에 반영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B9517F1-D8C2-4060-A156-D8311D2109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2057400"/>
              <a:ext cx="409575" cy="295275"/>
            </a:xfrm>
            <a:prstGeom xmlns:a="http://schemas.openxmlformats.org/drawingml/2006/main" prst="roundRect">
              <a:avLst>
                <a:gd name="adj" fmla="val 16129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85F67499-1946-45C2-9249-A498EAB567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2057400"/>
              <a:ext cx="409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C3BA8868-FD56-4DAB-8C11-72FEB326F8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2057400"/>
              <a:ext cx="6477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분석 프로세스의 개선 전후</a:t>
              </a:r>
            </a:p>
          </p:txBody>
        </p:sp>
        <p:graphicFrame>
          <p:nvGraphicFramePr>
            <p:cNvPr id="87" name=""/>
            <p:cNvGraphicFramePr/>
            <p:nvPr/>
          </p:nvGraphicFramePr>
          <p:xfrm>
            <a:off xmlns:a="http://schemas.openxmlformats.org/drawingml/2006/main" x="304800" y="2466975"/>
            <a:ext xmlns:a="http://schemas.openxmlformats.org/drawingml/2006/main" cx="7010400" cy="1943100"/>
          </p:xfrm>
          <a:graphic xmlns:a="http://schemas.openxmlformats.org/drawingml/2006/main">
            <a:graphicData uri="http://schemas.openxmlformats.org/drawingml/2006/table">
              <a:tbl>
                <a:tblPr/>
                <a:tblGrid>
                  <a:gridCol w="1457325"/>
                  <a:gridCol w="2638425"/>
                  <a:gridCol w="2914650"/>
                </a:tblGrid>
                <a:tr h="361950"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350" b="1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구분</a:t>
                        </a:r>
                      </a:p>
                    </a:txBody>
                    <a:tcPr marL="91440" marR="91440" marT="45720" marB="45720" anchor="ctr">
                      <a:solidFill>
                        <a:srgbClr val="E1E7EC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350" b="1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기존 업무 방식</a:t>
                        </a:r>
                      </a:p>
                    </a:txBody>
                    <a:tcPr marL="91440" marR="91440" marT="45720" marB="45720" anchor="ctr">
                      <a:solidFill>
                        <a:srgbClr val="E1E7EC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350" b="1">
                            <a:solidFill>
                              <a:srgbClr val="416D93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Y-Agent 기반 개선</a:t>
                        </a:r>
                      </a:p>
                    </a:txBody>
                    <a:tcPr marL="91440" marR="91440" marT="45720" marB="45720" anchor="ctr">
                      <a:solidFill>
                        <a:srgbClr val="D5E3EF"/>
                      </a:solidFill>
                    </a:tcPr>
                  </a:tc>
                </a:tr>
                <a:tr h="395288"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1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데이터 준비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0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분석마다 조회·추출·정리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0">
                            <a:solidFill>
                              <a:srgbClr val="416D93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전처리·DB 적재</a:t>
                        </a:r>
                      </a:p>
                    </a:txBody>
                    <a:tcPr marL="91440" marR="91440" marT="45720" marB="45720" anchor="ctr">
                      <a:solidFill>
                        <a:srgbClr val="EDF4FA"/>
                      </a:solidFill>
                    </a:tcPr>
                  </a:tc>
                </a:tr>
                <a:tr h="395288"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1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분석 환경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0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여러 시스템과 도구 이동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0">
                            <a:solidFill>
                              <a:srgbClr val="416D93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단일 환경에서 자연어 분석</a:t>
                        </a:r>
                      </a:p>
                    </a:txBody>
                    <a:tcPr marL="91440" marR="91440" marT="45720" marB="45720" anchor="ctr">
                      <a:solidFill>
                        <a:srgbClr val="EDF4FA"/>
                      </a:solidFill>
                    </a:tcPr>
                  </a:tc>
                </a:tr>
                <a:tr h="395288"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1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후속 분석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0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개인 경험으로 다음 분석 결정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0">
                            <a:solidFill>
                              <a:srgbClr val="416D93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규칙 기반 추천 + 엔지니어 선택</a:t>
                        </a:r>
                      </a:p>
                    </a:txBody>
                    <a:tcPr marL="91440" marR="91440" marT="45720" marB="45720" anchor="ctr">
                      <a:solidFill>
                        <a:srgbClr val="EDF4FA"/>
                      </a:solidFill>
                    </a:tcPr>
                  </a:tc>
                </a:tr>
                <a:tr h="395288"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1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기존 도구 연계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0">
                            <a:solidFill>
                              <a:srgbClr val="172332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분석 화면을 별도로 조회</a:t>
                        </a:r>
                      </a:p>
                    </a:txBody>
                    <a:tcPr marL="91440" marR="91440" marT="45720" marB="45720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 lIns="57150" tIns="47625" rIns="57150" bIns="47625"/>
                      <a:lstStyle/>
                      <a:p>
                        <a:pPr algn="ctr"/>
                        <a:r>
                          <a:rPr sz="1163" b="0">
                            <a:solidFill>
                              <a:srgbClr val="416D93"/>
                            </a:solidFill>
                            <a:latin typeface="Malgun Gothic"/>
                            <a:ea typeface="Malgun Gothic"/>
                            <a:cs typeface="Malgun Gothic"/>
                          </a:rPr>
                          <a:t>SmartFactory 동일 Trend 연계</a:t>
                        </a:r>
                      </a:p>
                    </a:txBody>
                    <a:tcPr marL="91440" marR="91440" marT="45720" marB="45720" anchor="ctr">
                      <a:solidFill>
                        <a:srgbClr val="EDF4FA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BB78D2D4-0CE6-4312-AA45-90335F5E57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4572000"/>
              <a:ext cx="7010400" cy="657225"/>
            </a:xfrm>
            <a:prstGeom xmlns:a="http://schemas.openxmlformats.org/drawingml/2006/main" prst="roundRect">
              <a:avLst>
                <a:gd name="adj" fmla="val 10145"/>
              </a:avLst>
            </a:prstGeom>
            <a:solidFill xmlns:a="http://schemas.openxmlformats.org/drawingml/2006/main">
              <a:srgbClr val="EDF3F8"/>
            </a:solidFill>
            <a:ln xmlns:a="http://schemas.openxmlformats.org/drawingml/2006/main" w="9525">
              <a:solidFill>
                <a:srgbClr val="92AFC7"/>
              </a:solidFill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FB734E41-BA69-4E80-A146-5F674DDDBC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62250" y="4467225"/>
              <a:ext cx="20955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하나의 분석 환경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094D21A5-106A-426F-868F-9D05BA8C55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4791075"/>
              <a:ext cx="1428750" cy="314325"/>
            </a:xfrm>
            <a:prstGeom xmlns:a="http://schemas.openxmlformats.org/drawingml/2006/main" prst="roundRect">
              <a:avLst>
                <a:gd name="adj" fmla="val 2121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65FD9A50-B000-4DF8-92ED-D8027F3F9F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4791075"/>
              <a:ext cx="1428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데이터 준비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D5EA0C26-4F66-45A0-9481-D559289F59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71675" y="4876800"/>
              <a:ext cx="152400" cy="1333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BDF5393A-22F5-483E-8B2F-A7D0E7F7FA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09800" y="4791075"/>
              <a:ext cx="1428750" cy="314325"/>
            </a:xfrm>
            <a:prstGeom xmlns:a="http://schemas.openxmlformats.org/drawingml/2006/main" prst="roundRect">
              <a:avLst>
                <a:gd name="adj" fmla="val 2121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5D775F66-364A-4A0C-9B06-123B9731C0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09800" y="4791075"/>
              <a:ext cx="1428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분석 실행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BAE905A7-2705-4640-BAC0-43E0AABD6F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24275" y="4876800"/>
              <a:ext cx="152400" cy="1333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A01D4D37-7AAF-4CB4-9EB0-38F56894FA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4791075"/>
              <a:ext cx="1428750" cy="314325"/>
            </a:xfrm>
            <a:prstGeom xmlns:a="http://schemas.openxmlformats.org/drawingml/2006/main" prst="roundRect">
              <a:avLst>
                <a:gd name="adj" fmla="val 2121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19BEBA18-CFAF-4195-B981-60358FD49D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4791075"/>
              <a:ext cx="1428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결과 해석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5B42C2BD-5DB8-416C-8E2B-22FB0BD2EB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6875" y="4876800"/>
              <a:ext cx="152400" cy="1333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45D5DCD2-E93E-4574-9DBA-3EE8E178A1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0" y="4791075"/>
              <a:ext cx="1428750" cy="314325"/>
            </a:xfrm>
            <a:prstGeom xmlns:a="http://schemas.openxmlformats.org/drawingml/2006/main" prst="roundRect">
              <a:avLst>
                <a:gd name="adj" fmla="val 2121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8D4E0"/>
              </a:solidFill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40579107-C6EE-4477-BE04-2C5EA585EC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0" y="4791075"/>
              <a:ext cx="14287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후속 분석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68F9BC58-144E-4A7D-B9ED-8219507B98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5438775"/>
              <a:ext cx="409575" cy="295275"/>
            </a:xfrm>
            <a:prstGeom xmlns:a="http://schemas.openxmlformats.org/drawingml/2006/main" prst="roundRect">
              <a:avLst>
                <a:gd name="adj" fmla="val 16129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B918D104-72E0-41E4-9E64-E92B9D1CB5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5438775"/>
              <a:ext cx="409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DC03C30E-AAC2-43EB-B4B3-AE8046F8E7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5438775"/>
              <a:ext cx="6477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현업 사용과 검증을 통한 개선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919CB9FD-5EC9-47D2-B323-6AC1BEF174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57325" y="5886450"/>
              <a:ext cx="990600" cy="990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7D9CB7"/>
              </a:solidFill>
            </a:ln>
          </p:spPr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91150691-B4DC-4058-92A6-6D6CCF3652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95425" y="6134100"/>
              <a:ext cx="9144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실제 사용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45D3C807-024C-42CA-A54E-9EDF5EFFF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38275" y="6467475"/>
              <a:ext cx="1028700" cy="200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엔지니어 직접 분석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C65DD556-31C2-4D19-9F6A-EB418A013B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43175" y="6877050"/>
              <a:ext cx="990600" cy="990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7D9CB7"/>
              </a:solidFill>
            </a:ln>
          </p:spPr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F0EA2CD4-D8CC-4F6B-850D-77FD9B87DD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81275" y="7124700"/>
              <a:ext cx="9144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Daily 검토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F6A98F7D-2C20-4997-AF30-C1DB70CDB6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24125" y="7458075"/>
              <a:ext cx="1028700" cy="200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결과·불편 확인</a:t>
              </a:r>
            </a:p>
          </p:txBody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DB636317-FD98-46DA-BB3C-A38DBEC3B6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57325" y="7867650"/>
              <a:ext cx="990600" cy="990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7D9CB7"/>
              </a:solidFill>
            </a:ln>
          </p:spPr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F0ABA82E-78A6-4F37-9562-B802CE915B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95425" y="8115300"/>
              <a:ext cx="9144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개선 반영</a:t>
              </a:r>
            </a:p>
          </p:txBody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D16B62A7-BC7A-4C69-BE38-DC36978CAF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38275" y="8448675"/>
              <a:ext cx="1028700" cy="200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기능·로직 보완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42EEEC11-E8C7-4140-A98E-6002AF6F13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6877050"/>
              <a:ext cx="990600" cy="990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7D9CB7"/>
              </a:solidFill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7A918FDE-23A4-4C96-90BD-63C5FDA1AA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7124700"/>
              <a:ext cx="9144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재검증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801AF0A4-9032-49D9-925A-E2CD0102D1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" y="7458075"/>
              <a:ext cx="1028700" cy="200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실제 이슈로 확인</a:t>
              </a:r>
            </a:p>
          </p:txBody>
        </p:sp>
        <p:cxnSp>
          <p:nvCxnSpPr>
            <p:cNvPr id="116" name=""/>
            <p:cNvCxnSpPr>
              <a:stCxn xmlns:a="http://schemas.openxmlformats.org/drawingml/2006/main" id="29" idx="1"/>
              <a:endCxn xmlns:a="http://schemas.openxmlformats.org/drawingml/2006/main" id="26" idx="5"/>
            </p:cNvCxnSpPr>
            <p:nvPr/>
          </p:nvCxnSpPr>
          <p:spPr>
            <a:xfrm xmlns:a="http://schemas.openxmlformats.org/drawingml/2006/main" flipH="1" flipV="1">
              <a:off x="2302855" y="6731980"/>
              <a:ext cx="385390" cy="290140"/>
            </a:xfrm>
            <a:prstGeom xmlns:a="http://schemas.openxmlformats.org/drawingml/2006/main" prst="straightConnector1">
              <a:avLst/>
            </a:prstGeom>
            <a:ln xmlns:a="http://schemas.openxmlformats.org/drawingml/2006/main" w="28575">
              <a:solidFill>
                <a:srgbClr val="91A9C0"/>
              </a:solidFill>
              <a:headEnd type="triangle" w="sm" len="sm"/>
            </a:ln>
          </p:spPr>
        </p:cxnSp>
        <p:cxnSp>
          <p:nvCxnSpPr>
            <p:cNvPr id="117" name=""/>
            <p:cNvCxnSpPr>
              <a:stCxn xmlns:a="http://schemas.openxmlformats.org/drawingml/2006/main" id="32" idx="7"/>
              <a:endCxn xmlns:a="http://schemas.openxmlformats.org/drawingml/2006/main" id="29" idx="3"/>
            </p:cNvCxnSpPr>
            <p:nvPr/>
          </p:nvCxnSpPr>
          <p:spPr>
            <a:xfrm xmlns:a="http://schemas.openxmlformats.org/drawingml/2006/main" flipV="1">
              <a:off x="2302855" y="7722580"/>
              <a:ext cx="385390" cy="290140"/>
            </a:xfrm>
            <a:prstGeom xmlns:a="http://schemas.openxmlformats.org/drawingml/2006/main" prst="straightConnector1">
              <a:avLst/>
            </a:prstGeom>
            <a:ln xmlns:a="http://schemas.openxmlformats.org/drawingml/2006/main" w="28575">
              <a:solidFill>
                <a:srgbClr val="91A9C0"/>
              </a:solidFill>
              <a:headEnd type="triangle" w="sm" len="sm"/>
            </a:ln>
          </p:spPr>
        </p:cxnSp>
        <p:cxnSp>
          <p:nvCxnSpPr>
            <p:cNvPr id="118" name=""/>
            <p:cNvCxnSpPr>
              <a:stCxn xmlns:a="http://schemas.openxmlformats.org/drawingml/2006/main" id="35" idx="5"/>
              <a:endCxn xmlns:a="http://schemas.openxmlformats.org/drawingml/2006/main" id="32" idx="1"/>
            </p:cNvCxnSpPr>
            <p:nvPr/>
          </p:nvCxnSpPr>
          <p:spPr>
            <a:xfrm xmlns:a="http://schemas.openxmlformats.org/drawingml/2006/main">
              <a:off x="1217005" y="7722580"/>
              <a:ext cx="385390" cy="290140"/>
            </a:xfrm>
            <a:prstGeom xmlns:a="http://schemas.openxmlformats.org/drawingml/2006/main" prst="straightConnector1">
              <a:avLst/>
            </a:prstGeom>
            <a:ln xmlns:a="http://schemas.openxmlformats.org/drawingml/2006/main" w="28575">
              <a:solidFill>
                <a:srgbClr val="91A9C0"/>
              </a:solidFill>
              <a:headEnd type="triangle" w="sm" len="sm"/>
            </a:ln>
          </p:spPr>
        </p:cxnSp>
        <p:cxnSp>
          <p:nvCxnSpPr>
            <p:cNvPr id="119" name=""/>
            <p:cNvCxnSpPr>
              <a:stCxn xmlns:a="http://schemas.openxmlformats.org/drawingml/2006/main" id="26" idx="3"/>
              <a:endCxn xmlns:a="http://schemas.openxmlformats.org/drawingml/2006/main" id="35" idx="7"/>
            </p:cNvCxnSpPr>
            <p:nvPr/>
          </p:nvCxnSpPr>
          <p:spPr>
            <a:xfrm xmlns:a="http://schemas.openxmlformats.org/drawingml/2006/main" flipH="1">
              <a:off x="1217005" y="6731980"/>
              <a:ext cx="385390" cy="290140"/>
            </a:xfrm>
            <a:prstGeom xmlns:a="http://schemas.openxmlformats.org/drawingml/2006/main" prst="straightConnector1">
              <a:avLst/>
            </a:prstGeom>
            <a:ln xmlns:a="http://schemas.openxmlformats.org/drawingml/2006/main" w="28575">
              <a:solidFill>
                <a:srgbClr val="91A9C0"/>
              </a:solidFill>
              <a:headEnd type="triangle" w="sm" len="sm"/>
            </a:ln>
          </p:spPr>
        </p:cxn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28AE04B7-7660-45E4-8B4A-96431E769A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6972300"/>
              <a:ext cx="962025" cy="9620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8E5F0"/>
            </a:solidFill>
            <a:ln xmlns:a="http://schemas.openxmlformats.org/drawingml/2006/main" w="12383">
              <a:solidFill>
                <a:srgbClr val="D8E5F0"/>
              </a:solidFill>
            </a:ln>
          </p:spPr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50F10024-689E-4D5E-BAF4-80AB535C2C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76375" y="7096125"/>
              <a:ext cx="962025" cy="695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현업</a:t>
              </a:r>
            </a:p>
            <a:p xmlns:a="http://schemas.openxmlformats.org/drawingml/2006/main">
              <a:pPr algn="ctr">
                <a:defRPr sz="172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피드백</a:t>
              </a:r>
            </a:p>
          </p:txBody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E792C2E1-CDF9-4C65-B548-CD661B8E37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300" y="5886450"/>
              <a:ext cx="3390900" cy="1362075"/>
            </a:xfrm>
            <a:prstGeom xmlns:a="http://schemas.openxmlformats.org/drawingml/2006/main" prst="roundRect">
              <a:avLst>
                <a:gd name="adj" fmla="val 489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92AFC7"/>
              </a:solidFill>
            </a:ln>
          </p:spPr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182DE349-82EC-4F75-8889-7C3CD9CCA7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6000750"/>
              <a:ext cx="2905125" cy="552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6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6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81개</a:t>
              </a:r>
            </a:p>
          </p:txBody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02E1EEEC-9052-4A1E-B1D6-8059F8EDEA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6572250"/>
              <a:ext cx="29051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개선 과제 도출</a:t>
              </a:r>
            </a:p>
          </p:txBody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A34E16FD-E57F-4D5E-92AB-FF0F45B583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6896100"/>
              <a:ext cx="2952750" cy="200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5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0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현업 요구와 피드백을 고도화 과제로 구체화</a:t>
              </a:r>
            </a:p>
          </p:txBody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87C993CE-D30E-443E-AEE4-BE1D8D9644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7048500"/>
              <a:ext cx="2933700" cy="1619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863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863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도출 건수이며 완료 건수는 아님</a:t>
              </a:r>
            </a:p>
          </p:txBody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F083BF80-B134-4352-8622-F07C363F60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300" y="7458075"/>
              <a:ext cx="3390900" cy="1400175"/>
            </a:xfrm>
            <a:prstGeom xmlns:a="http://schemas.openxmlformats.org/drawingml/2006/main" prst="roundRect">
              <a:avLst>
                <a:gd name="adj" fmla="val 476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92AFC7"/>
              </a:solidFill>
            </a:ln>
          </p:spPr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FC150F9F-2135-4E81-A787-C017A1C32A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7515225"/>
              <a:ext cx="2905125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3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375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5 / 7건</a:t>
              </a:r>
            </a:p>
          </p:txBody>
        </p:sp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070B4702-2DD2-4382-A61F-FD4A407AE9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8048625"/>
              <a:ext cx="29051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실제 이슈 검출</a:t>
              </a:r>
            </a:p>
          </p:txBody>
        </p:sp>
        <p:sp>
          <p:nvSpPr>
            <p:cNvPr id="52" name="">
              <a:extLst xmlns:a="http://schemas.openxmlformats.org/drawingml/2006/main">
                <a:ext uri="{FF2B5EF4-FFF2-40B4-BE49-F238E27FC236}">
                  <a16:creationId xmlns:a16="http://schemas.microsoft.com/office/drawing/2014/main" id="{7A4D46EB-2E00-4166-A896-CAA14BAD0A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8391525"/>
              <a:ext cx="266700" cy="219075"/>
            </a:xfrm>
            <a:prstGeom xmlns:a="http://schemas.openxmlformats.org/drawingml/2006/main" prst="roundRect">
              <a:avLst>
                <a:gd name="adj" fmla="val 8696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1B70E76C-840E-4272-862E-4864CE6148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81525" y="8391525"/>
              <a:ext cx="266700" cy="219075"/>
            </a:xfrm>
            <a:prstGeom xmlns:a="http://schemas.openxmlformats.org/drawingml/2006/main" prst="roundRect">
              <a:avLst>
                <a:gd name="adj" fmla="val 8696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492EF8A3-84D3-4FEB-808E-E8C66FA4D2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1100" y="8391525"/>
              <a:ext cx="266700" cy="219075"/>
            </a:xfrm>
            <a:prstGeom xmlns:a="http://schemas.openxmlformats.org/drawingml/2006/main" prst="roundRect">
              <a:avLst>
                <a:gd name="adj" fmla="val 8696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55" name="">
              <a:extLst xmlns:a="http://schemas.openxmlformats.org/drawingml/2006/main">
                <a:ext uri="{FF2B5EF4-FFF2-40B4-BE49-F238E27FC236}">
                  <a16:creationId xmlns:a16="http://schemas.microsoft.com/office/drawing/2014/main" id="{222A6E2A-D132-4564-AADD-E40F1D272B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0675" y="8391525"/>
              <a:ext cx="266700" cy="219075"/>
            </a:xfrm>
            <a:prstGeom xmlns:a="http://schemas.openxmlformats.org/drawingml/2006/main" prst="roundRect">
              <a:avLst>
                <a:gd name="adj" fmla="val 8696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26775CF6-B83C-4CEA-988B-199B6034F9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0" y="8391525"/>
              <a:ext cx="266700" cy="219075"/>
            </a:xfrm>
            <a:prstGeom xmlns:a="http://schemas.openxmlformats.org/drawingml/2006/main" prst="roundRect">
              <a:avLst>
                <a:gd name="adj" fmla="val 8696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0F71F043-7DC1-430A-8035-4CF4E206AE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9825" y="8391525"/>
              <a:ext cx="266700" cy="219075"/>
            </a:xfrm>
            <a:prstGeom xmlns:a="http://schemas.openxmlformats.org/drawingml/2006/main" prst="roundRect">
              <a:avLst>
                <a:gd name="adj" fmla="val 8696"/>
              </a:avLst>
            </a:prstGeom>
            <a:solidFill xmlns:a="http://schemas.openxmlformats.org/drawingml/2006/main">
              <a:srgbClr val="DDE2E6"/>
            </a:solidFill>
            <a:ln xmlns:a="http://schemas.openxmlformats.org/drawingml/2006/main" w="9525">
              <a:solidFill>
                <a:srgbClr val="DDE2E6"/>
              </a:solidFill>
            </a:ln>
          </p:spPr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A23E73E8-CB9A-40BA-81B9-776262FBB5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29400" y="8391525"/>
              <a:ext cx="266700" cy="219075"/>
            </a:xfrm>
            <a:prstGeom xmlns:a="http://schemas.openxmlformats.org/drawingml/2006/main" prst="roundRect">
              <a:avLst>
                <a:gd name="adj" fmla="val 8696"/>
              </a:avLst>
            </a:prstGeom>
            <a:solidFill xmlns:a="http://schemas.openxmlformats.org/drawingml/2006/main">
              <a:srgbClr val="DDE2E6"/>
            </a:solidFill>
            <a:ln xmlns:a="http://schemas.openxmlformats.org/drawingml/2006/main" w="9525">
              <a:solidFill>
                <a:srgbClr val="DDE2E6"/>
              </a:solidFill>
            </a:ln>
          </p:spPr>
        </p:sp>
        <p:sp>
          <p:nvSpPr>
            <p:cNvPr id="59" name="">
              <a:extLst xmlns:a="http://schemas.openxmlformats.org/drawingml/2006/main">
                <a:ext uri="{FF2B5EF4-FFF2-40B4-BE49-F238E27FC236}">
                  <a16:creationId xmlns:a16="http://schemas.microsoft.com/office/drawing/2014/main" id="{0136B3F9-70F8-4737-B272-069850C8BF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8667750"/>
              <a:ext cx="2952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38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나머지 2건: 미구현 분석 방법 필요</a:t>
              </a:r>
            </a:p>
          </p:txBody>
        </p: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F355B20B-B0D2-44C1-84B9-A5D50FECAB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9020175"/>
              <a:ext cx="409575" cy="295275"/>
            </a:xfrm>
            <a:prstGeom xmlns:a="http://schemas.openxmlformats.org/drawingml/2006/main" prst="roundRect">
              <a:avLst>
                <a:gd name="adj" fmla="val 16129"/>
              </a:avLst>
            </a:prstGeom>
            <a:solidFill xmlns:a="http://schemas.openxmlformats.org/drawingml/2006/main">
              <a:srgbClr val="416D93"/>
            </a:solidFill>
            <a:ln xmlns:a="http://schemas.openxmlformats.org/drawingml/2006/main" w="9525">
              <a:solidFill>
                <a:srgbClr val="416D93"/>
              </a:solidFill>
            </a:ln>
          </p:spPr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64B7F76E-023B-4097-9B1F-33C09F4338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9020175"/>
              <a:ext cx="409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E3EA036E-0071-45F7-B9DE-1C346B3EB8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9020175"/>
              <a:ext cx="6477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구현 경험을 바탕으로 지식화 확장</a:t>
              </a:r>
            </a:p>
          </p:txBody>
        </p:sp>
        <p:sp>
          <p:nvSpPr>
            <p:cNvPr id="63" name="">
              <a:extLst xmlns:a="http://schemas.openxmlformats.org/drawingml/2006/main">
                <a:ext uri="{FF2B5EF4-FFF2-40B4-BE49-F238E27FC236}">
                  <a16:creationId xmlns:a16="http://schemas.microsoft.com/office/drawing/2014/main" id="{85A1CF64-BEC1-4CF9-93A5-9CA94B6A7F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9382125"/>
              <a:ext cx="3152775" cy="742950"/>
            </a:xfrm>
            <a:prstGeom xmlns:a="http://schemas.openxmlformats.org/drawingml/2006/main" prst="roundRect">
              <a:avLst>
                <a:gd name="adj" fmla="val 897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92AFC7"/>
              </a:solidFill>
            </a:ln>
          </p:spPr>
        </p:sp>
        <p:sp>
          <p:nvSpPr>
            <p:cNvPr id="64" name="">
              <a:extLst xmlns:a="http://schemas.openxmlformats.org/drawingml/2006/main">
                <a:ext uri="{FF2B5EF4-FFF2-40B4-BE49-F238E27FC236}">
                  <a16:creationId xmlns:a16="http://schemas.microsoft.com/office/drawing/2014/main" id="{B45624CE-86F4-48AD-8FB5-8F3AA572E7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9324975"/>
              <a:ext cx="990600" cy="209550"/>
            </a:xfrm>
            <a:prstGeom xmlns:a="http://schemas.openxmlformats.org/drawingml/2006/main" prst="roundRect">
              <a:avLst>
                <a:gd name="adj" fmla="val 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65" name="">
              <a:extLst xmlns:a="http://schemas.openxmlformats.org/drawingml/2006/main">
                <a:ext uri="{FF2B5EF4-FFF2-40B4-BE49-F238E27FC236}">
                  <a16:creationId xmlns:a16="http://schemas.microsoft.com/office/drawing/2014/main" id="{521C935D-E713-42CC-B7DD-2E6395646C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9324975"/>
              <a:ext cx="9906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현재 구현</a:t>
              </a:r>
            </a:p>
          </p:txBody>
        </p:sp>
        <p:sp>
          <p:nvSpPr>
            <p:cNvPr id="66" name="">
              <a:extLst xmlns:a="http://schemas.openxmlformats.org/drawingml/2006/main">
                <a:ext uri="{FF2B5EF4-FFF2-40B4-BE49-F238E27FC236}">
                  <a16:creationId xmlns:a16="http://schemas.microsoft.com/office/drawing/2014/main" id="{E2265650-9AD9-4EE3-8078-B85C738809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9582150"/>
              <a:ext cx="28575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MCP × BoI Wiki 하네스</a:t>
              </a:r>
            </a:p>
          </p:txBody>
        </p:sp>
        <p:sp>
          <p:nvSpPr>
            <p:cNvPr id="67" name="">
              <a:extLst xmlns:a="http://schemas.openxmlformats.org/drawingml/2006/main">
                <a:ext uri="{FF2B5EF4-FFF2-40B4-BE49-F238E27FC236}">
                  <a16:creationId xmlns:a16="http://schemas.microsoft.com/office/drawing/2014/main" id="{EBE0EB40-700F-48FC-B3A3-85012F031D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9858375"/>
              <a:ext cx="2857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13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13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반복 호출로 정형 분석보고서 배치 작성</a:t>
              </a:r>
            </a:p>
          </p:txBody>
        </p:sp>
        <p:sp>
          <p:nvSpPr>
            <p:cNvPr id="68" name="">
              <a:extLst xmlns:a="http://schemas.openxmlformats.org/drawingml/2006/main">
                <a:ext uri="{FF2B5EF4-FFF2-40B4-BE49-F238E27FC236}">
                  <a16:creationId xmlns:a16="http://schemas.microsoft.com/office/drawing/2014/main" id="{20D0F876-4EC4-4F15-813B-64750854FE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9382125"/>
              <a:ext cx="3305175" cy="742950"/>
            </a:xfrm>
            <a:prstGeom xmlns:a="http://schemas.openxmlformats.org/drawingml/2006/main" prst="roundRect">
              <a:avLst>
                <a:gd name="adj" fmla="val 897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92AFC7"/>
              </a:solidFill>
              <a:prstDash val="dash"/>
            </a:ln>
          </p:spPr>
        </p:sp>
        <p:sp>
          <p:nvSpPr>
            <p:cNvPr id="69" name="">
              <a:extLst xmlns:a="http://schemas.openxmlformats.org/drawingml/2006/main">
                <a:ext uri="{FF2B5EF4-FFF2-40B4-BE49-F238E27FC236}">
                  <a16:creationId xmlns:a16="http://schemas.microsoft.com/office/drawing/2014/main" id="{CBB444A6-B661-4BFA-A564-16DD9B75F8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14800" y="9324975"/>
              <a:ext cx="1066800" cy="209550"/>
            </a:xfrm>
            <a:prstGeom xmlns:a="http://schemas.openxmlformats.org/drawingml/2006/main" prst="roundRect">
              <a:avLst>
                <a:gd name="adj" fmla="val 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70" name="">
              <a:extLst xmlns:a="http://schemas.openxmlformats.org/drawingml/2006/main">
                <a:ext uri="{FF2B5EF4-FFF2-40B4-BE49-F238E27FC236}">
                  <a16:creationId xmlns:a16="http://schemas.microsoft.com/office/drawing/2014/main" id="{1BCD5685-AE25-4379-9480-0AC6FB573E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14800" y="9324975"/>
              <a:ext cx="10668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향후 고도화</a:t>
              </a:r>
            </a:p>
          </p:txBody>
        </p:sp>
        <p:sp>
          <p:nvSpPr>
            <p:cNvPr id="71" name="">
              <a:extLst xmlns:a="http://schemas.openxmlformats.org/drawingml/2006/main">
                <a:ext uri="{FF2B5EF4-FFF2-40B4-BE49-F238E27FC236}">
                  <a16:creationId xmlns:a16="http://schemas.microsoft.com/office/drawing/2014/main" id="{130BDD52-DEA4-4C60-A2E1-7CDCE10659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9582150"/>
              <a:ext cx="300037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172332"/>
                  </a:solidFill>
                  <a:latin typeface="Malgun Gothic"/>
                  <a:ea typeface="Malgun Gothic"/>
                  <a:cs typeface="Malgun Gothic"/>
                </a:rPr>
                <a:t>분석 이력의 지식화</a:t>
              </a:r>
            </a:p>
          </p:txBody>
        </p:sp>
        <p:sp>
          <p:nvSpPr>
            <p:cNvPr id="72" name="">
              <a:extLst xmlns:a="http://schemas.openxmlformats.org/drawingml/2006/main">
                <a:ext uri="{FF2B5EF4-FFF2-40B4-BE49-F238E27FC236}">
                  <a16:creationId xmlns:a16="http://schemas.microsoft.com/office/drawing/2014/main" id="{84C65211-089B-4660-85F3-99F318B339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9810750"/>
              <a:ext cx="302895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Sequence·Action·CumMap 축적</a:t>
              </a:r>
            </a:p>
          </p:txBody>
        </p:sp>
        <p:sp>
          <p:nvSpPr>
            <p:cNvPr id="73" name="">
              <a:extLst xmlns:a="http://schemas.openxmlformats.org/drawingml/2006/main">
                <a:ext uri="{FF2B5EF4-FFF2-40B4-BE49-F238E27FC236}">
                  <a16:creationId xmlns:a16="http://schemas.microsoft.com/office/drawing/2014/main" id="{45BABEC7-83DF-4D68-85D3-27B3A2E540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52900" y="9963150"/>
              <a:ext cx="302895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00" b="0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Workflow 검색·재사용 및 분석 추천</a:t>
              </a:r>
            </a:p>
          </p:txBody>
        </p:sp>
        <p:sp>
          <p:nvSpPr>
            <p:cNvPr id="74" name="">
              <a:extLst xmlns:a="http://schemas.openxmlformats.org/drawingml/2006/main">
                <a:ext uri="{FF2B5EF4-FFF2-40B4-BE49-F238E27FC236}">
                  <a16:creationId xmlns:a16="http://schemas.microsoft.com/office/drawing/2014/main" id="{F0E2314F-46A6-43BC-AB68-C0C6AD27D6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90925" y="9696450"/>
              <a:ext cx="266700" cy="1905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829BB1"/>
            </a:solidFill>
            <a:ln xmlns:a="http://schemas.openxmlformats.org/drawingml/2006/main" w="0">
              <a:noFill/>
            </a:ln>
          </p:spPr>
        </p:sp>
        <p:sp>
          <p:nvSpPr>
            <p:cNvPr id="75" name="">
              <a:extLst xmlns:a="http://schemas.openxmlformats.org/drawingml/2006/main">
                <a:ext uri="{FF2B5EF4-FFF2-40B4-BE49-F238E27FC236}">
                  <a16:creationId xmlns:a16="http://schemas.microsoft.com/office/drawing/2014/main" id="{2C88D624-A46B-4612-951C-E45BC4F5D2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2350" y="9429750"/>
              <a:ext cx="31432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00" b="1">
                  <a:solidFill>
                    <a:srgbClr val="416D93"/>
                  </a:solidFill>
                  <a:latin typeface="Malgun Gothic"/>
                  <a:ea typeface="Malgun Gothic"/>
                  <a:cs typeface="Malgun Gothic"/>
                </a:rPr>
                <a:t>확장</a:t>
              </a:r>
            </a:p>
          </p:txBody>
        </p:sp>
        <p:sp>
          <p:nvSpPr>
            <p:cNvPr id="76" name="">
              <a:extLst xmlns:a="http://schemas.openxmlformats.org/drawingml/2006/main">
                <a:ext uri="{FF2B5EF4-FFF2-40B4-BE49-F238E27FC236}">
                  <a16:creationId xmlns:a16="http://schemas.microsoft.com/office/drawing/2014/main" id="{A7758931-718F-4604-996C-9A1569C54F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" y="10134600"/>
              <a:ext cx="70104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1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00" b="1">
                  <a:solidFill>
                    <a:srgbClr val="586778"/>
                  </a:solidFill>
                  <a:latin typeface="Malgun Gothic"/>
                  <a:ea typeface="Malgun Gothic"/>
                  <a:cs typeface="Malgun Gothic"/>
                </a:rPr>
                <a:t>현업의 분석 과정과 판단 이력을 조직의 지식으로 축적</a:t>
              </a:r>
            </a:p>
          </p:txBody>
        </p:sp>
        <p:sp>
          <p:nvSpPr>
            <p:cNvPr id="77" name="">
              <a:extLst xmlns:a="http://schemas.openxmlformats.org/drawingml/2006/main">
                <a:ext uri="{FF2B5EF4-FFF2-40B4-BE49-F238E27FC236}">
                  <a16:creationId xmlns:a16="http://schemas.microsoft.com/office/drawing/2014/main" id="{DB76D619-3832-406E-83A1-B106A5046B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0267950"/>
              <a:ext cx="7162800" cy="466725"/>
            </a:xfrm>
            <a:prstGeom xmlns:a="http://schemas.openxmlformats.org/drawingml/2006/main" prst="roundRect">
              <a:avLst>
                <a:gd name="adj" fmla="val 12245"/>
              </a:avLst>
            </a:prstGeom>
            <a:solidFill xmlns:a="http://schemas.openxmlformats.org/drawingml/2006/main">
              <a:srgbClr val="344454"/>
            </a:solidFill>
            <a:ln xmlns:a="http://schemas.openxmlformats.org/drawingml/2006/main" w="9525">
              <a:solidFill>
                <a:srgbClr val="344454"/>
              </a:solidFill>
            </a:ln>
          </p:spPr>
        </p:sp>
        <p:sp>
          <p:nvSpPr>
            <p:cNvPr id="78" name="">
              <a:extLst xmlns:a="http://schemas.openxmlformats.org/drawingml/2006/main">
                <a:ext uri="{FF2B5EF4-FFF2-40B4-BE49-F238E27FC236}">
                  <a16:creationId xmlns:a16="http://schemas.microsoft.com/office/drawing/2014/main" id="{7DC75E4A-7B88-4957-9C09-8AB5BD4546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" y="10267950"/>
              <a:ext cx="6953250" cy="466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프로세스 개선과 검증의 반복으로 수율분석 역량을 지속 고도화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0776240"/>
      </p:ext>
    </p:extLst>
  </p:cSld>
</p:sld>
</file>

<file path=import3/ppt/tableStyles.xml><?xml version="1.0" encoding="utf-8"?>
<a:tblStyleLst xmlns:a="http://schemas.openxmlformats.org/drawingml/2006/main" def="{5C22544A-7EE6-4342-B048-85BDC9FD1C3A}"/>
</file>

<file path=import3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
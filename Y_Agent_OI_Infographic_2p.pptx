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6ea2f540b4240" /><Relationship Type="http://schemas.openxmlformats.org/officeDocument/2006/relationships/extended-properties" Target="/docProps/app.xml" Id="R173fd58cfb01436f" /><Relationship Type="http://schemas.openxmlformats.org/officeDocument/2006/relationships/officeDocument" Target="/ppt/presentation.xml" Id="R8310e9d24768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dae232047e49f1"/>
  </p:sldMasterIdLst>
  <p:notesMasterIdLst>
    <p:notesMasterId xmlns:r="http://schemas.openxmlformats.org/officeDocument/2006/relationships" r:id="R691a8feb23fc4d4e"/>
  </p:notesMasterIdLst>
  <p:sldIdLst>
    <p:sldId xmlns:r="http://schemas.openxmlformats.org/officeDocument/2006/relationships" id="256" r:id="R35812c004a0445bd"/>
    <p:sldId xmlns:r="http://schemas.openxmlformats.org/officeDocument/2006/relationships" id="257" r:id="Ra876ca67d8b74f68"/>
  </p:sldIdLst>
  <p:sldSz cx="7620000" cy="10782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bdae60ebcd4a74" /><Relationship Type="http://schemas.openxmlformats.org/officeDocument/2006/relationships/slideMaster" Target="/ppt/slideMasters/slideMaster1.xml" Id="Rb6dae232047e49f1" /><Relationship Type="http://schemas.openxmlformats.org/officeDocument/2006/relationships/notesMaster" Target="/ppt/notesMasters/notesMaster1.xml" Id="R691a8feb23fc4d4e" /><Relationship Type="http://schemas.openxmlformats.org/officeDocument/2006/relationships/presProps" Target="/ppt/presProps.xml" Id="Rda4857313965454a" /><Relationship Type="http://schemas.openxmlformats.org/officeDocument/2006/relationships/tableStyles" Target="/ppt/tableStyles.xml" Id="R117e885919f0451a" /><Relationship Type="http://schemas.openxmlformats.org/officeDocument/2006/relationships/slide" Target="/ppt/slides/slide1.xml" Id="R35812c004a0445bd" /><Relationship Type="http://schemas.openxmlformats.org/officeDocument/2006/relationships/slide" Target="/ppt/slides/slide2.xml" Id="Ra876ca67d8b7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be4871925942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d29581439046a0" /><Relationship Type="http://schemas.openxmlformats.org/officeDocument/2006/relationships/notesMaster" Target="/ppt/notesMasters/notesMaster1.xml" Id="Rc46c75c949a948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bfc70aee1e4464" /><Relationship Type="http://schemas.openxmlformats.org/officeDocument/2006/relationships/notesMaster" Target="/ppt/notesMasters/notesMaster1.xml" Id="Rbd6c8eae26b347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승인한 OI 인포그래픽 1장 및 Y_Agent_OI_Portrait_2p.pptx. Mining 3종 비교의 정량 성능 수치는 제공되지 않았음. Map과 Trend는 개념도.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승인한 OI 인포그래픽 2장 및 Y_Agent_OI_Portrait_2p.pptx. 81개는 도출된 개선 과제 수이며 완료 건수가 아님. 실제 이슈 7건 중 5건 검출. 나머지 2건은 미구현 분석 방법 필요. MCP × BoI Wiki 하네스를 통한 정형 분석보고서 배치 작성은 현재 구현. Sequence·Action·CumMap 축적, Workflow 검색·재사용 및 분석 추천은 향후 고도화 계획.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e0ac581ce4f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f2100ab7074852" /><Relationship Type="http://schemas.openxmlformats.org/officeDocument/2006/relationships/slideLayout" Target="/ppt/slideLayouts/slideLayout1.xml" Id="R1d367fa9357d45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67fa9357d45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709d67f7749de" /><Relationship Type="http://schemas.openxmlformats.org/officeDocument/2006/relationships/notesSlide" Target="/ppt/notesSlides/notesSlide1.xml" Id="Ra85da590d0504c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3185f19314db4" /><Relationship Type="http://schemas.openxmlformats.org/officeDocument/2006/relationships/notesSlide" Target="/ppt/notesSlides/notesSlide2.xml" Id="R9e872523b15b49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B46DC77-7FB7-46B9-9B3E-F89D69C1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28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소구 포인트  |  OI 측면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B951-8F7A-49A3-9541-AC0DC0EE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28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F0EA2-0B25-4794-8021-65D8B8A4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4800" y="4000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4445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615C8-7D23-4C48-91F1-7850056D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4350"/>
            <a:ext cx="7029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도메인 지식의 내재화를 통한</a:t>
            </a:r>
          </a:p>
          <a:p xmlns:a="http://schemas.openxmlformats.org/drawingml/2006/main">
            <a:pPr algn="l">
              <a:def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수율 분석의 본원적 경쟁력 강화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5E94B-C74D-4E09-944B-2F8885A3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02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숙련자의 판단 기준과 분석 방법을 Agent 실행 로직으로 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B9D2D-B424-4DD0-BA7D-CC9E680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57400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6C830-329F-478D-AC16-50A161B5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5740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AFA6A-FB31-46C1-BC38-23459092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본원적 경쟁력의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CAB14-EF01-49A4-A33F-9BF7ACE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66975"/>
            <a:ext cx="2171700" cy="14668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20BD4-F4AA-4DA1-A923-3049D94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열화 파악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0A6B2-978D-47EE-B060-BA98D1D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66975"/>
            <a:ext cx="2171700" cy="14668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D57AF-D597-4469-80BA-CE028496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원인 후보 축소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46BD6-6BBF-4C33-BF08-FCB38423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66975"/>
            <a:ext cx="2171700" cy="14668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EBE76-0A02-44C8-9B4A-326A0AAF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후속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55F69-2D9A-40FF-9A1F-A1A18E5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657D9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E269C-B7EE-40FA-971B-E1E96902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02799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0CEF2-2327-41CF-93B3-8DA50D0C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02799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84049-A804-49E6-AB45-69F5169F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02799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1415C-6887-4EA4-86A8-9DF0C4C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3" y="310229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2C113-593E-4339-B518-0EB1CE8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10229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86C09-0C7E-49F7-8A8F-91432490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10229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3E955-3307-4BAE-AD04-CAB6156F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10229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3414C-9CC3-4AAE-B366-DD266A80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10229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29D18-7836-4D30-B22C-12B828FA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" y="310229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46B29-DAC2-488E-AC95-7420E22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310229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220AC-F57B-449E-BB9B-59F0B42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3" y="317658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C749F-5D5B-43FC-808B-83AB3A18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17658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9E1A3-61D9-48E8-9C14-5B8A224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17658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8E3EC0-E75A-4EE9-9E43-9366F10B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17658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124DF-2BC2-45DA-9351-E56BC942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17658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A69F3-7085-4DB2-9B41-7F5B553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" y="317658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018EE3-C89E-4C3A-A177-2E449108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317658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5BB612-AC78-4A05-8874-90D096C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8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C6474B-365B-4D5E-9875-8C65D935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3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46BE6A-A2FA-4B8F-9C4E-C375F4FA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173406-97F9-4A7E-B114-8DABC90C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0D5997-F0E5-426F-8AD9-E9ED9321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CE7492-FE40-4629-BE6C-011DB85A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68E1F4-4A9F-4123-B65F-DDAE2B6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87A2FE-4908-4519-B6B9-58B251FA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2DB22F-15BD-4621-83F2-66ED28D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8" y="325088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47FA69-A0BF-433A-9902-0594ED5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8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1349B2-B82B-4766-834F-681E8E9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3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667621-9F6F-4FF9-BAA3-38BF3BE4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7BE9EE-E454-442D-978A-30A9989F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EB364C-EEC4-460F-8A0D-CB404FD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E00806-E7AE-4D4F-A40A-FD54858B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3620CC-6183-4854-93DB-85266E1A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D79409-479E-4B74-8C7C-8302911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BA8AB8-D1C4-46D6-9AC0-81BF4CEF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8" y="332517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AC7593-4D71-4FC4-8F69-9CAE14B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8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09FA4A-CD47-409D-8EFC-AD977E3B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3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D17E8B-37AD-4D2D-BF72-99C885FB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A4041A-DABE-4751-BEEF-C5A9E77F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13FB68-6EA6-4B74-9FEB-4E5558D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368C41-1759-4C4E-BC5A-E3A50B97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E04884-9BA9-41B1-8396-595C227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081F16-0AEF-48BC-A241-15F025B3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D00054-ADF3-4032-AA30-228466A9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8" y="339947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E5AB85-DD97-4A4D-B8BB-0BEF2689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3" y="347376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E6072F-465F-41D0-8BD9-1F724E48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47376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43AEBF-FD4E-4560-B117-5686D921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47376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6BF455-2442-426B-8E8E-003E1132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47376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CD3B01-26DD-48DB-9893-C9C1DB5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47376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105196-4C24-42CD-B1BF-01CD6BFE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" y="347376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A4F5DB-5B4A-4B20-A127-11E6A765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347376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AC6B18-A7D9-4769-B0B7-98247AA8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3" y="354806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9DB286-7F9A-48BA-9B3C-9693124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54806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B0D90E-00D2-4D7E-B913-690A8436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54806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13753A-4D78-467C-AA2D-A282B890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54806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501CF1-DEA3-4F31-B203-0D356C49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54806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47FF59-E4D7-41AA-B952-62ED0C7A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" y="354806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0759B2-5B6A-409A-B992-02BB660E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354806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AD3064-DC69-4EA1-A0C2-48D3C000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3" y="362235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E39540-AA0F-4273-A2EE-96193D60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8" y="362235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AFB816-B2F8-48F8-8CBB-806F2DB4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3622358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687696-9154-47D1-B612-9071AA0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77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DCBC6B-0EA7-4989-BA38-3DA4C4BD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68617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778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1125E2-0086-4846-BEAF-C2F55BD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09700" y="3246120"/>
            <a:ext cx="119743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58E440-C9BC-4565-AF61-C61AE810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9443" y="3246120"/>
            <a:ext cx="119743" cy="68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98EC44A-B0CD-4143-95B0-E2FD468D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49186" y="3314700"/>
            <a:ext cx="119743" cy="17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BBD8CE-C4B8-463A-A2AC-D3498AC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68929" y="3331845"/>
            <a:ext cx="119743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ACAE0E-5DEE-4A2C-BE41-6218F59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88671" y="3354705"/>
            <a:ext cx="119743" cy="2171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7697D7-7FEB-42B9-85D6-317AA02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08414" y="3366135"/>
            <a:ext cx="119743" cy="2057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E4ACCF-1826-4A9E-9165-AF1A99E9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28157" y="3320415"/>
            <a:ext cx="119743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070E04-583E-4F37-BF27-4E441738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" y="324802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AB2306-8089-4184-A88B-68949B1A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773" y="321945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90459ED-9805-4A3C-82E0-3BA29144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516" y="32880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C15211-ADE8-4BC2-82A6-A356DDB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259" y="330517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96DBA2-58CE-4825-88BD-D2E43AB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001" y="332803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5ECC2C6-4519-4215-817A-94F5776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744" y="35452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B2FBA7-3382-445F-8DB7-1C38373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487" y="333946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6074F46-70EB-4791-8704-55991C8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230" y="329374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8A15F34-0438-47C0-8E25-BBA55BF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384" y="337185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6454"/>
            </a:solidFill>
            <a:prstDash val="dash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158978-5AD4-4DA3-AC6E-0B665631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527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공정·자재·Map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95176A-AA51-49F6-B963-6BFD462A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58102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7F9A44-E885-41C3-B664-3CD55A82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581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6F09CF4-89C1-451C-8592-A9522C24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57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FAA6B8-38B4-45B9-8ACD-A4AC7DC5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61912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8E259C-969F-4DC6-9950-B7B6901A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후보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0821C9-335B-4B4F-A666-DAAA63E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38475"/>
            <a:ext cx="1781175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0B32F8-9A0F-4FAD-83DF-5E7C229B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38475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0E3C1A-FA66-41D0-8DEB-2F333B63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57575"/>
            <a:ext cx="1781175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C61DB0-3E2C-4A82-936A-6C423B1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57575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추가 분석 선택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7E77FD2-32E2-4F76-9413-9F728E36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1428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436C5C-540D-49D5-854F-0EE66969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52775"/>
            <a:ext cx="1428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2AFB231-0AA1-4E69-B7B5-5A166C9E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57650"/>
            <a:ext cx="70104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875FBCC-721C-439F-967C-86909BD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57650"/>
            <a:ext cx="680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열화를 파악하고 원인 후보를 좁혀, 후속 판단으로 연결하는 역량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37613D-BD32-45D7-9C4B-42ADB33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94485D-ACD9-40D0-BB83-A44B1CC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517A0CD-7723-4644-985C-F1F5776E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숙련자의 판단을 실행 로직으로 전환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FAA9346-3DFB-4B15-A99E-0B2BE882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1638300" cy="139065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20199B2-92E0-47BB-81CB-3166DEF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D93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1061BE-AA48-4C1D-88B3-C026573C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E903F1-F8FC-40B2-A140-877A27AB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3397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숙련자 판단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F297D11-FA5F-42D4-A0ED-75C2109E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38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OPLS SOP 검토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B03A435-4229-49A7-9BD8-3C19CFD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531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현업 인터뷰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CA97E69-4634-4993-864B-48568FF9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19750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3A40A3F-B67C-46BF-A4E3-BC4F8F4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1638300" cy="139065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90532FC-7077-49DE-962F-A0F74109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D93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83C71AE-EE03-429B-9C77-9BBA2AA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43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FF2425C-1AF3-4D7D-977B-76D6FFE2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13397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로직화·비교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E507039-5E0B-4963-94EB-A70E70D9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38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분석 순서·입력 정의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25B037-DC0B-43A1-8DA9-F126411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531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해석 기준 비교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986C0A7-03AF-44CD-B8E0-0B9B717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19750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A061C80-52D3-492D-8EF1-22658830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10150"/>
            <a:ext cx="1638300" cy="139065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AFB4B8D-3B1B-4CC8-97FB-B3D59DFE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D93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3B4258E-9C2F-4C60-AB6E-CE08129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A38EBDC-A7DD-4EEF-9F3A-B01A40D4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3397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Agent 구현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9BAC2D0-D081-4FDD-AB29-EADC70F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638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전문 Agent 분석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250DACD-ABC4-4D2D-8939-D563C8F7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9531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Workflow 연결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210B9C4-6518-40D3-8BC6-6754187B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19750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3505161-BAA1-422A-8F8B-E3604E64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10150"/>
            <a:ext cx="1638300" cy="139065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493FE8F-825C-4ADF-84DB-C333AC93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D93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3A27DC2-7C1F-4629-94FF-26A5145E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43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C4A1A41-87E0-4128-9B88-983471F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3397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현업 검증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DB13307-A466-471D-AEBE-F68C11B0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38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실제 결과 비교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85942D1-C1F8-4FAC-9DE4-14A7F9C8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531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보완 사항 반영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69BD8EA-FD7E-43A4-9E88-CC927870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15100"/>
            <a:ext cx="70104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94D5937-F697-4F4D-8EAD-9EE1E4BD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1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무엇을 확인할지     →     어떻게 해석할지     →     다음에 무엇을 분석할지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6E8FC99-8A6D-45BD-BE26-3716B270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0389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D240436-61B1-49CC-8B09-0DF666B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03897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C63B9BA-4899-47A6-BFFB-E84735D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38975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현업 지식을 내재화한 대표 Agent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CFCB206-F9D7-40B0-A1EE-D18E9035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58075"/>
            <a:ext cx="3438525" cy="2143125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4651C47-58E9-430E-BB2B-22FA40FF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7458075"/>
            <a:ext cx="3438525" cy="2143125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9E0A559-8D7B-4D27-8392-BAFC39F6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628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열화감지 Agent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D21AB97-EA0F-457F-8D6B-CDC756F8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76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현업의 열화감지 로직 구현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69270A5-5F3C-4B1E-BD55-296D4826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5775" y="8353425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778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B9B7823-6F65-4F4C-993B-58FA6889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5775" y="8982075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778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C53EAF0-01BA-4C2F-A8B9-9941B173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5775" y="8498015"/>
            <a:ext cx="133350" cy="31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543E430-B622-4DF7-AFEF-1838B809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9125" y="8498015"/>
            <a:ext cx="133350" cy="75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FDA6FF-3153-43B1-A51D-AF09BBED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2475" y="8573453"/>
            <a:ext cx="133350" cy="18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7594838-25A3-4273-A0B3-5C312924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5825" y="8592312"/>
            <a:ext cx="133350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E34F2CA-7492-44A5-A4A1-CEA05A6E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9175" y="8617458"/>
            <a:ext cx="133350" cy="2388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C4479E7-7346-4B05-A7E6-4807E2B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2525" y="8630031"/>
            <a:ext cx="133350" cy="2263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3F51C26-C92E-4C12-B540-06227342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85875" y="8579739"/>
            <a:ext cx="13335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D93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9042D5F-8123-47BD-B0CB-9C80FA07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" y="850277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AA310CD-C957-4109-8A7B-766B2660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" y="847134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888C35C-855C-45A7-B66E-6E3D9E21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" y="854678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F22CD48-13C1-4139-9565-6AA4A62F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" y="856564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6CB5A92-9705-4945-ABD3-6977D52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" y="859078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F0CBD36-FF73-4425-9A38-512B388B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" y="882967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57F87D1-E36B-4D98-9B03-765E4F95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" y="860336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4D79F5D-1542-4BB7-86CC-84B21118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" y="855306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16D93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13BC87A-1919-486E-8A77-EBEC368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4" y="8636318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6454"/>
            </a:solidFill>
            <a:prstDash val="dash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9D87AAC-B992-4190-AD8F-CCF05A76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562975"/>
            <a:ext cx="2381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AD06898-A775-4EF3-A6E5-D201A5D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8267700"/>
            <a:ext cx="523875" cy="7429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B2C8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5698EA2-23F7-4932-8C86-9EDB42B5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382000"/>
            <a:ext cx="371475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5D3E0"/>
          </a:solidFill>
          <a:ln xmlns:a="http://schemas.openxmlformats.org/drawingml/2006/main" w="9525">
            <a:solidFill>
              <a:srgbClr val="C5D3E0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220ACED-EFDA-496E-B8DB-93F2AD98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524875"/>
            <a:ext cx="371475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5D3E0"/>
          </a:solidFill>
          <a:ln xmlns:a="http://schemas.openxmlformats.org/drawingml/2006/main" w="9525">
            <a:solidFill>
              <a:srgbClr val="C5D3E0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E60C80C-B71C-4A8C-892A-297789DB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667750"/>
            <a:ext cx="371475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5D3E0"/>
          </a:solidFill>
          <a:ln xmlns:a="http://schemas.openxmlformats.org/drawingml/2006/main" w="9525">
            <a:solidFill>
              <a:srgbClr val="C5D3E0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CCA0913-3B37-41FD-AA1B-B965D4F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562975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9CA0C6B-0D9F-41C2-B850-A2D1253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286750"/>
            <a:ext cx="666750" cy="704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88284B6-9D3F-418E-AF55-B4AE7ACF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334375"/>
            <a:ext cx="590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후속</a:t>
            </a:r>
          </a:p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3079F2F-3D12-4300-B60D-3F7B2263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05827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수율 데이터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B029366-CB30-4A10-A2EA-1C00D0E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0582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열화 내용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6E2CDA9-73E9-4259-8B88-CC5B139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35355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기간별 수율 확인과 분석 대상 검토를 한 환경에서 수행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3B6BE8B-1DC5-4D2F-AC16-0012DAAD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562850"/>
            <a:ext cx="309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Mining Agent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51AE2FB-1164-4F74-A124-A1455233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86765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분류 머신러닝 × Wafer Map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7D289B3-421E-487C-9545-5F1088B2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82296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657D94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11BD15D-F82D-48E0-B96D-B53C7A8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26865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AF1E747-C74A-4E99-99E5-9E58B9EF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26865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6CD0B49-782B-41F9-94DF-66D4FA2A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26865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9EE50FC-ADF7-4D72-AC41-264540DC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5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043A111-3D77-492E-ADB9-F2B97566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2D567FB-8014-4042-A74E-A1B6898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6AFCF47-2E80-4C4A-9649-E170B99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6519B3D-6386-411C-9D28-A5EB0BFF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A114696-5AAA-4CDC-8750-BF8C2612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383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0742ED6-7EC8-4DE1-B37E-63787B47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22E224A-A798-4F80-AC0E-4B6ECAF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5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D7FD4B2-2BA5-4187-9B8D-04DD9AFE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F1A9AD6-8675-41CA-B94A-79CCEE6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CF92FAB-A5DE-4FC5-86BF-3E10C490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5D3F028-FFD7-41B7-9E53-70F4D983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8896B30-FF35-4675-AAD8-C3BC05F4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383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ACF20BB-FD0A-437D-9EFC-03F1230A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D5DDBD6-53A1-4515-8159-0F622530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75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680DA85-8B1E-4717-AAD4-AAD439BC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5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EDEA112-9B9C-4511-A2D8-32E6EB8E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BA463F3-18AA-4E93-9577-166214C9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AC92990-3104-4C9F-A285-A1AFD980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A57BCA0-ACC1-4B43-96A9-86FB50C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E42F7BD-8E79-4B59-8500-C852EFD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38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9A6DD28-FC41-4028-99F5-A1B372DB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4DA75B8-522A-40B0-A3D9-1890F657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59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2CD9B9F-239C-4308-8866-554D8EFD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75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1C01E8E-AD05-4878-8767-8B658B80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5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5896105-C162-4B70-9999-A12E010B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A6E2EBC-26AB-457E-92A8-92A1C45F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9264D43-3F60-4D29-BF83-310C13E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947C2CD-A7B2-450B-B318-E9D2953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9DBD694-8274-4649-9052-9CC81895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38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822045F-61D2-4132-9B01-CD8E0254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B971D76-7907-4129-8D0C-77D59F1A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59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D9BF89A-0507-489C-8895-EB1B732B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75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487C90E-C365-40FD-8BD0-202117E6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5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8934424-59FB-4B91-BABC-8F4B6886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25516C8-FF15-4923-AB1D-BD3E881E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F857EAC-9B1C-451C-91F5-F0120B2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7B35A8C-62DA-471E-8870-A65CAA61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CCAF877-2DCD-4496-B338-175E870E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38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0D6E06F-70A5-43FA-97B5-7BB277C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10921B9-14D8-4C6B-A907-95F6FFD6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59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27702B5-4489-44FD-AE0A-5AEDFE0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5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86F9171-1052-408A-B7E5-74B8C156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C58639E-4690-4B48-A32B-9211AA8D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68B48F8-B69F-440C-9361-D78E405E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0177841-6D37-4B6E-AFF3-FEC7F7E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3CC4CFA-BBE0-43B0-8C44-B18C51EB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383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30B715E-9E84-4C39-9025-2C8A92F9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8D2A721-AC3A-406B-8256-A5C12824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5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BA05917-479C-4602-9C36-890318B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31018A4-91B3-4EB7-98C6-145CA42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F89BCEE-78B0-402E-87A5-A17D434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6E4B3EA-AF8A-4707-AAF6-C2B8DC17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9210839-CBF2-4687-99F1-9DFE3895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383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76E9DA2-F691-4C3F-812C-3A882B6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35BCD52-D4E8-40DD-95E9-5F557B37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889349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B0103C5-63EB-45C3-AC31-8E206B70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889349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0F86C5F-E71E-47C5-933A-217A54CA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889349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F85FCD7-9C95-4A14-8878-5FB0535A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543925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3E71B09-B52A-4D68-B52C-294125AF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353425"/>
            <a:ext cx="619125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4AEE87E-3423-4C0D-A096-42843859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372475"/>
            <a:ext cx="54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유사</a:t>
            </a:r>
          </a:p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양상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86F7273-2E01-4506-B468-302E9E4C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543925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3C8A270-6F78-46A7-93D6-BCF40FA1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2296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657D94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47A8DA1-8EDC-42D0-BE83-156D9302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26865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7A49062-CCB9-4C53-9112-9D97BED0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26865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94C9967-4F2A-4471-8699-EF6DED07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26865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B82EBA6-2EA0-4820-B53C-E081CF09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42023FC-EC1F-4A1A-B5CD-39D0A105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EEA9649D-1463-4633-AA0E-AF6D5258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C572725-F6CA-4B0D-A797-D59453C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82DDE89-BB06-4AFF-BF7C-21A8691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7188CB1-F2BD-4491-B7B7-C2B050AC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1A2864E-10C2-4CB1-BB3B-21A77CE8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834675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862E70B-0472-4569-9E07-5EA87E62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0A0A91D-317A-473C-A634-F02FED88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E167EF6-C127-409E-9768-737E357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1FA22E0-1EE6-4F84-836B-A0DBEE5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EFB457B-859D-4DB2-B014-5507666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224DF9A-5F7B-4B1D-BFDC-7877B05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47D4F6F-4755-4DB5-B751-E094C080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842486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88B2C90-E238-41B2-A3ED-6C0DA0E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55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AFDD8B0-A9D2-45A7-8B65-D8C4E5E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03D2CBB-DBA9-417D-82F6-13FFEAD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782EAE5-CD18-45AB-AF1F-36A0ACB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FDF906E-2247-4731-9B47-C6177E5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4D249A9-DFB4-47B0-B501-98FBB21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4E8521D-7637-4ED8-8804-86AE7260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441A5AF-650E-410F-AE22-733836C1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86E1290-2FEF-4D90-B7EA-6726064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393" y="850296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7055BAE-2A2B-46B6-99C5-58FFFD7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55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1E9A84B-BF8A-4746-BFE8-478C0D6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5837BA4-3B54-4953-8512-EC22E3D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0A97ABB-7AFB-46CF-9AAC-EDDDB41A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98BFD3A6-220C-48CE-B4C1-789868ED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A508B91-0E9B-4381-A6AB-9B3592E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27FFF209-AB11-4075-9AF2-B1A5F519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26828FA-6036-41D4-AF38-2272C950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6496185-4274-41E9-88BA-F23887E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393" y="858107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3992F2F-4100-4B3E-A88E-924768FA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55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0050BF81-BAA8-4E52-BB08-6B07C698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7956401-05A8-4F06-9302-EDAB330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E3CF615-788F-4A35-B58E-BC134606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38F6605-0FCB-4883-9F3C-61F3D831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06A0A3E-0B9A-4F5E-B8ED-8B892823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35A6B96-53C7-4476-800D-DD1D9CB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8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F5660CE-454C-4A37-BD9E-9F52A7BE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9F57B8C-0778-41FE-BD59-6F5A215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393" y="865917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461AF91-92D1-416B-9EC4-162F2E0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0B498FA-5E52-4A21-A18A-A85F482A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AE5885A-FA30-43F3-B717-794C132E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EEF757B-6B4D-40F0-B304-379F182F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E878D488-09ED-4833-9253-2E09F49D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331179A-92E0-4023-99D8-92FDBF41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877D871-8E1B-4042-BECC-99DFEEE8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873728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A0730C5F-A49A-49C1-9B6A-DB29BF1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3173720-D1B8-4E7C-B461-320AA57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F9A1AFFB-24FA-45D2-9552-106F35B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FFD669E-6994-4828-ACAD-E456933B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07083C81-B587-42DF-89FE-57FF5AE1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88CFF189-9F8B-4C5F-BEF4-F8887AC0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365B88D-FF3D-4E56-B5F5-4E2097E4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8815388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3D20487-6CB9-4FB4-9266-EF715B5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889349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A837611-9A3C-4BCD-B679-0C735C1B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889349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ABA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066EBA2D-645A-4180-A007-4F88637B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8893493"/>
            <a:ext cx="6858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0350D8B-1997-47F0-A43E-A14F283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9058275"/>
            <a:ext cx="838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Fail Map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79E2A5D-7265-4668-9F95-38D0070D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0582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원인 후보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2925D88-8A0E-42A7-A580-89E36EE7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935355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불량 분포와 유사한 원인 후보를 추출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21B43FB-B5B6-460A-B6C0-D2B865C1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705975"/>
            <a:ext cx="70104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7D7347B-4261-479B-BCAA-B460548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059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비교 검증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A1875E3-77E1-4E42-9A19-33E21CD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9705975"/>
            <a:ext cx="589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3가지 Mining 결과 비교에서 도메인 지식 기반 방식의 우수성 확인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BD58BDF5-FFC5-40D7-A709-A7DBED07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039350"/>
            <a:ext cx="7010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Map·Trend는 개념도이며 정량 성능 수치는 미표기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07562D4-6155-4C0F-A18E-8B4BC0DF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0267950"/>
            <a:ext cx="71628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344454"/>
          </a:solidFill>
          <a:ln xmlns:a="http://schemas.openxmlformats.org/drawingml/2006/main" w="9525">
            <a:solidFill>
              <a:srgbClr val="344454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CFDAC9A-B687-466F-8547-3721680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267950"/>
            <a:ext cx="695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숙련자의 전문성을 반복 활용 가능한 분석 역량으로 내재화</a:t>
            </a:r>
          </a:p>
        </p:txBody>
      </p:sp>
    </p:spTree>
    <p:extLst>
      <p:ext uri="{BB962C8B-B14F-4D97-AF65-F5344CB8AC3E}">
        <p14:creationId xmlns:p14="http://schemas.microsoft.com/office/powerpoint/2010/main" val="372435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CBD638-8B2C-46AA-B989-1C19113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28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소구 포인트  |  OI 측면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0A5E7-A9D8-4AA3-8BE8-4A3FD4BF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28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CFB88-9D52-4E3C-98A6-130D76B4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4800" y="4000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4445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CFE8C-8DF0-466D-A7AA-069DE20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4350"/>
            <a:ext cx="7029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분석 전 과정의 재설계와</a:t>
            </a:r>
          </a:p>
          <a:p xmlns:a="http://schemas.openxmlformats.org/drawingml/2006/main">
            <a:pPr algn="l">
              <a:def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현업 검증 기반 지속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65D7E-9A1C-4834-BAA6-21B16A6C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02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업무 연결 구조를 개선하고, 실제 사용에서 나온 요구를 고도화에 반영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517F1-D8C2-4060-A156-D8311D21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57400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67499-1946-45C2-9249-A498EAB5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5740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A8868-FD56-4DAB-8C11-72FEB326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분석 프로세스의 개선 전후</a:t>
            </a:r>
          </a:p>
        </p:txBody>
      </p:sp>
      <p:graphicFrame>
        <p:nvGraphicFramePr>
          <p:cNvPr id="87" name=""/>
          <p:cNvGraphicFramePr/>
          <p:nvPr/>
        </p:nvGraphicFramePr>
        <p:xfrm>
          <a:off xmlns:a="http://schemas.openxmlformats.org/drawingml/2006/main" x="304800" y="2466975"/>
          <a:ext xmlns:a="http://schemas.openxmlformats.org/drawingml/2006/main" cx="70104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7325"/>
                <a:gridCol w="2638425"/>
                <a:gridCol w="2914650"/>
              </a:tblGrid>
              <a:tr h="361950"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350" b="1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E1E7EC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350" b="1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업무 방식</a:t>
                      </a:r>
                    </a:p>
                  </a:txBody>
                  <a:tcPr marL="91440" marR="91440" marT="45720" marB="45720" anchor="ctr">
                    <a:solidFill>
                      <a:srgbClr val="E1E7EC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350" b="1">
                          <a:solidFill>
                            <a:srgbClr val="416D9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Y-Agent 기반 개선</a:t>
                      </a:r>
                    </a:p>
                  </a:txBody>
                  <a:tcPr marL="91440" marR="91440" marT="45720" marB="45720" anchor="ctr">
                    <a:solidFill>
                      <a:srgbClr val="D5E3EF"/>
                    </a:solidFill>
                  </a:tcPr>
                </a:tc>
              </a:tr>
              <a:tr h="395288"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1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준비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분석마다 조회·추출·정리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416D9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전처리·DB 적재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  <a:tr h="395288"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1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환경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시스템과 도구 이동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416D9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 환경에서 자연어 분석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  <a:tr h="395288"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1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분석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경험으로 다음 분석 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416D9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기반 추천 + 엔지니어 선택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  <a:tr h="395288"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1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도구 연계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17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화면을 별도로 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/>
                    <a:lstStyle/>
                    <a:p>
                      <a:pPr algn="ctr"/>
                      <a:r>
                        <a:rPr sz="1163" b="0">
                          <a:solidFill>
                            <a:srgbClr val="416D9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SmartFactory 동일 Trend 연계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8D2D4-0CE6-4312-AA45-90335F5E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72000"/>
            <a:ext cx="7010400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92AF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34E41-BA69-4E80-A146-5F674DD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6722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하나의 분석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D21A5-106A-426F-868F-9D05BA8C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42875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D9A50-B000-4DF8-92ED-D8027F3F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데이터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A0C26-4F66-45A0-9481-D559289F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87680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5393A-22F5-483E-8B2F-A7D0E7F7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91075"/>
            <a:ext cx="142875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75F66-364A-4A0C-9B06-123B9731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910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분석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905A7-2705-4640-BAC0-43E0AABD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87680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D4D37-7AAF-4CB4-9EB0-38F56894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91075"/>
            <a:ext cx="142875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EBA18-CFAF-4195-B981-60358FD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910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2C2BD-5DB8-416C-8E2B-22FB0BD2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7680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5DCD2-E93E-4574-9DBA-3EE8E17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91075"/>
            <a:ext cx="142875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79107-C6EE-4477-BE04-2C5EA585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910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후속 분석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9BC58-144E-4A7D-B9ED-8219507B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87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8D104-72E0-41E4-9E64-E92B9D1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877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3C30E-AAC2-43EB-B4B3-AE8046F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현업 사용과 검증을 통한 개선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CB9FD-5EC9-47D2-B323-6AC1BEF1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8864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D9CB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50691-B4DC-4058-92A6-6D6CCF36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134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실제 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3C807-024C-42CA-A54E-9EDF5EFF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467475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엔지니어 직접 분석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DD556-31C2-4D19-9F6A-EB418A01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8770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D9CB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A2CD4-D8CC-4F6B-850D-77FD9B87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712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Daily 검토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A98F7D-2C20-4997-AF30-C1DB70CD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458075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결과·불편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36317-FD98-46DA-BB3C-A38DBEC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8676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D9CB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BA82E-78A6-4F37-9562-B802CE91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1153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개선 반영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B62A7-BC7A-4C69-BE38-DC36978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448675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기능·로직 보완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EEC11-E8C7-4140-A98E-6002AF6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8770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D9CB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18FDE-23A4-4C96-90BD-63C5FDA1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재검증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1AF0A4-9032-49D9-925A-E2CD0102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458075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실제 이슈로 확인</a:t>
            </a:r>
          </a:p>
        </p:txBody>
      </p:sp>
      <p:cxnSp>
        <p:nvCxnSpPr>
          <p:cNvPr id="116" name=""/>
          <p:cNvCxnSpPr>
            <a:stCxn xmlns:a="http://schemas.openxmlformats.org/drawingml/2006/main" id="29" idx="1"/>
            <a:endCxn xmlns:a="http://schemas.openxmlformats.org/drawingml/2006/main" id="26" idx="5"/>
          </p:cNvCxnSpPr>
          <p:nvPr/>
        </p:nvCxnSpPr>
        <p:spPr>
          <a:xfrm xmlns:a="http://schemas.openxmlformats.org/drawingml/2006/main" flipH="1" flipV="1">
            <a:off x="2302855" y="6731980"/>
            <a:ext cx="385390" cy="29014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9C0"/>
            </a:solidFill>
            <a:head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32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V="1">
            <a:off x="2302855" y="7722580"/>
            <a:ext cx="385390" cy="29014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9C0"/>
            </a:solidFill>
            <a:head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35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217005" y="7722580"/>
            <a:ext cx="385390" cy="29014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9C0"/>
            </a:solidFill>
            <a:head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35" idx="7"/>
          </p:cNvCxnSpPr>
          <p:nvPr/>
        </p:nvCxnSpPr>
        <p:spPr>
          <a:xfrm xmlns:a="http://schemas.openxmlformats.org/drawingml/2006/main" flipH="1">
            <a:off x="1217005" y="6731980"/>
            <a:ext cx="385390" cy="29014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9C0"/>
            </a:solidFill>
            <a:head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AE04B7-7660-45E4-8B4A-96431E76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72300"/>
            <a:ext cx="962025" cy="962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F0"/>
          </a:solidFill>
          <a:ln xmlns:a="http://schemas.openxmlformats.org/drawingml/2006/main" w="12383">
            <a:solidFill>
              <a:srgbClr val="D8E5F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F10024-689E-4D5E-BAF4-80AB535C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096125"/>
            <a:ext cx="962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현업</a:t>
            </a:r>
          </a:p>
          <a:p xmlns:a="http://schemas.openxmlformats.org/drawingml/2006/main">
            <a:pPr algn="ctr">
              <a:defRPr sz="172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피드백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92C2E1-CDF9-4C65-B548-CD661B8E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3390900" cy="1362075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FC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2DE349-82EC-4F75-8889-7C3CD9CC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00075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81개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E1EEEC-9052-4A1E-B1D6-8059F8ED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57225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개선 과제 도출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4E16FD-E57F-4D5E-92AB-FF0F45B5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896100"/>
            <a:ext cx="2952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현업 요구와 피드백을 고도화 과제로 구체화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C993CE-D30E-443E-AEE4-BE1D8D9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048500"/>
            <a:ext cx="293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도출 건수이며 완료 건수는 아님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83BF80-B134-4352-8622-F07C363F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458075"/>
            <a:ext cx="3390900" cy="140017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FC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150F9F-2135-4E81-A787-C017A1C3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515225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5 / 7건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0B4702-2DD2-4382-A61F-FD4A407A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8048625"/>
            <a:ext cx="290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실제 이슈 검출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4D46EB-2E00-4166-A896-CAA14BA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391525"/>
            <a:ext cx="266700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70E76C-840E-4272-862E-4864CE6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8391525"/>
            <a:ext cx="266700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2EF8A3-84D3-4FEB-808E-E8C66FA4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8391525"/>
            <a:ext cx="266700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2A6E2A-D132-4564-AADD-E40F1D27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391525"/>
            <a:ext cx="266700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775CF6-B83C-4CEA-988B-199B6034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391525"/>
            <a:ext cx="266700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71F043-7DC1-430A-8035-4CF4E20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8391525"/>
            <a:ext cx="266700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2E6"/>
          </a:solidFill>
          <a:ln xmlns:a="http://schemas.openxmlformats.org/drawingml/2006/main" w="9525">
            <a:solidFill>
              <a:srgbClr val="DDE2E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3E73E8-CB9A-40BA-81B9-776262FB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8391525"/>
            <a:ext cx="266700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2E6"/>
          </a:solidFill>
          <a:ln xmlns:a="http://schemas.openxmlformats.org/drawingml/2006/main" w="9525">
            <a:solidFill>
              <a:srgbClr val="DDE2E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36B3F9-70F8-4737-B272-069850C8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86677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나머지 2건: 미구현 분석 방법 필요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55B20B-B0D2-44C1-84B9-A5D50FE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0201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16D93"/>
          </a:solidFill>
          <a:ln xmlns:a="http://schemas.openxmlformats.org/drawingml/2006/main" w="9525">
            <a:solidFill>
              <a:srgbClr val="416D9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B7F76E-023B-4097-9B1F-33C09F43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02017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EA036E-0071-45F7-B9DE-1C346B3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020175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구현 경험을 바탕으로 지식화 확장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A1CF64-BEC1-4CF9-93A5-9CA94B6A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382125"/>
            <a:ext cx="3152775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FC7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5624CE-86F4-48AD-8FB5-8F3AA572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324975"/>
            <a:ext cx="990600" cy="209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1C935D-E713-42CC-B7DD-2E639564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3249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265650-9AD9-4EE3-8078-B85C7388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821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MCP × BoI Wiki 하네스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E0EB40-700F-48FC-B3A3-85012F0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858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반복 호출로 정형 분석보고서 배치 작성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D0F876-4EC4-4F15-813B-64750854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9382125"/>
            <a:ext cx="3305175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2AFC7"/>
            </a:solidFill>
            <a:prstDash val="dash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B444A6-B661-4BFA-A564-16DD9B75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324975"/>
            <a:ext cx="1066800" cy="209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CD5685-AE25-4379-9480-0AC6FB5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3249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향후 고도화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0BDD52-DEA4-4C60-A2E1-7CDCE106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95821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332"/>
                </a:solidFill>
                <a:latin typeface="Malgun Gothic"/>
                <a:ea typeface="Malgun Gothic"/>
                <a:cs typeface="Malgun Gothic"/>
              </a:rPr>
              <a:t>분석 이력의 지식화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C65211-089B-4660-85F3-99F318B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981075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Sequence·Action·CumMap 축적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BABEC7-83DF-4D68-85D3-27B3A2E5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996315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Workflow 검색·재사용 및 분석 추천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E2314F-46A6-43BC-AB68-C0C6AD2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96964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9BB1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88D624-A46B-4612-951C-E45BC4F5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9429750"/>
            <a:ext cx="314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16D93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758931-718F-4604-996C-9A1569C5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134600"/>
            <a:ext cx="7010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67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86778"/>
                </a:solidFill>
                <a:latin typeface="Malgun Gothic"/>
                <a:ea typeface="Malgun Gothic"/>
                <a:cs typeface="Malgun Gothic"/>
              </a:rPr>
              <a:t>현업의 분석 과정과 판단 이력을 조직의 지식으로 축적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B76D619-3832-406E-83A1-B106A504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0267950"/>
            <a:ext cx="71628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344454"/>
          </a:solidFill>
          <a:ln xmlns:a="http://schemas.openxmlformats.org/drawingml/2006/main" w="9525">
            <a:solidFill>
              <a:srgbClr val="344454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C75E4A-7B88-4957-9C09-8AB5BD4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267950"/>
            <a:ext cx="695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프로세스 개선과 검증의 반복으로 수율분석 역량을 지속 고도화</a:t>
            </a:r>
          </a:p>
        </p:txBody>
      </p:sp>
    </p:spTree>
    <p:extLst>
      <p:ext uri="{BB962C8B-B14F-4D97-AF65-F5344CB8AC3E}">
        <p14:creationId xmlns:p14="http://schemas.microsoft.com/office/powerpoint/2010/main" val="1590776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2026-09-22T22:40:27.2740000Z</dcterms:created>
  <dcterms:modified xsi:type="dcterms:W3CDTF">2026-09-22T22:40:27.2740000Z</dcterms:modified>
</coreProperties>
</file>
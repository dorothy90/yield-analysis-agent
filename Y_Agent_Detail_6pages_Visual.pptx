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d470d25c384dca" /><Relationship Type="http://schemas.openxmlformats.org/officeDocument/2006/relationships/extended-properties" Target="/docProps/app.xml" Id="R2d8c31e60cbb4c82" /><Relationship Type="http://schemas.openxmlformats.org/officeDocument/2006/relationships/officeDocument" Target="/ppt/presentation.xml" Id="Rb9cfcba4e23741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ffb4e4abd64add"/>
  </p:sldMasterIdLst>
  <p:notesMasterIdLst>
    <p:notesMasterId xmlns:r="http://schemas.openxmlformats.org/officeDocument/2006/relationships" r:id="R21b819fc6cd144a7"/>
  </p:notesMasterIdLst>
  <p:sldIdLst>
    <p:sldId xmlns:r="http://schemas.openxmlformats.org/officeDocument/2006/relationships" id="256" r:id="R454c7f907f734788"/>
    <p:sldId xmlns:r="http://schemas.openxmlformats.org/officeDocument/2006/relationships" id="257" r:id="R7f8e2c278a9b4dd6"/>
    <p:sldId xmlns:r="http://schemas.openxmlformats.org/officeDocument/2006/relationships" id="258" r:id="Rd211bc43e05e44f8"/>
    <p:sldId xmlns:r="http://schemas.openxmlformats.org/officeDocument/2006/relationships" id="259" r:id="R2c2e5a6b73ed48cd"/>
    <p:sldId xmlns:r="http://schemas.openxmlformats.org/officeDocument/2006/relationships" id="260" r:id="R9099372517f14a7a"/>
    <p:sldId xmlns:r="http://schemas.openxmlformats.org/officeDocument/2006/relationships" id="261" r:id="Ra632314fcf684695"/>
  </p:sldIdLst>
  <p:sldSz cx="10039350" cy="14211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a9779e162b406c" /><Relationship Type="http://schemas.openxmlformats.org/officeDocument/2006/relationships/slideMaster" Target="/ppt/slideMasters/slideMaster1.xml" Id="R70ffb4e4abd64add" /><Relationship Type="http://schemas.openxmlformats.org/officeDocument/2006/relationships/notesMaster" Target="/ppt/notesMasters/notesMaster1.xml" Id="R21b819fc6cd144a7" /><Relationship Type="http://schemas.openxmlformats.org/officeDocument/2006/relationships/presProps" Target="/ppt/presProps.xml" Id="R9a99167561a2423d" /><Relationship Type="http://schemas.openxmlformats.org/officeDocument/2006/relationships/tableStyles" Target="/ppt/tableStyles.xml" Id="R227fd39075f544a0" /><Relationship Type="http://schemas.openxmlformats.org/officeDocument/2006/relationships/slide" Target="/ppt/slides/slide1.xml" Id="R454c7f907f734788" /><Relationship Type="http://schemas.openxmlformats.org/officeDocument/2006/relationships/slide" Target="/ppt/slides/slide2.xml" Id="R7f8e2c278a9b4dd6" /><Relationship Type="http://schemas.openxmlformats.org/officeDocument/2006/relationships/slide" Target="/ppt/slides/slide3.xml" Id="Rd211bc43e05e44f8" /><Relationship Type="http://schemas.openxmlformats.org/officeDocument/2006/relationships/slide" Target="/ppt/slides/slide4.xml" Id="R2c2e5a6b73ed48cd" /><Relationship Type="http://schemas.openxmlformats.org/officeDocument/2006/relationships/slide" Target="/ppt/slides/slide5.xml" Id="R9099372517f14a7a" /><Relationship Type="http://schemas.openxmlformats.org/officeDocument/2006/relationships/slide" Target="/ppt/slides/slide6.xml" Id="Ra632314fcf6846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ae8ce4a5ed47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4217aff1604e00" /><Relationship Type="http://schemas.openxmlformats.org/officeDocument/2006/relationships/notesMaster" Target="/ppt/notesMasters/notesMaster1.xml" Id="Ra3fe5647cde5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a46d42c6b24aea" /><Relationship Type="http://schemas.openxmlformats.org/officeDocument/2006/relationships/notesMaster" Target="/ppt/notesMasters/notesMaster1.xml" Id="R6866d853ee864f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7776fa09f04c03" /><Relationship Type="http://schemas.openxmlformats.org/officeDocument/2006/relationships/notesMaster" Target="/ppt/notesMasters/notesMaster1.xml" Id="Rec1f108885924d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aaaf6385024bac" /><Relationship Type="http://schemas.openxmlformats.org/officeDocument/2006/relationships/notesMaster" Target="/ppt/notesMasters/notesMaster1.xml" Id="Red744d9b5ea748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89be36a2f8440e" /><Relationship Type="http://schemas.openxmlformats.org/officeDocument/2006/relationships/notesMaster" Target="/ppt/notesMasters/notesMaster1.xml" Id="R411f7c0357914a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84d6a9d8e948df" /><Relationship Type="http://schemas.openxmlformats.org/officeDocument/2006/relationships/notesMaster" Target="/ppt/notesMasters/notesMaster1.xml" Id="Rd5fa54adbc95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01 / 06</a:t>
            </a:r>
          </a:p>
          <a:p xmlns:a="http://schemas.openxmlformats.org/drawingml/2006/main">
            <a:r>
              <a:t>숙련자의 도메인 전문성과 분석 Know-how를 결합한</a:t>
            </a:r>
          </a:p>
          <a:p xmlns:a="http://schemas.openxmlformats.org/drawingml/2006/main">
            <a:r>
              <a:t>Y-Agent 기반 수율 분석 혁신</a:t>
            </a:r>
          </a:p>
          <a:p xmlns:a="http://schemas.openxmlformats.org/drawingml/2006/main">
            <a:r>
              <a:t>사람의 경험을 조직의 자산으로, 더 높은 수율을 위한 분석 체계 구축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업무 특성  ·  수율 분석은 전문적 판단의 연속</a:t>
            </a:r>
          </a:p>
          <a:p xmlns:a="http://schemas.openxmlformats.org/drawingml/2006/main">
            <a:r>
              <a:t>WT 특정 Fail 열화 발생</a:t>
            </a:r>
          </a:p>
          <a:p xmlns:a="http://schemas.openxmlformats.org/drawingml/2006/main">
            <a:r>
              <a:t>무엇을 먼저</a:t>
            </a:r>
          </a:p>
          <a:p xmlns:a="http://schemas.openxmlformats.org/drawingml/2006/main">
            <a:r>
              <a:t>확인할 것인가</a:t>
            </a:r>
          </a:p>
          <a:p xmlns:a="http://schemas.openxmlformats.org/drawingml/2006/main">
            <a:r>
              <a:t>분석 결과를</a:t>
            </a:r>
          </a:p>
          <a:p xmlns:a="http://schemas.openxmlformats.org/drawingml/2006/main">
            <a:r>
              <a:t>어떻게 해석할 것인가</a:t>
            </a:r>
          </a:p>
          <a:p xmlns:a="http://schemas.openxmlformats.org/drawingml/2006/main">
            <a:r>
              <a:t>어떤 후속 분석으로</a:t>
            </a:r>
          </a:p>
          <a:p xmlns:a="http://schemas.openxmlformats.org/drawingml/2006/main">
            <a:r>
              <a:t>연결할 것인가</a:t>
            </a:r>
          </a:p>
          <a:p xmlns:a="http://schemas.openxmlformats.org/drawingml/2006/main">
            <a:r>
              <a:t>원인 후보 도출</a:t>
            </a:r>
          </a:p>
          <a:p xmlns:a="http://schemas.openxmlformats.org/drawingml/2006/main">
            <a:r>
              <a:t>대응 방향 설정</a:t>
            </a:r>
          </a:p>
          <a:p xmlns:a="http://schemas.openxmlformats.org/drawingml/2006/main">
            <a:r>
              <a:t>불량과 공정에 대한 이해를 바탕으로</a:t>
            </a:r>
          </a:p>
          <a:p xmlns:a="http://schemas.openxmlformats.org/drawingml/2006/main">
            <a:r>
              <a:t>분석의 우선순위를 정하고 결과를 해석하며,</a:t>
            </a:r>
          </a:p>
          <a:p xmlns:a="http://schemas.openxmlformats.org/drawingml/2006/main">
            <a:r>
              <a:t>여러 정보를 연결해 원인을 좁히는 업무입니다.</a:t>
            </a:r>
          </a:p>
          <a:p xmlns:a="http://schemas.openxmlformats.org/drawingml/2006/main">
            <a:r>
              <a:t>동일한 Fail과 결과라도 보유한 지식에 따라</a:t>
            </a:r>
          </a:p>
          <a:p xmlns:a="http://schemas.openxmlformats.org/drawingml/2006/main">
            <a:r>
              <a:t>접근 방식과 해석의 깊이가 달라집니다.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추진 배경  ·  반복 탐색과 전문성 전수의 한계</a:t>
            </a:r>
          </a:p>
          <a:p xmlns:a="http://schemas.openxmlformats.org/drawingml/2006/main">
            <a:r>
              <a:t>데이터 탐색·정리에 많은 시간</a:t>
            </a:r>
          </a:p>
          <a:p xmlns:a="http://schemas.openxmlformats.org/drawingml/2006/main">
            <a:r>
              <a:t>Spotfire</a:t>
            </a:r>
          </a:p>
          <a:p xmlns:a="http://schemas.openxmlformats.org/drawingml/2006/main">
            <a:r>
              <a:t>SmartFactory</a:t>
            </a:r>
          </a:p>
          <a:p xmlns:a="http://schemas.openxmlformats.org/drawingml/2006/main">
            <a:r>
              <a:t>MES / TAS</a:t>
            </a:r>
          </a:p>
          <a:p xmlns:a="http://schemas.openxmlformats.org/drawingml/2006/main">
            <a:r>
              <a:t>PPT</a:t>
            </a:r>
          </a:p>
          <a:p xmlns:a="http://schemas.openxmlformats.org/drawingml/2006/main">
            <a:r>
              <a:t>과거 분석자료</a:t>
            </a:r>
          </a:p>
          <a:p xmlns:a="http://schemas.openxmlformats.org/drawingml/2006/main">
            <a:r>
              <a:t>개인 보관</a:t>
            </a:r>
          </a:p>
          <a:p xmlns:a="http://schemas.openxmlformats.org/drawingml/2006/main">
            <a:r>
              <a:t>여러 시스템의 자료를 수작업으로 연결</a:t>
            </a:r>
          </a:p>
          <a:p xmlns:a="http://schemas.openxmlformats.org/drawingml/2006/main">
            <a:r>
              <a:t>반복 조회·정리에 분석 시간이 소요</a:t>
            </a:r>
          </a:p>
          <a:p xmlns:a="http://schemas.openxmlformats.org/drawingml/2006/main">
            <a:r>
              <a:t>숙련도에 따른 분석 편차</a:t>
            </a:r>
          </a:p>
          <a:p xmlns:a="http://schemas.openxmlformats.org/drawingml/2006/main">
            <a:r>
              <a:t>저년차  ·  경험 부족</a:t>
            </a:r>
          </a:p>
          <a:p xmlns:a="http://schemas.openxmlformats.org/drawingml/2006/main">
            <a:r>
              <a:t>정형적인 분석과 제한적인 해석</a:t>
            </a:r>
          </a:p>
          <a:p xmlns:a="http://schemas.openxmlformats.org/drawingml/2006/main">
            <a:r>
              <a:t>추가 분석 방향 설정에 어려움</a:t>
            </a:r>
          </a:p>
          <a:p xmlns:a="http://schemas.openxmlformats.org/drawingml/2006/main">
            <a:r>
              <a:t>고년차  ·  충분한 경험</a:t>
            </a:r>
          </a:p>
          <a:p xmlns:a="http://schemas.openxmlformats.org/drawingml/2006/main">
            <a:r>
              <a:t>다양한 관점과 깊이 있는 해석</a:t>
            </a:r>
          </a:p>
          <a:p xmlns:a="http://schemas.openxmlformats.org/drawingml/2006/main">
            <a:r>
              <a:t>후속 분석까지 연결</a:t>
            </a:r>
          </a:p>
          <a:p xmlns:a="http://schemas.openxmlformats.org/drawingml/2006/main">
            <a:r>
              <a:t>전문성 전수의 한계</a:t>
            </a:r>
          </a:p>
          <a:p xmlns:a="http://schemas.openxmlformats.org/drawingml/2006/main">
            <a:r>
              <a:t>고년차의 지식과 분석 방법을</a:t>
            </a:r>
          </a:p>
          <a:p xmlns:a="http://schemas.openxmlformats.org/drawingml/2006/main">
            <a:r>
              <a:t>개별 설명·교육으로 전수하는 데 한계</a:t>
            </a:r>
          </a:p>
          <a:p xmlns:a="http://schemas.openxmlformats.org/drawingml/2006/main">
            <a:r>
              <a:t>축적된 분석 경험이 개인에게 머무름</a:t>
            </a:r>
          </a:p>
          <a:p xmlns:a="http://schemas.openxmlformats.org/drawingml/2006/main">
            <a:r>
              <a:t>숙련자의 전문성을 조직 전체로</a:t>
            </a:r>
          </a:p>
          <a:p xmlns:a="http://schemas.openxmlformats.org/drawingml/2006/main">
            <a:r>
              <a:t>확산하기 어려운 구조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핵심 난이도  ·  암묵적 판단을 실행 가능한 분석 로직으로 전환</a:t>
            </a:r>
          </a:p>
          <a:p xmlns:a="http://schemas.openxmlformats.org/drawingml/2006/main">
            <a:r>
              <a:t>도메인 지식의 분석 로직화</a:t>
            </a:r>
          </a:p>
          <a:p xmlns:a="http://schemas.openxmlformats.org/drawingml/2006/main">
            <a:r>
              <a:t>분석 우선순위·해석 기준·후속 분석을 정리</a:t>
            </a:r>
          </a:p>
          <a:p xmlns:a="http://schemas.openxmlformats.org/drawingml/2006/main">
            <a:r>
              <a:t>Agent가 실제 분석에 활용하도록 구현</a:t>
            </a:r>
          </a:p>
          <a:p xmlns:a="http://schemas.openxmlformats.org/drawingml/2006/main">
            <a:r>
              <a:t>분산 데이터와 분석의 연계</a:t>
            </a:r>
          </a:p>
          <a:p xmlns:a="http://schemas.openxmlformats.org/drawingml/2006/main">
            <a:r>
              <a:t>수율·공정·자재·Inline 정보를 목적에 맞게 연결</a:t>
            </a:r>
          </a:p>
          <a:p xmlns:a="http://schemas.openxmlformats.org/drawingml/2006/main">
            <a:r>
              <a:t>개별 결과가 다음 분석으로 이어지도록 설계</a:t>
            </a:r>
          </a:p>
          <a:p xmlns:a="http://schemas.openxmlformats.org/drawingml/2006/main">
            <a:r>
              <a:t>도메인 지식과 데이터·분석 기법을 결합해 현업에 유효한 분석을 수행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도전 목표  ·  전문성의 조직적 확산과 전사 수율 제고 기반 마련</a:t>
            </a:r>
          </a:p>
          <a:p xmlns:a="http://schemas.openxmlformats.org/drawingml/2006/main">
            <a:r>
              <a:t>숙련자의 전문성</a:t>
            </a:r>
          </a:p>
          <a:p xmlns:a="http://schemas.openxmlformats.org/drawingml/2006/main">
            <a:r>
              <a:t>도메인 지식</a:t>
            </a:r>
          </a:p>
          <a:p xmlns:a="http://schemas.openxmlformats.org/drawingml/2006/main">
            <a:r>
              <a:t>분석 Know-how</a:t>
            </a:r>
          </a:p>
          <a:p xmlns:a="http://schemas.openxmlformats.org/drawingml/2006/main">
            <a:r>
              <a:t>통계·머신러닝</a:t>
            </a:r>
          </a:p>
          <a:p xmlns:a="http://schemas.openxmlformats.org/drawingml/2006/main">
            <a:r>
              <a:t>고급 분석 기법</a:t>
            </a:r>
          </a:p>
          <a:p xmlns:a="http://schemas.openxmlformats.org/drawingml/2006/main">
            <a:r>
              <a:t>현업 로직 결합</a:t>
            </a:r>
          </a:p>
          <a:p xmlns:a="http://schemas.openxmlformats.org/drawingml/2006/main">
            <a:r>
              <a:t>SOP 기반 Multi-Agent</a:t>
            </a:r>
          </a:p>
          <a:p xmlns:a="http://schemas.openxmlformats.org/drawingml/2006/main">
            <a:r>
              <a:t>전문 Agent 연결</a:t>
            </a:r>
          </a:p>
          <a:p xmlns:a="http://schemas.openxmlformats.org/drawingml/2006/main">
            <a:r>
              <a:t>분석 Workflow 구현</a:t>
            </a:r>
          </a:p>
          <a:p xmlns:a="http://schemas.openxmlformats.org/drawingml/2006/main">
            <a:r>
              <a:t>전문 분석 활용 확대</a:t>
            </a:r>
          </a:p>
          <a:p xmlns:a="http://schemas.openxmlformats.org/drawingml/2006/main">
            <a:r>
              <a:t>경험 수준에 관계없이</a:t>
            </a:r>
          </a:p>
          <a:p xmlns:a="http://schemas.openxmlformats.org/drawingml/2006/main">
            <a:r>
              <a:t>분석 역량 활용</a:t>
            </a:r>
          </a:p>
          <a:p xmlns:a="http://schemas.openxmlformats.org/drawingml/2006/main">
            <a:r>
              <a:t>기존  RAG 기반 챗봇</a:t>
            </a:r>
          </a:p>
          <a:p xmlns:a="http://schemas.openxmlformats.org/drawingml/2006/main">
            <a:r>
              <a:t>새로운 시도  수율 SOP 기반 Multi-Agent · 전사 최초 Agentic AI 구축</a:t>
            </a:r>
          </a:p>
          <a:p xmlns:a="http://schemas.openxmlformats.org/drawingml/2006/main">
            <a:r>
              <a:t>SUPEX 추구·패기  ·  숙련자 의존적 분석의 한계를 스스로 과제로 정의하고,</a:t>
            </a:r>
          </a:p>
          <a:p xmlns:a="http://schemas.openxmlformats.org/drawingml/2006/main">
            <a:r>
              <a:t>전문성 확산과 전사 수율 제고를 목표로 새로운 분석 체계 구현에 도전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02 / 06</a:t>
            </a:r>
          </a:p>
          <a:p xmlns:a="http://schemas.openxmlformats.org/drawingml/2006/main">
            <a:r>
              <a:t>현업 SOP 기반</a:t>
            </a:r>
          </a:p>
          <a:p xmlns:a="http://schemas.openxmlformats.org/drawingml/2006/main">
            <a:r>
              <a:t>수율 분석 프로세스의 재설계</a:t>
            </a:r>
          </a:p>
          <a:p xmlns:a="http://schemas.openxmlformats.org/drawingml/2006/main">
            <a:r>
              <a:t>기존 SOP와 숙련자의 Know-how를 자연어 기반 Human–Agent 협업 Workflow로 전환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기존 업무 자산과 현업 경험을 분석 로직으로 구체화</a:t>
            </a:r>
          </a:p>
          <a:p xmlns:a="http://schemas.openxmlformats.org/drawingml/2006/main">
            <a:r>
              <a:t>OPLS SOP 검토</a:t>
            </a:r>
          </a:p>
          <a:p xmlns:a="http://schemas.openxmlformats.org/drawingml/2006/main">
            <a:r>
              <a:t>수율 분석 표준 프로세스</a:t>
            </a:r>
          </a:p>
          <a:p xmlns:a="http://schemas.openxmlformats.org/drawingml/2006/main">
            <a:r>
              <a:t>수율·PI·개발 업무 포함</a:t>
            </a:r>
          </a:p>
          <a:p xmlns:a="http://schemas.openxmlformats.org/drawingml/2006/main">
            <a:r>
              <a:t>현업 엔지니어 인터뷰</a:t>
            </a:r>
          </a:p>
          <a:p xmlns:a="http://schemas.openxmlformats.org/drawingml/2006/main">
            <a:r>
              <a:t>다양한 실제 분석 사례와</a:t>
            </a:r>
          </a:p>
          <a:p xmlns:a="http://schemas.openxmlformats.org/drawingml/2006/main">
            <a:r>
              <a:t>업무 방식 파악</a:t>
            </a:r>
          </a:p>
          <a:p xmlns:a="http://schemas.openxmlformats.org/drawingml/2006/main">
            <a:r>
              <a:t>분석 방법 로직화</a:t>
            </a:r>
          </a:p>
          <a:p xmlns:a="http://schemas.openxmlformats.org/drawingml/2006/main">
            <a:r>
              <a:t>분석 방법을 로직으로 정리</a:t>
            </a:r>
          </a:p>
          <a:p xmlns:a="http://schemas.openxmlformats.org/drawingml/2006/main">
            <a:r>
              <a:t>비교·검토</a:t>
            </a:r>
          </a:p>
          <a:p xmlns:a="http://schemas.openxmlformats.org/drawingml/2006/main">
            <a:r>
              <a:t>전문 Agent·Workflow</a:t>
            </a:r>
          </a:p>
          <a:p xmlns:a="http://schemas.openxmlformats.org/drawingml/2006/main">
            <a:r>
              <a:t>업무 목적에 적합한</a:t>
            </a:r>
          </a:p>
          <a:p xmlns:a="http://schemas.openxmlformats.org/drawingml/2006/main">
            <a:r>
              <a:t>전문 분석 흐름 설계</a:t>
            </a:r>
          </a:p>
          <a:p xmlns:a="http://schemas.openxmlformats.org/drawingml/2006/main">
            <a:r>
              <a:t>기존 SOP</a:t>
            </a:r>
          </a:p>
          <a:p xmlns:a="http://schemas.openxmlformats.org/drawingml/2006/main">
            <a:r>
              <a:t>수율 이상 감지     →     WT 불량 Define     →     Inline-WT 연계     →     불량 참원인 도출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분산된 분석 업무를 Y-Agent 단일 환경으로 통합</a:t>
            </a:r>
          </a:p>
          <a:p xmlns:a="http://schemas.openxmlformats.org/drawingml/2006/main">
            <a:r>
              <a:t>기존 업무 방식</a:t>
            </a:r>
          </a:p>
          <a:p xmlns:a="http://schemas.openxmlformats.org/drawingml/2006/main">
            <a:r>
              <a:t>Y-Agent 기반 업무 방식</a:t>
            </a:r>
          </a:p>
          <a:p xmlns:a="http://schemas.openxmlformats.org/drawingml/2006/main">
            <a:r>
              <a:t>수율일보</a:t>
            </a:r>
          </a:p>
          <a:p xmlns:a="http://schemas.openxmlformats.org/drawingml/2006/main">
            <a:r>
              <a:t>열화 Parameter 확인</a:t>
            </a:r>
          </a:p>
          <a:p xmlns:a="http://schemas.openxmlformats.org/drawingml/2006/main">
            <a:r>
              <a:t>SmartFactory</a:t>
            </a:r>
          </a:p>
          <a:p xmlns:a="http://schemas.openxmlformats.org/drawingml/2006/main">
            <a:r>
              <a:t>Probe / Response / EPM</a:t>
            </a:r>
          </a:p>
          <a:p xmlns:a="http://schemas.openxmlformats.org/drawingml/2006/main">
            <a:r>
              <a:t>Trend 조회</a:t>
            </a:r>
          </a:p>
          <a:p xmlns:a="http://schemas.openxmlformats.org/drawingml/2006/main">
            <a:r>
              <a:t>Raw Data 추출</a:t>
            </a:r>
          </a:p>
          <a:p xmlns:a="http://schemas.openxmlformats.org/drawingml/2006/main">
            <a:r>
              <a:t>분석용 데이터 준비</a:t>
            </a:r>
          </a:p>
          <a:p xmlns:a="http://schemas.openxmlformats.org/drawingml/2006/main">
            <a:r>
              <a:t>SmartFactory</a:t>
            </a:r>
          </a:p>
          <a:p xmlns:a="http://schemas.openxmlformats.org/drawingml/2006/main">
            <a:r>
              <a:t>분석 수행</a:t>
            </a:r>
          </a:p>
          <a:p xmlns:a="http://schemas.openxmlformats.org/drawingml/2006/main">
            <a:r>
              <a:t>개별 분석 도구 활용</a:t>
            </a:r>
          </a:p>
          <a:p xmlns:a="http://schemas.openxmlformats.org/drawingml/2006/main">
            <a:r>
              <a:t>데이터 탐색·추출·분석을 직접 연결</a:t>
            </a:r>
          </a:p>
          <a:p xmlns:a="http://schemas.openxmlformats.org/drawingml/2006/main">
            <a:r>
              <a:t>후속 분석 선택과 해석은 개인 경험에 의존</a:t>
            </a:r>
          </a:p>
          <a:p xmlns:a="http://schemas.openxmlformats.org/drawingml/2006/main">
            <a:r>
              <a:t>“최근 제품의 수율 저하 원인을 분석해줘”</a:t>
            </a:r>
          </a:p>
          <a:p xmlns:a="http://schemas.openxmlformats.org/drawingml/2006/main">
            <a:r>
              <a:t>Y-Agent</a:t>
            </a:r>
          </a:p>
          <a:p xmlns:a="http://schemas.openxmlformats.org/drawingml/2006/main">
            <a:r>
              <a:t>수율일보 Agent</a:t>
            </a:r>
          </a:p>
          <a:p xmlns:a="http://schemas.openxmlformats.org/drawingml/2006/main">
            <a:r>
              <a:t>이상감지 Agent</a:t>
            </a:r>
          </a:p>
          <a:p xmlns:a="http://schemas.openxmlformats.org/drawingml/2006/main">
            <a:r>
              <a:t>Map 분석 Agent</a:t>
            </a:r>
          </a:p>
          <a:p xmlns:a="http://schemas.openxmlformats.org/drawingml/2006/main">
            <a:r>
              <a:t>연계분석·Mining</a:t>
            </a:r>
          </a:p>
          <a:p xmlns:a="http://schemas.openxmlformats.org/drawingml/2006/main">
            <a:r>
              <a:t>다음 분석도 진행할까요?</a:t>
            </a:r>
          </a:p>
          <a:p xmlns:a="http://schemas.openxmlformats.org/drawingml/2006/main">
            <a:r>
              <a:t>열화 자재 분석  ·  공정별 Trend  ·  유사 이력  ·  추가 Mining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사람과 Agent가 함께하는 분석 Workflow</a:t>
            </a:r>
          </a:p>
          <a:p xmlns:a="http://schemas.openxmlformats.org/drawingml/2006/main">
            <a:r>
              <a:t>결과에 따라 이전 단계로 돌아가 추가 분석  ·  기본 Workflow와 엔지니어 주도 분석을 함께 지원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기대 효과  ·  숙련자의 분석 방법을 누구나 활용하는 체계</a:t>
            </a:r>
          </a:p>
          <a:p xmlns:a="http://schemas.openxmlformats.org/drawingml/2006/main">
            <a:r>
              <a:t>분석 업무 효율화</a:t>
            </a:r>
          </a:p>
          <a:p xmlns:a="http://schemas.openxmlformats.org/drawingml/2006/main">
            <a:r>
              <a:t>반복 탐색·정리 시간 단축</a:t>
            </a:r>
          </a:p>
          <a:p xmlns:a="http://schemas.openxmlformats.org/drawingml/2006/main">
            <a:r>
              <a:t>분석 방법 표준화</a:t>
            </a:r>
          </a:p>
          <a:p xmlns:a="http://schemas.openxmlformats.org/drawingml/2006/main">
            <a:r>
              <a:t>현업 지식을 재사용</a:t>
            </a:r>
          </a:p>
          <a:p xmlns:a="http://schemas.openxmlformats.org/drawingml/2006/main">
            <a:r>
              <a:t>분석 품질·신뢰도 향상</a:t>
            </a:r>
          </a:p>
          <a:p xmlns:a="http://schemas.openxmlformats.org/drawingml/2006/main">
            <a:r>
              <a:t>체계적인 결과와 해석</a:t>
            </a:r>
          </a:p>
          <a:p xmlns:a="http://schemas.openxmlformats.org/drawingml/2006/main">
            <a:r>
              <a:t>전사 확산 기반</a:t>
            </a:r>
          </a:p>
          <a:p xmlns:a="http://schemas.openxmlformats.org/drawingml/2006/main">
            <a:r>
              <a:t>전문 분석 활용 확대</a:t>
            </a:r>
          </a:p>
          <a:p xmlns:a="http://schemas.openxmlformats.org/drawingml/2006/main">
            <a:r>
              <a:t>숙련자의 분석 전문성을 실행 가능한 업무 체계로 전환하고,</a:t>
            </a:r>
          </a:p>
          <a:p xmlns:a="http://schemas.openxmlformats.org/drawingml/2006/main">
            <a:r>
              <a:t>한 환경에서 결과 확인부터 후속 분석까지 연속적으로 수행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구분</a:t>
            </a:r>
          </a:p>
          <a:p xmlns:a="http://schemas.openxmlformats.org/drawingml/2006/main">
            <a:r>
              <a:t>① 수율 점검</a:t>
            </a:r>
          </a:p>
          <a:p xmlns:a="http://schemas.openxmlformats.org/drawingml/2006/main">
            <a:r>
              <a:t>② 분석 대상 선정</a:t>
            </a:r>
          </a:p>
          <a:p xmlns:a="http://schemas.openxmlformats.org/drawingml/2006/main">
            <a:r>
              <a:t>③ 전문 분석 진행</a:t>
            </a:r>
          </a:p>
          <a:p xmlns:a="http://schemas.openxmlformats.org/drawingml/2006/main">
            <a:r>
              <a:t>④ 결과 확인·확장</a:t>
            </a:r>
          </a:p>
          <a:p xmlns:a="http://schemas.openxmlformats.org/drawingml/2006/main">
            <a:r>
              <a:t>Agent</a:t>
            </a:r>
          </a:p>
          <a:p xmlns:a="http://schemas.openxmlformats.org/drawingml/2006/main">
            <a:r>
              <a:t>제안·실행</a:t>
            </a:r>
          </a:p>
          <a:p xmlns:a="http://schemas.openxmlformats.org/drawingml/2006/main">
            <a:r>
              <a:t>기간별 수율 분석</a:t>
            </a:r>
          </a:p>
          <a:p xmlns:a="http://schemas.openxmlformats.org/drawingml/2006/main">
            <a:r>
              <a:t>열화 감지·이상 탐지</a:t>
            </a:r>
          </a:p>
          <a:p xmlns:a="http://schemas.openxmlformats.org/drawingml/2006/main">
            <a:r>
              <a:t>Fail List 제안</a:t>
            </a:r>
          </a:p>
          <a:p xmlns:a="http://schemas.openxmlformats.org/drawingml/2006/main">
            <a:r>
              <a:t>Agent·분석 방법 추천</a:t>
            </a:r>
          </a:p>
          <a:p xmlns:a="http://schemas.openxmlformats.org/drawingml/2006/main">
            <a:r>
              <a:t>선택한 분석 수행</a:t>
            </a:r>
          </a:p>
          <a:p xmlns:a="http://schemas.openxmlformats.org/drawingml/2006/main">
            <a:r>
              <a:t>결과 정리·시각화</a:t>
            </a:r>
          </a:p>
          <a:p xmlns:a="http://schemas.openxmlformats.org/drawingml/2006/main">
            <a:r>
              <a:t>후속 분석 추천</a:t>
            </a:r>
          </a:p>
          <a:p xmlns:a="http://schemas.openxmlformats.org/drawingml/2006/main">
            <a:r>
              <a:t>추가 분석 제안</a:t>
            </a:r>
          </a:p>
          <a:p xmlns:a="http://schemas.openxmlformats.org/drawingml/2006/main">
            <a:r>
              <a:t>엔지니어</a:t>
            </a:r>
          </a:p>
          <a:p xmlns:a="http://schemas.openxmlformats.org/drawingml/2006/main">
            <a:r>
              <a:t>판단·선택</a:t>
            </a:r>
          </a:p>
          <a:p xmlns:a="http://schemas.openxmlformats.org/drawingml/2006/main">
            <a:r>
              <a:t>분석 기간·목적 요청</a:t>
            </a:r>
          </a:p>
          <a:p xmlns:a="http://schemas.openxmlformats.org/drawingml/2006/main">
            <a:r>
              <a:t>분석 대상 Fail</a:t>
            </a:r>
          </a:p>
          <a:p xmlns:a="http://schemas.openxmlformats.org/drawingml/2006/main">
            <a:r>
              <a:t>검토·선택</a:t>
            </a:r>
          </a:p>
          <a:p xmlns:a="http://schemas.openxmlformats.org/drawingml/2006/main">
            <a:r>
              <a:t>원하는 분석 선택</a:t>
            </a:r>
          </a:p>
          <a:p xmlns:a="http://schemas.openxmlformats.org/drawingml/2006/main">
            <a:r>
              <a:t>기본 Workflow 활용</a:t>
            </a:r>
          </a:p>
          <a:p xmlns:a="http://schemas.openxmlformats.org/drawingml/2006/main">
            <a:r>
              <a:t>결과 확인</a:t>
            </a:r>
          </a:p>
          <a:p xmlns:a="http://schemas.openxmlformats.org/drawingml/2006/main">
            <a:r>
              <a:t>추가 분석·방향 조정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03 / 06</a:t>
            </a:r>
          </a:p>
          <a:p xmlns:a="http://schemas.openxmlformats.org/drawingml/2006/main">
            <a:r>
              <a:t>숙련자의 Know-how를</a:t>
            </a:r>
          </a:p>
          <a:p xmlns:a="http://schemas.openxmlformats.org/drawingml/2006/main">
            <a:r>
              <a:t>전문 Agent의 분석 역량으로 구현</a:t>
            </a:r>
          </a:p>
          <a:p xmlns:a="http://schemas.openxmlformats.org/drawingml/2006/main">
            <a:r>
              <a:t>도메인 지식을 Agent의 분석 Logic과 Workflow에 내재화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현업 전문성을 실행 가능한 분석 Logic으로 전환</a:t>
            </a:r>
          </a:p>
          <a:p xmlns:a="http://schemas.openxmlformats.org/drawingml/2006/main">
            <a:r>
              <a:t>현업 도메인 지식</a:t>
            </a:r>
          </a:p>
          <a:p xmlns:a="http://schemas.openxmlformats.org/drawingml/2006/main">
            <a:r>
              <a:t>불량별 분석 관점·공정 이해</a:t>
            </a:r>
          </a:p>
          <a:p xmlns:a="http://schemas.openxmlformats.org/drawingml/2006/main">
            <a:r>
              <a:t>데이터 해석 기준</a:t>
            </a:r>
          </a:p>
          <a:p xmlns:a="http://schemas.openxmlformats.org/drawingml/2006/main">
            <a:r>
              <a:t>원인 추적·분석 연결 순서</a:t>
            </a:r>
          </a:p>
          <a:p xmlns:a="http://schemas.openxmlformats.org/drawingml/2006/main">
            <a:r>
              <a:t>Agent 분석 Logic</a:t>
            </a:r>
          </a:p>
          <a:p xmlns:a="http://schemas.openxmlformats.org/drawingml/2006/main">
            <a:r>
              <a:t>무엇을 확인할 것인가</a:t>
            </a:r>
          </a:p>
          <a:p xmlns:a="http://schemas.openxmlformats.org/drawingml/2006/main">
            <a:r>
              <a:t>어떻게 해석할 것인가</a:t>
            </a:r>
          </a:p>
          <a:p xmlns:a="http://schemas.openxmlformats.org/drawingml/2006/main">
            <a:r>
              <a:t>어떤 후속 분석으로 연결할까</a:t>
            </a:r>
          </a:p>
          <a:p xmlns:a="http://schemas.openxmlformats.org/drawingml/2006/main">
            <a:r>
              <a:t>전문 Agent</a:t>
            </a:r>
          </a:p>
          <a:p xmlns:a="http://schemas.openxmlformats.org/drawingml/2006/main">
            <a:r>
              <a:t>13개 전문 Agent</a:t>
            </a:r>
          </a:p>
          <a:p xmlns:a="http://schemas.openxmlformats.org/drawingml/2006/main">
            <a:r>
              <a:t>24개 Tool</a:t>
            </a:r>
          </a:p>
          <a:p xmlns:a="http://schemas.openxmlformats.org/drawingml/2006/main">
            <a:r>
              <a:t>다양한 수율 업무 지원</a:t>
            </a:r>
          </a:p>
          <a:p xmlns:a="http://schemas.openxmlformats.org/drawingml/2006/main">
            <a:r>
              <a:t>Super Agent</a:t>
            </a:r>
          </a:p>
          <a:p xmlns:a="http://schemas.openxmlformats.org/drawingml/2006/main">
            <a:r>
              <a:t>사전 정의 Workflow 추천</a:t>
            </a:r>
          </a:p>
          <a:p xmlns:a="http://schemas.openxmlformats.org/drawingml/2006/main">
            <a:r>
              <a:t>전문 Agent·Tool 연결</a:t>
            </a:r>
          </a:p>
          <a:p xmlns:a="http://schemas.openxmlformats.org/drawingml/2006/main">
            <a:r>
              <a:t>End-to-End 분석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대표 구현 사례  ·  현업 로직과 머신러닝·Map 분석의 결합</a:t>
            </a:r>
          </a:p>
          <a:p xmlns:a="http://schemas.openxmlformats.org/drawingml/2006/main">
            <a:r>
              <a:t>현업 열화감지 로직의 Agent화</a:t>
            </a:r>
          </a:p>
          <a:p xmlns:a="http://schemas.openxmlformats.org/drawingml/2006/main">
            <a:r>
              <a:t>열화감지 Agent</a:t>
            </a:r>
          </a:p>
          <a:p xmlns:a="http://schemas.openxmlformats.org/drawingml/2006/main">
            <a:r>
              <a:t>현업에서 활용하는 열화감지 로직을 구현하여</a:t>
            </a:r>
          </a:p>
          <a:p xmlns:a="http://schemas.openxmlformats.org/drawingml/2006/main">
            <a:r>
              <a:t>Y-Agent에서 보고서와 열화 내용을 함께 확인</a:t>
            </a:r>
          </a:p>
          <a:p xmlns:a="http://schemas.openxmlformats.org/drawingml/2006/main">
            <a:r>
              <a:t>수율 데이터</a:t>
            </a:r>
          </a:p>
          <a:p xmlns:a="http://schemas.openxmlformats.org/drawingml/2006/main">
            <a:r>
              <a:t>제품·기간·공정</a:t>
            </a:r>
          </a:p>
          <a:p xmlns:a="http://schemas.openxmlformats.org/drawingml/2006/main">
            <a:r>
              <a:t>현업 감지 로직</a:t>
            </a:r>
          </a:p>
          <a:p xmlns:a="http://schemas.openxmlformats.org/drawingml/2006/main">
            <a:r>
              <a:t>열화 내용 파악</a:t>
            </a:r>
          </a:p>
          <a:p xmlns:a="http://schemas.openxmlformats.org/drawingml/2006/main">
            <a:r>
              <a:t>Web 보고서</a:t>
            </a:r>
          </a:p>
          <a:p xmlns:a="http://schemas.openxmlformats.org/drawingml/2006/main">
            <a:r>
              <a:t>후속 분석 활용</a:t>
            </a:r>
          </a:p>
          <a:p xmlns:a="http://schemas.openxmlformats.org/drawingml/2006/main">
            <a:r>
              <a:t>기간별 수율 확인 · 열화 내용 정리 · 분석 대상 검토</a:t>
            </a:r>
          </a:p>
          <a:p xmlns:a="http://schemas.openxmlformats.org/drawingml/2006/main">
            <a:r>
              <a:t>보고서 확인과 열화 파악을 한 환경에서 수행</a:t>
            </a:r>
          </a:p>
          <a:p xmlns:a="http://schemas.openxmlformats.org/drawingml/2006/main">
            <a:r>
              <a:t>분류 머신러닝 + Wafer Map</a:t>
            </a:r>
          </a:p>
          <a:p xmlns:a="http://schemas.openxmlformats.org/drawingml/2006/main">
            <a:r>
              <a:t>Mining Agent</a:t>
            </a:r>
          </a:p>
          <a:p xmlns:a="http://schemas.openxmlformats.org/drawingml/2006/main">
            <a:r>
              <a:t>분류 모델 기반 로직과 Wafer Map을 활용하여</a:t>
            </a:r>
          </a:p>
          <a:p xmlns:a="http://schemas.openxmlformats.org/drawingml/2006/main">
            <a:r>
              <a:t>Fail Map과 비슷한 양상의 원인 후보를 추출</a:t>
            </a:r>
          </a:p>
          <a:p xmlns:a="http://schemas.openxmlformats.org/drawingml/2006/main">
            <a:r>
              <a:t>Target Fail Map</a:t>
            </a:r>
          </a:p>
          <a:p xmlns:a="http://schemas.openxmlformats.org/drawingml/2006/main">
            <a:r>
              <a:t>유사 양상 후보</a:t>
            </a:r>
          </a:p>
          <a:p xmlns:a="http://schemas.openxmlformats.org/drawingml/2006/main">
            <a:r>
              <a:t>3가지 Mining 결과 비교 검증에서</a:t>
            </a:r>
          </a:p>
          <a:p xmlns:a="http://schemas.openxmlformats.org/drawingml/2006/main">
            <a:r>
              <a:t>도메인 지식 기반 방식의 우수성 확인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분석 지연을 데이터 전처리·DB 적재로 개선</a:t>
            </a:r>
          </a:p>
          <a:p xmlns:a="http://schemas.openxmlformats.org/drawingml/2006/main">
            <a:r>
              <a:t>장애 요인</a:t>
            </a:r>
          </a:p>
          <a:p xmlns:a="http://schemas.openxmlformats.org/drawingml/2006/main">
            <a:r>
              <a:t>분석 수행에 시간 소요</a:t>
            </a:r>
          </a:p>
          <a:p xmlns:a="http://schemas.openxmlformats.org/drawingml/2006/main">
            <a:r>
              <a:t>해결 방식</a:t>
            </a:r>
          </a:p>
          <a:p xmlns:a="http://schemas.openxmlformats.org/drawingml/2006/main">
            <a:r>
              <a:t>데이터 전처리 후 DB 적재</a:t>
            </a:r>
          </a:p>
          <a:p xmlns:a="http://schemas.openxmlformats.org/drawingml/2006/main">
            <a:r>
              <a:t>개선 결과</a:t>
            </a:r>
          </a:p>
          <a:p xmlns:a="http://schemas.openxmlformats.org/drawingml/2006/main">
            <a:r>
              <a:t>분석 속도 개선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규칙 기반 추천과 엔지니어의 분석 선택권을 결합</a:t>
            </a:r>
          </a:p>
          <a:p xmlns:a="http://schemas.openxmlformats.org/drawingml/2006/main">
            <a:r>
              <a:t>Agent 분석</a:t>
            </a:r>
          </a:p>
          <a:p xmlns:a="http://schemas.openxmlformats.org/drawingml/2006/main">
            <a:r>
              <a:t>결과 정리</a:t>
            </a:r>
          </a:p>
          <a:p xmlns:a="http://schemas.openxmlformats.org/drawingml/2006/main">
            <a:r>
              <a:t>다음 분석 추천</a:t>
            </a:r>
          </a:p>
          <a:p xmlns:a="http://schemas.openxmlformats.org/drawingml/2006/main">
            <a:r>
              <a:t>Engineer 판단</a:t>
            </a:r>
          </a:p>
          <a:p xmlns:a="http://schemas.openxmlformats.org/drawingml/2006/main">
            <a:r>
              <a:t>분석 대상·진행 방향</a:t>
            </a:r>
          </a:p>
          <a:p xmlns:a="http://schemas.openxmlformats.org/drawingml/2006/main">
            <a:r>
              <a:t>검토 및 선택</a:t>
            </a:r>
          </a:p>
          <a:p xmlns:a="http://schemas.openxmlformats.org/drawingml/2006/main">
            <a:r>
              <a:t>추가 분석 선택</a:t>
            </a:r>
          </a:p>
          <a:p xmlns:a="http://schemas.openxmlformats.org/drawingml/2006/main">
            <a:r>
              <a:t>원하는 전문 Agent 선택</a:t>
            </a:r>
          </a:p>
          <a:p xmlns:a="http://schemas.openxmlformats.org/drawingml/2006/main">
            <a:r>
              <a:t>조건 변경·심화 분석</a:t>
            </a:r>
          </a:p>
          <a:p xmlns:a="http://schemas.openxmlformats.org/drawingml/2006/main">
            <a:r>
              <a:t>Agent 실행</a:t>
            </a:r>
          </a:p>
          <a:p xmlns:a="http://schemas.openxmlformats.org/drawingml/2006/main">
            <a:r>
              <a:t>선택한 분석 수행</a:t>
            </a:r>
          </a:p>
          <a:p xmlns:a="http://schemas.openxmlformats.org/drawingml/2006/main">
            <a:r>
              <a:t>결과 제공</a:t>
            </a:r>
          </a:p>
          <a:p xmlns:a="http://schemas.openxmlformats.org/drawingml/2006/main">
            <a:r>
              <a:t>분석 결과에 따라 이전 단계로 돌아가 추가 분석</a:t>
            </a:r>
          </a:p>
          <a:p xmlns:a="http://schemas.openxmlformats.org/drawingml/2006/main">
            <a:r>
              <a:t>기본 Workflow</a:t>
            </a:r>
          </a:p>
          <a:p xmlns:a="http://schemas.openxmlformats.org/drawingml/2006/main">
            <a:r>
              <a:t>사전에 정한 규칙에 따라 분석 흐름 추천</a:t>
            </a:r>
          </a:p>
          <a:p xmlns:a="http://schemas.openxmlformats.org/drawingml/2006/main">
            <a:r>
              <a:t>자유 분석</a:t>
            </a:r>
          </a:p>
          <a:p xmlns:a="http://schemas.openxmlformats.org/drawingml/2006/main">
            <a:r>
              <a:t>추천 외 다른 Agent도 활용</a:t>
            </a:r>
          </a:p>
          <a:p xmlns:a="http://schemas.openxmlformats.org/drawingml/2006/main">
            <a:r>
              <a:t>현업 전문성을 개별 Agent의 분석 Logic과 Workflow에 반영하여,</a:t>
            </a:r>
          </a:p>
          <a:p xmlns:a="http://schemas.openxmlformats.org/drawingml/2006/main">
            <a:r>
              <a:t>현장에서 활용할 수 있는 전문 분석 역량으로 구현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04 / 06</a:t>
            </a:r>
          </a:p>
          <a:p xmlns:a="http://schemas.openxmlformats.org/drawingml/2006/main">
            <a:r>
              <a:t>현업 × DT 협업으로 확장한</a:t>
            </a:r>
          </a:p>
          <a:p xmlns:a="http://schemas.openxmlformats.org/drawingml/2006/main">
            <a:r>
              <a:t>Y-Agent의 분석·실행 기반</a:t>
            </a:r>
          </a:p>
          <a:p xmlns:a="http://schemas.openxmlformats.org/drawingml/2006/main">
            <a:r>
              <a:t>Legacy 연계 · BoI Wiki 하네스 기반 분석 Loop · 개발·분석 리소스 지원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Legacy 연계  ·  Y-Agent 분석을 기존 분석 환경으로 연결</a:t>
            </a:r>
          </a:p>
          <a:p xmlns:a="http://schemas.openxmlformats.org/drawingml/2006/main">
            <a:r>
              <a:t>현재 · SmartFactory 연계</a:t>
            </a:r>
          </a:p>
          <a:p xmlns:a="http://schemas.openxmlformats.org/drawingml/2006/main">
            <a:r>
              <a:t>Y-Agent</a:t>
            </a:r>
          </a:p>
          <a:p xmlns:a="http://schemas.openxmlformats.org/drawingml/2006/main">
            <a:r>
              <a:t>분석 중인 Trend</a:t>
            </a:r>
          </a:p>
          <a:p xmlns:a="http://schemas.openxmlformats.org/drawingml/2006/main">
            <a:r>
              <a:t>SmartFactory</a:t>
            </a:r>
          </a:p>
          <a:p xmlns:a="http://schemas.openxmlformats.org/drawingml/2006/main">
            <a:r>
              <a:t>동일 Trend 연계 조회</a:t>
            </a:r>
          </a:p>
          <a:p xmlns:a="http://schemas.openxmlformats.org/drawingml/2006/main">
            <a:r>
              <a:t>기존 분석 도구와 연결하여 연계 분석 지원</a:t>
            </a:r>
          </a:p>
          <a:p xmlns:a="http://schemas.openxmlformats.org/drawingml/2006/main">
            <a:r>
              <a:t>향후 · 확장 계획</a:t>
            </a:r>
          </a:p>
          <a:p xmlns:a="http://schemas.openxmlformats.org/drawingml/2006/main">
            <a:r>
              <a:t>Legacy Action 연계</a:t>
            </a:r>
          </a:p>
          <a:p xmlns:a="http://schemas.openxmlformats.org/drawingml/2006/main">
            <a:r>
              <a:t>조회 중심의 연결을 넘어</a:t>
            </a:r>
          </a:p>
          <a:p xmlns:a="http://schemas.openxmlformats.org/drawingml/2006/main">
            <a:r>
              <a:t>기존 시스템에 액션을 수행하는</a:t>
            </a:r>
          </a:p>
          <a:p xmlns:a="http://schemas.openxmlformats.org/drawingml/2006/main">
            <a:r>
              <a:t>Agent로 확장할 계획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AI팀 협업  ·  MCP × BoI Wiki 하네스 기반 분석 Loop</a:t>
            </a:r>
          </a:p>
          <a:p xmlns:a="http://schemas.openxmlformats.org/drawingml/2006/main">
            <a:r>
              <a:t>MCP를 반복 활용하여 실제 분석보고서를 배치로 작성</a:t>
            </a:r>
          </a:p>
          <a:p xmlns:a="http://schemas.openxmlformats.org/drawingml/2006/main">
            <a:r>
              <a:t>Y-Agent MCP</a:t>
            </a:r>
          </a:p>
          <a:p xmlns:a="http://schemas.openxmlformats.org/drawingml/2006/main">
            <a:r>
              <a:t>분석 기능 제공</a:t>
            </a:r>
          </a:p>
          <a:p xmlns:a="http://schemas.openxmlformats.org/drawingml/2006/main">
            <a:r>
              <a:t>BoI Wiki 하네스</a:t>
            </a:r>
          </a:p>
          <a:p xmlns:a="http://schemas.openxmlformats.org/drawingml/2006/main">
            <a:r>
              <a:t>MCP 연결·활용</a:t>
            </a:r>
          </a:p>
          <a:p xmlns:a="http://schemas.openxmlformats.org/drawingml/2006/main">
            <a:r>
              <a:t>분석 Loop 실행</a:t>
            </a:r>
          </a:p>
          <a:p xmlns:a="http://schemas.openxmlformats.org/drawingml/2006/main">
            <a:r>
              <a:t>반복 호출·분석</a:t>
            </a:r>
          </a:p>
          <a:p xmlns:a="http://schemas.openxmlformats.org/drawingml/2006/main">
            <a:r>
              <a:t>실제 보고서 작성</a:t>
            </a:r>
          </a:p>
          <a:p xmlns:a="http://schemas.openxmlformats.org/drawingml/2006/main">
            <a:r>
              <a:t>배치 실행으로 생성</a:t>
            </a:r>
          </a:p>
          <a:p xmlns:a="http://schemas.openxmlformats.org/drawingml/2006/main">
            <a:r>
              <a:t>현재 한계</a:t>
            </a:r>
          </a:p>
          <a:p xmlns:a="http://schemas.openxmlformats.org/drawingml/2006/main">
            <a:r>
              <a:t>하네스 기반 방식을 다른 현업 엔지니어가</a:t>
            </a:r>
          </a:p>
          <a:p xmlns:a="http://schemas.openxmlformats.org/drawingml/2006/main">
            <a:r>
              <a:t>직접 활용하는 데 한계</a:t>
            </a:r>
          </a:p>
          <a:p xmlns:a="http://schemas.openxmlformats.org/drawingml/2006/main">
            <a:r>
              <a:t>향후 · Workflow 지식화</a:t>
            </a:r>
          </a:p>
          <a:p xmlns:a="http://schemas.openxmlformats.org/drawingml/2006/main">
            <a:r>
              <a:t>실제 엔지니어 Workflow를 LLM Wiki에 축적</a:t>
            </a:r>
          </a:p>
          <a:p xmlns:a="http://schemas.openxmlformats.org/drawingml/2006/main">
            <a:r>
              <a:t>배치 분석 경험을 지식화 고도화에 접목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개발·분석 리소스 지원  ·  구현·검증을 위한 실행 기반</a:t>
            </a:r>
          </a:p>
          <a:p xmlns:a="http://schemas.openxmlformats.org/drawingml/2006/main">
            <a:r>
              <a:t>Oracle</a:t>
            </a:r>
          </a:p>
          <a:p xmlns:a="http://schemas.openxmlformats.org/drawingml/2006/main">
            <a:r>
              <a:t>분석 데이터</a:t>
            </a:r>
          </a:p>
          <a:p xmlns:a="http://schemas.openxmlformats.org/drawingml/2006/main">
            <a:r>
              <a:t>저장·조회 기반</a:t>
            </a:r>
          </a:p>
          <a:p xmlns:a="http://schemas.openxmlformats.org/drawingml/2006/main">
            <a:r>
              <a:t>RAM</a:t>
            </a:r>
          </a:p>
          <a:p xmlns:a="http://schemas.openxmlformats.org/drawingml/2006/main">
            <a:r>
              <a:t>데이터 처리·분석</a:t>
            </a:r>
          </a:p>
          <a:p xmlns:a="http://schemas.openxmlformats.org/drawingml/2006/main">
            <a:r>
              <a:t>실행 메모리</a:t>
            </a:r>
          </a:p>
          <a:p xmlns:a="http://schemas.openxmlformats.org/drawingml/2006/main">
            <a:r>
              <a:t>NAS Storage</a:t>
            </a:r>
          </a:p>
          <a:p xmlns:a="http://schemas.openxmlformats.org/drawingml/2006/main">
            <a:r>
              <a:t>분석 데이터·결과</a:t>
            </a:r>
          </a:p>
          <a:p xmlns:a="http://schemas.openxmlformats.org/drawingml/2006/main">
            <a:r>
              <a:t>저장 공간</a:t>
            </a:r>
          </a:p>
          <a:p xmlns:a="http://schemas.openxmlformats.org/drawingml/2006/main">
            <a:r>
              <a:t>LLM API</a:t>
            </a:r>
          </a:p>
          <a:p xmlns:a="http://schemas.openxmlformats.org/drawingml/2006/main">
            <a:r>
              <a:t>자연어 이해·추론</a:t>
            </a:r>
          </a:p>
          <a:p xmlns:a="http://schemas.openxmlformats.org/drawingml/2006/main">
            <a:r>
              <a:t>Agent 실행 기반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기능 제안·연계 활용 중심의 협업과 확인된 변화</a:t>
            </a:r>
          </a:p>
          <a:p xmlns:a="http://schemas.openxmlformats.org/drawingml/2006/main">
            <a:r>
              <a:t>개발 과정에서 기능을 제안하고 연결해 활용하며, 함께 검증하고 개선</a:t>
            </a:r>
          </a:p>
          <a:p xmlns:a="http://schemas.openxmlformats.org/drawingml/2006/main">
            <a:r>
              <a:t>아이디어 제안</a:t>
            </a:r>
          </a:p>
          <a:p xmlns:a="http://schemas.openxmlformats.org/drawingml/2006/main">
            <a:r>
              <a:t>현업 / DT</a:t>
            </a:r>
          </a:p>
          <a:p xmlns:a="http://schemas.openxmlformats.org/drawingml/2006/main">
            <a:r>
              <a:t>설계·개발</a:t>
            </a:r>
          </a:p>
          <a:p xmlns:a="http://schemas.openxmlformats.org/drawingml/2006/main">
            <a:r>
              <a:t>공동 수행</a:t>
            </a:r>
          </a:p>
          <a:p xmlns:a="http://schemas.openxmlformats.org/drawingml/2006/main">
            <a:r>
              <a:t>테스트·검증</a:t>
            </a:r>
          </a:p>
          <a:p xmlns:a="http://schemas.openxmlformats.org/drawingml/2006/main">
            <a:r>
              <a:t>실제 데이터 활용</a:t>
            </a:r>
          </a:p>
          <a:p xmlns:a="http://schemas.openxmlformats.org/drawingml/2006/main">
            <a:r>
              <a:t>피드백·개선</a:t>
            </a:r>
          </a:p>
          <a:p xmlns:a="http://schemas.openxmlformats.org/drawingml/2006/main">
            <a:r>
              <a:t>수시 반영</a:t>
            </a:r>
          </a:p>
          <a:p xmlns:a="http://schemas.openxmlformats.org/drawingml/2006/main">
            <a:r>
              <a:t>분석 연결성 확보</a:t>
            </a:r>
          </a:p>
          <a:p xmlns:a="http://schemas.openxmlformats.org/drawingml/2006/main">
            <a:r>
              <a:t>Y-Agent와 SmartFactory</a:t>
            </a:r>
          </a:p>
          <a:p xmlns:a="http://schemas.openxmlformats.org/drawingml/2006/main">
            <a:r>
              <a:t>바로 연계 조회</a:t>
            </a:r>
          </a:p>
          <a:p xmlns:a="http://schemas.openxmlformats.org/drawingml/2006/main">
            <a:r>
              <a:t>실행 방식 확장</a:t>
            </a:r>
          </a:p>
          <a:p xmlns:a="http://schemas.openxmlformats.org/drawingml/2006/main">
            <a:r>
              <a:t>대화형 분석에서</a:t>
            </a:r>
          </a:p>
          <a:p xmlns:a="http://schemas.openxmlformats.org/drawingml/2006/main">
            <a:r>
              <a:t>배치 보고서 작성으로</a:t>
            </a:r>
          </a:p>
          <a:p xmlns:a="http://schemas.openxmlformats.org/drawingml/2006/main">
            <a:r>
              <a:t>고도화 방향 구체화</a:t>
            </a:r>
          </a:p>
          <a:p xmlns:a="http://schemas.openxmlformats.org/drawingml/2006/main">
            <a:r>
              <a:t>하네스 활용 경험을 바탕으로</a:t>
            </a:r>
          </a:p>
          <a:p xmlns:a="http://schemas.openxmlformats.org/drawingml/2006/main">
            <a:r>
              <a:t>사용자 Workflow 지식화 추진</a:t>
            </a:r>
          </a:p>
          <a:p xmlns:a="http://schemas.openxmlformats.org/drawingml/2006/main">
            <a:r>
              <a:t>현업 지식에 DT의 연계·실행 역량을 결합하여,</a:t>
            </a:r>
          </a:p>
          <a:p xmlns:a="http://schemas.openxmlformats.org/drawingml/2006/main">
            <a:r>
              <a:t>Legacy 연계와 배치 분석을 구현하고 지식화 확장의 기반을 마련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05 / 06</a:t>
            </a:r>
          </a:p>
          <a:p xmlns:a="http://schemas.openxmlformats.org/drawingml/2006/main">
            <a:r>
              <a:t>실제 수율 이슈를 검증하고,</a:t>
            </a:r>
          </a:p>
          <a:p xmlns:a="http://schemas.openxmlformats.org/drawingml/2006/main">
            <a:r>
              <a:t>현업 Co-pilot으로 적용</a:t>
            </a:r>
          </a:p>
          <a:p xmlns:a="http://schemas.openxmlformats.org/drawingml/2006/main">
            <a:r>
              <a:t>수율팀과의 Daily 협업 · 81개 개선 과제 · 현업 엔지니어 직접 사용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실제 수율 이슈 검증  ·  7건 중 5건 검출</a:t>
            </a:r>
          </a:p>
          <a:p xmlns:a="http://schemas.openxmlformats.org/drawingml/2006/main">
            <a:r>
              <a:t>검증 대상</a:t>
            </a:r>
          </a:p>
          <a:p xmlns:a="http://schemas.openxmlformats.org/drawingml/2006/main">
            <a:r>
              <a:t>7건</a:t>
            </a:r>
          </a:p>
          <a:p xmlns:a="http://schemas.openxmlformats.org/drawingml/2006/main">
            <a:r>
              <a:t>실제 수율 이슈</a:t>
            </a:r>
          </a:p>
          <a:p xmlns:a="http://schemas.openxmlformats.org/drawingml/2006/main">
            <a:r>
              <a:t>검출 사례</a:t>
            </a:r>
          </a:p>
          <a:p xmlns:a="http://schemas.openxmlformats.org/drawingml/2006/main">
            <a:r>
              <a:t>5건</a:t>
            </a:r>
          </a:p>
          <a:p xmlns:a="http://schemas.openxmlformats.org/drawingml/2006/main">
            <a:r>
              <a:t>Y-Agent 분석으로 검출</a:t>
            </a:r>
          </a:p>
          <a:p xmlns:a="http://schemas.openxmlformats.org/drawingml/2006/main">
            <a:r>
              <a:t>미구현 분석 방법 필요</a:t>
            </a:r>
          </a:p>
          <a:p xmlns:a="http://schemas.openxmlformats.org/drawingml/2006/main">
            <a:r>
              <a:t>2건</a:t>
            </a:r>
          </a:p>
          <a:p xmlns:a="http://schemas.openxmlformats.org/drawingml/2006/main">
            <a:r>
              <a:t>해당 분석 방법 구현 필요</a:t>
            </a:r>
          </a:p>
          <a:p xmlns:a="http://schemas.openxmlformats.org/drawingml/2006/main">
            <a:r>
              <a:t>※ 2건은 현재 미구현된 분석 방법으로 검출 가능한 사례</a:t>
            </a:r>
          </a:p>
          <a:p xmlns:a="http://schemas.openxmlformats.org/drawingml/2006/main">
            <a:r>
              <a:t>수율팀 Daily 회의와 엔지니어 직접 사용을 통해 분석 결과의 타당성 확인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대표 검출 사례  ·  이슈부터 후속 조치까지</a:t>
            </a:r>
          </a:p>
          <a:p xmlns:a="http://schemas.openxmlformats.org/drawingml/2006/main">
            <a:r>
              <a:t>① 수율 이슈</a:t>
            </a:r>
          </a:p>
          <a:p xmlns:a="http://schemas.openxmlformats.org/drawingml/2006/main">
            <a:r>
              <a:t>제품·공정 / 문제 현상</a:t>
            </a:r>
          </a:p>
          <a:p xmlns:a="http://schemas.openxmlformats.org/drawingml/2006/main">
            <a:r>
              <a:t>이슈 개요·Trend</a:t>
            </a:r>
          </a:p>
          <a:p xmlns:a="http://schemas.openxmlformats.org/drawingml/2006/main">
            <a:r>
              <a:t>내용 / 이미지 입력</a:t>
            </a:r>
          </a:p>
          <a:p xmlns:a="http://schemas.openxmlformats.org/drawingml/2006/main">
            <a:r>
              <a:t>② Y-Agent 분석</a:t>
            </a:r>
          </a:p>
          <a:p xmlns:a="http://schemas.openxmlformats.org/drawingml/2006/main">
            <a:r>
              <a:t>활용 Agent / 검출 결과</a:t>
            </a:r>
          </a:p>
          <a:p xmlns:a="http://schemas.openxmlformats.org/drawingml/2006/main">
            <a:r>
              <a:t>검출 결과</a:t>
            </a:r>
          </a:p>
          <a:p xmlns:a="http://schemas.openxmlformats.org/drawingml/2006/main">
            <a:r>
              <a:t>내용 / 이미지 입력</a:t>
            </a:r>
          </a:p>
          <a:p xmlns:a="http://schemas.openxmlformats.org/drawingml/2006/main">
            <a:r>
              <a:t>③ 엔지니어 검증</a:t>
            </a:r>
          </a:p>
          <a:p xmlns:a="http://schemas.openxmlformats.org/drawingml/2006/main">
            <a:r>
              <a:t>확인 근거 / 판단 내용</a:t>
            </a:r>
          </a:p>
          <a:p xmlns:a="http://schemas.openxmlformats.org/drawingml/2006/main">
            <a:r>
              <a:t>검증 내용</a:t>
            </a:r>
          </a:p>
          <a:p xmlns:a="http://schemas.openxmlformats.org/drawingml/2006/main">
            <a:r>
              <a:t>내용 / 이미지 입력</a:t>
            </a:r>
          </a:p>
          <a:p xmlns:a="http://schemas.openxmlformats.org/drawingml/2006/main">
            <a:r>
              <a:t>④ 후속 조치</a:t>
            </a:r>
          </a:p>
          <a:p xmlns:a="http://schemas.openxmlformats.org/drawingml/2006/main">
            <a:r>
              <a:t>조치 내용 / 현재 상태</a:t>
            </a:r>
          </a:p>
          <a:p xmlns:a="http://schemas.openxmlformats.org/drawingml/2006/main">
            <a:r>
              <a:t>후속 업무·조치</a:t>
            </a:r>
          </a:p>
          <a:p xmlns:a="http://schemas.openxmlformats.org/drawingml/2006/main">
            <a:r>
              <a:t>내용 / 이미지 입력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현업 피드백 기반 고도화  ·  81개 Action Item 도출</a:t>
            </a:r>
          </a:p>
          <a:p xmlns:a="http://schemas.openxmlformats.org/drawingml/2006/main">
            <a:r>
              <a:t>현업 요구 기반 개선 과제</a:t>
            </a:r>
          </a:p>
          <a:p xmlns:a="http://schemas.openxmlformats.org/drawingml/2006/main">
            <a:r>
              <a:t>81건</a:t>
            </a:r>
          </a:p>
          <a:p xmlns:a="http://schemas.openxmlformats.org/drawingml/2006/main">
            <a:r>
              <a:t>필요한 기능과 개선 요구를</a:t>
            </a:r>
          </a:p>
          <a:p xmlns:a="http://schemas.openxmlformats.org/drawingml/2006/main">
            <a:r>
              <a:t>도출하여 Y-Agent</a:t>
            </a:r>
          </a:p>
          <a:p xmlns:a="http://schemas.openxmlformats.org/drawingml/2006/main">
            <a:r>
              <a:t>고도화에 반영</a:t>
            </a:r>
          </a:p>
          <a:p xmlns:a="http://schemas.openxmlformats.org/drawingml/2006/main">
            <a:r>
              <a:t>진행 현황 직접 입력</a:t>
            </a:r>
          </a:p>
          <a:p xmlns:a="http://schemas.openxmlformats.org/drawingml/2006/main">
            <a:r>
              <a:t>완료 [  ]건 · 진행 [  ]건</a:t>
            </a:r>
          </a:p>
          <a:p xmlns:a="http://schemas.openxmlformats.org/drawingml/2006/main">
            <a:r>
              <a:t>기타 [  ]건</a:t>
            </a:r>
          </a:p>
          <a:p xmlns:a="http://schemas.openxmlformats.org/drawingml/2006/main">
            <a:r>
              <a:t>Daily 회의</a:t>
            </a:r>
          </a:p>
          <a:p xmlns:a="http://schemas.openxmlformats.org/drawingml/2006/main">
            <a:r>
              <a:t>요구사항 도출</a:t>
            </a:r>
          </a:p>
          <a:p xmlns:a="http://schemas.openxmlformats.org/drawingml/2006/main">
            <a:r>
              <a:t>기능·분석 개선</a:t>
            </a:r>
          </a:p>
          <a:p xmlns:a="http://schemas.openxmlformats.org/drawingml/2006/main">
            <a:r>
              <a:t>현업 검증</a:t>
            </a:r>
          </a:p>
          <a:p xmlns:a="http://schemas.openxmlformats.org/drawingml/2006/main">
            <a:r>
              <a:t>주요 개선 사례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현업 Co-pilot 적용  ·  일부 수율팀 엔지니어 직접 사용</a:t>
            </a:r>
          </a:p>
          <a:p xmlns:a="http://schemas.openxmlformats.org/drawingml/2006/main">
            <a:r>
              <a:t>현업 직접 사용</a:t>
            </a:r>
          </a:p>
          <a:p xmlns:a="http://schemas.openxmlformats.org/drawingml/2006/main">
            <a:r>
              <a:t>일부 수율팀 엔지니어가</a:t>
            </a:r>
          </a:p>
          <a:p xmlns:a="http://schemas.openxmlformats.org/drawingml/2006/main">
            <a:r>
              <a:t>Y-Agent를 직접 실행하며 활용</a:t>
            </a:r>
          </a:p>
          <a:p xmlns:a="http://schemas.openxmlformats.org/drawingml/2006/main">
            <a:r>
              <a:t>실제 수율 점검</a:t>
            </a:r>
          </a:p>
          <a:p xmlns:a="http://schemas.openxmlformats.org/drawingml/2006/main">
            <a:r>
              <a:t>실제 수율을 점검하고</a:t>
            </a:r>
          </a:p>
          <a:p xmlns:a="http://schemas.openxmlformats.org/drawingml/2006/main">
            <a:r>
              <a:t>관련 이슈 분석에 사용</a:t>
            </a:r>
          </a:p>
          <a:p xmlns:a="http://schemas.openxmlformats.org/drawingml/2006/main">
            <a:r>
              <a:t>분석 업무 지원</a:t>
            </a:r>
          </a:p>
          <a:p xmlns:a="http://schemas.openxmlformats.org/drawingml/2006/main">
            <a:r>
              <a:t>분석 결과의 타당성을 확인하고</a:t>
            </a:r>
          </a:p>
          <a:p xmlns:a="http://schemas.openxmlformats.org/drawingml/2006/main">
            <a:r>
              <a:t>수율 분석 업무에 활용</a:t>
            </a:r>
          </a:p>
          <a:p xmlns:a="http://schemas.openxmlformats.org/drawingml/2006/main">
            <a:r>
              <a:t>현업이 직접 사용하며 분석 역량을 검증·고도화하는</a:t>
            </a:r>
          </a:p>
          <a:p xmlns:a="http://schemas.openxmlformats.org/drawingml/2006/main">
            <a:r>
              <a:t>수율 분석 Co-pilot으로 적용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현업 요청·불편</a:t>
            </a:r>
          </a:p>
          <a:p xmlns:a="http://schemas.openxmlformats.org/drawingml/2006/main">
            <a:r>
              <a:t>개선·반영 내용</a:t>
            </a:r>
          </a:p>
          <a:p xmlns:a="http://schemas.openxmlformats.org/drawingml/2006/main">
            <a:r>
              <a:t>적용 결과·상태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06 / 06</a:t>
            </a:r>
          </a:p>
          <a:p xmlns:a="http://schemas.openxmlformats.org/drawingml/2006/main">
            <a:r>
              <a:t>조직 지식화와</a:t>
            </a:r>
          </a:p>
          <a:p xmlns:a="http://schemas.openxmlformats.org/drawingml/2006/main">
            <a:r>
              <a:t>Autonomous Agent로의 발전</a:t>
            </a:r>
          </a:p>
          <a:p xmlns:a="http://schemas.openxmlformats.org/drawingml/2006/main">
            <a:r>
              <a:t>현업에서 만들어가는 분석 경험을 조직의 자산으로 축적하고 수율 혁신으로 확장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분석 Workflow 지식화  ·  LLM Wiki로 경험 축적·재사용</a:t>
            </a:r>
          </a:p>
          <a:p xmlns:a="http://schemas.openxmlformats.org/drawingml/2006/main">
            <a:r>
              <a:t>분석 경험 수집</a:t>
            </a:r>
          </a:p>
          <a:p xmlns:a="http://schemas.openxmlformats.org/drawingml/2006/main">
            <a:r>
              <a:t>분석 대상 Fail·Agent 시퀀스</a:t>
            </a:r>
          </a:p>
          <a:p xmlns:a="http://schemas.openxmlformats.org/drawingml/2006/main">
            <a:r>
              <a:t>분석 조건·주요 결과</a:t>
            </a:r>
          </a:p>
          <a:p xmlns:a="http://schemas.openxmlformats.org/drawingml/2006/main">
            <a:r>
              <a:t>판단 포인트·Action·CumMap</a:t>
            </a:r>
          </a:p>
          <a:p xmlns:a="http://schemas.openxmlformats.org/drawingml/2006/main">
            <a:r>
              <a:t>LLM Wiki 등록</a:t>
            </a:r>
          </a:p>
          <a:p xmlns:a="http://schemas.openxmlformats.org/drawingml/2006/main">
            <a:r>
              <a:t>구조화된 형태로 저장</a:t>
            </a:r>
          </a:p>
          <a:p xmlns:a="http://schemas.openxmlformats.org/drawingml/2006/main">
            <a:r>
              <a:t>유사 사례 태깅·키워드 검색</a:t>
            </a:r>
          </a:p>
          <a:p xmlns:a="http://schemas.openxmlformats.org/drawingml/2006/main">
            <a:r>
              <a:t>Wafer CumMap 함께 저장</a:t>
            </a:r>
          </a:p>
          <a:p xmlns:a="http://schemas.openxmlformats.org/drawingml/2006/main">
            <a:r>
              <a:t>지식 재사용</a:t>
            </a:r>
          </a:p>
          <a:p xmlns:a="http://schemas.openxmlformats.org/drawingml/2006/main">
            <a:r>
              <a:t>유사 Fail 분석 시</a:t>
            </a:r>
          </a:p>
          <a:p xmlns:a="http://schemas.openxmlformats.org/drawingml/2006/main">
            <a:r>
              <a:t>검증된 Workflow 추천</a:t>
            </a:r>
          </a:p>
          <a:p xmlns:a="http://schemas.openxmlformats.org/drawingml/2006/main">
            <a:r>
              <a:t>과거 결과·Action 확인</a:t>
            </a:r>
          </a:p>
          <a:p xmlns:a="http://schemas.openxmlformats.org/drawingml/2006/main">
            <a:r>
              <a:t>분석 순서와 판단·조치 이력까지 기록하여 조직이 다시 활용할 수 있는 지식으로 축적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현재와 앞으로의 변화  ·  보고서 출력에서 Workflow 지식화로</a:t>
            </a:r>
          </a:p>
          <a:p xmlns:a="http://schemas.openxmlformats.org/drawingml/2006/main">
            <a:r>
              <a:t>현재  ·  BoI Wiki 하네스</a:t>
            </a:r>
          </a:p>
          <a:p xmlns:a="http://schemas.openxmlformats.org/drawingml/2006/main">
            <a:r>
              <a:t>정해진 형식의 보고서 출력 / 특정 분석에 활용</a:t>
            </a:r>
          </a:p>
          <a:p xmlns:a="http://schemas.openxmlformats.org/drawingml/2006/main">
            <a:r>
              <a:t>다른 엔지니어의 분석 과정과 경험 확인에 한계</a:t>
            </a:r>
          </a:p>
          <a:p xmlns:a="http://schemas.openxmlformats.org/drawingml/2006/main">
            <a:r>
              <a:t>향후  ·  Workflow 지식화</a:t>
            </a:r>
          </a:p>
          <a:p xmlns:a="http://schemas.openxmlformats.org/drawingml/2006/main">
            <a:r>
              <a:t>분석 시퀀스와 액션 사항을 함께 축적</a:t>
            </a:r>
          </a:p>
          <a:p xmlns:a="http://schemas.openxmlformats.org/drawingml/2006/main">
            <a:r>
              <a:t>유사 사례 검색·재사용이 가능한 조직의 분석 자산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지식 기반 Autonomous Agent로의 발전</a:t>
            </a:r>
          </a:p>
          <a:p xmlns:a="http://schemas.openxmlformats.org/drawingml/2006/main">
            <a:r>
              <a:t>현재 · 규칙 기반 추천</a:t>
            </a:r>
          </a:p>
          <a:p xmlns:a="http://schemas.openxmlformats.org/drawingml/2006/main">
            <a:r>
              <a:t>엔지니어가 분석 대상과 Agent 선택</a:t>
            </a:r>
          </a:p>
          <a:p xmlns:a="http://schemas.openxmlformats.org/drawingml/2006/main">
            <a:r>
              <a:t>기본 Workflow 및 자유 분석 활용</a:t>
            </a:r>
          </a:p>
          <a:p xmlns:a="http://schemas.openxmlformats.org/drawingml/2006/main">
            <a:r>
              <a:t>지식 기반 단계</a:t>
            </a:r>
          </a:p>
          <a:p xmlns:a="http://schemas.openxmlformats.org/drawingml/2006/main">
            <a:r>
              <a:t>유사 과거 사례 검색</a:t>
            </a:r>
          </a:p>
          <a:p xmlns:a="http://schemas.openxmlformats.org/drawingml/2006/main">
            <a:r>
              <a:t>분석 방법과 액션 제안</a:t>
            </a:r>
          </a:p>
          <a:p xmlns:a="http://schemas.openxmlformats.org/drawingml/2006/main">
            <a:r>
              <a:t>자율 분석 단계</a:t>
            </a:r>
          </a:p>
          <a:p xmlns:a="http://schemas.openxmlformats.org/drawingml/2006/main">
            <a:r>
              <a:t>Fail 열화 감지부터 분석 수행</a:t>
            </a:r>
          </a:p>
          <a:p xmlns:a="http://schemas.openxmlformats.org/drawingml/2006/main">
            <a:r>
              <a:t>결과 해석 및 액션 추천까지</a:t>
            </a:r>
          </a:p>
          <a:p xmlns:a="http://schemas.openxmlformats.org/drawingml/2006/main">
            <a:r>
              <a:t>축적된 지식을 바탕으로 분석·추천의 자율성 확대  ·  필요한 시점에는 엔지니어 판단 결합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확산 전략  ·  그룹 내 적용을 시작으로 전사 확산</a:t>
            </a:r>
          </a:p>
          <a:p xmlns:a="http://schemas.openxmlformats.org/drawingml/2006/main">
            <a:r>
              <a:t>그룹 내 우선 적용</a:t>
            </a:r>
          </a:p>
          <a:p xmlns:a="http://schemas.openxmlformats.org/drawingml/2006/main">
            <a:r>
              <a:t>수율팀 사용자 확대·피드백 반영</a:t>
            </a:r>
          </a:p>
          <a:p xmlns:a="http://schemas.openxmlformats.org/drawingml/2006/main">
            <a:r>
              <a:t>다른 제품군으로 적용 범위 확대</a:t>
            </a:r>
          </a:p>
          <a:p xmlns:a="http://schemas.openxmlformats.org/drawingml/2006/main">
            <a:r>
              <a:t>사내 MCP Market 등록</a:t>
            </a:r>
          </a:p>
          <a:p xmlns:a="http://schemas.openxmlformats.org/drawingml/2006/main">
            <a:r>
              <a:t>핵심 분석 기능을 MCP로 표준화</a:t>
            </a:r>
          </a:p>
          <a:p xmlns:a="http://schemas.openxmlformats.org/drawingml/2006/main">
            <a:r>
              <a:t>다른 사내 Agent에서도 호출</a:t>
            </a:r>
          </a:p>
          <a:p xmlns:a="http://schemas.openxmlformats.org/drawingml/2006/main">
            <a:r>
              <a:t>전사 확산</a:t>
            </a:r>
          </a:p>
          <a:p xmlns:a="http://schemas.openxmlformats.org/drawingml/2006/main">
            <a:r>
              <a:t>수율·PI·개발 조직과 연계</a:t>
            </a:r>
          </a:p>
          <a:p xmlns:a="http://schemas.openxmlformats.org/drawingml/2006/main">
            <a:r>
              <a:t>다양한 사내 업무에 활용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향후 추진 계획과 조직에 남길 변화</a:t>
            </a:r>
          </a:p>
          <a:p xmlns:a="http://schemas.openxmlformats.org/drawingml/2006/main">
            <a:r>
              <a:t>단기 · 현업 적용</a:t>
            </a:r>
          </a:p>
          <a:p xmlns:a="http://schemas.openxmlformats.org/drawingml/2006/main">
            <a:r>
              <a:t>사용자 확대·미구현 분석 추가</a:t>
            </a:r>
          </a:p>
          <a:p xmlns:a="http://schemas.openxmlformats.org/drawingml/2006/main">
            <a:r>
              <a:t>중기 · 지식화·고도화</a:t>
            </a:r>
          </a:p>
          <a:p xmlns:a="http://schemas.openxmlformats.org/drawingml/2006/main">
            <a:r>
              <a:t>Workflow 축적·분석 추천 고도화</a:t>
            </a:r>
          </a:p>
          <a:p xmlns:a="http://schemas.openxmlformats.org/drawingml/2006/main">
            <a:r>
              <a:t>장기 · 전사 확산</a:t>
            </a:r>
          </a:p>
          <a:p xmlns:a="http://schemas.openxmlformats.org/drawingml/2006/main">
            <a:r>
              <a:t>MCP Market 등록·조직 연계 강화</a:t>
            </a:r>
          </a:p>
          <a:p xmlns:a="http://schemas.openxmlformats.org/drawingml/2006/main">
            <a:r>
              <a:t>전문 분석 접근성 확대  ·  숙련 지식 전수  ·  분석 표준화·효율화  ·  지속적인 도메인 내재화</a:t>
            </a:r>
          </a:p>
          <a:p xmlns:a="http://schemas.openxmlformats.org/drawingml/2006/main">
            <a:r>
              <a:t>다음 단계 기준   전 제품 Co-pilot의 실질적 도움 / Workflow 지속 축적 / 지식 활용 분석 성공 사례 증가</a:t>
            </a:r>
          </a:p>
          <a:p xmlns:a="http://schemas.openxmlformats.org/drawingml/2006/main">
            <a:r>
              <a:t>숙련자의 지식을 Agent에 담고, 현업에서 새롭게 만들어지는 경험까지</a:t>
            </a:r>
          </a:p>
          <a:p xmlns:a="http://schemas.openxmlformats.org/drawingml/2006/main">
            <a:r>
              <a:t>조직의 분석 역량으로 축적하여 수율 분석의 패러다임을 확장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81a984ee74a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861112cfed47c9" /><Relationship Type="http://schemas.openxmlformats.org/officeDocument/2006/relationships/slideLayout" Target="/ppt/slideLayouts/slideLayout1.xml" Id="Ree4123f0554847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123f05548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d270ef4714ff4" /><Relationship Type="http://schemas.openxmlformats.org/officeDocument/2006/relationships/image" Target="/ppt/media/image.png" Id="R253810323da747a0" /><Relationship Type="http://schemas.openxmlformats.org/officeDocument/2006/relationships/notesSlide" Target="/ppt/notesSlides/notesSlide1.xml" Id="R50733343be904d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fad65c62f4703" /><Relationship Type="http://schemas.openxmlformats.org/officeDocument/2006/relationships/image" Target="/ppt/media/image2.png" Id="R712a70f9ec7d4192" /><Relationship Type="http://schemas.openxmlformats.org/officeDocument/2006/relationships/notesSlide" Target="/ppt/notesSlides/notesSlide2.xml" Id="Rd8c2a8c341884a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5a9af93774c51" /><Relationship Type="http://schemas.openxmlformats.org/officeDocument/2006/relationships/image" Target="/ppt/media/image3.png" Id="R07330016ffde4e1b" /><Relationship Type="http://schemas.openxmlformats.org/officeDocument/2006/relationships/notesSlide" Target="/ppt/notesSlides/notesSlide3.xml" Id="R864add16699a46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dcc18f3ba437d" /><Relationship Type="http://schemas.openxmlformats.org/officeDocument/2006/relationships/notesSlide" Target="/ppt/notesSlides/notesSlide4.xml" Id="R00558d8b5dbd4e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3fcdea1f249b2" /><Relationship Type="http://schemas.openxmlformats.org/officeDocument/2006/relationships/chart" Target="/ppt/slides/charts/chart1.xml" Id="Rd327ee4d197f4778" /><Relationship Type="http://schemas.openxmlformats.org/officeDocument/2006/relationships/notesSlide" Target="/ppt/notesSlides/notesSlide5.xml" Id="R94face60234d46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cedd793f448e6" /><Relationship Type="http://schemas.openxmlformats.org/officeDocument/2006/relationships/image" Target="/ppt/media/image4.png" Id="R3920530881094aae" /><Relationship Type="http://schemas.openxmlformats.org/officeDocument/2006/relationships/notesSlide" Target="/ppt/notesSlides/notesSlide6.xml" Id="R22ba07541172434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실제 수율 이슈</c:v>
          </c:tx>
          <c:dPt>
            <c:idx val="0"/>
            <c:spPr>
              <a:solidFill xmlns:a="http://schemas.openxmlformats.org/drawingml/2006/main">
                <a:srgbClr val="57778C"/>
              </a:solidFill>
            </c:spPr>
          </c:dPt>
          <c:dPt>
            <c:idx val="1"/>
            <c:spPr>
              <a:solidFill xmlns:a="http://schemas.openxmlformats.org/drawingml/2006/main">
                <a:srgbClr val="E5ECF1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검출</c:v>
                </c:pt>
                <c:pt idx="1">
                  <c:v>미검출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4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01" name="header__1">
              <a:extLst xmlns:a="http://schemas.openxmlformats.org/drawingml/2006/main">
                <a:ext uri="{FF2B5EF4-FFF2-40B4-BE49-F238E27FC236}">
                  <a16:creationId xmlns:a16="http://schemas.microsoft.com/office/drawing/2014/main" id="{20297A04-1EE4-41D2-91C9-844A244D64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2">
              <a:extLst xmlns:a="http://schemas.openxmlformats.org/drawingml/2006/main">
                <a:ext uri="{FF2B5EF4-FFF2-40B4-BE49-F238E27FC236}">
                  <a16:creationId xmlns:a16="http://schemas.microsoft.com/office/drawing/2014/main" id="{4D93D0F7-6FE4-4DAB-9634-FB7AEBAD7E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3">
              <a:extLst xmlns:a="http://schemas.openxmlformats.org/drawingml/2006/main">
                <a:ext uri="{FF2B5EF4-FFF2-40B4-BE49-F238E27FC236}">
                  <a16:creationId xmlns:a16="http://schemas.microsoft.com/office/drawing/2014/main" id="{F50CB6F5-A7CE-4861-BE0C-17A4D9521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01 / 06</a:t>
              </a:r>
            </a:p>
          </p:txBody>
        </p:sp>
        <p:sp>
          <p:nvSpPr>
            <p:cNvPr id="4" name="header__4">
              <a:extLst xmlns:a="http://schemas.openxmlformats.org/drawingml/2006/main">
                <a:ext uri="{FF2B5EF4-FFF2-40B4-BE49-F238E27FC236}">
                  <a16:creationId xmlns:a16="http://schemas.microsoft.com/office/drawing/2014/main" id="{4EA0C1CD-E983-451C-B0E0-A046539C20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5">
              <a:extLst xmlns:a="http://schemas.openxmlformats.org/drawingml/2006/main">
                <a:ext uri="{FF2B5EF4-FFF2-40B4-BE49-F238E27FC236}">
                  <a16:creationId xmlns:a16="http://schemas.microsoft.com/office/drawing/2014/main" id="{2EAF928F-B5B7-479A-BD40-7534E3F182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8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8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숙련자의 전문성을 조직의 분석 역량으로</a:t>
              </a:r>
            </a:p>
            <a:p xmlns:a="http://schemas.openxmlformats.org/drawingml/2006/main">
              <a:pPr algn="l">
                <a:defRPr sz="28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8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Y-Agent 기반 수율 분석 혁신</a:t>
              </a:r>
            </a:p>
          </p:txBody>
        </p:sp>
        <p:sp>
          <p:nvSpPr>
            <p:cNvPr id="6" name="header__6">
              <a:extLst xmlns:a="http://schemas.openxmlformats.org/drawingml/2006/main">
                <a:ext uri="{FF2B5EF4-FFF2-40B4-BE49-F238E27FC236}">
                  <a16:creationId xmlns:a16="http://schemas.microsoft.com/office/drawing/2014/main" id="{939A611E-41F5-4C78-90C2-AA36EE470C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SUPEX 추구·패기  ·  전문성의 조직적 확산과 전사 수율 제고 기반 마련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7">
              <a:extLst xmlns:a="http://schemas.openxmlformats.org/drawingml/2006/main">
                <a:ext uri="{FF2B5EF4-FFF2-40B4-BE49-F238E27FC236}">
                  <a16:creationId xmlns:a16="http://schemas.microsoft.com/office/drawing/2014/main" id="{5763A941-D086-4C64-AE80-11B7B408EF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400300"/>
              <a:ext cx="9601200" cy="2124075"/>
            </a:xfrm>
            <a:prstGeom xmlns:a="http://schemas.openxmlformats.org/drawingml/2006/main" prst="roundRect">
              <a:avLst>
                <a:gd name="adj" fmla="val 358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8">
              <a:extLst xmlns:a="http://schemas.openxmlformats.org/drawingml/2006/main">
                <a:ext uri="{FF2B5EF4-FFF2-40B4-BE49-F238E27FC236}">
                  <a16:creationId xmlns:a16="http://schemas.microsoft.com/office/drawing/2014/main" id="{53354A7B-FDC5-46D6-B46D-D1F6653A3C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9">
              <a:extLst xmlns:a="http://schemas.openxmlformats.org/drawingml/2006/main">
                <a:ext uri="{FF2B5EF4-FFF2-40B4-BE49-F238E27FC236}">
                  <a16:creationId xmlns:a16="http://schemas.microsoft.com/office/drawing/2014/main" id="{F821BFD6-4BA3-4466-A8E1-56D071E1C7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10">
              <a:extLst xmlns:a="http://schemas.openxmlformats.org/drawingml/2006/main">
                <a:ext uri="{FF2B5EF4-FFF2-40B4-BE49-F238E27FC236}">
                  <a16:creationId xmlns:a16="http://schemas.microsoft.com/office/drawing/2014/main" id="{D6D3A1D9-D773-4380-81E0-ABAFD9A169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4003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11">
              <a:extLst xmlns:a="http://schemas.openxmlformats.org/drawingml/2006/main">
                <a:ext uri="{FF2B5EF4-FFF2-40B4-BE49-F238E27FC236}">
                  <a16:creationId xmlns:a16="http://schemas.microsoft.com/office/drawing/2014/main" id="{7DAF3EFC-6F8E-4AF5-A1AA-A09161F6D4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4003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수율 분석의 본질  ·  데이터 조회 이후에도 전문적 판단이 필요</a:t>
              </a:r>
            </a:p>
          </p:txBody>
        </p:sp>
        <p:pic>
          <p:nvPicPr>
            <p:cNvPr id="112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253810323da747a0"/>
            <a:stretch xmlns:a="http://schemas.openxmlformats.org/drawingml/2006/main"/>
          </p:blipFill>
          <p:spPr>
            <a:xfrm xmlns:a="http://schemas.openxmlformats.org/drawingml/2006/main">
              <a:off x="428625" y="2951428"/>
              <a:ext cx="1981200" cy="1240894"/>
            </a:xfrm>
            <a:prstGeom xmlns:a="http://schemas.openxmlformats.org/drawingml/2006/main" prst="rect">
              <a:avLst/>
            </a:prstGeom>
          </p:spPr>
        </p:pic>
        <p:sp>
          <p:nvSpPr>
            <p:cNvPr id="13" name="section01__12">
              <a:extLst xmlns:a="http://schemas.openxmlformats.org/drawingml/2006/main">
                <a:ext uri="{FF2B5EF4-FFF2-40B4-BE49-F238E27FC236}">
                  <a16:creationId xmlns:a16="http://schemas.microsoft.com/office/drawing/2014/main" id="{C886D0D3-26FB-4CF5-A714-B4FEED413C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4152900"/>
              <a:ext cx="1981200" cy="247650"/>
            </a:xfrm>
            <a:prstGeom xmlns:a="http://schemas.openxmlformats.org/drawingml/2006/main" prst="roundRect">
              <a:avLst>
                <a:gd name="adj" fmla="val 30769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14" name="section01__13">
              <a:extLst xmlns:a="http://schemas.openxmlformats.org/drawingml/2006/main">
                <a:ext uri="{FF2B5EF4-FFF2-40B4-BE49-F238E27FC236}">
                  <a16:creationId xmlns:a16="http://schemas.microsoft.com/office/drawing/2014/main" id="{6F5445E2-85C3-4102-ABBB-13287188CE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4152900"/>
              <a:ext cx="18859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WT 특정 Fail 열화</a:t>
              </a:r>
            </a:p>
          </p:txBody>
        </p:sp>
        <p:sp>
          <p:nvSpPr>
            <p:cNvPr id="15" name="section01__14">
              <a:extLst xmlns:a="http://schemas.openxmlformats.org/drawingml/2006/main">
                <a:ext uri="{FF2B5EF4-FFF2-40B4-BE49-F238E27FC236}">
                  <a16:creationId xmlns:a16="http://schemas.microsoft.com/office/drawing/2014/main" id="{6AAD4598-3E6D-43E6-B4B6-C0BD635302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57475" y="3028950"/>
              <a:ext cx="1550194" cy="1304925"/>
            </a:xfrm>
            <a:prstGeom xmlns:a="http://schemas.openxmlformats.org/drawingml/2006/main" prst="roundRect">
              <a:avLst>
                <a:gd name="adj" fmla="val 58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6" name="section01__15">
              <a:extLst xmlns:a="http://schemas.openxmlformats.org/drawingml/2006/main">
                <a:ext uri="{FF2B5EF4-FFF2-40B4-BE49-F238E27FC236}">
                  <a16:creationId xmlns:a16="http://schemas.microsoft.com/office/drawing/2014/main" id="{6477118F-831F-4EAF-B67A-513302A938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43200" y="3105150"/>
              <a:ext cx="1378744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확인</a:t>
              </a:r>
            </a:p>
          </p:txBody>
        </p:sp>
        <p:sp>
          <p:nvSpPr>
            <p:cNvPr id="17" name="section01__16">
              <a:extLst xmlns:a="http://schemas.openxmlformats.org/drawingml/2006/main">
                <a:ext uri="{FF2B5EF4-FFF2-40B4-BE49-F238E27FC236}">
                  <a16:creationId xmlns:a16="http://schemas.microsoft.com/office/drawing/2014/main" id="{8619FBB7-DCAD-42B7-A7DC-9AF746DA7B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1775" y="3505200"/>
              <a:ext cx="1321594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무엇을 먼저 볼까?</a:t>
              </a:r>
            </a:p>
          </p:txBody>
        </p:sp>
        <p:sp>
          <p:nvSpPr>
            <p:cNvPr id="18" name="section01__17">
              <a:extLst xmlns:a="http://schemas.openxmlformats.org/drawingml/2006/main">
                <a:ext uri="{FF2B5EF4-FFF2-40B4-BE49-F238E27FC236}">
                  <a16:creationId xmlns:a16="http://schemas.microsoft.com/office/drawing/2014/main" id="{F7A4E7DB-AED8-46A7-B099-BAE9993515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45769" y="36052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9" name="section01__18">
              <a:extLst xmlns:a="http://schemas.openxmlformats.org/drawingml/2006/main">
                <a:ext uri="{FF2B5EF4-FFF2-40B4-BE49-F238E27FC236}">
                  <a16:creationId xmlns:a16="http://schemas.microsoft.com/office/drawing/2014/main" id="{8DE06B91-522E-4EE9-AFE8-BDD18E7898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55319" y="3028950"/>
              <a:ext cx="1550194" cy="1304925"/>
            </a:xfrm>
            <a:prstGeom xmlns:a="http://schemas.openxmlformats.org/drawingml/2006/main" prst="roundRect">
              <a:avLst>
                <a:gd name="adj" fmla="val 58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0" name="section01__19">
              <a:extLst xmlns:a="http://schemas.openxmlformats.org/drawingml/2006/main">
                <a:ext uri="{FF2B5EF4-FFF2-40B4-BE49-F238E27FC236}">
                  <a16:creationId xmlns:a16="http://schemas.microsoft.com/office/drawing/2014/main" id="{1344FCC0-C2A4-45BE-ABB4-3E55A7CB09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41044" y="3105150"/>
              <a:ext cx="1378744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해석</a:t>
              </a:r>
            </a:p>
          </p:txBody>
        </p:sp>
        <p:sp>
          <p:nvSpPr>
            <p:cNvPr id="21" name="section01__20">
              <a:extLst xmlns:a="http://schemas.openxmlformats.org/drawingml/2006/main">
                <a:ext uri="{FF2B5EF4-FFF2-40B4-BE49-F238E27FC236}">
                  <a16:creationId xmlns:a16="http://schemas.microsoft.com/office/drawing/2014/main" id="{56DD4D20-4450-49C6-BE15-53013759BE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9619" y="3505200"/>
              <a:ext cx="1321594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어떤 의미일까?</a:t>
              </a:r>
            </a:p>
          </p:txBody>
        </p:sp>
        <p:sp>
          <p:nvSpPr>
            <p:cNvPr id="22" name="section01__21">
              <a:extLst xmlns:a="http://schemas.openxmlformats.org/drawingml/2006/main">
                <a:ext uri="{FF2B5EF4-FFF2-40B4-BE49-F238E27FC236}">
                  <a16:creationId xmlns:a16="http://schemas.microsoft.com/office/drawing/2014/main" id="{67681F28-D83B-4D3C-96EE-93F14A9F29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3613" y="36052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3" name="section01__22">
              <a:extLst xmlns:a="http://schemas.openxmlformats.org/drawingml/2006/main">
                <a:ext uri="{FF2B5EF4-FFF2-40B4-BE49-F238E27FC236}">
                  <a16:creationId xmlns:a16="http://schemas.microsoft.com/office/drawing/2014/main" id="{BC6AAD9F-1EEF-4184-91C2-01AE92D5A4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53163" y="3028950"/>
              <a:ext cx="1550194" cy="1304925"/>
            </a:xfrm>
            <a:prstGeom xmlns:a="http://schemas.openxmlformats.org/drawingml/2006/main" prst="roundRect">
              <a:avLst>
                <a:gd name="adj" fmla="val 58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4" name="section01__23">
              <a:extLst xmlns:a="http://schemas.openxmlformats.org/drawingml/2006/main">
                <a:ext uri="{FF2B5EF4-FFF2-40B4-BE49-F238E27FC236}">
                  <a16:creationId xmlns:a16="http://schemas.microsoft.com/office/drawing/2014/main" id="{3F8D9F6D-64CF-46CC-84C5-CDFA77D96E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38888" y="3105150"/>
              <a:ext cx="1378744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연결</a:t>
              </a:r>
            </a:p>
          </p:txBody>
        </p:sp>
        <p:sp>
          <p:nvSpPr>
            <p:cNvPr id="25" name="section01__24">
              <a:extLst xmlns:a="http://schemas.openxmlformats.org/drawingml/2006/main">
                <a:ext uri="{FF2B5EF4-FFF2-40B4-BE49-F238E27FC236}">
                  <a16:creationId xmlns:a16="http://schemas.microsoft.com/office/drawing/2014/main" id="{BFEF4C1E-4028-4676-9698-BCFFD82DDA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67463" y="3505200"/>
              <a:ext cx="1321594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다음 분석은?</a:t>
              </a:r>
            </a:p>
          </p:txBody>
        </p:sp>
        <p:sp>
          <p:nvSpPr>
            <p:cNvPr id="26" name="section01__25">
              <a:extLst xmlns:a="http://schemas.openxmlformats.org/drawingml/2006/main">
                <a:ext uri="{FF2B5EF4-FFF2-40B4-BE49-F238E27FC236}">
                  <a16:creationId xmlns:a16="http://schemas.microsoft.com/office/drawing/2014/main" id="{76127F6B-2322-4A79-8EDA-64C3BB55BE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1456" y="36052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7" name="section01__26">
              <a:extLst xmlns:a="http://schemas.openxmlformats.org/drawingml/2006/main">
                <a:ext uri="{FF2B5EF4-FFF2-40B4-BE49-F238E27FC236}">
                  <a16:creationId xmlns:a16="http://schemas.microsoft.com/office/drawing/2014/main" id="{1C9DFAB7-8F14-46E5-8341-54CF690C6B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1006" y="3028950"/>
              <a:ext cx="1550194" cy="1304925"/>
            </a:xfrm>
            <a:prstGeom xmlns:a="http://schemas.openxmlformats.org/drawingml/2006/main" prst="roundRect">
              <a:avLst>
                <a:gd name="adj" fmla="val 58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8" name="section01__27">
              <a:extLst xmlns:a="http://schemas.openxmlformats.org/drawingml/2006/main">
                <a:ext uri="{FF2B5EF4-FFF2-40B4-BE49-F238E27FC236}">
                  <a16:creationId xmlns:a16="http://schemas.microsoft.com/office/drawing/2014/main" id="{5F56A62D-AEAC-40F7-BDEB-BE196DC5CC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36731" y="3105150"/>
              <a:ext cx="1378744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판단</a:t>
              </a:r>
            </a:p>
          </p:txBody>
        </p:sp>
        <p:sp>
          <p:nvSpPr>
            <p:cNvPr id="29" name="section01__28">
              <a:extLst xmlns:a="http://schemas.openxmlformats.org/drawingml/2006/main">
                <a:ext uri="{FF2B5EF4-FFF2-40B4-BE49-F238E27FC236}">
                  <a16:creationId xmlns:a16="http://schemas.microsoft.com/office/drawing/2014/main" id="{2B2D8423-3101-4024-BC35-4251002F18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65306" y="3505200"/>
              <a:ext cx="1321594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원인·대응 방향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30" name="section02__29">
              <a:extLst xmlns:a="http://schemas.openxmlformats.org/drawingml/2006/main">
                <a:ext uri="{FF2B5EF4-FFF2-40B4-BE49-F238E27FC236}">
                  <a16:creationId xmlns:a16="http://schemas.microsoft.com/office/drawing/2014/main" id="{4E61DF54-75FE-4A49-A601-D93DA1D55C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4686300"/>
              <a:ext cx="9601200" cy="5314950"/>
            </a:xfrm>
            <a:prstGeom xmlns:a="http://schemas.openxmlformats.org/drawingml/2006/main" prst="roundRect">
              <a:avLst>
                <a:gd name="adj" fmla="val 143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1" name="section02__30">
              <a:extLst xmlns:a="http://schemas.openxmlformats.org/drawingml/2006/main">
                <a:ext uri="{FF2B5EF4-FFF2-40B4-BE49-F238E27FC236}">
                  <a16:creationId xmlns:a16="http://schemas.microsoft.com/office/drawing/2014/main" id="{71208F13-35F9-4DE1-975B-AA9F23652B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6958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2" name="section02__31">
              <a:extLst xmlns:a="http://schemas.openxmlformats.org/drawingml/2006/main">
                <a:ext uri="{FF2B5EF4-FFF2-40B4-BE49-F238E27FC236}">
                  <a16:creationId xmlns:a16="http://schemas.microsoft.com/office/drawing/2014/main" id="{984BA964-8560-4808-8EF4-4B780EBD0B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6958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3" name="section02__32">
              <a:extLst xmlns:a="http://schemas.openxmlformats.org/drawingml/2006/main">
                <a:ext uri="{FF2B5EF4-FFF2-40B4-BE49-F238E27FC236}">
                  <a16:creationId xmlns:a16="http://schemas.microsoft.com/office/drawing/2014/main" id="{B6371950-71E0-4470-AC08-6D0CCDD52D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46863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4" name="section02__33">
              <a:extLst xmlns:a="http://schemas.openxmlformats.org/drawingml/2006/main">
                <a:ext uri="{FF2B5EF4-FFF2-40B4-BE49-F238E27FC236}">
                  <a16:creationId xmlns:a16="http://schemas.microsoft.com/office/drawing/2014/main" id="{A9533203-1F99-467A-BDDF-06E0EAE811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6863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핵심 변화  ·  개인 경험 의존에서 공통 분석 역량으로</a:t>
              </a:r>
            </a:p>
          </p:txBody>
        </p:sp>
        <p:sp>
          <p:nvSpPr>
            <p:cNvPr id="35" name="section02__34">
              <a:extLst xmlns:a="http://schemas.openxmlformats.org/drawingml/2006/main">
                <a:ext uri="{FF2B5EF4-FFF2-40B4-BE49-F238E27FC236}">
                  <a16:creationId xmlns:a16="http://schemas.microsoft.com/office/drawing/2014/main" id="{4816B521-52C9-4551-AFB4-83C96AD3EB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5238750"/>
              <a:ext cx="43434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6" name="section02__35">
              <a:extLst xmlns:a="http://schemas.openxmlformats.org/drawingml/2006/main">
                <a:ext uri="{FF2B5EF4-FFF2-40B4-BE49-F238E27FC236}">
                  <a16:creationId xmlns:a16="http://schemas.microsoft.com/office/drawing/2014/main" id="{D0F4797F-8A87-4B9C-951F-ABF41011FE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" y="5238750"/>
              <a:ext cx="42481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기존  ·  사람이 시스템과 분석을 직접 연결</a:t>
              </a:r>
            </a:p>
          </p:txBody>
        </p:sp>
        <p:sp>
          <p:nvSpPr>
            <p:cNvPr id="37" name="section02__36">
              <a:extLst xmlns:a="http://schemas.openxmlformats.org/drawingml/2006/main">
                <a:ext uri="{FF2B5EF4-FFF2-40B4-BE49-F238E27FC236}">
                  <a16:creationId xmlns:a16="http://schemas.microsoft.com/office/drawing/2014/main" id="{44522DC9-5329-4418-871B-9D7C0A67B7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6850" y="5238750"/>
              <a:ext cx="43434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8" name="section02__37">
              <a:extLst xmlns:a="http://schemas.openxmlformats.org/drawingml/2006/main">
                <a:ext uri="{FF2B5EF4-FFF2-40B4-BE49-F238E27FC236}">
                  <a16:creationId xmlns:a16="http://schemas.microsoft.com/office/drawing/2014/main" id="{185C58F9-91D8-48C6-932F-D8821B740D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24475" y="5238750"/>
              <a:ext cx="42481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Y-Agent  ·  도메인 지식을 분석 로직으로 구현</a:t>
              </a:r>
            </a:p>
          </p:txBody>
        </p:sp>
        <p:sp>
          <p:nvSpPr>
            <p:cNvPr id="39" name="section02__38">
              <a:extLst xmlns:a="http://schemas.openxmlformats.org/drawingml/2006/main">
                <a:ext uri="{FF2B5EF4-FFF2-40B4-BE49-F238E27FC236}">
                  <a16:creationId xmlns:a16="http://schemas.microsoft.com/office/drawing/2014/main" id="{327FDD81-6DB0-45F7-87EA-145B2BE54D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5819775"/>
              <a:ext cx="1828800" cy="428625"/>
            </a:xfrm>
            <a:prstGeom xmlns:a="http://schemas.openxmlformats.org/drawingml/2006/main" prst="roundRect">
              <a:avLst>
                <a:gd name="adj" fmla="val 1777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0" name="section02__39">
              <a:extLst xmlns:a="http://schemas.openxmlformats.org/drawingml/2006/main">
                <a:ext uri="{FF2B5EF4-FFF2-40B4-BE49-F238E27FC236}">
                  <a16:creationId xmlns:a16="http://schemas.microsoft.com/office/drawing/2014/main" id="{03273ABE-324D-44EF-82FF-8F1AA9DE5F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5819775"/>
              <a:ext cx="18288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Spotfire</a:t>
              </a:r>
            </a:p>
          </p:txBody>
        </p:sp>
        <p:sp>
          <p:nvSpPr>
            <p:cNvPr id="41" name="section02__40">
              <a:extLst xmlns:a="http://schemas.openxmlformats.org/drawingml/2006/main">
                <a:ext uri="{FF2B5EF4-FFF2-40B4-BE49-F238E27FC236}">
                  <a16:creationId xmlns:a16="http://schemas.microsoft.com/office/drawing/2014/main" id="{0E7C1C9B-EC90-4970-B7FB-B9A6F5BB53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71750" y="5819775"/>
              <a:ext cx="1828800" cy="428625"/>
            </a:xfrm>
            <a:prstGeom xmlns:a="http://schemas.openxmlformats.org/drawingml/2006/main" prst="roundRect">
              <a:avLst>
                <a:gd name="adj" fmla="val 1777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2" name="section02__41">
              <a:extLst xmlns:a="http://schemas.openxmlformats.org/drawingml/2006/main">
                <a:ext uri="{FF2B5EF4-FFF2-40B4-BE49-F238E27FC236}">
                  <a16:creationId xmlns:a16="http://schemas.microsoft.com/office/drawing/2014/main" id="{6FCBF605-0E64-4501-AFC7-583B6FF20D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71750" y="5819775"/>
              <a:ext cx="18288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SmartFactory</a:t>
              </a:r>
            </a:p>
          </p:txBody>
        </p:sp>
        <p:sp>
          <p:nvSpPr>
            <p:cNvPr id="43" name="section02__42">
              <a:extLst xmlns:a="http://schemas.openxmlformats.org/drawingml/2006/main">
                <a:ext uri="{FF2B5EF4-FFF2-40B4-BE49-F238E27FC236}">
                  <a16:creationId xmlns:a16="http://schemas.microsoft.com/office/drawing/2014/main" id="{721A14AF-2AEC-406D-B200-76C49C0821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6429375"/>
              <a:ext cx="1828800" cy="428625"/>
            </a:xfrm>
            <a:prstGeom xmlns:a="http://schemas.openxmlformats.org/drawingml/2006/main" prst="roundRect">
              <a:avLst>
                <a:gd name="adj" fmla="val 1777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4" name="section02__43">
              <a:extLst xmlns:a="http://schemas.openxmlformats.org/drawingml/2006/main">
                <a:ext uri="{FF2B5EF4-FFF2-40B4-BE49-F238E27FC236}">
                  <a16:creationId xmlns:a16="http://schemas.microsoft.com/office/drawing/2014/main" id="{14732286-FE9D-477E-8358-3B0AFD5949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6429375"/>
              <a:ext cx="18288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MES / TAS</a:t>
              </a:r>
            </a:p>
          </p:txBody>
        </p:sp>
        <p:sp>
          <p:nvSpPr>
            <p:cNvPr id="45" name="section02__44">
              <a:extLst xmlns:a="http://schemas.openxmlformats.org/drawingml/2006/main">
                <a:ext uri="{FF2B5EF4-FFF2-40B4-BE49-F238E27FC236}">
                  <a16:creationId xmlns:a16="http://schemas.microsoft.com/office/drawing/2014/main" id="{F82EF994-CE3F-4C06-87A9-1B403C7A88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71750" y="6429375"/>
              <a:ext cx="1828800" cy="428625"/>
            </a:xfrm>
            <a:prstGeom xmlns:a="http://schemas.openxmlformats.org/drawingml/2006/main" prst="roundRect">
              <a:avLst>
                <a:gd name="adj" fmla="val 1777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6" name="section02__45">
              <a:extLst xmlns:a="http://schemas.openxmlformats.org/drawingml/2006/main">
                <a:ext uri="{FF2B5EF4-FFF2-40B4-BE49-F238E27FC236}">
                  <a16:creationId xmlns:a16="http://schemas.microsoft.com/office/drawing/2014/main" id="{3BBA80CE-2670-47FF-93CC-9CDEE2C240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71750" y="6429375"/>
              <a:ext cx="18288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PPT·분석자료</a:t>
              </a:r>
            </a:p>
          </p:txBody>
        </p:sp>
        <p:sp>
          <p:nvSpPr>
            <p:cNvPr id="47" name="section02__46">
              <a:extLst xmlns:a="http://schemas.openxmlformats.org/drawingml/2006/main">
                <a:ext uri="{FF2B5EF4-FFF2-40B4-BE49-F238E27FC236}">
                  <a16:creationId xmlns:a16="http://schemas.microsoft.com/office/drawing/2014/main" id="{7A011F50-C808-4E3F-8E47-64BD5A33AA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19225" y="6858000"/>
              <a:ext cx="0" cy="2571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48" name="section02__47">
              <a:extLst xmlns:a="http://schemas.openxmlformats.org/drawingml/2006/main">
                <a:ext uri="{FF2B5EF4-FFF2-40B4-BE49-F238E27FC236}">
                  <a16:creationId xmlns:a16="http://schemas.microsoft.com/office/drawing/2014/main" id="{9BFFBEAE-0B31-4E11-AB89-FF6A1D1898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86150" y="6858000"/>
              <a:ext cx="0" cy="2571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49" name="section02__48">
              <a:extLst xmlns:a="http://schemas.openxmlformats.org/drawingml/2006/main">
                <a:ext uri="{FF2B5EF4-FFF2-40B4-BE49-F238E27FC236}">
                  <a16:creationId xmlns:a16="http://schemas.microsoft.com/office/drawing/2014/main" id="{7846D1CD-B8F8-499F-BF54-EF21D82D6E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19225" y="7115175"/>
              <a:ext cx="206692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0" name="section02__49">
              <a:extLst xmlns:a="http://schemas.openxmlformats.org/drawingml/2006/main">
                <a:ext uri="{FF2B5EF4-FFF2-40B4-BE49-F238E27FC236}">
                  <a16:creationId xmlns:a16="http://schemas.microsoft.com/office/drawing/2014/main" id="{928FAAB5-4D61-41E0-97D1-91AD0D5CBC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57450" y="7115175"/>
              <a:ext cx="0" cy="2762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1" name="section02__50">
              <a:extLst xmlns:a="http://schemas.openxmlformats.org/drawingml/2006/main">
                <a:ext uri="{FF2B5EF4-FFF2-40B4-BE49-F238E27FC236}">
                  <a16:creationId xmlns:a16="http://schemas.microsoft.com/office/drawing/2014/main" id="{A425493D-6F72-4588-A731-2726CAE960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2324100" y="7410450"/>
              <a:ext cx="285750" cy="2190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2" name="section02__51">
              <a:extLst xmlns:a="http://schemas.openxmlformats.org/drawingml/2006/main">
                <a:ext uri="{FF2B5EF4-FFF2-40B4-BE49-F238E27FC236}">
                  <a16:creationId xmlns:a16="http://schemas.microsoft.com/office/drawing/2014/main" id="{A6E88084-B34D-4C34-BEAC-8246BACF5C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7705725"/>
              <a:ext cx="1657350" cy="1657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3576A"/>
            </a:solidFill>
            <a:ln xmlns:a="http://schemas.openxmlformats.org/drawingml/2006/main" w="0">
              <a:noFill/>
            </a:ln>
          </p:spPr>
        </p:sp>
        <p:sp>
          <p:nvSpPr>
            <p:cNvPr id="53" name="section02__52">
              <a:extLst xmlns:a="http://schemas.openxmlformats.org/drawingml/2006/main">
                <a:ext uri="{FF2B5EF4-FFF2-40B4-BE49-F238E27FC236}">
                  <a16:creationId xmlns:a16="http://schemas.microsoft.com/office/drawing/2014/main" id="{154908DD-91FE-453E-9B12-6DF1AAAF65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5450" y="7781925"/>
              <a:ext cx="1504950" cy="1504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엔지니어</a:t>
              </a:r>
            </a:p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개인 경험</a:t>
              </a:r>
            </a:p>
          </p:txBody>
        </p:sp>
        <p:sp>
          <p:nvSpPr>
            <p:cNvPr id="54" name="section02__53">
              <a:extLst xmlns:a="http://schemas.openxmlformats.org/drawingml/2006/main">
                <a:ext uri="{FF2B5EF4-FFF2-40B4-BE49-F238E27FC236}">
                  <a16:creationId xmlns:a16="http://schemas.microsoft.com/office/drawing/2014/main" id="{923E8D9D-DA7C-47A3-B135-D2629A9731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7953375"/>
              <a:ext cx="104775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5" name="section02__54">
              <a:extLst xmlns:a="http://schemas.openxmlformats.org/drawingml/2006/main">
                <a:ext uri="{FF2B5EF4-FFF2-40B4-BE49-F238E27FC236}">
                  <a16:creationId xmlns:a16="http://schemas.microsoft.com/office/drawing/2014/main" id="{F8497C52-173F-4041-B4F6-9F657CD690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" y="7953375"/>
              <a:ext cx="9525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반복 탐색</a:t>
              </a:r>
            </a:p>
          </p:txBody>
        </p:sp>
        <p:sp>
          <p:nvSpPr>
            <p:cNvPr id="56" name="section02__55">
              <a:extLst xmlns:a="http://schemas.openxmlformats.org/drawingml/2006/main">
                <a:ext uri="{FF2B5EF4-FFF2-40B4-BE49-F238E27FC236}">
                  <a16:creationId xmlns:a16="http://schemas.microsoft.com/office/drawing/2014/main" id="{13FFCB72-8B49-48AD-AC74-9FCB0E2EF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7953375"/>
              <a:ext cx="104775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7" name="section02__56">
              <a:extLst xmlns:a="http://schemas.openxmlformats.org/drawingml/2006/main">
                <a:ext uri="{FF2B5EF4-FFF2-40B4-BE49-F238E27FC236}">
                  <a16:creationId xmlns:a16="http://schemas.microsoft.com/office/drawing/2014/main" id="{F8911EF5-6D47-4AA2-B48B-0CDF2ED178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57600" y="7953375"/>
              <a:ext cx="9525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해석 편차</a:t>
              </a:r>
            </a:p>
          </p:txBody>
        </p:sp>
        <p:sp>
          <p:nvSpPr>
            <p:cNvPr id="58" name="section02__57">
              <a:extLst xmlns:a="http://schemas.openxmlformats.org/drawingml/2006/main">
                <a:ext uri="{FF2B5EF4-FFF2-40B4-BE49-F238E27FC236}">
                  <a16:creationId xmlns:a16="http://schemas.microsoft.com/office/drawing/2014/main" id="{0374F975-4763-410B-B862-77E3A1E7D0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71625" y="9477375"/>
              <a:ext cx="1762125" cy="285750"/>
            </a:xfrm>
            <a:prstGeom xmlns:a="http://schemas.openxmlformats.org/drawingml/2006/main" prst="roundRect">
              <a:avLst>
                <a:gd name="adj" fmla="val 26667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9" name="section02__58">
              <a:extLst xmlns:a="http://schemas.openxmlformats.org/drawingml/2006/main">
                <a:ext uri="{FF2B5EF4-FFF2-40B4-BE49-F238E27FC236}">
                  <a16:creationId xmlns:a16="http://schemas.microsoft.com/office/drawing/2014/main" id="{63584089-83AB-4EE2-B3A7-74AFECCA25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9477375"/>
              <a:ext cx="16668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전수 한계</a:t>
              </a:r>
            </a:p>
          </p:txBody>
        </p:sp>
        <p:sp>
          <p:nvSpPr>
            <p:cNvPr id="60" name="section02__59">
              <a:extLst xmlns:a="http://schemas.openxmlformats.org/drawingml/2006/main">
                <a:ext uri="{FF2B5EF4-FFF2-40B4-BE49-F238E27FC236}">
                  <a16:creationId xmlns:a16="http://schemas.microsoft.com/office/drawing/2014/main" id="{1C61ED6F-340E-4CCC-B383-F8DB5858EB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91150" y="5819775"/>
              <a:ext cx="1971675" cy="647700"/>
            </a:xfrm>
            <a:prstGeom xmlns:a="http://schemas.openxmlformats.org/drawingml/2006/main" prst="roundRect">
              <a:avLst>
                <a:gd name="adj" fmla="val 1176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1" name="section02__60">
              <a:extLst xmlns:a="http://schemas.openxmlformats.org/drawingml/2006/main">
                <a:ext uri="{FF2B5EF4-FFF2-40B4-BE49-F238E27FC236}">
                  <a16:creationId xmlns:a16="http://schemas.microsoft.com/office/drawing/2014/main" id="{66BC93CC-1B2B-4C87-8B34-C4DA3BAC31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48300" y="5857875"/>
              <a:ext cx="18573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도메인 지식</a:t>
              </a:r>
            </a:p>
          </p:txBody>
        </p:sp>
        <p:sp>
          <p:nvSpPr>
            <p:cNvPr id="62" name="section02__61">
              <a:extLst xmlns:a="http://schemas.openxmlformats.org/drawingml/2006/main">
                <a:ext uri="{FF2B5EF4-FFF2-40B4-BE49-F238E27FC236}">
                  <a16:creationId xmlns:a16="http://schemas.microsoft.com/office/drawing/2014/main" id="{1F627D05-B840-4BC0-85D8-53DA33AFC0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48300" y="6153150"/>
              <a:ext cx="18573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Know-how</a:t>
              </a:r>
            </a:p>
          </p:txBody>
        </p:sp>
        <p:sp>
          <p:nvSpPr>
            <p:cNvPr id="63" name="section02__62">
              <a:extLst xmlns:a="http://schemas.openxmlformats.org/drawingml/2006/main">
                <a:ext uri="{FF2B5EF4-FFF2-40B4-BE49-F238E27FC236}">
                  <a16:creationId xmlns:a16="http://schemas.microsoft.com/office/drawing/2014/main" id="{A343E381-609C-409E-912F-C5A23279F7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96175" y="5819775"/>
              <a:ext cx="1971675" cy="647700"/>
            </a:xfrm>
            <a:prstGeom xmlns:a="http://schemas.openxmlformats.org/drawingml/2006/main" prst="roundRect">
              <a:avLst>
                <a:gd name="adj" fmla="val 1176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4" name="section02__63">
              <a:extLst xmlns:a="http://schemas.openxmlformats.org/drawingml/2006/main">
                <a:ext uri="{FF2B5EF4-FFF2-40B4-BE49-F238E27FC236}">
                  <a16:creationId xmlns:a16="http://schemas.microsoft.com/office/drawing/2014/main" id="{31165336-536D-48E2-B813-063E9EEB87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43800" y="5857875"/>
              <a:ext cx="18764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통계·머신러닝</a:t>
              </a:r>
            </a:p>
          </p:txBody>
        </p:sp>
        <p:sp>
          <p:nvSpPr>
            <p:cNvPr id="65" name="section02__64">
              <a:extLst xmlns:a="http://schemas.openxmlformats.org/drawingml/2006/main">
                <a:ext uri="{FF2B5EF4-FFF2-40B4-BE49-F238E27FC236}">
                  <a16:creationId xmlns:a16="http://schemas.microsoft.com/office/drawing/2014/main" id="{BB123A55-B4A2-4161-9BC1-828A070B15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43800" y="6153150"/>
              <a:ext cx="18764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데이터·분석 기법</a:t>
              </a:r>
            </a:p>
          </p:txBody>
        </p:sp>
        <p:sp>
          <p:nvSpPr>
            <p:cNvPr id="66" name="section02__65">
              <a:extLst xmlns:a="http://schemas.openxmlformats.org/drawingml/2006/main">
                <a:ext uri="{FF2B5EF4-FFF2-40B4-BE49-F238E27FC236}">
                  <a16:creationId xmlns:a16="http://schemas.microsoft.com/office/drawing/2014/main" id="{A3589E1F-7B9E-4184-A93B-08C9547EBB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72225" y="6467475"/>
              <a:ext cx="0" cy="2381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67" name="section02__66">
              <a:extLst xmlns:a="http://schemas.openxmlformats.org/drawingml/2006/main">
                <a:ext uri="{FF2B5EF4-FFF2-40B4-BE49-F238E27FC236}">
                  <a16:creationId xmlns:a16="http://schemas.microsoft.com/office/drawing/2014/main" id="{6AED1211-1C8C-4436-AB59-EF30F99FAD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67725" y="6467475"/>
              <a:ext cx="0" cy="2381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68" name="section02__67">
              <a:extLst xmlns:a="http://schemas.openxmlformats.org/drawingml/2006/main">
                <a:ext uri="{FF2B5EF4-FFF2-40B4-BE49-F238E27FC236}">
                  <a16:creationId xmlns:a16="http://schemas.microsoft.com/office/drawing/2014/main" id="{33344987-B525-48CA-AEFA-38682B080A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72225" y="6705600"/>
              <a:ext cx="20955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69" name="section02__68">
              <a:extLst xmlns:a="http://schemas.openxmlformats.org/drawingml/2006/main">
                <a:ext uri="{FF2B5EF4-FFF2-40B4-BE49-F238E27FC236}">
                  <a16:creationId xmlns:a16="http://schemas.microsoft.com/office/drawing/2014/main" id="{080B0578-85AF-49CF-8218-895BA8A584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19975" y="6705600"/>
              <a:ext cx="0" cy="2381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70" name="section02__69">
              <a:extLst xmlns:a="http://schemas.openxmlformats.org/drawingml/2006/main">
                <a:ext uri="{FF2B5EF4-FFF2-40B4-BE49-F238E27FC236}">
                  <a16:creationId xmlns:a16="http://schemas.microsoft.com/office/drawing/2014/main" id="{141FE32C-A427-4ADE-8455-94669842BE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7315200" y="6953250"/>
              <a:ext cx="228600" cy="1809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1" name="section02__70">
              <a:extLst xmlns:a="http://schemas.openxmlformats.org/drawingml/2006/main">
                <a:ext uri="{FF2B5EF4-FFF2-40B4-BE49-F238E27FC236}">
                  <a16:creationId xmlns:a16="http://schemas.microsoft.com/office/drawing/2014/main" id="{DC767ACC-C2A2-4625-9144-A8E13EB745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81650" y="7277100"/>
              <a:ext cx="3695700" cy="971550"/>
            </a:xfrm>
            <a:prstGeom xmlns:a="http://schemas.openxmlformats.org/drawingml/2006/main" prst="roundRect">
              <a:avLst>
                <a:gd name="adj" fmla="val 7843"/>
              </a:avLst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2" name="section02__71">
              <a:extLst xmlns:a="http://schemas.openxmlformats.org/drawingml/2006/main">
                <a:ext uri="{FF2B5EF4-FFF2-40B4-BE49-F238E27FC236}">
                  <a16:creationId xmlns:a16="http://schemas.microsoft.com/office/drawing/2014/main" id="{05BA4811-4B18-483A-8480-8D5FB66D95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24525" y="7372350"/>
              <a:ext cx="340995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7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7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Y-Agent</a:t>
              </a:r>
            </a:p>
          </p:txBody>
        </p:sp>
        <p:sp>
          <p:nvSpPr>
            <p:cNvPr id="73" name="section02__72">
              <a:extLst xmlns:a="http://schemas.openxmlformats.org/drawingml/2006/main">
                <a:ext uri="{FF2B5EF4-FFF2-40B4-BE49-F238E27FC236}">
                  <a16:creationId xmlns:a16="http://schemas.microsoft.com/office/drawing/2014/main" id="{1125074F-34E1-40F0-8244-7E7E7B7027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24525" y="7848600"/>
              <a:ext cx="34099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수율 SOP 기반 Multi-Agent</a:t>
              </a:r>
            </a:p>
          </p:txBody>
        </p:sp>
        <p:sp>
          <p:nvSpPr>
            <p:cNvPr id="74" name="section02__73">
              <a:extLst xmlns:a="http://schemas.openxmlformats.org/drawingml/2006/main">
                <a:ext uri="{FF2B5EF4-FFF2-40B4-BE49-F238E27FC236}">
                  <a16:creationId xmlns:a16="http://schemas.microsoft.com/office/drawing/2014/main" id="{0C432A12-53E3-4939-97C6-4F6AF42AD2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7296150" y="8353425"/>
              <a:ext cx="257175" cy="2000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5" name="section02__74">
              <a:extLst xmlns:a="http://schemas.openxmlformats.org/drawingml/2006/main">
                <a:ext uri="{FF2B5EF4-FFF2-40B4-BE49-F238E27FC236}">
                  <a16:creationId xmlns:a16="http://schemas.microsoft.com/office/drawing/2014/main" id="{D97AED31-0781-4E12-A6D2-453665568A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1625" y="8734425"/>
              <a:ext cx="1206500" cy="981075"/>
            </a:xfrm>
            <a:prstGeom xmlns:a="http://schemas.openxmlformats.org/drawingml/2006/main" prst="roundRect">
              <a:avLst>
                <a:gd name="adj" fmla="val 77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6" name="section02__75">
              <a:extLst xmlns:a="http://schemas.openxmlformats.org/drawingml/2006/main">
                <a:ext uri="{FF2B5EF4-FFF2-40B4-BE49-F238E27FC236}">
                  <a16:creationId xmlns:a16="http://schemas.microsoft.com/office/drawing/2014/main" id="{BE81BEE8-445D-4278-8D5D-08CCBFD368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67350" y="8810625"/>
              <a:ext cx="10350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감지</a:t>
              </a:r>
            </a:p>
          </p:txBody>
        </p:sp>
        <p:sp>
          <p:nvSpPr>
            <p:cNvPr id="77" name="section02__76">
              <a:extLst xmlns:a="http://schemas.openxmlformats.org/drawingml/2006/main">
                <a:ext uri="{FF2B5EF4-FFF2-40B4-BE49-F238E27FC236}">
                  <a16:creationId xmlns:a16="http://schemas.microsoft.com/office/drawing/2014/main" id="{6691916F-5F5F-4507-8B32-9F67CC963D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95925" y="9210675"/>
              <a:ext cx="977900" cy="438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이상 확인</a:t>
              </a:r>
            </a:p>
          </p:txBody>
        </p:sp>
        <p:sp>
          <p:nvSpPr>
            <p:cNvPr id="78" name="section02__77">
              <a:extLst xmlns:a="http://schemas.openxmlformats.org/drawingml/2006/main">
                <a:ext uri="{FF2B5EF4-FFF2-40B4-BE49-F238E27FC236}">
                  <a16:creationId xmlns:a16="http://schemas.microsoft.com/office/drawing/2014/main" id="{351D2BE6-BCB4-45D9-A299-392CB6935C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26225" y="91487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9" name="section02__78">
              <a:extLst xmlns:a="http://schemas.openxmlformats.org/drawingml/2006/main">
                <a:ext uri="{FF2B5EF4-FFF2-40B4-BE49-F238E27FC236}">
                  <a16:creationId xmlns:a16="http://schemas.microsoft.com/office/drawing/2014/main" id="{203FF3FA-76E1-4581-A96B-BAE17187B1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775" y="8734425"/>
              <a:ext cx="1206500" cy="981075"/>
            </a:xfrm>
            <a:prstGeom xmlns:a="http://schemas.openxmlformats.org/drawingml/2006/main" prst="roundRect">
              <a:avLst>
                <a:gd name="adj" fmla="val 77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0" name="section02__79">
              <a:extLst xmlns:a="http://schemas.openxmlformats.org/drawingml/2006/main">
                <a:ext uri="{FF2B5EF4-FFF2-40B4-BE49-F238E27FC236}">
                  <a16:creationId xmlns:a16="http://schemas.microsoft.com/office/drawing/2014/main" id="{1547CABC-BCDD-44EA-AA84-8822351E53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21500" y="8810625"/>
              <a:ext cx="10350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</a:t>
              </a:r>
            </a:p>
          </p:txBody>
        </p:sp>
        <p:sp>
          <p:nvSpPr>
            <p:cNvPr id="81" name="section02__80">
              <a:extLst xmlns:a="http://schemas.openxmlformats.org/drawingml/2006/main">
                <a:ext uri="{FF2B5EF4-FFF2-40B4-BE49-F238E27FC236}">
                  <a16:creationId xmlns:a16="http://schemas.microsoft.com/office/drawing/2014/main" id="{D006536F-FD47-4BEF-8864-114ECD0F4F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0075" y="9210675"/>
              <a:ext cx="977900" cy="438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원인 탐색</a:t>
              </a:r>
            </a:p>
          </p:txBody>
        </p:sp>
        <p:sp>
          <p:nvSpPr>
            <p:cNvPr id="82" name="section02__81">
              <a:extLst xmlns:a="http://schemas.openxmlformats.org/drawingml/2006/main">
                <a:ext uri="{FF2B5EF4-FFF2-40B4-BE49-F238E27FC236}">
                  <a16:creationId xmlns:a16="http://schemas.microsoft.com/office/drawing/2014/main" id="{E320A3E1-62DC-4432-9F70-1ABEB36D88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80375" y="91487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3" name="section02__82">
              <a:extLst xmlns:a="http://schemas.openxmlformats.org/drawingml/2006/main">
                <a:ext uri="{FF2B5EF4-FFF2-40B4-BE49-F238E27FC236}">
                  <a16:creationId xmlns:a16="http://schemas.microsoft.com/office/drawing/2014/main" id="{5EC005B7-DBF4-4B38-87D5-00D3F82A11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89925" y="8734425"/>
              <a:ext cx="1206500" cy="981075"/>
            </a:xfrm>
            <a:prstGeom xmlns:a="http://schemas.openxmlformats.org/drawingml/2006/main" prst="roundRect">
              <a:avLst>
                <a:gd name="adj" fmla="val 77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4" name="section02__83">
              <a:extLst xmlns:a="http://schemas.openxmlformats.org/drawingml/2006/main">
                <a:ext uri="{FF2B5EF4-FFF2-40B4-BE49-F238E27FC236}">
                  <a16:creationId xmlns:a16="http://schemas.microsoft.com/office/drawing/2014/main" id="{90AB481A-E25B-44AB-B9A3-94A627FAD1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75650" y="8810625"/>
              <a:ext cx="103505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판단 지원</a:t>
              </a:r>
            </a:p>
          </p:txBody>
        </p:sp>
        <p:sp>
          <p:nvSpPr>
            <p:cNvPr id="85" name="section02__84">
              <a:extLst xmlns:a="http://schemas.openxmlformats.org/drawingml/2006/main">
                <a:ext uri="{FF2B5EF4-FFF2-40B4-BE49-F238E27FC236}">
                  <a16:creationId xmlns:a16="http://schemas.microsoft.com/office/drawing/2014/main" id="{AC70C015-B5D2-4E86-87D2-A50FCE7B90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04225" y="9210675"/>
              <a:ext cx="977900" cy="438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결과·후속 분석</a:t>
              </a:r>
            </a:p>
          </p:txBody>
        </p:sp>
        <p:sp>
          <p:nvSpPr>
            <p:cNvPr id="86" name="section02__85">
              <a:extLst xmlns:a="http://schemas.openxmlformats.org/drawingml/2006/main">
                <a:ext uri="{FF2B5EF4-FFF2-40B4-BE49-F238E27FC236}">
                  <a16:creationId xmlns:a16="http://schemas.microsoft.com/office/drawing/2014/main" id="{99AEE4FF-9AA1-4566-8A72-61D867C173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8700" y="7400925"/>
              <a:ext cx="304800" cy="3714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7" name="section03__86">
              <a:extLst xmlns:a="http://schemas.openxmlformats.org/drawingml/2006/main">
                <a:ext uri="{FF2B5EF4-FFF2-40B4-BE49-F238E27FC236}">
                  <a16:creationId xmlns:a16="http://schemas.microsoft.com/office/drawing/2014/main" id="{423F5AC8-DACA-4AD7-9B20-10AF998DA3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10163175"/>
              <a:ext cx="9601200" cy="2628900"/>
            </a:xfrm>
            <a:prstGeom xmlns:a="http://schemas.openxmlformats.org/drawingml/2006/main" prst="roundRect">
              <a:avLst>
                <a:gd name="adj" fmla="val 289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8" name="section03__87">
              <a:extLst xmlns:a="http://schemas.openxmlformats.org/drawingml/2006/main">
                <a:ext uri="{FF2B5EF4-FFF2-40B4-BE49-F238E27FC236}">
                  <a16:creationId xmlns:a16="http://schemas.microsoft.com/office/drawing/2014/main" id="{89436F61-7FA9-40A4-BC6D-C517F5DE03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1727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89" name="section03__88">
              <a:extLst xmlns:a="http://schemas.openxmlformats.org/drawingml/2006/main">
                <a:ext uri="{FF2B5EF4-FFF2-40B4-BE49-F238E27FC236}">
                  <a16:creationId xmlns:a16="http://schemas.microsoft.com/office/drawing/2014/main" id="{4B6BA4CB-4580-4839-AD4C-656CFFDB1B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1727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0" name="section03__89">
              <a:extLst xmlns:a="http://schemas.openxmlformats.org/drawingml/2006/main">
                <a:ext uri="{FF2B5EF4-FFF2-40B4-BE49-F238E27FC236}">
                  <a16:creationId xmlns:a16="http://schemas.microsoft.com/office/drawing/2014/main" id="{5A36C12B-3235-489E-B55F-A733166402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101631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91" name="section03__90">
              <a:extLst xmlns:a="http://schemas.openxmlformats.org/drawingml/2006/main">
                <a:ext uri="{FF2B5EF4-FFF2-40B4-BE49-F238E27FC236}">
                  <a16:creationId xmlns:a16="http://schemas.microsoft.com/office/drawing/2014/main" id="{356FD0F5-793B-4FEF-8205-6E06AEE993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01631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구현의 핵심 과제와 도전 수준</a:t>
              </a:r>
            </a:p>
          </p:txBody>
        </p:sp>
        <p:sp>
          <p:nvSpPr>
            <p:cNvPr id="93" name="section03__91">
              <a:extLst xmlns:a="http://schemas.openxmlformats.org/drawingml/2006/main">
                <a:ext uri="{FF2B5EF4-FFF2-40B4-BE49-F238E27FC236}">
                  <a16:creationId xmlns:a16="http://schemas.microsoft.com/office/drawing/2014/main" id="{CDC43B56-C875-48B3-B42C-B8A803C377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12182475"/>
              <a:ext cx="9239250" cy="438150"/>
            </a:xfrm>
            <a:prstGeom xmlns:a="http://schemas.openxmlformats.org/drawingml/2006/main" prst="roundRect">
              <a:avLst>
                <a:gd name="adj" fmla="val 17391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4" name="section03__92">
              <a:extLst xmlns:a="http://schemas.openxmlformats.org/drawingml/2006/main">
                <a:ext uri="{FF2B5EF4-FFF2-40B4-BE49-F238E27FC236}">
                  <a16:creationId xmlns:a16="http://schemas.microsoft.com/office/drawing/2014/main" id="{5CBA8D67-DA47-47AB-8105-11D7B415D3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12239625"/>
              <a:ext cx="252412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RAG 기반 질의응답</a:t>
              </a:r>
            </a:p>
          </p:txBody>
        </p:sp>
        <p:sp>
          <p:nvSpPr>
            <p:cNvPr id="95" name="section03__93">
              <a:extLst xmlns:a="http://schemas.openxmlformats.org/drawingml/2006/main">
                <a:ext uri="{FF2B5EF4-FFF2-40B4-BE49-F238E27FC236}">
                  <a16:creationId xmlns:a16="http://schemas.microsoft.com/office/drawing/2014/main" id="{C29D4E99-A6C4-483B-B4F6-6E65901379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05150" y="12296775"/>
              <a:ext cx="314325" cy="2190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6" name="section03__94">
              <a:extLst xmlns:a="http://schemas.openxmlformats.org/drawingml/2006/main">
                <a:ext uri="{FF2B5EF4-FFF2-40B4-BE49-F238E27FC236}">
                  <a16:creationId xmlns:a16="http://schemas.microsoft.com/office/drawing/2014/main" id="{BEB60EFB-C874-4969-800D-33849817ED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90925" y="12239625"/>
              <a:ext cx="58864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수율 SOP 기반 전문 분석 · 전사 최초 Agentic AI 구축</a:t>
              </a:r>
            </a:p>
          </p:txBody>
        </p:sp>
      </p:grpSp>
      <p:grpSp>
        <p:nvGrpSpPr>
          <p:cNvPr id="10004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7" name="footer__95">
              <a:extLst xmlns:a="http://schemas.openxmlformats.org/drawingml/2006/main">
                <a:ext uri="{FF2B5EF4-FFF2-40B4-BE49-F238E27FC236}">
                  <a16:creationId xmlns:a16="http://schemas.microsoft.com/office/drawing/2014/main" id="{A1CA9B60-4361-4940-94BD-D3EA3D7E8D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98" name="footer__96">
              <a:extLst xmlns:a="http://schemas.openxmlformats.org/drawingml/2006/main">
                <a:ext uri="{FF2B5EF4-FFF2-40B4-BE49-F238E27FC236}">
                  <a16:creationId xmlns:a16="http://schemas.microsoft.com/office/drawing/2014/main" id="{451D597A-A012-4CA3-A92E-7DDC5664AA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반복 탐색과 전문성 전수의 한계를 해결하고,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경험 수준에 관계없이 전문 분석을 활용할 수 있는 업무 체계 구축</a:t>
              </a:r>
            </a:p>
          </p:txBody>
        </p:sp>
        <p:sp>
          <p:nvSpPr>
            <p:cNvPr id="99" name="footer__97">
              <a:extLst xmlns:a="http://schemas.openxmlformats.org/drawingml/2006/main">
                <a:ext uri="{FF2B5EF4-FFF2-40B4-BE49-F238E27FC236}">
                  <a16:creationId xmlns:a16="http://schemas.microsoft.com/office/drawing/2014/main" id="{8BAFCDF8-F616-4079-A799-AB1B9F7308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100" name="footer__98">
              <a:extLst xmlns:a="http://schemas.openxmlformats.org/drawingml/2006/main">
                <a:ext uri="{FF2B5EF4-FFF2-40B4-BE49-F238E27FC236}">
                  <a16:creationId xmlns:a16="http://schemas.microsoft.com/office/drawing/2014/main" id="{F6BDF05B-F47F-4811-B12C-FCC2378359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</p:grpSp>
      <p:graphicFrame>
        <p:nvGraphicFramePr>
          <p:cNvPr id="192" name=""/>
          <p:cNvGraphicFramePr/>
          <p:nvPr/>
        </p:nvGraphicFramePr>
        <p:xfrm>
          <a:off xmlns:a="http://schemas.openxmlformats.org/drawingml/2006/main" x="400050" y="10696575"/>
          <a:ext xmlns:a="http://schemas.openxmlformats.org/drawingml/2006/main" cx="923925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9625"/>
                <a:gridCol w="4619625"/>
              </a:tblGrid>
              <a:tr h="4476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과제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방향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</a:tr>
              <a:tr h="4476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암묵적 판단의 로직화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우선순위·해석 기준·후속 분석을 Agent에 반영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분산 데이터와 분석 연결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수율·공정·자재·Inline 정보를 분석 목적에 맞게 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861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8" name="header__99">
              <a:extLst xmlns:a="http://schemas.openxmlformats.org/drawingml/2006/main">
                <a:ext uri="{FF2B5EF4-FFF2-40B4-BE49-F238E27FC236}">
                  <a16:creationId xmlns:a16="http://schemas.microsoft.com/office/drawing/2014/main" id="{92C732EA-B13B-4FDA-8DC6-8C0692EC3F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100">
              <a:extLst xmlns:a="http://schemas.openxmlformats.org/drawingml/2006/main">
                <a:ext uri="{FF2B5EF4-FFF2-40B4-BE49-F238E27FC236}">
                  <a16:creationId xmlns:a16="http://schemas.microsoft.com/office/drawing/2014/main" id="{98E3AC8A-C959-415B-BC41-6F79527315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101">
              <a:extLst xmlns:a="http://schemas.openxmlformats.org/drawingml/2006/main">
                <a:ext uri="{FF2B5EF4-FFF2-40B4-BE49-F238E27FC236}">
                  <a16:creationId xmlns:a16="http://schemas.microsoft.com/office/drawing/2014/main" id="{31179A9E-C584-4F0E-9CD1-3ACE48D21E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02 / 06</a:t>
              </a:r>
            </a:p>
          </p:txBody>
        </p:sp>
        <p:sp>
          <p:nvSpPr>
            <p:cNvPr id="4" name="header__102">
              <a:extLst xmlns:a="http://schemas.openxmlformats.org/drawingml/2006/main">
                <a:ext uri="{FF2B5EF4-FFF2-40B4-BE49-F238E27FC236}">
                  <a16:creationId xmlns:a16="http://schemas.microsoft.com/office/drawing/2014/main" id="{0B046942-E504-4C2C-A22E-6EE1B6FA1F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103">
              <a:extLst xmlns:a="http://schemas.openxmlformats.org/drawingml/2006/main">
                <a:ext uri="{FF2B5EF4-FFF2-40B4-BE49-F238E27FC236}">
                  <a16:creationId xmlns:a16="http://schemas.microsoft.com/office/drawing/2014/main" id="{24A8C59A-EA33-48FE-ACDD-ACD0680DD3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분산된 분석 업무를</a:t>
              </a:r>
            </a:p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Human–Agent 협업 Workflow로 재설계</a:t>
              </a:r>
            </a:p>
          </p:txBody>
        </p:sp>
        <p:sp>
          <p:nvSpPr>
            <p:cNvPr id="6" name="header__104">
              <a:extLst xmlns:a="http://schemas.openxmlformats.org/drawingml/2006/main">
                <a:ext uri="{FF2B5EF4-FFF2-40B4-BE49-F238E27FC236}">
                  <a16:creationId xmlns:a16="http://schemas.microsoft.com/office/drawing/2014/main" id="{DD005ACB-0874-4348-8EEA-7BB1E06EC2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OPLS SOP와 현업 인터뷰를 기반으로 분석 방법과 역할을 구체화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105">
              <a:extLst xmlns:a="http://schemas.openxmlformats.org/drawingml/2006/main">
                <a:ext uri="{FF2B5EF4-FFF2-40B4-BE49-F238E27FC236}">
                  <a16:creationId xmlns:a16="http://schemas.microsoft.com/office/drawing/2014/main" id="{05D38380-B186-4F2A-91B2-2F9DA5149C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400300"/>
              <a:ext cx="9601200" cy="1847850"/>
            </a:xfrm>
            <a:prstGeom xmlns:a="http://schemas.openxmlformats.org/drawingml/2006/main" prst="roundRect">
              <a:avLst>
                <a:gd name="adj" fmla="val 412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106">
              <a:extLst xmlns:a="http://schemas.openxmlformats.org/drawingml/2006/main">
                <a:ext uri="{FF2B5EF4-FFF2-40B4-BE49-F238E27FC236}">
                  <a16:creationId xmlns:a16="http://schemas.microsoft.com/office/drawing/2014/main" id="{F9E35F81-51C8-49D7-BC63-64EB49F254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107">
              <a:extLst xmlns:a="http://schemas.openxmlformats.org/drawingml/2006/main">
                <a:ext uri="{FF2B5EF4-FFF2-40B4-BE49-F238E27FC236}">
                  <a16:creationId xmlns:a16="http://schemas.microsoft.com/office/drawing/2014/main" id="{A86DD0F2-63F1-46F7-85CA-9EB09C6EB1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108">
              <a:extLst xmlns:a="http://schemas.openxmlformats.org/drawingml/2006/main">
                <a:ext uri="{FF2B5EF4-FFF2-40B4-BE49-F238E27FC236}">
                  <a16:creationId xmlns:a16="http://schemas.microsoft.com/office/drawing/2014/main" id="{B0A5D04B-DDCB-454F-87AF-88347148E4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4003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109">
              <a:extLst xmlns:a="http://schemas.openxmlformats.org/drawingml/2006/main">
                <a:ext uri="{FF2B5EF4-FFF2-40B4-BE49-F238E27FC236}">
                  <a16:creationId xmlns:a16="http://schemas.microsoft.com/office/drawing/2014/main" id="{DA18BB62-9BBE-412E-B4F1-054A407FE6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4003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업무를 이해하고, Agent가 수행할 수 있는 분석 흐름으로 전환</a:t>
              </a:r>
            </a:p>
          </p:txBody>
        </p:sp>
        <p:sp>
          <p:nvSpPr>
            <p:cNvPr id="12" name="section01__110">
              <a:extLst xmlns:a="http://schemas.openxmlformats.org/drawingml/2006/main">
                <a:ext uri="{FF2B5EF4-FFF2-40B4-BE49-F238E27FC236}">
                  <a16:creationId xmlns:a16="http://schemas.microsoft.com/office/drawing/2014/main" id="{0BFB469E-0D28-4290-9439-7574EA665C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2924175"/>
              <a:ext cx="2119313" cy="1133475"/>
            </a:xfrm>
            <a:prstGeom xmlns:a="http://schemas.openxmlformats.org/drawingml/2006/main" prst="roundRect">
              <a:avLst>
                <a:gd name="adj" fmla="val 672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3" name="section01__111">
              <a:extLst xmlns:a="http://schemas.openxmlformats.org/drawingml/2006/main">
                <a:ext uri="{FF2B5EF4-FFF2-40B4-BE49-F238E27FC236}">
                  <a16:creationId xmlns:a16="http://schemas.microsoft.com/office/drawing/2014/main" id="{331A8C7F-372D-42FB-AF99-58470A4586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3000375"/>
              <a:ext cx="194786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OPLS SOP 검토</a:t>
              </a:r>
            </a:p>
          </p:txBody>
        </p:sp>
        <p:sp>
          <p:nvSpPr>
            <p:cNvPr id="14" name="section01__112">
              <a:extLst xmlns:a="http://schemas.openxmlformats.org/drawingml/2006/main">
                <a:ext uri="{FF2B5EF4-FFF2-40B4-BE49-F238E27FC236}">
                  <a16:creationId xmlns:a16="http://schemas.microsoft.com/office/drawing/2014/main" id="{48C610BF-7DF8-4B25-91D0-92DF159874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3400425"/>
              <a:ext cx="1890713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수율·PI·개발 표준 업무</a:t>
              </a:r>
            </a:p>
          </p:txBody>
        </p:sp>
        <p:sp>
          <p:nvSpPr>
            <p:cNvPr id="15" name="section01__113">
              <a:extLst xmlns:a="http://schemas.openxmlformats.org/drawingml/2006/main">
                <a:ext uri="{FF2B5EF4-FFF2-40B4-BE49-F238E27FC236}">
                  <a16:creationId xmlns:a16="http://schemas.microsoft.com/office/drawing/2014/main" id="{3498F1D2-F9AC-4BB1-B3BF-C1D3F35259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6988" y="34147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6" name="section01__114">
              <a:extLst xmlns:a="http://schemas.openxmlformats.org/drawingml/2006/main">
                <a:ext uri="{FF2B5EF4-FFF2-40B4-BE49-F238E27FC236}">
                  <a16:creationId xmlns:a16="http://schemas.microsoft.com/office/drawing/2014/main" id="{5DE5665C-BD80-479F-B6A2-80A12502E5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6538" y="2924175"/>
              <a:ext cx="2119313" cy="1133475"/>
            </a:xfrm>
            <a:prstGeom xmlns:a="http://schemas.openxmlformats.org/drawingml/2006/main" prst="roundRect">
              <a:avLst>
                <a:gd name="adj" fmla="val 672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7" name="section01__115">
              <a:extLst xmlns:a="http://schemas.openxmlformats.org/drawingml/2006/main">
                <a:ext uri="{FF2B5EF4-FFF2-40B4-BE49-F238E27FC236}">
                  <a16:creationId xmlns:a16="http://schemas.microsoft.com/office/drawing/2014/main" id="{783D3818-71A1-48B6-9CA0-F6926DB0C9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62263" y="3000375"/>
              <a:ext cx="194786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인터뷰</a:t>
              </a:r>
            </a:p>
          </p:txBody>
        </p:sp>
        <p:sp>
          <p:nvSpPr>
            <p:cNvPr id="18" name="section01__116">
              <a:extLst xmlns:a="http://schemas.openxmlformats.org/drawingml/2006/main">
                <a:ext uri="{FF2B5EF4-FFF2-40B4-BE49-F238E27FC236}">
                  <a16:creationId xmlns:a16="http://schemas.microsoft.com/office/drawing/2014/main" id="{C2BAD02F-7CC3-469E-A6C1-A75EE814F3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90838" y="3400425"/>
              <a:ext cx="1890713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실제 분석 사례·방법 파악</a:t>
              </a:r>
            </a:p>
          </p:txBody>
        </p:sp>
        <p:sp>
          <p:nvSpPr>
            <p:cNvPr id="19" name="section01__117">
              <a:extLst xmlns:a="http://schemas.openxmlformats.org/drawingml/2006/main">
                <a:ext uri="{FF2B5EF4-FFF2-40B4-BE49-F238E27FC236}">
                  <a16:creationId xmlns:a16="http://schemas.microsoft.com/office/drawing/2014/main" id="{A2EFC901-E551-4129-98D1-58227AD1C5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33950" y="34147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0" name="section01__118">
              <a:extLst xmlns:a="http://schemas.openxmlformats.org/drawingml/2006/main">
                <a:ext uri="{FF2B5EF4-FFF2-40B4-BE49-F238E27FC236}">
                  <a16:creationId xmlns:a16="http://schemas.microsoft.com/office/drawing/2014/main" id="{21D85098-B732-4485-BB3F-988EAF7759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2924175"/>
              <a:ext cx="2119313" cy="1133475"/>
            </a:xfrm>
            <a:prstGeom xmlns:a="http://schemas.openxmlformats.org/drawingml/2006/main" prst="roundRect">
              <a:avLst>
                <a:gd name="adj" fmla="val 672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1" name="section01__119">
              <a:extLst xmlns:a="http://schemas.openxmlformats.org/drawingml/2006/main">
                <a:ext uri="{FF2B5EF4-FFF2-40B4-BE49-F238E27FC236}">
                  <a16:creationId xmlns:a16="http://schemas.microsoft.com/office/drawing/2014/main" id="{B3FBF70A-312E-4F98-860F-00F47C77E4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3000375"/>
              <a:ext cx="194786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로직화</a:t>
              </a:r>
            </a:p>
          </p:txBody>
        </p:sp>
        <p:sp>
          <p:nvSpPr>
            <p:cNvPr id="22" name="section01__120">
              <a:extLst xmlns:a="http://schemas.openxmlformats.org/drawingml/2006/main">
                <a:ext uri="{FF2B5EF4-FFF2-40B4-BE49-F238E27FC236}">
                  <a16:creationId xmlns:a16="http://schemas.microsoft.com/office/drawing/2014/main" id="{39809B89-EBDE-488F-85A1-A37BB72799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7800" y="3400425"/>
              <a:ext cx="1890713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판단 기준·분석 순서 정리</a:t>
              </a:r>
            </a:p>
          </p:txBody>
        </p:sp>
        <p:sp>
          <p:nvSpPr>
            <p:cNvPr id="23" name="section01__121">
              <a:extLst xmlns:a="http://schemas.openxmlformats.org/drawingml/2006/main">
                <a:ext uri="{FF2B5EF4-FFF2-40B4-BE49-F238E27FC236}">
                  <a16:creationId xmlns:a16="http://schemas.microsoft.com/office/drawing/2014/main" id="{15217332-BDFB-4DF1-848F-772F5FE265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0913" y="34147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4" name="section01__122">
              <a:extLst xmlns:a="http://schemas.openxmlformats.org/drawingml/2006/main">
                <a:ext uri="{FF2B5EF4-FFF2-40B4-BE49-F238E27FC236}">
                  <a16:creationId xmlns:a16="http://schemas.microsoft.com/office/drawing/2014/main" id="{DD3463AB-FAE5-48A1-BA71-AA6C3E9FAC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10463" y="2924175"/>
              <a:ext cx="2119313" cy="1133475"/>
            </a:xfrm>
            <a:prstGeom xmlns:a="http://schemas.openxmlformats.org/drawingml/2006/main" prst="roundRect">
              <a:avLst>
                <a:gd name="adj" fmla="val 672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5" name="section01__123">
              <a:extLst xmlns:a="http://schemas.openxmlformats.org/drawingml/2006/main">
                <a:ext uri="{FF2B5EF4-FFF2-40B4-BE49-F238E27FC236}">
                  <a16:creationId xmlns:a16="http://schemas.microsoft.com/office/drawing/2014/main" id="{355B8C3D-0B79-4869-A9D1-82A158D27C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96188" y="3000375"/>
              <a:ext cx="194786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Workflow 설계</a:t>
              </a:r>
            </a:p>
          </p:txBody>
        </p:sp>
        <p:sp>
          <p:nvSpPr>
            <p:cNvPr id="26" name="section01__124">
              <a:extLst xmlns:a="http://schemas.openxmlformats.org/drawingml/2006/main">
                <a:ext uri="{FF2B5EF4-FFF2-40B4-BE49-F238E27FC236}">
                  <a16:creationId xmlns:a16="http://schemas.microsoft.com/office/drawing/2014/main" id="{76D0FC11-FD7F-4E3B-BEDF-5ED4386BCD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4763" y="3400425"/>
              <a:ext cx="1890713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Human·Agent 역할 구분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27" name="section02__125">
              <a:extLst xmlns:a="http://schemas.openxmlformats.org/drawingml/2006/main">
                <a:ext uri="{FF2B5EF4-FFF2-40B4-BE49-F238E27FC236}">
                  <a16:creationId xmlns:a16="http://schemas.microsoft.com/office/drawing/2014/main" id="{4A2FE4C7-9BD4-45EC-9F77-FF5BD05A8A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4419600"/>
              <a:ext cx="9601200" cy="5429250"/>
            </a:xfrm>
            <a:prstGeom xmlns:a="http://schemas.openxmlformats.org/drawingml/2006/main" prst="roundRect">
              <a:avLst>
                <a:gd name="adj" fmla="val 140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8" name="section02__126">
              <a:extLst xmlns:a="http://schemas.openxmlformats.org/drawingml/2006/main">
                <a:ext uri="{FF2B5EF4-FFF2-40B4-BE49-F238E27FC236}">
                  <a16:creationId xmlns:a16="http://schemas.microsoft.com/office/drawing/2014/main" id="{E44F73F5-A7AE-405C-9FCF-83F6BAC6A3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4291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9" name="section02__127">
              <a:extLst xmlns:a="http://schemas.openxmlformats.org/drawingml/2006/main">
                <a:ext uri="{FF2B5EF4-FFF2-40B4-BE49-F238E27FC236}">
                  <a16:creationId xmlns:a16="http://schemas.microsoft.com/office/drawing/2014/main" id="{3CF6B974-7874-409A-9C89-0C71EC61F1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4291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0" name="section02__128">
              <a:extLst xmlns:a="http://schemas.openxmlformats.org/drawingml/2006/main">
                <a:ext uri="{FF2B5EF4-FFF2-40B4-BE49-F238E27FC236}">
                  <a16:creationId xmlns:a16="http://schemas.microsoft.com/office/drawing/2014/main" id="{A557FFDA-82BC-46BF-8FE2-1AA601C382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44196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1" name="section02__129">
              <a:extLst xmlns:a="http://schemas.openxmlformats.org/drawingml/2006/main">
                <a:ext uri="{FF2B5EF4-FFF2-40B4-BE49-F238E27FC236}">
                  <a16:creationId xmlns:a16="http://schemas.microsoft.com/office/drawing/2014/main" id="{44762D80-201C-4E72-AC3C-DDA464C39B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4196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업무 전후 비교  ·  자연어 요청으로 분석과 후속 업무를 연결</a:t>
              </a:r>
            </a:p>
          </p:txBody>
        </p:sp>
        <p:sp>
          <p:nvSpPr>
            <p:cNvPr id="32" name="section02__130">
              <a:extLst xmlns:a="http://schemas.openxmlformats.org/drawingml/2006/main">
                <a:ext uri="{FF2B5EF4-FFF2-40B4-BE49-F238E27FC236}">
                  <a16:creationId xmlns:a16="http://schemas.microsoft.com/office/drawing/2014/main" id="{58528F85-C8F9-47C4-A31C-8F2C3310FC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4943475"/>
              <a:ext cx="3495675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3" name="section02__131">
              <a:extLst xmlns:a="http://schemas.openxmlformats.org/drawingml/2006/main">
                <a:ext uri="{FF2B5EF4-FFF2-40B4-BE49-F238E27FC236}">
                  <a16:creationId xmlns:a16="http://schemas.microsoft.com/office/drawing/2014/main" id="{A63C1EF3-843B-4395-95DB-EA41A6185B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" y="4943475"/>
              <a:ext cx="3400425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기존  ·  여러 시스템을 오가며 개별 분석</a:t>
              </a:r>
            </a:p>
          </p:txBody>
        </p:sp>
        <p:sp>
          <p:nvSpPr>
            <p:cNvPr id="34" name="section02__132">
              <a:extLst xmlns:a="http://schemas.openxmlformats.org/drawingml/2006/main">
                <a:ext uri="{FF2B5EF4-FFF2-40B4-BE49-F238E27FC236}">
                  <a16:creationId xmlns:a16="http://schemas.microsoft.com/office/drawing/2014/main" id="{9B0E5D0D-6F3D-48EF-BD53-FF45311889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0" y="4943475"/>
              <a:ext cx="5153025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5" name="section02__133">
              <a:extLst xmlns:a="http://schemas.openxmlformats.org/drawingml/2006/main">
                <a:ext uri="{FF2B5EF4-FFF2-40B4-BE49-F238E27FC236}">
                  <a16:creationId xmlns:a16="http://schemas.microsoft.com/office/drawing/2014/main" id="{A00F5BA5-2C62-48C1-A892-506E64A9A1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4375" y="4943475"/>
              <a:ext cx="5057775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Y-Agent  ·  한 환경에서 연속 분석</a:t>
              </a:r>
            </a:p>
          </p:txBody>
        </p:sp>
        <p:sp>
          <p:nvSpPr>
            <p:cNvPr id="36" name="section02__134">
              <a:extLst xmlns:a="http://schemas.openxmlformats.org/drawingml/2006/main">
                <a:ext uri="{FF2B5EF4-FFF2-40B4-BE49-F238E27FC236}">
                  <a16:creationId xmlns:a16="http://schemas.microsoft.com/office/drawing/2014/main" id="{9934C194-AA88-4295-8206-5DDAA451D5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5534025"/>
              <a:ext cx="329565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7" name="section02__135">
              <a:extLst xmlns:a="http://schemas.openxmlformats.org/drawingml/2006/main">
                <a:ext uri="{FF2B5EF4-FFF2-40B4-BE49-F238E27FC236}">
                  <a16:creationId xmlns:a16="http://schemas.microsoft.com/office/drawing/2014/main" id="{2ECECB2D-55A3-4445-860C-092AB15233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5648325"/>
              <a:ext cx="342900" cy="342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8" name="section02__136">
              <a:extLst xmlns:a="http://schemas.openxmlformats.org/drawingml/2006/main">
                <a:ext uri="{FF2B5EF4-FFF2-40B4-BE49-F238E27FC236}">
                  <a16:creationId xmlns:a16="http://schemas.microsoft.com/office/drawing/2014/main" id="{BA1BF506-3679-4503-A98B-0DB615EA6E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5724525"/>
              <a:ext cx="1905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</a:p>
          </p:txBody>
        </p:sp>
        <p:sp>
          <p:nvSpPr>
            <p:cNvPr id="39" name="section02__137">
              <a:extLst xmlns:a="http://schemas.openxmlformats.org/drawingml/2006/main">
                <a:ext uri="{FF2B5EF4-FFF2-40B4-BE49-F238E27FC236}">
                  <a16:creationId xmlns:a16="http://schemas.microsoft.com/office/drawing/2014/main" id="{5962D08D-C279-4EFD-BC1D-DF954E29F3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5581650"/>
              <a:ext cx="25050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수율일보</a:t>
              </a:r>
            </a:p>
          </p:txBody>
        </p:sp>
        <p:sp>
          <p:nvSpPr>
            <p:cNvPr id="40" name="section02__138">
              <a:extLst xmlns:a="http://schemas.openxmlformats.org/drawingml/2006/main">
                <a:ext uri="{FF2B5EF4-FFF2-40B4-BE49-F238E27FC236}">
                  <a16:creationId xmlns:a16="http://schemas.microsoft.com/office/drawing/2014/main" id="{CED9DD39-F98D-4918-B61C-9672C929A6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5857875"/>
              <a:ext cx="2505075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열화 Parameter 확인</a:t>
              </a:r>
            </a:p>
          </p:txBody>
        </p:sp>
        <p:sp>
          <p:nvSpPr>
            <p:cNvPr id="41" name="section02__139">
              <a:extLst xmlns:a="http://schemas.openxmlformats.org/drawingml/2006/main">
                <a:ext uri="{FF2B5EF4-FFF2-40B4-BE49-F238E27FC236}">
                  <a16:creationId xmlns:a16="http://schemas.microsoft.com/office/drawing/2014/main" id="{9510025E-078A-4017-AC74-187DE7A523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2000250" y="6172200"/>
              <a:ext cx="238125" cy="1714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2" name="section02__140">
              <a:extLst xmlns:a="http://schemas.openxmlformats.org/drawingml/2006/main">
                <a:ext uri="{FF2B5EF4-FFF2-40B4-BE49-F238E27FC236}">
                  <a16:creationId xmlns:a16="http://schemas.microsoft.com/office/drawing/2014/main" id="{9EADD184-A722-4B69-B5B9-FA111B2F7A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6381750"/>
              <a:ext cx="329565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3" name="section02__141">
              <a:extLst xmlns:a="http://schemas.openxmlformats.org/drawingml/2006/main">
                <a:ext uri="{FF2B5EF4-FFF2-40B4-BE49-F238E27FC236}">
                  <a16:creationId xmlns:a16="http://schemas.microsoft.com/office/drawing/2014/main" id="{E3F6DC4F-83D9-415F-8AD3-E197E26807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6496050"/>
              <a:ext cx="342900" cy="342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4" name="section02__142">
              <a:extLst xmlns:a="http://schemas.openxmlformats.org/drawingml/2006/main">
                <a:ext uri="{FF2B5EF4-FFF2-40B4-BE49-F238E27FC236}">
                  <a16:creationId xmlns:a16="http://schemas.microsoft.com/office/drawing/2014/main" id="{D3553198-E2FE-49FE-B673-39868D056F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72250"/>
              <a:ext cx="1905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2</a:t>
              </a:r>
            </a:p>
          </p:txBody>
        </p:sp>
        <p:sp>
          <p:nvSpPr>
            <p:cNvPr id="45" name="section02__143">
              <a:extLst xmlns:a="http://schemas.openxmlformats.org/drawingml/2006/main">
                <a:ext uri="{FF2B5EF4-FFF2-40B4-BE49-F238E27FC236}">
                  <a16:creationId xmlns:a16="http://schemas.microsoft.com/office/drawing/2014/main" id="{4E06F053-9BF6-433A-8768-0D826A27E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6429375"/>
              <a:ext cx="25050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SmartFactory</a:t>
              </a:r>
            </a:p>
          </p:txBody>
        </p:sp>
        <p:sp>
          <p:nvSpPr>
            <p:cNvPr id="46" name="section02__144">
              <a:extLst xmlns:a="http://schemas.openxmlformats.org/drawingml/2006/main">
                <a:ext uri="{FF2B5EF4-FFF2-40B4-BE49-F238E27FC236}">
                  <a16:creationId xmlns:a16="http://schemas.microsoft.com/office/drawing/2014/main" id="{CE9B9E32-0F0F-41BB-8219-B957D7043E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6705600"/>
              <a:ext cx="2505075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Trend·Map 조회</a:t>
              </a:r>
            </a:p>
          </p:txBody>
        </p:sp>
        <p:sp>
          <p:nvSpPr>
            <p:cNvPr id="47" name="section02__145">
              <a:extLst xmlns:a="http://schemas.openxmlformats.org/drawingml/2006/main">
                <a:ext uri="{FF2B5EF4-FFF2-40B4-BE49-F238E27FC236}">
                  <a16:creationId xmlns:a16="http://schemas.microsoft.com/office/drawing/2014/main" id="{771BE2C6-4C91-4755-99D9-781CC7F58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2000250" y="7019925"/>
              <a:ext cx="238125" cy="1714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8" name="section02__146">
              <a:extLst xmlns:a="http://schemas.openxmlformats.org/drawingml/2006/main">
                <a:ext uri="{FF2B5EF4-FFF2-40B4-BE49-F238E27FC236}">
                  <a16:creationId xmlns:a16="http://schemas.microsoft.com/office/drawing/2014/main" id="{3086B398-7B8D-4AA5-92C0-40770EFB78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7229475"/>
              <a:ext cx="329565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9" name="section02__147">
              <a:extLst xmlns:a="http://schemas.openxmlformats.org/drawingml/2006/main">
                <a:ext uri="{FF2B5EF4-FFF2-40B4-BE49-F238E27FC236}">
                  <a16:creationId xmlns:a16="http://schemas.microsoft.com/office/drawing/2014/main" id="{4E3C77E9-369D-4A21-B316-E9C6E70B34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7343775"/>
              <a:ext cx="342900" cy="342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0" name="section02__148">
              <a:extLst xmlns:a="http://schemas.openxmlformats.org/drawingml/2006/main">
                <a:ext uri="{FF2B5EF4-FFF2-40B4-BE49-F238E27FC236}">
                  <a16:creationId xmlns:a16="http://schemas.microsoft.com/office/drawing/2014/main" id="{C4B0AE8F-63E3-4F41-960C-346A4B3B89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7419975"/>
              <a:ext cx="1905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3</a:t>
              </a:r>
            </a:p>
          </p:txBody>
        </p:sp>
        <p:sp>
          <p:nvSpPr>
            <p:cNvPr id="51" name="section02__149">
              <a:extLst xmlns:a="http://schemas.openxmlformats.org/drawingml/2006/main">
                <a:ext uri="{FF2B5EF4-FFF2-40B4-BE49-F238E27FC236}">
                  <a16:creationId xmlns:a16="http://schemas.microsoft.com/office/drawing/2014/main" id="{D5540AE1-09D8-4A54-8E5C-7A9E4BA6D9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7277100"/>
              <a:ext cx="25050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Raw Data 추출</a:t>
              </a:r>
            </a:p>
          </p:txBody>
        </p:sp>
        <p:sp>
          <p:nvSpPr>
            <p:cNvPr id="52" name="section02__150">
              <a:extLst xmlns:a="http://schemas.openxmlformats.org/drawingml/2006/main">
                <a:ext uri="{FF2B5EF4-FFF2-40B4-BE49-F238E27FC236}">
                  <a16:creationId xmlns:a16="http://schemas.microsoft.com/office/drawing/2014/main" id="{ECFDB2BC-A0F1-4D2A-8CD4-61753C5D6E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7553325"/>
              <a:ext cx="2505075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분석용 데이터 준비</a:t>
              </a:r>
            </a:p>
          </p:txBody>
        </p:sp>
        <p:sp>
          <p:nvSpPr>
            <p:cNvPr id="53" name="section02__151">
              <a:extLst xmlns:a="http://schemas.openxmlformats.org/drawingml/2006/main">
                <a:ext uri="{FF2B5EF4-FFF2-40B4-BE49-F238E27FC236}">
                  <a16:creationId xmlns:a16="http://schemas.microsoft.com/office/drawing/2014/main" id="{AC603B19-88C7-40A6-8642-B7661F4CC6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2000250" y="7867650"/>
              <a:ext cx="238125" cy="1714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4" name="section02__152">
              <a:extLst xmlns:a="http://schemas.openxmlformats.org/drawingml/2006/main">
                <a:ext uri="{FF2B5EF4-FFF2-40B4-BE49-F238E27FC236}">
                  <a16:creationId xmlns:a16="http://schemas.microsoft.com/office/drawing/2014/main" id="{2D5DC151-184B-4DA4-9147-0208ABFE19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8077200"/>
              <a:ext cx="329565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5" name="section02__153">
              <a:extLst xmlns:a="http://schemas.openxmlformats.org/drawingml/2006/main">
                <a:ext uri="{FF2B5EF4-FFF2-40B4-BE49-F238E27FC236}">
                  <a16:creationId xmlns:a16="http://schemas.microsoft.com/office/drawing/2014/main" id="{477C8B65-86E2-4742-942F-0CC66C558C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8191500"/>
              <a:ext cx="342900" cy="342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6" name="section02__154">
              <a:extLst xmlns:a="http://schemas.openxmlformats.org/drawingml/2006/main">
                <a:ext uri="{FF2B5EF4-FFF2-40B4-BE49-F238E27FC236}">
                  <a16:creationId xmlns:a16="http://schemas.microsoft.com/office/drawing/2014/main" id="{B73B2A0B-B7E9-40AC-AC4A-FA3B42E12A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267700"/>
              <a:ext cx="1905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4</a:t>
              </a:r>
            </a:p>
          </p:txBody>
        </p:sp>
        <p:sp>
          <p:nvSpPr>
            <p:cNvPr id="57" name="section02__155">
              <a:extLst xmlns:a="http://schemas.openxmlformats.org/drawingml/2006/main">
                <a:ext uri="{FF2B5EF4-FFF2-40B4-BE49-F238E27FC236}">
                  <a16:creationId xmlns:a16="http://schemas.microsoft.com/office/drawing/2014/main" id="{A0510AA5-E889-4BCE-B353-3DE9134481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8124825"/>
              <a:ext cx="25050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개별 분석 도구</a:t>
              </a:r>
            </a:p>
          </p:txBody>
        </p:sp>
        <p:sp>
          <p:nvSpPr>
            <p:cNvPr id="58" name="section02__156">
              <a:extLst xmlns:a="http://schemas.openxmlformats.org/drawingml/2006/main">
                <a:ext uri="{FF2B5EF4-FFF2-40B4-BE49-F238E27FC236}">
                  <a16:creationId xmlns:a16="http://schemas.microsoft.com/office/drawing/2014/main" id="{1273FD5A-0198-4F47-9A62-AF85963CFC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8401050"/>
              <a:ext cx="2505075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상세 분석 수행</a:t>
              </a:r>
            </a:p>
          </p:txBody>
        </p:sp>
        <p:sp>
          <p:nvSpPr>
            <p:cNvPr id="59" name="section02__157">
              <a:extLst xmlns:a="http://schemas.openxmlformats.org/drawingml/2006/main">
                <a:ext uri="{FF2B5EF4-FFF2-40B4-BE49-F238E27FC236}">
                  <a16:creationId xmlns:a16="http://schemas.microsoft.com/office/drawing/2014/main" id="{C0802092-0DB6-4E58-A0E3-498711F590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" y="9029700"/>
              <a:ext cx="3305175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직접 조회·정리·분석 연결</a:t>
              </a:r>
            </a:p>
            <a:p xmlns:a="http://schemas.openxmlformats.org/drawingml/2006/main">
              <a:pPr algn="ctr">
                <a:def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후속 분석 선택은 개인 경험에 의존</a:t>
              </a:r>
            </a:p>
          </p:txBody>
        </p:sp>
        <p:sp>
          <p:nvSpPr>
            <p:cNvPr id="60" name="section02__158">
              <a:extLst xmlns:a="http://schemas.openxmlformats.org/drawingml/2006/main">
                <a:ext uri="{FF2B5EF4-FFF2-40B4-BE49-F238E27FC236}">
                  <a16:creationId xmlns:a16="http://schemas.microsoft.com/office/drawing/2014/main" id="{7B84498D-3FF0-41CF-AA72-73A85CC242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0025" y="6962775"/>
              <a:ext cx="342900" cy="4000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1" name="section02__159">
              <a:extLst xmlns:a="http://schemas.openxmlformats.org/drawingml/2006/main">
                <a:ext uri="{FF2B5EF4-FFF2-40B4-BE49-F238E27FC236}">
                  <a16:creationId xmlns:a16="http://schemas.microsoft.com/office/drawing/2014/main" id="{662664CD-02F8-4028-9AF4-0F0BDF4F83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1050" y="5514975"/>
              <a:ext cx="4914900" cy="466725"/>
            </a:xfrm>
            <a:prstGeom xmlns:a="http://schemas.openxmlformats.org/drawingml/2006/main" prst="roundRect">
              <a:avLst>
                <a:gd name="adj" fmla="val 16327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2" name="section02__160">
              <a:extLst xmlns:a="http://schemas.openxmlformats.org/drawingml/2006/main">
                <a:ext uri="{FF2B5EF4-FFF2-40B4-BE49-F238E27FC236}">
                  <a16:creationId xmlns:a16="http://schemas.microsoft.com/office/drawing/2014/main" id="{21034FFA-8C00-4BDB-A947-4B2917F24C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5562600"/>
              <a:ext cx="47625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“최근 제품의 수율 저하 원인을 분석해줘”</a:t>
              </a:r>
            </a:p>
          </p:txBody>
        </p:sp>
        <p:pic>
          <p:nvPicPr>
            <p:cNvPr id="150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12a70f9ec7d4192"/>
            <a:stretch xmlns:a="http://schemas.openxmlformats.org/drawingml/2006/main"/>
          </p:blipFill>
          <p:spPr>
            <a:xfrm xmlns:a="http://schemas.openxmlformats.org/drawingml/2006/main">
              <a:off x="5251504" y="6153150"/>
              <a:ext cx="3603517" cy="2676525"/>
            </a:xfrm>
            <a:prstGeom xmlns:a="http://schemas.openxmlformats.org/drawingml/2006/main" prst="rect">
              <a:avLst/>
            </a:prstGeom>
          </p:spPr>
        </p:pic>
        <p:sp>
          <p:nvSpPr>
            <p:cNvPr id="64" name="section02__161">
              <a:extLst xmlns:a="http://schemas.openxmlformats.org/drawingml/2006/main">
                <a:ext uri="{FF2B5EF4-FFF2-40B4-BE49-F238E27FC236}">
                  <a16:creationId xmlns:a16="http://schemas.microsoft.com/office/drawing/2014/main" id="{1212AED3-F269-4126-9F21-39D13C5C60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0100" y="8915400"/>
              <a:ext cx="1033463" cy="41910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5" name="section02__162">
              <a:extLst xmlns:a="http://schemas.openxmlformats.org/drawingml/2006/main">
                <a:ext uri="{FF2B5EF4-FFF2-40B4-BE49-F238E27FC236}">
                  <a16:creationId xmlns:a16="http://schemas.microsoft.com/office/drawing/2014/main" id="{928AE329-E0EE-46A5-85AB-339C2E716A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95825" y="8991600"/>
              <a:ext cx="86201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수율일보</a:t>
              </a:r>
            </a:p>
          </p:txBody>
        </p:sp>
        <p:sp>
          <p:nvSpPr>
            <p:cNvPr id="66" name="section02__163">
              <a:extLst xmlns:a="http://schemas.openxmlformats.org/drawingml/2006/main">
                <a:ext uri="{FF2B5EF4-FFF2-40B4-BE49-F238E27FC236}">
                  <a16:creationId xmlns:a16="http://schemas.microsoft.com/office/drawing/2014/main" id="{9448213C-A59E-46DD-90E9-0128AF349C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81663" y="90487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7" name="section02__164">
              <a:extLst xmlns:a="http://schemas.openxmlformats.org/drawingml/2006/main">
                <a:ext uri="{FF2B5EF4-FFF2-40B4-BE49-F238E27FC236}">
                  <a16:creationId xmlns:a16="http://schemas.microsoft.com/office/drawing/2014/main" id="{D16F2AD8-8C17-4F96-A24D-355E062E84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91213" y="8915400"/>
              <a:ext cx="1033463" cy="41910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8" name="section02__165">
              <a:extLst xmlns:a="http://schemas.openxmlformats.org/drawingml/2006/main">
                <a:ext uri="{FF2B5EF4-FFF2-40B4-BE49-F238E27FC236}">
                  <a16:creationId xmlns:a16="http://schemas.microsoft.com/office/drawing/2014/main" id="{C50AC398-B5B7-4B8A-ADED-6E90CF0188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6938" y="8991600"/>
              <a:ext cx="86201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이상감지</a:t>
              </a:r>
            </a:p>
          </p:txBody>
        </p:sp>
        <p:sp>
          <p:nvSpPr>
            <p:cNvPr id="69" name="section02__166">
              <a:extLst xmlns:a="http://schemas.openxmlformats.org/drawingml/2006/main">
                <a:ext uri="{FF2B5EF4-FFF2-40B4-BE49-F238E27FC236}">
                  <a16:creationId xmlns:a16="http://schemas.microsoft.com/office/drawing/2014/main" id="{C64CC50D-7AA3-4DF3-A9D6-2D45008214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62775" y="90487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0" name="section02__167">
              <a:extLst xmlns:a="http://schemas.openxmlformats.org/drawingml/2006/main">
                <a:ext uri="{FF2B5EF4-FFF2-40B4-BE49-F238E27FC236}">
                  <a16:creationId xmlns:a16="http://schemas.microsoft.com/office/drawing/2014/main" id="{4B74D46F-9748-4BB2-A0D6-B0F3FFA3C1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25" y="8915400"/>
              <a:ext cx="1033463" cy="41910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1" name="section02__168">
              <a:extLst xmlns:a="http://schemas.openxmlformats.org/drawingml/2006/main">
                <a:ext uri="{FF2B5EF4-FFF2-40B4-BE49-F238E27FC236}">
                  <a16:creationId xmlns:a16="http://schemas.microsoft.com/office/drawing/2014/main" id="{CCCED931-1B74-4C6B-9148-001BC971F4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58050" y="8991600"/>
              <a:ext cx="86201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Map·연계분석</a:t>
              </a:r>
            </a:p>
          </p:txBody>
        </p:sp>
        <p:sp>
          <p:nvSpPr>
            <p:cNvPr id="72" name="section02__169">
              <a:extLst xmlns:a="http://schemas.openxmlformats.org/drawingml/2006/main">
                <a:ext uri="{FF2B5EF4-FFF2-40B4-BE49-F238E27FC236}">
                  <a16:creationId xmlns:a16="http://schemas.microsoft.com/office/drawing/2014/main" id="{76415D91-24BC-4CC4-A16D-989BDC6D80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3888" y="90487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3" name="section02__170">
              <a:extLst xmlns:a="http://schemas.openxmlformats.org/drawingml/2006/main">
                <a:ext uri="{FF2B5EF4-FFF2-40B4-BE49-F238E27FC236}">
                  <a16:creationId xmlns:a16="http://schemas.microsoft.com/office/drawing/2014/main" id="{56BCB3FF-8734-4893-87F2-980D87C265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53438" y="8915400"/>
              <a:ext cx="1033463" cy="41910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4" name="section02__171">
              <a:extLst xmlns:a="http://schemas.openxmlformats.org/drawingml/2006/main">
                <a:ext uri="{FF2B5EF4-FFF2-40B4-BE49-F238E27FC236}">
                  <a16:creationId xmlns:a16="http://schemas.microsoft.com/office/drawing/2014/main" id="{4E0B747A-0088-4398-9C45-AFA4846A30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39163" y="8991600"/>
              <a:ext cx="86201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Mining</a:t>
              </a:r>
            </a:p>
          </p:txBody>
        </p:sp>
        <p:sp>
          <p:nvSpPr>
            <p:cNvPr id="75" name="section02__172">
              <a:extLst xmlns:a="http://schemas.openxmlformats.org/drawingml/2006/main">
                <a:ext uri="{FF2B5EF4-FFF2-40B4-BE49-F238E27FC236}">
                  <a16:creationId xmlns:a16="http://schemas.microsoft.com/office/drawing/2014/main" id="{D2CCBB94-8476-46D3-AB03-2E5CC987B0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0575" y="9458325"/>
              <a:ext cx="49053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결과 확인 후 후속 분석을 선택·확장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6" name="section03__173">
              <a:extLst xmlns:a="http://schemas.openxmlformats.org/drawingml/2006/main">
                <a:ext uri="{FF2B5EF4-FFF2-40B4-BE49-F238E27FC236}">
                  <a16:creationId xmlns:a16="http://schemas.microsoft.com/office/drawing/2014/main" id="{C6CC01E7-AF17-48A3-B8C4-5A25B46791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10010775"/>
              <a:ext cx="9601200" cy="2781300"/>
            </a:xfrm>
            <a:prstGeom xmlns:a="http://schemas.openxmlformats.org/drawingml/2006/main" prst="roundRect">
              <a:avLst>
                <a:gd name="adj" fmla="val 274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7" name="section03__174">
              <a:extLst xmlns:a="http://schemas.openxmlformats.org/drawingml/2006/main">
                <a:ext uri="{FF2B5EF4-FFF2-40B4-BE49-F238E27FC236}">
                  <a16:creationId xmlns:a16="http://schemas.microsoft.com/office/drawing/2014/main" id="{AE643752-753F-4AFE-B195-58997199BC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0203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78" name="section03__175">
              <a:extLst xmlns:a="http://schemas.openxmlformats.org/drawingml/2006/main">
                <a:ext uri="{FF2B5EF4-FFF2-40B4-BE49-F238E27FC236}">
                  <a16:creationId xmlns:a16="http://schemas.microsoft.com/office/drawing/2014/main" id="{4624BEFC-3D61-482D-B539-AD799AF25A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0203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9" name="section03__176">
              <a:extLst xmlns:a="http://schemas.openxmlformats.org/drawingml/2006/main">
                <a:ext uri="{FF2B5EF4-FFF2-40B4-BE49-F238E27FC236}">
                  <a16:creationId xmlns:a16="http://schemas.microsoft.com/office/drawing/2014/main" id="{8B8E66FC-8CDF-4CBB-835B-C170330719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100107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80" name="section03__177">
              <a:extLst xmlns:a="http://schemas.openxmlformats.org/drawingml/2006/main">
                <a:ext uri="{FF2B5EF4-FFF2-40B4-BE49-F238E27FC236}">
                  <a16:creationId xmlns:a16="http://schemas.microsoft.com/office/drawing/2014/main" id="{F7C1D29A-92C0-46EA-9313-AD788A6277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00107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역할 분담  ·  Agent가 분석을 연결하고 엔지니어가 판단·선택</a:t>
              </a:r>
            </a:p>
          </p:txBody>
        </p:sp>
        <p:sp>
          <p:nvSpPr>
            <p:cNvPr id="82" name="section03__178">
              <a:extLst xmlns:a="http://schemas.openxmlformats.org/drawingml/2006/main">
                <a:ext uri="{FF2B5EF4-FFF2-40B4-BE49-F238E27FC236}">
                  <a16:creationId xmlns:a16="http://schemas.microsoft.com/office/drawing/2014/main" id="{7F25CF7E-3E71-4E2E-9EA4-914D9D6BB6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12296775"/>
              <a:ext cx="9191625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83" name="section03__179">
              <a:extLst xmlns:a="http://schemas.openxmlformats.org/drawingml/2006/main">
                <a:ext uri="{FF2B5EF4-FFF2-40B4-BE49-F238E27FC236}">
                  <a16:creationId xmlns:a16="http://schemas.microsoft.com/office/drawing/2014/main" id="{C7EBC5FD-3928-4A63-9C44-64E8A001FD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12296775"/>
              <a:ext cx="9001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기본 Workflow 활용 + 엔지니어 주도 분석  ·  결과에 따라 이전 단계로 돌아가 추가 분석</a:t>
              </a:r>
            </a:p>
          </p:txBody>
        </p:sp>
      </p:grpSp>
      <p:grpSp>
        <p:nvGrpSpPr>
          <p:cNvPr id="10004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4" name="footer__180">
              <a:extLst xmlns:a="http://schemas.openxmlformats.org/drawingml/2006/main">
                <a:ext uri="{FF2B5EF4-FFF2-40B4-BE49-F238E27FC236}">
                  <a16:creationId xmlns:a16="http://schemas.microsoft.com/office/drawing/2014/main" id="{B4E9A004-1FFE-4F3A-9253-B7F0CEB824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85" name="footer__181">
              <a:extLst xmlns:a="http://schemas.openxmlformats.org/drawingml/2006/main">
                <a:ext uri="{FF2B5EF4-FFF2-40B4-BE49-F238E27FC236}">
                  <a16:creationId xmlns:a16="http://schemas.microsoft.com/office/drawing/2014/main" id="{4D2801B3-163E-4079-B723-7EBC7A7904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분석 업무 효율화 · 분석 방법 표준화 · 분석 품질·신뢰도 향상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숙련자의 분석 방법을 누구나 활용하는 수율 분석 체계</a:t>
              </a:r>
            </a:p>
          </p:txBody>
        </p:sp>
        <p:sp>
          <p:nvSpPr>
            <p:cNvPr id="86" name="footer__182">
              <a:extLst xmlns:a="http://schemas.openxmlformats.org/drawingml/2006/main">
                <a:ext uri="{FF2B5EF4-FFF2-40B4-BE49-F238E27FC236}">
                  <a16:creationId xmlns:a16="http://schemas.microsoft.com/office/drawing/2014/main" id="{D2289466-F962-42BC-9A6E-F8BCCED03F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87" name="footer__183">
              <a:extLst xmlns:a="http://schemas.openxmlformats.org/drawingml/2006/main">
                <a:ext uri="{FF2B5EF4-FFF2-40B4-BE49-F238E27FC236}">
                  <a16:creationId xmlns:a16="http://schemas.microsoft.com/office/drawing/2014/main" id="{75969AB2-BD2F-4D17-BE0C-E7EECE2F48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</p:grpSp>
      <p:graphicFrame>
        <p:nvGraphicFramePr>
          <p:cNvPr id="168" name=""/>
          <p:cNvGraphicFramePr/>
          <p:nvPr/>
        </p:nvGraphicFramePr>
        <p:xfrm>
          <a:off xmlns:a="http://schemas.openxmlformats.org/drawingml/2006/main" x="409575" y="10544175"/>
          <a:ext xmlns:a="http://schemas.openxmlformats.org/drawingml/2006/main" cx="9210675" cy="1590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2135"/>
                <a:gridCol w="1842135"/>
                <a:gridCol w="1842135"/>
                <a:gridCol w="1842135"/>
                <a:gridCol w="1842135"/>
              </a:tblGrid>
              <a:tr h="53022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수율 점검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대상 선정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전문 분석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 결과·확장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</a:tr>
              <a:tr h="53022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기간별 분석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열화 감지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Fail List 제안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방법 추천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수행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정리·시각화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분석 추천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분석 제안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엔지니어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기간·목적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Fail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검토·선택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방법 선택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조건·방향 조정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확인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분석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07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8" name="header__184">
              <a:extLst xmlns:a="http://schemas.openxmlformats.org/drawingml/2006/main">
                <a:ext uri="{FF2B5EF4-FFF2-40B4-BE49-F238E27FC236}">
                  <a16:creationId xmlns:a16="http://schemas.microsoft.com/office/drawing/2014/main" id="{9570CE99-CFB2-49EA-B215-DFE9C26404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185">
              <a:extLst xmlns:a="http://schemas.openxmlformats.org/drawingml/2006/main">
                <a:ext uri="{FF2B5EF4-FFF2-40B4-BE49-F238E27FC236}">
                  <a16:creationId xmlns:a16="http://schemas.microsoft.com/office/drawing/2014/main" id="{0B2BDA53-8934-4981-A78F-CF2175276E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186">
              <a:extLst xmlns:a="http://schemas.openxmlformats.org/drawingml/2006/main">
                <a:ext uri="{FF2B5EF4-FFF2-40B4-BE49-F238E27FC236}">
                  <a16:creationId xmlns:a16="http://schemas.microsoft.com/office/drawing/2014/main" id="{1F0BAEA0-78E2-4841-9A6C-1707831F6C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03 / 06</a:t>
              </a:r>
            </a:p>
          </p:txBody>
        </p:sp>
        <p:sp>
          <p:nvSpPr>
            <p:cNvPr id="4" name="header__187">
              <a:extLst xmlns:a="http://schemas.openxmlformats.org/drawingml/2006/main">
                <a:ext uri="{FF2B5EF4-FFF2-40B4-BE49-F238E27FC236}">
                  <a16:creationId xmlns:a16="http://schemas.microsoft.com/office/drawing/2014/main" id="{F53337C2-B150-458A-9ED4-9049214B91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188">
              <a:extLst xmlns:a="http://schemas.openxmlformats.org/drawingml/2006/main">
                <a:ext uri="{FF2B5EF4-FFF2-40B4-BE49-F238E27FC236}">
                  <a16:creationId xmlns:a16="http://schemas.microsoft.com/office/drawing/2014/main" id="{C3B71E38-A5BB-4DDC-A3E9-EB4D7E0792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도메인 지식을 내재화한</a:t>
              </a:r>
            </a:p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13개 전문 Agent · 24개 Tool</a:t>
              </a:r>
            </a:p>
          </p:txBody>
        </p:sp>
        <p:sp>
          <p:nvSpPr>
            <p:cNvPr id="6" name="header__189">
              <a:extLst xmlns:a="http://schemas.openxmlformats.org/drawingml/2006/main">
                <a:ext uri="{FF2B5EF4-FFF2-40B4-BE49-F238E27FC236}">
                  <a16:creationId xmlns:a16="http://schemas.microsoft.com/office/drawing/2014/main" id="{B465C417-34B7-47C8-86CF-EBD21FC7AB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숙련자의 판단 기준을 실제로 실행하는 전문 분석 역량으로 구현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190">
              <a:extLst xmlns:a="http://schemas.openxmlformats.org/drawingml/2006/main">
                <a:ext uri="{FF2B5EF4-FFF2-40B4-BE49-F238E27FC236}">
                  <a16:creationId xmlns:a16="http://schemas.microsoft.com/office/drawing/2014/main" id="{640207AD-2E3C-48D0-906D-D8F590CE8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400300"/>
              <a:ext cx="9601200" cy="2990850"/>
            </a:xfrm>
            <a:prstGeom xmlns:a="http://schemas.openxmlformats.org/drawingml/2006/main" prst="roundRect">
              <a:avLst>
                <a:gd name="adj" fmla="val 2548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191">
              <a:extLst xmlns:a="http://schemas.openxmlformats.org/drawingml/2006/main">
                <a:ext uri="{FF2B5EF4-FFF2-40B4-BE49-F238E27FC236}">
                  <a16:creationId xmlns:a16="http://schemas.microsoft.com/office/drawing/2014/main" id="{95CB350F-D5FE-42D7-8CFB-5A0F0187EC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192">
              <a:extLst xmlns:a="http://schemas.openxmlformats.org/drawingml/2006/main">
                <a:ext uri="{FF2B5EF4-FFF2-40B4-BE49-F238E27FC236}">
                  <a16:creationId xmlns:a16="http://schemas.microsoft.com/office/drawing/2014/main" id="{BC892477-60C2-4506-B734-5B80BB0696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193">
              <a:extLst xmlns:a="http://schemas.openxmlformats.org/drawingml/2006/main">
                <a:ext uri="{FF2B5EF4-FFF2-40B4-BE49-F238E27FC236}">
                  <a16:creationId xmlns:a16="http://schemas.microsoft.com/office/drawing/2014/main" id="{28823CAC-57EF-4DE5-AD77-BBD7086347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4003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194">
              <a:extLst xmlns:a="http://schemas.openxmlformats.org/drawingml/2006/main">
                <a:ext uri="{FF2B5EF4-FFF2-40B4-BE49-F238E27FC236}">
                  <a16:creationId xmlns:a16="http://schemas.microsoft.com/office/drawing/2014/main" id="{3270B19B-D480-4005-BC0F-91CBAD254A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4003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지식이 분석 능력으로 바뀌는 구조</a:t>
              </a:r>
            </a:p>
          </p:txBody>
        </p:sp>
        <p:sp>
          <p:nvSpPr>
            <p:cNvPr id="12" name="section01__195">
              <a:extLst xmlns:a="http://schemas.openxmlformats.org/drawingml/2006/main">
                <a:ext uri="{FF2B5EF4-FFF2-40B4-BE49-F238E27FC236}">
                  <a16:creationId xmlns:a16="http://schemas.microsoft.com/office/drawing/2014/main" id="{043B8AFE-57D7-4F58-BB1A-74CCF067A0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2924175"/>
              <a:ext cx="2390775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13" name="section01__196">
              <a:extLst xmlns:a="http://schemas.openxmlformats.org/drawingml/2006/main">
                <a:ext uri="{FF2B5EF4-FFF2-40B4-BE49-F238E27FC236}">
                  <a16:creationId xmlns:a16="http://schemas.microsoft.com/office/drawing/2014/main" id="{29B06604-83F2-4EBD-B856-92423E5B3E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" y="2924175"/>
              <a:ext cx="2295525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도메인 지식</a:t>
              </a:r>
            </a:p>
          </p:txBody>
        </p:sp>
        <p:sp>
          <p:nvSpPr>
            <p:cNvPr id="14" name="section01__197">
              <a:extLst xmlns:a="http://schemas.openxmlformats.org/drawingml/2006/main">
                <a:ext uri="{FF2B5EF4-FFF2-40B4-BE49-F238E27FC236}">
                  <a16:creationId xmlns:a16="http://schemas.microsoft.com/office/drawing/2014/main" id="{EC76E780-6162-4736-8FD5-1E9AA14F12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05150" y="2924175"/>
              <a:ext cx="3295650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15" name="section01__198">
              <a:extLst xmlns:a="http://schemas.openxmlformats.org/drawingml/2006/main">
                <a:ext uri="{FF2B5EF4-FFF2-40B4-BE49-F238E27FC236}">
                  <a16:creationId xmlns:a16="http://schemas.microsoft.com/office/drawing/2014/main" id="{BC34C48A-A5C8-4FAC-99B7-B09FC0A7AA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52775" y="2924175"/>
              <a:ext cx="320040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Agent 분석 Logic</a:t>
              </a:r>
            </a:p>
          </p:txBody>
        </p:sp>
        <p:sp>
          <p:nvSpPr>
            <p:cNvPr id="16" name="section01__199">
              <a:extLst xmlns:a="http://schemas.openxmlformats.org/drawingml/2006/main">
                <a:ext uri="{FF2B5EF4-FFF2-40B4-BE49-F238E27FC236}">
                  <a16:creationId xmlns:a16="http://schemas.microsoft.com/office/drawing/2014/main" id="{C3BB018D-132D-4686-929D-57C613DA17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2924175"/>
              <a:ext cx="2914650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17" name="section01__200">
              <a:extLst xmlns:a="http://schemas.openxmlformats.org/drawingml/2006/main">
                <a:ext uri="{FF2B5EF4-FFF2-40B4-BE49-F238E27FC236}">
                  <a16:creationId xmlns:a16="http://schemas.microsoft.com/office/drawing/2014/main" id="{542DA072-5CD9-4550-8FB3-2F7CE3EEAA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62750" y="2924175"/>
              <a:ext cx="281940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수행 체계</a:t>
              </a:r>
            </a:p>
          </p:txBody>
        </p:sp>
        <p:sp>
          <p:nvSpPr>
            <p:cNvPr id="18" name="section01__201">
              <a:extLst xmlns:a="http://schemas.openxmlformats.org/drawingml/2006/main">
                <a:ext uri="{FF2B5EF4-FFF2-40B4-BE49-F238E27FC236}">
                  <a16:creationId xmlns:a16="http://schemas.microsoft.com/office/drawing/2014/main" id="{9F8EE4C6-D56C-4708-A916-34D4618AAB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3409950"/>
              <a:ext cx="2381250" cy="1714500"/>
            </a:xfrm>
            <a:prstGeom xmlns:a="http://schemas.openxmlformats.org/drawingml/2006/main" prst="roundRect">
              <a:avLst>
                <a:gd name="adj" fmla="val 4444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9" name="section01__202">
              <a:extLst xmlns:a="http://schemas.openxmlformats.org/drawingml/2006/main">
                <a:ext uri="{FF2B5EF4-FFF2-40B4-BE49-F238E27FC236}">
                  <a16:creationId xmlns:a16="http://schemas.microsoft.com/office/drawing/2014/main" id="{B89F9C86-29E4-43C0-847D-587ED65F2C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975" y="3571875"/>
              <a:ext cx="2095500" cy="1381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불량별 분석 관점</a:t>
              </a:r>
            </a:p>
            <a:p xmlns:a="http://schemas.openxmlformats.org/drawingml/2006/main">
              <a:pPr algn="l">
                <a:def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공정 특성 이해</a:t>
              </a:r>
            </a:p>
            <a:p xmlns:a="http://schemas.openxmlformats.org/drawingml/2006/main">
              <a:pPr algn="l">
                <a:def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데이터 해석 기준</a:t>
              </a:r>
            </a:p>
            <a:p xmlns:a="http://schemas.openxmlformats.org/drawingml/2006/main">
              <a:pPr algn="l">
                <a:def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원인 추적 Know-how</a:t>
              </a:r>
            </a:p>
            <a:p xmlns:a="http://schemas.openxmlformats.org/drawingml/2006/main">
              <a:pPr algn="l">
                <a:def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연결 순서</a:t>
              </a:r>
            </a:p>
          </p:txBody>
        </p:sp>
        <p:sp>
          <p:nvSpPr>
            <p:cNvPr id="20" name="section01__203">
              <a:extLst xmlns:a="http://schemas.openxmlformats.org/drawingml/2006/main">
                <a:ext uri="{FF2B5EF4-FFF2-40B4-BE49-F238E27FC236}">
                  <a16:creationId xmlns:a16="http://schemas.microsoft.com/office/drawing/2014/main" id="{0D39BB25-B457-4FF0-8F57-D92E00BAE4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47975" y="4095750"/>
              <a:ext cx="209550" cy="2190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1" name="section01__204">
              <a:extLst xmlns:a="http://schemas.openxmlformats.org/drawingml/2006/main">
                <a:ext uri="{FF2B5EF4-FFF2-40B4-BE49-F238E27FC236}">
                  <a16:creationId xmlns:a16="http://schemas.microsoft.com/office/drawing/2014/main" id="{82D3383F-A9CB-4D58-8275-4B880187A7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43250" y="3390900"/>
              <a:ext cx="32194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2" name="section01__205">
              <a:extLst xmlns:a="http://schemas.openxmlformats.org/drawingml/2006/main">
                <a:ext uri="{FF2B5EF4-FFF2-40B4-BE49-F238E27FC236}">
                  <a16:creationId xmlns:a16="http://schemas.microsoft.com/office/drawing/2014/main" id="{86C4DF0A-5B8C-4B17-B748-FA46D5A486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9450" y="3419475"/>
              <a:ext cx="30670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무엇을 확인할지</a:t>
              </a:r>
            </a:p>
          </p:txBody>
        </p:sp>
        <p:sp>
          <p:nvSpPr>
            <p:cNvPr id="23" name="section01__206">
              <a:extLst xmlns:a="http://schemas.openxmlformats.org/drawingml/2006/main">
                <a:ext uri="{FF2B5EF4-FFF2-40B4-BE49-F238E27FC236}">
                  <a16:creationId xmlns:a16="http://schemas.microsoft.com/office/drawing/2014/main" id="{25F7217F-2DE9-409C-BF7F-DE47893DD2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43250" y="3962400"/>
              <a:ext cx="32194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4" name="section01__207">
              <a:extLst xmlns:a="http://schemas.openxmlformats.org/drawingml/2006/main">
                <a:ext uri="{FF2B5EF4-FFF2-40B4-BE49-F238E27FC236}">
                  <a16:creationId xmlns:a16="http://schemas.microsoft.com/office/drawing/2014/main" id="{4F95460F-C310-4CA3-909C-312379C0DA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9450" y="3990975"/>
              <a:ext cx="30670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어떻게 해석할지</a:t>
              </a:r>
            </a:p>
          </p:txBody>
        </p:sp>
        <p:sp>
          <p:nvSpPr>
            <p:cNvPr id="25" name="section01__208">
              <a:extLst xmlns:a="http://schemas.openxmlformats.org/drawingml/2006/main">
                <a:ext uri="{FF2B5EF4-FFF2-40B4-BE49-F238E27FC236}">
                  <a16:creationId xmlns:a16="http://schemas.microsoft.com/office/drawing/2014/main" id="{420D45CE-F75F-4DBD-8219-9609DCC5C3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43250" y="4533900"/>
              <a:ext cx="32194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6" name="section01__209">
              <a:extLst xmlns:a="http://schemas.openxmlformats.org/drawingml/2006/main">
                <a:ext uri="{FF2B5EF4-FFF2-40B4-BE49-F238E27FC236}">
                  <a16:creationId xmlns:a16="http://schemas.microsoft.com/office/drawing/2014/main" id="{2379ECD9-9D92-4B8E-AC64-820DBCE185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9450" y="4562475"/>
              <a:ext cx="30670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어떤 후속 분석으로 연결할지</a:t>
              </a:r>
            </a:p>
          </p:txBody>
        </p:sp>
        <p:sp>
          <p:nvSpPr>
            <p:cNvPr id="27" name="section01__210">
              <a:extLst xmlns:a="http://schemas.openxmlformats.org/drawingml/2006/main">
                <a:ext uri="{FF2B5EF4-FFF2-40B4-BE49-F238E27FC236}">
                  <a16:creationId xmlns:a16="http://schemas.microsoft.com/office/drawing/2014/main" id="{ABE55F4E-73D2-43B7-AAB6-147E122636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4095750"/>
              <a:ext cx="209550" cy="2190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8" name="section01__211">
              <a:extLst xmlns:a="http://schemas.openxmlformats.org/drawingml/2006/main">
                <a:ext uri="{FF2B5EF4-FFF2-40B4-BE49-F238E27FC236}">
                  <a16:creationId xmlns:a16="http://schemas.microsoft.com/office/drawing/2014/main" id="{3746B8AD-B91A-4582-A07B-CB38DA9981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53225" y="3381375"/>
              <a:ext cx="1323975" cy="838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50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50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13</a:t>
              </a:r>
            </a:p>
          </p:txBody>
        </p:sp>
        <p:sp>
          <p:nvSpPr>
            <p:cNvPr id="29" name="section01__212">
              <a:extLst xmlns:a="http://schemas.openxmlformats.org/drawingml/2006/main">
                <a:ext uri="{FF2B5EF4-FFF2-40B4-BE49-F238E27FC236}">
                  <a16:creationId xmlns:a16="http://schemas.microsoft.com/office/drawing/2014/main" id="{93A53186-476D-4E07-BDC7-4668FCBD06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53225" y="4219575"/>
              <a:ext cx="13239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전문 Agent</a:t>
              </a:r>
            </a:p>
          </p:txBody>
        </p:sp>
        <p:sp>
          <p:nvSpPr>
            <p:cNvPr id="30" name="section01__213">
              <a:extLst xmlns:a="http://schemas.openxmlformats.org/drawingml/2006/main">
                <a:ext uri="{FF2B5EF4-FFF2-40B4-BE49-F238E27FC236}">
                  <a16:creationId xmlns:a16="http://schemas.microsoft.com/office/drawing/2014/main" id="{86CE40E0-27BB-4B20-80CF-F5AB525FA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62925" y="3381375"/>
              <a:ext cx="1381125" cy="838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50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50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24</a:t>
              </a:r>
            </a:p>
          </p:txBody>
        </p:sp>
        <p:sp>
          <p:nvSpPr>
            <p:cNvPr id="31" name="section01__214">
              <a:extLst xmlns:a="http://schemas.openxmlformats.org/drawingml/2006/main">
                <a:ext uri="{FF2B5EF4-FFF2-40B4-BE49-F238E27FC236}">
                  <a16:creationId xmlns:a16="http://schemas.microsoft.com/office/drawing/2014/main" id="{62A710D4-CC59-4DA9-9A08-B2EB7BDF0D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62925" y="4219575"/>
              <a:ext cx="138112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Tool</a:t>
              </a:r>
            </a:p>
          </p:txBody>
        </p:sp>
        <p:sp>
          <p:nvSpPr>
            <p:cNvPr id="32" name="section01__215">
              <a:extLst xmlns:a="http://schemas.openxmlformats.org/drawingml/2006/main">
                <a:ext uri="{FF2B5EF4-FFF2-40B4-BE49-F238E27FC236}">
                  <a16:creationId xmlns:a16="http://schemas.microsoft.com/office/drawing/2014/main" id="{46857CD4-3A09-4CA5-B2F4-9223548236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10375" y="4667250"/>
              <a:ext cx="2733675" cy="4572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3" name="section01__216">
              <a:extLst xmlns:a="http://schemas.openxmlformats.org/drawingml/2006/main">
                <a:ext uri="{FF2B5EF4-FFF2-40B4-BE49-F238E27FC236}">
                  <a16:creationId xmlns:a16="http://schemas.microsoft.com/office/drawing/2014/main" id="{F3F91491-8C2A-472A-AD89-7FC1F35B18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6575" y="4695825"/>
              <a:ext cx="258127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Super Agent · End-to-End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34" name="section02__217">
              <a:extLst xmlns:a="http://schemas.openxmlformats.org/drawingml/2006/main">
                <a:ext uri="{FF2B5EF4-FFF2-40B4-BE49-F238E27FC236}">
                  <a16:creationId xmlns:a16="http://schemas.microsoft.com/office/drawing/2014/main" id="{9FB2B7AC-1C85-453F-83CB-669E2FFF7B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5562600"/>
              <a:ext cx="9601200" cy="4638675"/>
            </a:xfrm>
            <a:prstGeom xmlns:a="http://schemas.openxmlformats.org/drawingml/2006/main" prst="roundRect">
              <a:avLst>
                <a:gd name="adj" fmla="val 164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5" name="section02__218">
              <a:extLst xmlns:a="http://schemas.openxmlformats.org/drawingml/2006/main">
                <a:ext uri="{FF2B5EF4-FFF2-40B4-BE49-F238E27FC236}">
                  <a16:creationId xmlns:a16="http://schemas.microsoft.com/office/drawing/2014/main" id="{A6193E08-F81A-4603-9FA9-BD06BB1F4C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55721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6" name="section02__219">
              <a:extLst xmlns:a="http://schemas.openxmlformats.org/drawingml/2006/main">
                <a:ext uri="{FF2B5EF4-FFF2-40B4-BE49-F238E27FC236}">
                  <a16:creationId xmlns:a16="http://schemas.microsoft.com/office/drawing/2014/main" id="{48CBB346-15FE-41AB-BBF6-B969CB406B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55721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7" name="section02__220">
              <a:extLst xmlns:a="http://schemas.openxmlformats.org/drawingml/2006/main">
                <a:ext uri="{FF2B5EF4-FFF2-40B4-BE49-F238E27FC236}">
                  <a16:creationId xmlns:a16="http://schemas.microsoft.com/office/drawing/2014/main" id="{006D5727-B138-434F-BC6D-A17E213582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55626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8" name="section02__221">
              <a:extLst xmlns:a="http://schemas.openxmlformats.org/drawingml/2006/main">
                <a:ext uri="{FF2B5EF4-FFF2-40B4-BE49-F238E27FC236}">
                  <a16:creationId xmlns:a16="http://schemas.microsoft.com/office/drawing/2014/main" id="{FF08650B-3B6F-492F-99ED-CD62DC61E0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55626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대표 구현 사례  ·  현업 로직 + 머신러닝·Wafer Map</a:t>
              </a:r>
            </a:p>
          </p:txBody>
        </p:sp>
        <p:sp>
          <p:nvSpPr>
            <p:cNvPr id="39" name="section02__222">
              <a:extLst xmlns:a="http://schemas.openxmlformats.org/drawingml/2006/main">
                <a:ext uri="{FF2B5EF4-FFF2-40B4-BE49-F238E27FC236}">
                  <a16:creationId xmlns:a16="http://schemas.microsoft.com/office/drawing/2014/main" id="{71DF091A-2E0F-4922-BA8D-46580CC415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6096000"/>
              <a:ext cx="4371975" cy="371475"/>
            </a:xfrm>
            <a:prstGeom xmlns:a="http://schemas.openxmlformats.org/drawingml/2006/main" prst="roundRect">
              <a:avLst>
                <a:gd name="adj" fmla="val 20513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0" name="section02__223">
              <a:extLst xmlns:a="http://schemas.openxmlformats.org/drawingml/2006/main">
                <a:ext uri="{FF2B5EF4-FFF2-40B4-BE49-F238E27FC236}">
                  <a16:creationId xmlns:a16="http://schemas.microsoft.com/office/drawing/2014/main" id="{466C9B2D-4282-4544-ABB5-15F0B3FC0D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6096000"/>
              <a:ext cx="4276725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열화감지 Agent</a:t>
              </a:r>
            </a:p>
          </p:txBody>
        </p:sp>
        <p:sp>
          <p:nvSpPr>
            <p:cNvPr id="41" name="section02__224">
              <a:extLst xmlns:a="http://schemas.openxmlformats.org/drawingml/2006/main">
                <a:ext uri="{FF2B5EF4-FFF2-40B4-BE49-F238E27FC236}">
                  <a16:creationId xmlns:a16="http://schemas.microsoft.com/office/drawing/2014/main" id="{AD0A66F0-D42E-4AB6-B2CA-2A339DACD9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6825" y="6096000"/>
              <a:ext cx="4543425" cy="371475"/>
            </a:xfrm>
            <a:prstGeom xmlns:a="http://schemas.openxmlformats.org/drawingml/2006/main" prst="roundRect">
              <a:avLst>
                <a:gd name="adj" fmla="val 20513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2" name="section02__225">
              <a:extLst xmlns:a="http://schemas.openxmlformats.org/drawingml/2006/main">
                <a:ext uri="{FF2B5EF4-FFF2-40B4-BE49-F238E27FC236}">
                  <a16:creationId xmlns:a16="http://schemas.microsoft.com/office/drawing/2014/main" id="{7D5FEE11-6630-4760-B01E-0CA7D5BF81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24450" y="6096000"/>
              <a:ext cx="4448175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Mining Agent</a:t>
              </a:r>
            </a:p>
          </p:txBody>
        </p:sp>
        <p:sp>
          <p:nvSpPr>
            <p:cNvPr id="43" name="section02__226">
              <a:extLst xmlns:a="http://schemas.openxmlformats.org/drawingml/2006/main">
                <a:ext uri="{FF2B5EF4-FFF2-40B4-BE49-F238E27FC236}">
                  <a16:creationId xmlns:a16="http://schemas.microsoft.com/office/drawing/2014/main" id="{D74DE36C-D774-4C07-B455-FD3E657C56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6724650"/>
              <a:ext cx="1292225" cy="1114425"/>
            </a:xfrm>
            <a:prstGeom xmlns:a="http://schemas.openxmlformats.org/drawingml/2006/main" prst="roundRect">
              <a:avLst>
                <a:gd name="adj" fmla="val 683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4" name="section02__227">
              <a:extLst xmlns:a="http://schemas.openxmlformats.org/drawingml/2006/main">
                <a:ext uri="{FF2B5EF4-FFF2-40B4-BE49-F238E27FC236}">
                  <a16:creationId xmlns:a16="http://schemas.microsoft.com/office/drawing/2014/main" id="{C86CF39C-4C81-4D52-BACC-BE527AA491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6800850"/>
              <a:ext cx="11207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수율 데이터</a:t>
              </a:r>
            </a:p>
          </p:txBody>
        </p:sp>
        <p:sp>
          <p:nvSpPr>
            <p:cNvPr id="45" name="section02__228">
              <a:extLst xmlns:a="http://schemas.openxmlformats.org/drawingml/2006/main">
                <a:ext uri="{FF2B5EF4-FFF2-40B4-BE49-F238E27FC236}">
                  <a16:creationId xmlns:a16="http://schemas.microsoft.com/office/drawing/2014/main" id="{7A61744B-5165-41A3-B69B-81AF0F50D6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7200900"/>
              <a:ext cx="1063625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제품·기간·공정</a:t>
              </a:r>
            </a:p>
          </p:txBody>
        </p:sp>
        <p:sp>
          <p:nvSpPr>
            <p:cNvPr id="46" name="section02__229">
              <a:extLst xmlns:a="http://schemas.openxmlformats.org/drawingml/2006/main">
                <a:ext uri="{FF2B5EF4-FFF2-40B4-BE49-F238E27FC236}">
                  <a16:creationId xmlns:a16="http://schemas.microsoft.com/office/drawing/2014/main" id="{A282FDC4-0DBE-4000-802A-AF0C373085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39900" y="72056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7" name="section02__230">
              <a:extLst xmlns:a="http://schemas.openxmlformats.org/drawingml/2006/main">
                <a:ext uri="{FF2B5EF4-FFF2-40B4-BE49-F238E27FC236}">
                  <a16:creationId xmlns:a16="http://schemas.microsoft.com/office/drawing/2014/main" id="{3E2BFF62-5E2B-40EC-950C-879D939930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9450" y="6724650"/>
              <a:ext cx="1292225" cy="1114425"/>
            </a:xfrm>
            <a:prstGeom xmlns:a="http://schemas.openxmlformats.org/drawingml/2006/main" prst="roundRect">
              <a:avLst>
                <a:gd name="adj" fmla="val 683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8" name="section02__231">
              <a:extLst xmlns:a="http://schemas.openxmlformats.org/drawingml/2006/main">
                <a:ext uri="{FF2B5EF4-FFF2-40B4-BE49-F238E27FC236}">
                  <a16:creationId xmlns:a16="http://schemas.microsoft.com/office/drawing/2014/main" id="{4D48D047-9DAB-4D88-9AD7-5851051FE4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35175" y="6800850"/>
              <a:ext cx="11207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감지 로직</a:t>
              </a:r>
            </a:p>
          </p:txBody>
        </p:sp>
        <p:sp>
          <p:nvSpPr>
            <p:cNvPr id="49" name="section02__232">
              <a:extLst xmlns:a="http://schemas.openxmlformats.org/drawingml/2006/main">
                <a:ext uri="{FF2B5EF4-FFF2-40B4-BE49-F238E27FC236}">
                  <a16:creationId xmlns:a16="http://schemas.microsoft.com/office/drawing/2014/main" id="{372F5A3F-A430-42A0-B6ED-4A491358A9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63750" y="7200900"/>
              <a:ext cx="1063625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열화 내용 파악</a:t>
              </a:r>
            </a:p>
          </p:txBody>
        </p:sp>
        <p:sp>
          <p:nvSpPr>
            <p:cNvPr id="50" name="section02__233">
              <a:extLst xmlns:a="http://schemas.openxmlformats.org/drawingml/2006/main">
                <a:ext uri="{FF2B5EF4-FFF2-40B4-BE49-F238E27FC236}">
                  <a16:creationId xmlns:a16="http://schemas.microsoft.com/office/drawing/2014/main" id="{2EBE29E6-1211-4A65-9632-B9B7607172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9775" y="72056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1" name="section02__234">
              <a:extLst xmlns:a="http://schemas.openxmlformats.org/drawingml/2006/main">
                <a:ext uri="{FF2B5EF4-FFF2-40B4-BE49-F238E27FC236}">
                  <a16:creationId xmlns:a16="http://schemas.microsoft.com/office/drawing/2014/main" id="{FA6D6DAC-2EF5-4ADC-85EA-F6BE2A5D90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89325" y="6724650"/>
              <a:ext cx="1292225" cy="1114425"/>
            </a:xfrm>
            <a:prstGeom xmlns:a="http://schemas.openxmlformats.org/drawingml/2006/main" prst="roundRect">
              <a:avLst>
                <a:gd name="adj" fmla="val 683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2" name="section02__235">
              <a:extLst xmlns:a="http://schemas.openxmlformats.org/drawingml/2006/main">
                <a:ext uri="{FF2B5EF4-FFF2-40B4-BE49-F238E27FC236}">
                  <a16:creationId xmlns:a16="http://schemas.microsoft.com/office/drawing/2014/main" id="{481A6936-CA35-4DCA-BA51-6FB0155998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75050" y="6800850"/>
              <a:ext cx="11207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Web 보고서</a:t>
              </a:r>
            </a:p>
          </p:txBody>
        </p:sp>
        <p:sp>
          <p:nvSpPr>
            <p:cNvPr id="53" name="section02__236">
              <a:extLst xmlns:a="http://schemas.openxmlformats.org/drawingml/2006/main">
                <a:ext uri="{FF2B5EF4-FFF2-40B4-BE49-F238E27FC236}">
                  <a16:creationId xmlns:a16="http://schemas.microsoft.com/office/drawing/2014/main" id="{D7CE0647-4C96-4A4A-A773-39D7A8B9C1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3625" y="7200900"/>
              <a:ext cx="1063625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후속 분석 활용</a:t>
              </a:r>
            </a:p>
          </p:txBody>
        </p:sp>
        <p:sp>
          <p:nvSpPr>
            <p:cNvPr id="54" name="section02__237">
              <a:extLst xmlns:a="http://schemas.openxmlformats.org/drawingml/2006/main">
                <a:ext uri="{FF2B5EF4-FFF2-40B4-BE49-F238E27FC236}">
                  <a16:creationId xmlns:a16="http://schemas.microsoft.com/office/drawing/2014/main" id="{E9E46D44-5252-4378-A4D6-BA859C5F27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8020050"/>
              <a:ext cx="4371975" cy="1428750"/>
            </a:xfrm>
            <a:prstGeom xmlns:a="http://schemas.openxmlformats.org/drawingml/2006/main" prst="roundRect">
              <a:avLst>
                <a:gd name="adj" fmla="val 533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5" name="section02__238">
              <a:extLst xmlns:a="http://schemas.openxmlformats.org/drawingml/2006/main">
                <a:ext uri="{FF2B5EF4-FFF2-40B4-BE49-F238E27FC236}">
                  <a16:creationId xmlns:a16="http://schemas.microsoft.com/office/drawing/2014/main" id="{CA59ADC1-01DD-4BBD-BFAE-9D30D86ABE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975" y="8134350"/>
              <a:ext cx="40576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보고서에서 바로 확인</a:t>
              </a:r>
            </a:p>
          </p:txBody>
        </p:sp>
        <p:sp>
          <p:nvSpPr>
            <p:cNvPr id="56" name="section02__239">
              <a:extLst xmlns:a="http://schemas.openxmlformats.org/drawingml/2006/main">
                <a:ext uri="{FF2B5EF4-FFF2-40B4-BE49-F238E27FC236}">
                  <a16:creationId xmlns:a16="http://schemas.microsoft.com/office/drawing/2014/main" id="{20F5192C-5FFD-4541-861D-CD6BABA244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075" y="8572500"/>
              <a:ext cx="401955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기간별 수율 확인</a:t>
              </a:r>
            </a:p>
            <a:p xmlns:a="http://schemas.openxmlformats.org/drawingml/2006/main">
              <a:pPr algn="l">
                <a:def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열화 내용 정리</a:t>
              </a:r>
            </a:p>
            <a:p xmlns:a="http://schemas.openxmlformats.org/drawingml/2006/main">
              <a:pPr algn="l">
                <a:def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대상 검토</a:t>
              </a:r>
            </a:p>
          </p:txBody>
        </p:sp>
        <p:sp>
          <p:nvSpPr>
            <p:cNvPr id="57" name="section02__240">
              <a:extLst xmlns:a="http://schemas.openxmlformats.org/drawingml/2006/main">
                <a:ext uri="{FF2B5EF4-FFF2-40B4-BE49-F238E27FC236}">
                  <a16:creationId xmlns:a16="http://schemas.microsoft.com/office/drawing/2014/main" id="{17E3DF1F-F6F0-4183-8626-D18EBFC45E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6350" y="6724650"/>
              <a:ext cx="4543425" cy="2724150"/>
            </a:xfrm>
            <a:prstGeom xmlns:a="http://schemas.openxmlformats.org/drawingml/2006/main" prst="roundRect">
              <a:avLst>
                <a:gd name="adj" fmla="val 279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8" name="section02__241">
              <a:extLst xmlns:a="http://schemas.openxmlformats.org/drawingml/2006/main">
                <a:ext uri="{FF2B5EF4-FFF2-40B4-BE49-F238E27FC236}">
                  <a16:creationId xmlns:a16="http://schemas.microsoft.com/office/drawing/2014/main" id="{CEAF4383-9F76-4B8D-8913-FFB1913A8B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10175" y="6848475"/>
              <a:ext cx="429577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Fail Map과 원인 후보의 양상 비교</a:t>
              </a:r>
            </a:p>
          </p:txBody>
        </p:sp>
        <p:pic>
          <p:nvPicPr>
            <p:cNvPr id="156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7330016ffde4e1b"/>
            <a:stretch xmlns:a="http://schemas.openxmlformats.org/drawingml/2006/main"/>
          </p:blipFill>
          <p:spPr>
            <a:xfrm xmlns:a="http://schemas.openxmlformats.org/drawingml/2006/main">
              <a:off x="5229225" y="7488196"/>
              <a:ext cx="4248150" cy="882732"/>
            </a:xfrm>
            <a:prstGeom xmlns:a="http://schemas.openxmlformats.org/drawingml/2006/main" prst="rect">
              <a:avLst/>
            </a:prstGeom>
          </p:spPr>
        </p:pic>
        <p:sp>
          <p:nvSpPr>
            <p:cNvPr id="60" name="section02__242">
              <a:extLst xmlns:a="http://schemas.openxmlformats.org/drawingml/2006/main">
                <a:ext uri="{FF2B5EF4-FFF2-40B4-BE49-F238E27FC236}">
                  <a16:creationId xmlns:a16="http://schemas.microsoft.com/office/drawing/2014/main" id="{11FBBCE6-6710-4037-85AB-93E2BC981A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8591550"/>
              <a:ext cx="16764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Target Fail Map</a:t>
              </a:r>
            </a:p>
          </p:txBody>
        </p:sp>
        <p:sp>
          <p:nvSpPr>
            <p:cNvPr id="61" name="section02__243">
              <a:extLst xmlns:a="http://schemas.openxmlformats.org/drawingml/2006/main">
                <a:ext uri="{FF2B5EF4-FFF2-40B4-BE49-F238E27FC236}">
                  <a16:creationId xmlns:a16="http://schemas.microsoft.com/office/drawing/2014/main" id="{D565D83A-722A-4339-8AC1-16A1E8DB82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81875" y="8591550"/>
              <a:ext cx="207645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유사 양상의 후보</a:t>
              </a:r>
            </a:p>
          </p:txBody>
        </p:sp>
        <p:sp>
          <p:nvSpPr>
            <p:cNvPr id="62" name="section02__244">
              <a:extLst xmlns:a="http://schemas.openxmlformats.org/drawingml/2006/main">
                <a:ext uri="{FF2B5EF4-FFF2-40B4-BE49-F238E27FC236}">
                  <a16:creationId xmlns:a16="http://schemas.microsoft.com/office/drawing/2014/main" id="{75C4B6DD-CD16-4343-9F5B-16B038C206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19700" y="9067800"/>
              <a:ext cx="42957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분류 머신러닝 + Map 기반 후보 탐색</a:t>
              </a:r>
            </a:p>
          </p:txBody>
        </p:sp>
        <p:sp>
          <p:nvSpPr>
            <p:cNvPr id="63" name="section02__245">
              <a:extLst xmlns:a="http://schemas.openxmlformats.org/drawingml/2006/main">
                <a:ext uri="{FF2B5EF4-FFF2-40B4-BE49-F238E27FC236}">
                  <a16:creationId xmlns:a16="http://schemas.microsoft.com/office/drawing/2014/main" id="{82416B06-E11A-447C-ADEB-4845959D25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9610725"/>
              <a:ext cx="9191625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4" name="section02__246">
              <a:extLst xmlns:a="http://schemas.openxmlformats.org/drawingml/2006/main">
                <a:ext uri="{FF2B5EF4-FFF2-40B4-BE49-F238E27FC236}">
                  <a16:creationId xmlns:a16="http://schemas.microsoft.com/office/drawing/2014/main" id="{0148EC95-88B9-430E-A765-91EE35A60A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9610725"/>
              <a:ext cx="9001125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검증  ·  3가지 Mining 결과 비교에서 도메인 지식 기반 방식의 우수성 확인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65" name="section03__247">
              <a:extLst xmlns:a="http://schemas.openxmlformats.org/drawingml/2006/main">
                <a:ext uri="{FF2B5EF4-FFF2-40B4-BE49-F238E27FC236}">
                  <a16:creationId xmlns:a16="http://schemas.microsoft.com/office/drawing/2014/main" id="{41DD3D09-7235-4BBC-8ADB-78AF213D6E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10372725"/>
              <a:ext cx="9601200" cy="2419350"/>
            </a:xfrm>
            <a:prstGeom xmlns:a="http://schemas.openxmlformats.org/drawingml/2006/main" prst="roundRect">
              <a:avLst>
                <a:gd name="adj" fmla="val 315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6" name="section03__248">
              <a:extLst xmlns:a="http://schemas.openxmlformats.org/drawingml/2006/main">
                <a:ext uri="{FF2B5EF4-FFF2-40B4-BE49-F238E27FC236}">
                  <a16:creationId xmlns:a16="http://schemas.microsoft.com/office/drawing/2014/main" id="{D1EC306C-297A-4D75-9AC2-5343B915F1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38225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7" name="section03__249">
              <a:extLst xmlns:a="http://schemas.openxmlformats.org/drawingml/2006/main">
                <a:ext uri="{FF2B5EF4-FFF2-40B4-BE49-F238E27FC236}">
                  <a16:creationId xmlns:a16="http://schemas.microsoft.com/office/drawing/2014/main" id="{08A09A57-C704-4458-9691-5E10F64985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38225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8" name="section03__250">
              <a:extLst xmlns:a="http://schemas.openxmlformats.org/drawingml/2006/main">
                <a:ext uri="{FF2B5EF4-FFF2-40B4-BE49-F238E27FC236}">
                  <a16:creationId xmlns:a16="http://schemas.microsoft.com/office/drawing/2014/main" id="{AE74297C-47C7-4063-AF48-74B7C2ABAC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1037272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9" name="section03__251">
              <a:extLst xmlns:a="http://schemas.openxmlformats.org/drawingml/2006/main">
                <a:ext uri="{FF2B5EF4-FFF2-40B4-BE49-F238E27FC236}">
                  <a16:creationId xmlns:a16="http://schemas.microsoft.com/office/drawing/2014/main" id="{172B1E12-0DA5-470A-A563-AB43F4888D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037272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실행 성능과 분석 선택권을 함께 확보</a:t>
              </a:r>
            </a:p>
          </p:txBody>
        </p:sp>
        <p:sp>
          <p:nvSpPr>
            <p:cNvPr id="70" name="section03__252">
              <a:extLst xmlns:a="http://schemas.openxmlformats.org/drawingml/2006/main">
                <a:ext uri="{FF2B5EF4-FFF2-40B4-BE49-F238E27FC236}">
                  <a16:creationId xmlns:a16="http://schemas.microsoft.com/office/drawing/2014/main" id="{61B3CC22-A6CC-47A4-AC3A-B376907010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10896600"/>
              <a:ext cx="2889250" cy="428625"/>
            </a:xfrm>
            <a:prstGeom xmlns:a="http://schemas.openxmlformats.org/drawingml/2006/main" prst="roundRect">
              <a:avLst>
                <a:gd name="adj" fmla="val 1777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1" name="section03__253">
              <a:extLst xmlns:a="http://schemas.openxmlformats.org/drawingml/2006/main">
                <a:ext uri="{FF2B5EF4-FFF2-40B4-BE49-F238E27FC236}">
                  <a16:creationId xmlns:a16="http://schemas.microsoft.com/office/drawing/2014/main" id="{160A53B9-FC35-4AAE-B918-5D7137A464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10972800"/>
              <a:ext cx="27178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데이터 전처리</a:t>
              </a:r>
            </a:p>
          </p:txBody>
        </p:sp>
        <p:sp>
          <p:nvSpPr>
            <p:cNvPr id="72" name="section03__254">
              <a:extLst xmlns:a="http://schemas.openxmlformats.org/drawingml/2006/main">
                <a:ext uri="{FF2B5EF4-FFF2-40B4-BE49-F238E27FC236}">
                  <a16:creationId xmlns:a16="http://schemas.microsoft.com/office/drawing/2014/main" id="{B2B7E8E1-7CA2-4364-A2A5-42E6B1362C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65500" y="110347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3" name="section03__255">
              <a:extLst xmlns:a="http://schemas.openxmlformats.org/drawingml/2006/main">
                <a:ext uri="{FF2B5EF4-FFF2-40B4-BE49-F238E27FC236}">
                  <a16:creationId xmlns:a16="http://schemas.microsoft.com/office/drawing/2014/main" id="{7885D302-4D7F-42AE-8511-9B5F3C6507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75050" y="10896600"/>
              <a:ext cx="2889250" cy="428625"/>
            </a:xfrm>
            <a:prstGeom xmlns:a="http://schemas.openxmlformats.org/drawingml/2006/main" prst="roundRect">
              <a:avLst>
                <a:gd name="adj" fmla="val 1777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4" name="section03__256">
              <a:extLst xmlns:a="http://schemas.openxmlformats.org/drawingml/2006/main">
                <a:ext uri="{FF2B5EF4-FFF2-40B4-BE49-F238E27FC236}">
                  <a16:creationId xmlns:a16="http://schemas.microsoft.com/office/drawing/2014/main" id="{2C8A0336-14FD-4334-B7A3-70ADE38C64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60775" y="10972800"/>
              <a:ext cx="27178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DB 적재</a:t>
              </a:r>
            </a:p>
          </p:txBody>
        </p:sp>
        <p:sp>
          <p:nvSpPr>
            <p:cNvPr id="75" name="section03__257">
              <a:extLst xmlns:a="http://schemas.openxmlformats.org/drawingml/2006/main">
                <a:ext uri="{FF2B5EF4-FFF2-40B4-BE49-F238E27FC236}">
                  <a16:creationId xmlns:a16="http://schemas.microsoft.com/office/drawing/2014/main" id="{5EF8BEB7-43FD-4A75-9983-0B044DE590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02400" y="110347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6" name="section03__258">
              <a:extLst xmlns:a="http://schemas.openxmlformats.org/drawingml/2006/main">
                <a:ext uri="{FF2B5EF4-FFF2-40B4-BE49-F238E27FC236}">
                  <a16:creationId xmlns:a16="http://schemas.microsoft.com/office/drawing/2014/main" id="{28EF69E1-EF87-4704-BA55-3F4DE0D49B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1950" y="10896600"/>
              <a:ext cx="2889250" cy="428625"/>
            </a:xfrm>
            <a:prstGeom xmlns:a="http://schemas.openxmlformats.org/drawingml/2006/main" prst="roundRect">
              <a:avLst>
                <a:gd name="adj" fmla="val 1777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7" name="section03__259">
              <a:extLst xmlns:a="http://schemas.openxmlformats.org/drawingml/2006/main">
                <a:ext uri="{FF2B5EF4-FFF2-40B4-BE49-F238E27FC236}">
                  <a16:creationId xmlns:a16="http://schemas.microsoft.com/office/drawing/2014/main" id="{15DCA3AE-CD11-4FCC-8529-C32254B1B9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7675" y="10972800"/>
              <a:ext cx="27178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속도 개선</a:t>
              </a:r>
            </a:p>
          </p:txBody>
        </p:sp>
        <p:sp>
          <p:nvSpPr>
            <p:cNvPr id="78" name="section03__260">
              <a:extLst xmlns:a="http://schemas.openxmlformats.org/drawingml/2006/main">
                <a:ext uri="{FF2B5EF4-FFF2-40B4-BE49-F238E27FC236}">
                  <a16:creationId xmlns:a16="http://schemas.microsoft.com/office/drawing/2014/main" id="{6DFBF723-C17A-4196-AF7B-E068682E51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1553825"/>
              <a:ext cx="2109788" cy="866775"/>
            </a:xfrm>
            <a:prstGeom xmlns:a="http://schemas.openxmlformats.org/drawingml/2006/main" prst="roundRect">
              <a:avLst>
                <a:gd name="adj" fmla="val 879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9" name="section03__261">
              <a:extLst xmlns:a="http://schemas.openxmlformats.org/drawingml/2006/main">
                <a:ext uri="{FF2B5EF4-FFF2-40B4-BE49-F238E27FC236}">
                  <a16:creationId xmlns:a16="http://schemas.microsoft.com/office/drawing/2014/main" id="{D7AB4042-E3A3-4086-B32C-FCD1048014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11630025"/>
              <a:ext cx="1938338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Agent 분석</a:t>
              </a:r>
            </a:p>
          </p:txBody>
        </p:sp>
        <p:sp>
          <p:nvSpPr>
            <p:cNvPr id="80" name="section03__262">
              <a:extLst xmlns:a="http://schemas.openxmlformats.org/drawingml/2006/main">
                <a:ext uri="{FF2B5EF4-FFF2-40B4-BE49-F238E27FC236}">
                  <a16:creationId xmlns:a16="http://schemas.microsoft.com/office/drawing/2014/main" id="{968359C5-2DA0-407A-8FCD-9851934F73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" y="12030075"/>
              <a:ext cx="1881188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결과·다음 분석 추천</a:t>
              </a:r>
            </a:p>
          </p:txBody>
        </p:sp>
        <p:sp>
          <p:nvSpPr>
            <p:cNvPr id="81" name="section03__263">
              <a:extLst xmlns:a="http://schemas.openxmlformats.org/drawingml/2006/main">
                <a:ext uri="{FF2B5EF4-FFF2-40B4-BE49-F238E27FC236}">
                  <a16:creationId xmlns:a16="http://schemas.microsoft.com/office/drawing/2014/main" id="{3097F616-B076-49EC-8F64-76453D74B7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76513" y="119110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2" name="section03__264">
              <a:extLst xmlns:a="http://schemas.openxmlformats.org/drawingml/2006/main">
                <a:ext uri="{FF2B5EF4-FFF2-40B4-BE49-F238E27FC236}">
                  <a16:creationId xmlns:a16="http://schemas.microsoft.com/office/drawing/2014/main" id="{E6E5784E-4831-4A1B-BB80-563E53650B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86063" y="11553825"/>
              <a:ext cx="2109788" cy="866775"/>
            </a:xfrm>
            <a:prstGeom xmlns:a="http://schemas.openxmlformats.org/drawingml/2006/main" prst="roundRect">
              <a:avLst>
                <a:gd name="adj" fmla="val 879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3" name="section03__265">
              <a:extLst xmlns:a="http://schemas.openxmlformats.org/drawingml/2006/main">
                <a:ext uri="{FF2B5EF4-FFF2-40B4-BE49-F238E27FC236}">
                  <a16:creationId xmlns:a16="http://schemas.microsoft.com/office/drawing/2014/main" id="{BBDE65AF-BF6E-4F8F-80B6-7AA42FDAB7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71788" y="11630025"/>
              <a:ext cx="1938338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Engineer 판단</a:t>
              </a:r>
            </a:p>
          </p:txBody>
        </p:sp>
        <p:sp>
          <p:nvSpPr>
            <p:cNvPr id="84" name="section03__266">
              <a:extLst xmlns:a="http://schemas.openxmlformats.org/drawingml/2006/main">
                <a:ext uri="{FF2B5EF4-FFF2-40B4-BE49-F238E27FC236}">
                  <a16:creationId xmlns:a16="http://schemas.microsoft.com/office/drawing/2014/main" id="{285B501E-62A6-4743-89F9-20F54FAD84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00363" y="12030075"/>
              <a:ext cx="1881188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대상·방향 검토</a:t>
              </a:r>
            </a:p>
          </p:txBody>
        </p:sp>
        <p:sp>
          <p:nvSpPr>
            <p:cNvPr id="85" name="section03__267">
              <a:extLst xmlns:a="http://schemas.openxmlformats.org/drawingml/2006/main">
                <a:ext uri="{FF2B5EF4-FFF2-40B4-BE49-F238E27FC236}">
                  <a16:creationId xmlns:a16="http://schemas.microsoft.com/office/drawing/2014/main" id="{CE139471-4060-4730-B5AE-DEEDC75428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33950" y="119110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6" name="section03__268">
              <a:extLst xmlns:a="http://schemas.openxmlformats.org/drawingml/2006/main">
                <a:ext uri="{FF2B5EF4-FFF2-40B4-BE49-F238E27FC236}">
                  <a16:creationId xmlns:a16="http://schemas.microsoft.com/office/drawing/2014/main" id="{D65292E6-EBE3-45BC-8E61-5694A3733F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11553825"/>
              <a:ext cx="2109788" cy="866775"/>
            </a:xfrm>
            <a:prstGeom xmlns:a="http://schemas.openxmlformats.org/drawingml/2006/main" prst="roundRect">
              <a:avLst>
                <a:gd name="adj" fmla="val 879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7" name="section03__269">
              <a:extLst xmlns:a="http://schemas.openxmlformats.org/drawingml/2006/main">
                <a:ext uri="{FF2B5EF4-FFF2-40B4-BE49-F238E27FC236}">
                  <a16:creationId xmlns:a16="http://schemas.microsoft.com/office/drawing/2014/main" id="{4D72D664-D2DD-40ED-81F9-4DBD26515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11630025"/>
              <a:ext cx="1938338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추가 분석 선택</a:t>
              </a:r>
            </a:p>
          </p:txBody>
        </p:sp>
        <p:sp>
          <p:nvSpPr>
            <p:cNvPr id="88" name="section03__270">
              <a:extLst xmlns:a="http://schemas.openxmlformats.org/drawingml/2006/main">
                <a:ext uri="{FF2B5EF4-FFF2-40B4-BE49-F238E27FC236}">
                  <a16:creationId xmlns:a16="http://schemas.microsoft.com/office/drawing/2014/main" id="{436B572E-D1EA-458F-A708-6F1979607B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7800" y="12030075"/>
              <a:ext cx="1881188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Agent·조건 선택</a:t>
              </a:r>
            </a:p>
          </p:txBody>
        </p:sp>
        <p:sp>
          <p:nvSpPr>
            <p:cNvPr id="89" name="section03__271">
              <a:extLst xmlns:a="http://schemas.openxmlformats.org/drawingml/2006/main">
                <a:ext uri="{FF2B5EF4-FFF2-40B4-BE49-F238E27FC236}">
                  <a16:creationId xmlns:a16="http://schemas.microsoft.com/office/drawing/2014/main" id="{73EDF383-BDD1-4AC6-B022-84487AE918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91388" y="119110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0" name="section03__272">
              <a:extLst xmlns:a="http://schemas.openxmlformats.org/drawingml/2006/main">
                <a:ext uri="{FF2B5EF4-FFF2-40B4-BE49-F238E27FC236}">
                  <a16:creationId xmlns:a16="http://schemas.microsoft.com/office/drawing/2014/main" id="{38E3E91A-EB2E-46AB-A57C-1E5107EC19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0938" y="11553825"/>
              <a:ext cx="2109788" cy="866775"/>
            </a:xfrm>
            <a:prstGeom xmlns:a="http://schemas.openxmlformats.org/drawingml/2006/main" prst="roundRect">
              <a:avLst>
                <a:gd name="adj" fmla="val 879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91" name="section03__273">
              <a:extLst xmlns:a="http://schemas.openxmlformats.org/drawingml/2006/main">
                <a:ext uri="{FF2B5EF4-FFF2-40B4-BE49-F238E27FC236}">
                  <a16:creationId xmlns:a16="http://schemas.microsoft.com/office/drawing/2014/main" id="{5331CAB5-090F-4BC3-B537-F15479D1C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86663" y="11630025"/>
              <a:ext cx="1938338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Agent 실행</a:t>
              </a:r>
            </a:p>
          </p:txBody>
        </p:sp>
        <p:sp>
          <p:nvSpPr>
            <p:cNvPr id="92" name="section03__274">
              <a:extLst xmlns:a="http://schemas.openxmlformats.org/drawingml/2006/main">
                <a:ext uri="{FF2B5EF4-FFF2-40B4-BE49-F238E27FC236}">
                  <a16:creationId xmlns:a16="http://schemas.microsoft.com/office/drawing/2014/main" id="{D605CD36-6944-4CCF-A5A4-319D979D36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15238" y="12030075"/>
              <a:ext cx="1881188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선택한 분석 수행</a:t>
              </a:r>
            </a:p>
          </p:txBody>
        </p:sp>
        <p:sp>
          <p:nvSpPr>
            <p:cNvPr id="93" name="section03__275">
              <a:extLst xmlns:a="http://schemas.openxmlformats.org/drawingml/2006/main">
                <a:ext uri="{FF2B5EF4-FFF2-40B4-BE49-F238E27FC236}">
                  <a16:creationId xmlns:a16="http://schemas.microsoft.com/office/drawing/2014/main" id="{8DDF94A6-AB61-4A4B-91CA-174349ABEE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2525375"/>
              <a:ext cx="91821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사전 정의 Workflow 추천 + 원하는 전문 Agent 자유 선택</a:t>
              </a:r>
            </a:p>
          </p:txBody>
        </p:sp>
      </p:grpSp>
      <p:grpSp>
        <p:nvGrpSpPr>
          <p:cNvPr id="10004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4" name="footer__276">
              <a:extLst xmlns:a="http://schemas.openxmlformats.org/drawingml/2006/main">
                <a:ext uri="{FF2B5EF4-FFF2-40B4-BE49-F238E27FC236}">
                  <a16:creationId xmlns:a16="http://schemas.microsoft.com/office/drawing/2014/main" id="{E01CE410-E7F4-4C22-9CFD-522FD93DAD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95" name="footer__277">
              <a:extLst xmlns:a="http://schemas.openxmlformats.org/drawingml/2006/main">
                <a:ext uri="{FF2B5EF4-FFF2-40B4-BE49-F238E27FC236}">
                  <a16:creationId xmlns:a16="http://schemas.microsoft.com/office/drawing/2014/main" id="{9D19A356-AFDA-420F-9894-9BBEA037BA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범용 추론에 현업 전문성을 결합하고,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Agent의 분석 Logic과 Workflow에 숙련자의 Know-how를 내재화</a:t>
              </a:r>
            </a:p>
          </p:txBody>
        </p:sp>
        <p:sp>
          <p:nvSpPr>
            <p:cNvPr id="96" name="footer__278">
              <a:extLst xmlns:a="http://schemas.openxmlformats.org/drawingml/2006/main">
                <a:ext uri="{FF2B5EF4-FFF2-40B4-BE49-F238E27FC236}">
                  <a16:creationId xmlns:a16="http://schemas.microsoft.com/office/drawing/2014/main" id="{F0EDA4B3-0652-4FFA-BF23-49F7C09B0E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97" name="footer__279">
              <a:extLst xmlns:a="http://schemas.openxmlformats.org/drawingml/2006/main">
                <a:ext uri="{FF2B5EF4-FFF2-40B4-BE49-F238E27FC236}">
                  <a16:creationId xmlns:a16="http://schemas.microsoft.com/office/drawing/2014/main" id="{E7C8F441-131A-4FE8-9D74-7A0B336D9B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186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1" name="header__280">
              <a:extLst xmlns:a="http://schemas.openxmlformats.org/drawingml/2006/main">
                <a:ext uri="{FF2B5EF4-FFF2-40B4-BE49-F238E27FC236}">
                  <a16:creationId xmlns:a16="http://schemas.microsoft.com/office/drawing/2014/main" id="{470F2867-7281-46F2-98C9-1E11ECB26A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281">
              <a:extLst xmlns:a="http://schemas.openxmlformats.org/drawingml/2006/main">
                <a:ext uri="{FF2B5EF4-FFF2-40B4-BE49-F238E27FC236}">
                  <a16:creationId xmlns:a16="http://schemas.microsoft.com/office/drawing/2014/main" id="{EF9F57EB-4BEC-4BB9-9C80-AAC55C03E3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282">
              <a:extLst xmlns:a="http://schemas.openxmlformats.org/drawingml/2006/main">
                <a:ext uri="{FF2B5EF4-FFF2-40B4-BE49-F238E27FC236}">
                  <a16:creationId xmlns:a16="http://schemas.microsoft.com/office/drawing/2014/main" id="{D50749CB-9AD5-4EFE-9978-4C6B3890F3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04 / 06</a:t>
              </a:r>
            </a:p>
          </p:txBody>
        </p:sp>
        <p:sp>
          <p:nvSpPr>
            <p:cNvPr id="4" name="header__283">
              <a:extLst xmlns:a="http://schemas.openxmlformats.org/drawingml/2006/main">
                <a:ext uri="{FF2B5EF4-FFF2-40B4-BE49-F238E27FC236}">
                  <a16:creationId xmlns:a16="http://schemas.microsoft.com/office/drawing/2014/main" id="{A131BF21-008D-4B99-96B8-F4B6A2931A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284">
              <a:extLst xmlns:a="http://schemas.openxmlformats.org/drawingml/2006/main">
                <a:ext uri="{FF2B5EF4-FFF2-40B4-BE49-F238E27FC236}">
                  <a16:creationId xmlns:a16="http://schemas.microsoft.com/office/drawing/2014/main" id="{9EAE4EB2-6E92-45D9-AA62-8095B8813A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× DT 협업으로 연결한</a:t>
              </a:r>
            </a:p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분석 환경과 실행 기반</a:t>
              </a:r>
            </a:p>
          </p:txBody>
        </p:sp>
        <p:sp>
          <p:nvSpPr>
            <p:cNvPr id="6" name="header__285">
              <a:extLst xmlns:a="http://schemas.openxmlformats.org/drawingml/2006/main">
                <a:ext uri="{FF2B5EF4-FFF2-40B4-BE49-F238E27FC236}">
                  <a16:creationId xmlns:a16="http://schemas.microsoft.com/office/drawing/2014/main" id="{0E3A247C-C451-49A4-88B4-90D9C2F446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Legacy 연계와 배치 분석을 구현하고 Workflow 지식화의 기반을 마련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286">
              <a:extLst xmlns:a="http://schemas.openxmlformats.org/drawingml/2006/main">
                <a:ext uri="{FF2B5EF4-FFF2-40B4-BE49-F238E27FC236}">
                  <a16:creationId xmlns:a16="http://schemas.microsoft.com/office/drawing/2014/main" id="{F7CD54F3-403B-4703-935D-9F44DE60CD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400300"/>
              <a:ext cx="9601200" cy="1800225"/>
            </a:xfrm>
            <a:prstGeom xmlns:a="http://schemas.openxmlformats.org/drawingml/2006/main" prst="roundRect">
              <a:avLst>
                <a:gd name="adj" fmla="val 42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287">
              <a:extLst xmlns:a="http://schemas.openxmlformats.org/drawingml/2006/main">
                <a:ext uri="{FF2B5EF4-FFF2-40B4-BE49-F238E27FC236}">
                  <a16:creationId xmlns:a16="http://schemas.microsoft.com/office/drawing/2014/main" id="{AEB6BE8F-B966-4B0E-8B80-A98C5F49EA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288">
              <a:extLst xmlns:a="http://schemas.openxmlformats.org/drawingml/2006/main">
                <a:ext uri="{FF2B5EF4-FFF2-40B4-BE49-F238E27FC236}">
                  <a16:creationId xmlns:a16="http://schemas.microsoft.com/office/drawing/2014/main" id="{C1FFE204-447D-487A-9D0D-286E36494F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289">
              <a:extLst xmlns:a="http://schemas.openxmlformats.org/drawingml/2006/main">
                <a:ext uri="{FF2B5EF4-FFF2-40B4-BE49-F238E27FC236}">
                  <a16:creationId xmlns:a16="http://schemas.microsoft.com/office/drawing/2014/main" id="{D952F9EC-FA9C-470F-9257-F5DBE92818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4003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290">
              <a:extLst xmlns:a="http://schemas.openxmlformats.org/drawingml/2006/main">
                <a:ext uri="{FF2B5EF4-FFF2-40B4-BE49-F238E27FC236}">
                  <a16:creationId xmlns:a16="http://schemas.microsoft.com/office/drawing/2014/main" id="{44BEA622-BDC4-41EF-85BE-95DA4862A6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4003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지식과 DT 역량이 만나는 구현 구조</a:t>
              </a:r>
            </a:p>
          </p:txBody>
        </p:sp>
        <p:sp>
          <p:nvSpPr>
            <p:cNvPr id="12" name="section01__291">
              <a:extLst xmlns:a="http://schemas.openxmlformats.org/drawingml/2006/main">
                <a:ext uri="{FF2B5EF4-FFF2-40B4-BE49-F238E27FC236}">
                  <a16:creationId xmlns:a16="http://schemas.microsoft.com/office/drawing/2014/main" id="{4F362B35-DA4A-477B-AF92-23D932CC9F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2952750"/>
              <a:ext cx="33718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3" name="section01__292">
              <a:extLst xmlns:a="http://schemas.openxmlformats.org/drawingml/2006/main">
                <a:ext uri="{FF2B5EF4-FFF2-40B4-BE49-F238E27FC236}">
                  <a16:creationId xmlns:a16="http://schemas.microsoft.com/office/drawing/2014/main" id="{198DAE95-478A-4258-8F6D-1A38014770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3095625"/>
              <a:ext cx="30861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도메인 전문성</a:t>
              </a:r>
            </a:p>
          </p:txBody>
        </p:sp>
        <p:sp>
          <p:nvSpPr>
            <p:cNvPr id="14" name="section01__293">
              <a:extLst xmlns:a="http://schemas.openxmlformats.org/drawingml/2006/main">
                <a:ext uri="{FF2B5EF4-FFF2-40B4-BE49-F238E27FC236}">
                  <a16:creationId xmlns:a16="http://schemas.microsoft.com/office/drawing/2014/main" id="{D5BFF34E-76C3-4BFB-8982-36BFD047E3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3524250"/>
              <a:ext cx="308610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관점 · 판단 기준 · 기능 제안</a:t>
              </a:r>
            </a:p>
          </p:txBody>
        </p:sp>
        <p:sp>
          <p:nvSpPr>
            <p:cNvPr id="15" name="section01__294">
              <a:extLst xmlns:a="http://schemas.openxmlformats.org/drawingml/2006/main">
                <a:ext uri="{FF2B5EF4-FFF2-40B4-BE49-F238E27FC236}">
                  <a16:creationId xmlns:a16="http://schemas.microsoft.com/office/drawing/2014/main" id="{972C16C2-A465-47B2-BA9E-4F5AD66E30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57925" y="2952750"/>
              <a:ext cx="33718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6" name="section01__295">
              <a:extLst xmlns:a="http://schemas.openxmlformats.org/drawingml/2006/main">
                <a:ext uri="{FF2B5EF4-FFF2-40B4-BE49-F238E27FC236}">
                  <a16:creationId xmlns:a16="http://schemas.microsoft.com/office/drawing/2014/main" id="{C2238D9D-DAC7-47D4-A098-D26B610BE4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0800" y="3095625"/>
              <a:ext cx="30861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DT 설계·개발 역량</a:t>
              </a:r>
            </a:p>
          </p:txBody>
        </p:sp>
        <p:sp>
          <p:nvSpPr>
            <p:cNvPr id="17" name="section01__296">
              <a:extLst xmlns:a="http://schemas.openxmlformats.org/drawingml/2006/main">
                <a:ext uri="{FF2B5EF4-FFF2-40B4-BE49-F238E27FC236}">
                  <a16:creationId xmlns:a16="http://schemas.microsoft.com/office/drawing/2014/main" id="{1B3464CB-2976-41ED-A84F-FA4660C497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91275" y="3524250"/>
              <a:ext cx="31051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연계 구현 · 실행 방식 · 리소스 지원</a:t>
              </a:r>
            </a:p>
          </p:txBody>
        </p:sp>
        <p:sp>
          <p:nvSpPr>
            <p:cNvPr id="18" name="section01__297">
              <a:extLst xmlns:a="http://schemas.openxmlformats.org/drawingml/2006/main">
                <a:ext uri="{FF2B5EF4-FFF2-40B4-BE49-F238E27FC236}">
                  <a16:creationId xmlns:a16="http://schemas.microsoft.com/office/drawing/2014/main" id="{F4B3E960-C444-406F-A771-06675F32AF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0" y="3324225"/>
              <a:ext cx="314325" cy="2857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9" name="section01__298">
              <a:extLst xmlns:a="http://schemas.openxmlformats.org/drawingml/2006/main">
                <a:ext uri="{FF2B5EF4-FFF2-40B4-BE49-F238E27FC236}">
                  <a16:creationId xmlns:a16="http://schemas.microsoft.com/office/drawing/2014/main" id="{1DC81107-D169-4FCD-A65E-FE30AECF65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10800000">
              <a:off x="5838825" y="3324225"/>
              <a:ext cx="314325" cy="2857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0" name="section01__299">
              <a:extLst xmlns:a="http://schemas.openxmlformats.org/drawingml/2006/main">
                <a:ext uri="{FF2B5EF4-FFF2-40B4-BE49-F238E27FC236}">
                  <a16:creationId xmlns:a16="http://schemas.microsoft.com/office/drawing/2014/main" id="{B7C6B00F-F9DC-402F-B32D-9DAEA9766C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38650" y="2933700"/>
              <a:ext cx="1162050" cy="11620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1" name="section01__300">
              <a:extLst xmlns:a="http://schemas.openxmlformats.org/drawingml/2006/main">
                <a:ext uri="{FF2B5EF4-FFF2-40B4-BE49-F238E27FC236}">
                  <a16:creationId xmlns:a16="http://schemas.microsoft.com/office/drawing/2014/main" id="{61802724-433C-4372-83A9-88B0372EDA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14850" y="3009900"/>
              <a:ext cx="1009650" cy="1009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Y-Agent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22" name="section02__301">
              <a:extLst xmlns:a="http://schemas.openxmlformats.org/drawingml/2006/main">
                <a:ext uri="{FF2B5EF4-FFF2-40B4-BE49-F238E27FC236}">
                  <a16:creationId xmlns:a16="http://schemas.microsoft.com/office/drawing/2014/main" id="{1F131A3A-4408-40C2-82ED-0D3906CBD7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4371975"/>
              <a:ext cx="9601200" cy="5153025"/>
            </a:xfrm>
            <a:prstGeom xmlns:a="http://schemas.openxmlformats.org/drawingml/2006/main" prst="roundRect">
              <a:avLst>
                <a:gd name="adj" fmla="val 147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3" name="section02__302">
              <a:extLst xmlns:a="http://schemas.openxmlformats.org/drawingml/2006/main">
                <a:ext uri="{FF2B5EF4-FFF2-40B4-BE49-F238E27FC236}">
                  <a16:creationId xmlns:a16="http://schemas.microsoft.com/office/drawing/2014/main" id="{1BFE4F17-B352-42E4-B554-4E8B1043F4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3815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4" name="section02__303">
              <a:extLst xmlns:a="http://schemas.openxmlformats.org/drawingml/2006/main">
                <a:ext uri="{FF2B5EF4-FFF2-40B4-BE49-F238E27FC236}">
                  <a16:creationId xmlns:a16="http://schemas.microsoft.com/office/drawing/2014/main" id="{245A263B-7C0C-4327-A5EC-5F15D3846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3815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5" name="section02__304">
              <a:extLst xmlns:a="http://schemas.openxmlformats.org/drawingml/2006/main">
                <a:ext uri="{FF2B5EF4-FFF2-40B4-BE49-F238E27FC236}">
                  <a16:creationId xmlns:a16="http://schemas.microsoft.com/office/drawing/2014/main" id="{6B789A3C-F6B6-403F-A438-ED3B25B2A7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43719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26" name="section02__305">
              <a:extLst xmlns:a="http://schemas.openxmlformats.org/drawingml/2006/main">
                <a:ext uri="{FF2B5EF4-FFF2-40B4-BE49-F238E27FC236}">
                  <a16:creationId xmlns:a16="http://schemas.microsoft.com/office/drawing/2014/main" id="{9E3C2A9E-C6B3-41AC-8FD4-E632B5278D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3719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현재 구현한 분석 연계·실행 환경</a:t>
              </a:r>
            </a:p>
          </p:txBody>
        </p:sp>
        <p:sp>
          <p:nvSpPr>
            <p:cNvPr id="27" name="section02__306">
              <a:extLst xmlns:a="http://schemas.openxmlformats.org/drawingml/2006/main">
                <a:ext uri="{FF2B5EF4-FFF2-40B4-BE49-F238E27FC236}">
                  <a16:creationId xmlns:a16="http://schemas.microsoft.com/office/drawing/2014/main" id="{D03421E2-DF94-45CC-9DB7-47DC7C5311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4933950"/>
              <a:ext cx="2419350" cy="3943350"/>
            </a:xfrm>
            <a:prstGeom xmlns:a="http://schemas.openxmlformats.org/drawingml/2006/main" prst="roundRect">
              <a:avLst>
                <a:gd name="adj" fmla="val 3150"/>
              </a:avLst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8" name="section02__307">
              <a:extLst xmlns:a="http://schemas.openxmlformats.org/drawingml/2006/main">
                <a:ext uri="{FF2B5EF4-FFF2-40B4-BE49-F238E27FC236}">
                  <a16:creationId xmlns:a16="http://schemas.microsoft.com/office/drawing/2014/main" id="{F847A1AA-D976-469A-AE17-5141DF8F2F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" y="5191125"/>
              <a:ext cx="2085975" cy="5048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7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7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Y-Agent</a:t>
              </a:r>
            </a:p>
          </p:txBody>
        </p:sp>
        <p:sp>
          <p:nvSpPr>
            <p:cNvPr id="29" name="section02__308">
              <a:extLst xmlns:a="http://schemas.openxmlformats.org/drawingml/2006/main">
                <a:ext uri="{FF2B5EF4-FFF2-40B4-BE49-F238E27FC236}">
                  <a16:creationId xmlns:a16="http://schemas.microsoft.com/office/drawing/2014/main" id="{66EBCEA2-4DC8-472B-ADEF-37639AEB0E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" y="5857875"/>
              <a:ext cx="20955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전문 분석 기능</a:t>
              </a:r>
            </a:p>
          </p:txBody>
        </p:sp>
        <p:sp>
          <p:nvSpPr>
            <p:cNvPr id="30" name="section02__309">
              <a:extLst xmlns:a="http://schemas.openxmlformats.org/drawingml/2006/main">
                <a:ext uri="{FF2B5EF4-FFF2-40B4-BE49-F238E27FC236}">
                  <a16:creationId xmlns:a16="http://schemas.microsoft.com/office/drawing/2014/main" id="{F32D5772-F7CD-4598-9418-7A9A428373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8650" y="6391275"/>
              <a:ext cx="20097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A5B9C7"/>
              </a:solidFill>
            </a:ln>
          </p:spPr>
        </p:sp>
        <p:sp>
          <p:nvSpPr>
            <p:cNvPr id="31" name="section02__310">
              <a:extLst xmlns:a="http://schemas.openxmlformats.org/drawingml/2006/main">
                <a:ext uri="{FF2B5EF4-FFF2-40B4-BE49-F238E27FC236}">
                  <a16:creationId xmlns:a16="http://schemas.microsoft.com/office/drawing/2014/main" id="{6C81715E-B296-4873-8286-73E4DD1023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8650" y="6619875"/>
              <a:ext cx="2000250" cy="1219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분석 중인 Trend</a:t>
              </a:r>
            </a:p>
            <a:p xmlns:a="http://schemas.openxmlformats.org/drawingml/2006/main">
              <a:pPr algn="ctr">
                <a:defRPr sz="18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전문 Agent·Tool</a:t>
              </a:r>
            </a:p>
            <a:p xmlns:a="http://schemas.openxmlformats.org/drawingml/2006/main">
              <a:pPr algn="ctr">
                <a:defRPr sz="18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분석 결과</a:t>
              </a:r>
            </a:p>
          </p:txBody>
        </p:sp>
        <p:sp>
          <p:nvSpPr>
            <p:cNvPr id="32" name="section02__311">
              <a:extLst xmlns:a="http://schemas.openxmlformats.org/drawingml/2006/main">
                <a:ext uri="{FF2B5EF4-FFF2-40B4-BE49-F238E27FC236}">
                  <a16:creationId xmlns:a16="http://schemas.microsoft.com/office/drawing/2014/main" id="{789CDAB7-FA9F-4610-9568-009D7D63A8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52750" y="5553075"/>
              <a:ext cx="342900" cy="2667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3" name="section02__312">
              <a:extLst xmlns:a="http://schemas.openxmlformats.org/drawingml/2006/main">
                <a:ext uri="{FF2B5EF4-FFF2-40B4-BE49-F238E27FC236}">
                  <a16:creationId xmlns:a16="http://schemas.microsoft.com/office/drawing/2014/main" id="{83CB2B73-C03C-4796-AC3C-DF78FF3090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52750" y="7610475"/>
              <a:ext cx="342900" cy="2667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4" name="section02__313">
              <a:extLst xmlns:a="http://schemas.openxmlformats.org/drawingml/2006/main">
                <a:ext uri="{FF2B5EF4-FFF2-40B4-BE49-F238E27FC236}">
                  <a16:creationId xmlns:a16="http://schemas.microsoft.com/office/drawing/2014/main" id="{BB0F410C-4221-467A-A710-9549B0ECD3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00425" y="4933950"/>
              <a:ext cx="6210300" cy="323850"/>
            </a:xfrm>
            <a:prstGeom xmlns:a="http://schemas.openxmlformats.org/drawingml/2006/main" prst="roundRect">
              <a:avLst>
                <a:gd name="adj" fmla="val 23529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5" name="section02__314">
              <a:extLst xmlns:a="http://schemas.openxmlformats.org/drawingml/2006/main">
                <a:ext uri="{FF2B5EF4-FFF2-40B4-BE49-F238E27FC236}">
                  <a16:creationId xmlns:a16="http://schemas.microsoft.com/office/drawing/2014/main" id="{25EA78CC-BDB2-451C-B7B2-64DBAEFB71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48050" y="4933950"/>
              <a:ext cx="61150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① Legacy 연결</a:t>
              </a:r>
            </a:p>
          </p:txBody>
        </p:sp>
        <p:sp>
          <p:nvSpPr>
            <p:cNvPr id="36" name="section02__315">
              <a:extLst xmlns:a="http://schemas.openxmlformats.org/drawingml/2006/main">
                <a:ext uri="{FF2B5EF4-FFF2-40B4-BE49-F238E27FC236}">
                  <a16:creationId xmlns:a16="http://schemas.microsoft.com/office/drawing/2014/main" id="{A44B4844-B79D-4D91-9A6A-27536C2E4A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90900" y="5419725"/>
              <a:ext cx="2995613" cy="1009650"/>
            </a:xfrm>
            <a:prstGeom xmlns:a="http://schemas.openxmlformats.org/drawingml/2006/main" prst="roundRect">
              <a:avLst>
                <a:gd name="adj" fmla="val 754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7" name="section02__316">
              <a:extLst xmlns:a="http://schemas.openxmlformats.org/drawingml/2006/main">
                <a:ext uri="{FF2B5EF4-FFF2-40B4-BE49-F238E27FC236}">
                  <a16:creationId xmlns:a16="http://schemas.microsoft.com/office/drawing/2014/main" id="{556E3616-45BA-43D4-A445-04C4DD19D6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76625" y="5495925"/>
              <a:ext cx="282416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중인 Trend</a:t>
              </a:r>
            </a:p>
          </p:txBody>
        </p:sp>
        <p:sp>
          <p:nvSpPr>
            <p:cNvPr id="38" name="section02__317">
              <a:extLst xmlns:a="http://schemas.openxmlformats.org/drawingml/2006/main">
                <a:ext uri="{FF2B5EF4-FFF2-40B4-BE49-F238E27FC236}">
                  <a16:creationId xmlns:a16="http://schemas.microsoft.com/office/drawing/2014/main" id="{9C30BFE8-BE4F-48CD-B90B-6BABAC4F52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5200" y="5895975"/>
              <a:ext cx="2767013" cy="4667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</a:t>
              </a:r>
            </a:p>
          </p:txBody>
        </p:sp>
        <p:sp>
          <p:nvSpPr>
            <p:cNvPr id="39" name="section02__318">
              <a:extLst xmlns:a="http://schemas.openxmlformats.org/drawingml/2006/main">
                <a:ext uri="{FF2B5EF4-FFF2-40B4-BE49-F238E27FC236}">
                  <a16:creationId xmlns:a16="http://schemas.microsoft.com/office/drawing/2014/main" id="{8F55DAAE-D6AE-4EF8-86F7-A769BFA7BE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4613" y="58483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0" name="section02__319">
              <a:extLst xmlns:a="http://schemas.openxmlformats.org/drawingml/2006/main">
                <a:ext uri="{FF2B5EF4-FFF2-40B4-BE49-F238E27FC236}">
                  <a16:creationId xmlns:a16="http://schemas.microsoft.com/office/drawing/2014/main" id="{A4F80D31-FC6F-4E31-AA45-1F5ABA3C39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4163" y="5419725"/>
              <a:ext cx="2995613" cy="1009650"/>
            </a:xfrm>
            <a:prstGeom xmlns:a="http://schemas.openxmlformats.org/drawingml/2006/main" prst="roundRect">
              <a:avLst>
                <a:gd name="adj" fmla="val 754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1" name="section02__320">
              <a:extLst xmlns:a="http://schemas.openxmlformats.org/drawingml/2006/main">
                <a:ext uri="{FF2B5EF4-FFF2-40B4-BE49-F238E27FC236}">
                  <a16:creationId xmlns:a16="http://schemas.microsoft.com/office/drawing/2014/main" id="{8D9E00AC-09A1-4877-9A91-2FF0F1A232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9888" y="5495925"/>
              <a:ext cx="2824163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동일 Trend 조회</a:t>
              </a:r>
            </a:p>
          </p:txBody>
        </p:sp>
        <p:sp>
          <p:nvSpPr>
            <p:cNvPr id="42" name="section02__321">
              <a:extLst xmlns:a="http://schemas.openxmlformats.org/drawingml/2006/main">
                <a:ext uri="{FF2B5EF4-FFF2-40B4-BE49-F238E27FC236}">
                  <a16:creationId xmlns:a16="http://schemas.microsoft.com/office/drawing/2014/main" id="{50709261-FAC7-48A7-8554-E95E782C8E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48463" y="5895975"/>
              <a:ext cx="2767013" cy="4667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SmartFactory</a:t>
              </a:r>
            </a:p>
          </p:txBody>
        </p:sp>
        <p:sp>
          <p:nvSpPr>
            <p:cNvPr id="43" name="section02__322">
              <a:extLst xmlns:a="http://schemas.openxmlformats.org/drawingml/2006/main">
                <a:ext uri="{FF2B5EF4-FFF2-40B4-BE49-F238E27FC236}">
                  <a16:creationId xmlns:a16="http://schemas.microsoft.com/office/drawing/2014/main" id="{13C0D511-D18A-4349-8070-9C2376A112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48050" y="6553200"/>
              <a:ext cx="609600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기존 분석 도구와 바로 연결하여 후속 탐색 지원</a:t>
              </a:r>
            </a:p>
          </p:txBody>
        </p:sp>
        <p:sp>
          <p:nvSpPr>
            <p:cNvPr id="44" name="section02__323">
              <a:extLst xmlns:a="http://schemas.openxmlformats.org/drawingml/2006/main">
                <a:ext uri="{FF2B5EF4-FFF2-40B4-BE49-F238E27FC236}">
                  <a16:creationId xmlns:a16="http://schemas.microsoft.com/office/drawing/2014/main" id="{9D2F1F65-788D-4057-8B51-2E89D1E397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00425" y="7134225"/>
              <a:ext cx="6210300" cy="323850"/>
            </a:xfrm>
            <a:prstGeom xmlns:a="http://schemas.openxmlformats.org/drawingml/2006/main" prst="roundRect">
              <a:avLst>
                <a:gd name="adj" fmla="val 23529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5" name="section02__324">
              <a:extLst xmlns:a="http://schemas.openxmlformats.org/drawingml/2006/main">
                <a:ext uri="{FF2B5EF4-FFF2-40B4-BE49-F238E27FC236}">
                  <a16:creationId xmlns:a16="http://schemas.microsoft.com/office/drawing/2014/main" id="{12A7036D-A6ED-4B7A-999E-C4726D3083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48050" y="7134225"/>
              <a:ext cx="61150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② MCP 기반 배치 실행</a:t>
              </a:r>
            </a:p>
          </p:txBody>
        </p:sp>
        <p:sp>
          <p:nvSpPr>
            <p:cNvPr id="46" name="section02__325">
              <a:extLst xmlns:a="http://schemas.openxmlformats.org/drawingml/2006/main">
                <a:ext uri="{FF2B5EF4-FFF2-40B4-BE49-F238E27FC236}">
                  <a16:creationId xmlns:a16="http://schemas.microsoft.com/office/drawing/2014/main" id="{16234D49-20F2-4D88-A0B6-E8CE604F26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00425" y="7610475"/>
              <a:ext cx="1911350" cy="1190625"/>
            </a:xfrm>
            <a:prstGeom xmlns:a="http://schemas.openxmlformats.org/drawingml/2006/main" prst="roundRect">
              <a:avLst>
                <a:gd name="adj" fmla="val 64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7" name="section02__326">
              <a:extLst xmlns:a="http://schemas.openxmlformats.org/drawingml/2006/main">
                <a:ext uri="{FF2B5EF4-FFF2-40B4-BE49-F238E27FC236}">
                  <a16:creationId xmlns:a16="http://schemas.microsoft.com/office/drawing/2014/main" id="{F923A774-1C4E-470E-A58B-A85F413161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86150" y="7686675"/>
              <a:ext cx="17399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Y-Agent MCP</a:t>
              </a:r>
            </a:p>
          </p:txBody>
        </p:sp>
        <p:sp>
          <p:nvSpPr>
            <p:cNvPr id="48" name="section02__327">
              <a:extLst xmlns:a="http://schemas.openxmlformats.org/drawingml/2006/main">
                <a:ext uri="{FF2B5EF4-FFF2-40B4-BE49-F238E27FC236}">
                  <a16:creationId xmlns:a16="http://schemas.microsoft.com/office/drawing/2014/main" id="{4609BAAA-DFC1-4B1B-8999-C3199C4A6D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14725" y="8086725"/>
              <a:ext cx="1682750" cy="647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기능 제공</a:t>
              </a:r>
            </a:p>
          </p:txBody>
        </p:sp>
        <p:sp>
          <p:nvSpPr>
            <p:cNvPr id="49" name="section02__328">
              <a:extLst xmlns:a="http://schemas.openxmlformats.org/drawingml/2006/main">
                <a:ext uri="{FF2B5EF4-FFF2-40B4-BE49-F238E27FC236}">
                  <a16:creationId xmlns:a16="http://schemas.microsoft.com/office/drawing/2014/main" id="{2BA6B4F3-90EF-4F34-AFEE-EB34918521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875" y="8129588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0" name="section02__329">
              <a:extLst xmlns:a="http://schemas.openxmlformats.org/drawingml/2006/main">
                <a:ext uri="{FF2B5EF4-FFF2-40B4-BE49-F238E27FC236}">
                  <a16:creationId xmlns:a16="http://schemas.microsoft.com/office/drawing/2014/main" id="{9B2AD1B4-8B21-426F-9FE6-D24A9EE511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59425" y="7610475"/>
              <a:ext cx="1911350" cy="1190625"/>
            </a:xfrm>
            <a:prstGeom xmlns:a="http://schemas.openxmlformats.org/drawingml/2006/main" prst="roundRect">
              <a:avLst>
                <a:gd name="adj" fmla="val 64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1" name="section02__330">
              <a:extLst xmlns:a="http://schemas.openxmlformats.org/drawingml/2006/main">
                <a:ext uri="{FF2B5EF4-FFF2-40B4-BE49-F238E27FC236}">
                  <a16:creationId xmlns:a16="http://schemas.microsoft.com/office/drawing/2014/main" id="{1B0902CA-B1F4-412B-A495-F268E1BC7E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150" y="7686675"/>
              <a:ext cx="17399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BoI Wiki 하네스</a:t>
              </a:r>
            </a:p>
          </p:txBody>
        </p:sp>
        <p:sp>
          <p:nvSpPr>
            <p:cNvPr id="52" name="section02__331">
              <a:extLst xmlns:a="http://schemas.openxmlformats.org/drawingml/2006/main">
                <a:ext uri="{FF2B5EF4-FFF2-40B4-BE49-F238E27FC236}">
                  <a16:creationId xmlns:a16="http://schemas.microsoft.com/office/drawing/2014/main" id="{FA391220-D9BB-48EC-972F-D192C04EFB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73725" y="8086725"/>
              <a:ext cx="1682750" cy="647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MCP 연결·반복 호출</a:t>
              </a:r>
            </a:p>
          </p:txBody>
        </p:sp>
        <p:sp>
          <p:nvSpPr>
            <p:cNvPr id="53" name="section02__332">
              <a:extLst xmlns:a="http://schemas.openxmlformats.org/drawingml/2006/main">
                <a:ext uri="{FF2B5EF4-FFF2-40B4-BE49-F238E27FC236}">
                  <a16:creationId xmlns:a16="http://schemas.microsoft.com/office/drawing/2014/main" id="{01978D6C-4661-4C0F-95E2-8A469ED529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8875" y="8129588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4" name="section02__333">
              <a:extLst xmlns:a="http://schemas.openxmlformats.org/drawingml/2006/main">
                <a:ext uri="{FF2B5EF4-FFF2-40B4-BE49-F238E27FC236}">
                  <a16:creationId xmlns:a16="http://schemas.microsoft.com/office/drawing/2014/main" id="{F1D0A18A-BA80-4276-882C-FC72E1B803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18425" y="7610475"/>
              <a:ext cx="1911350" cy="1190625"/>
            </a:xfrm>
            <a:prstGeom xmlns:a="http://schemas.openxmlformats.org/drawingml/2006/main" prst="roundRect">
              <a:avLst>
                <a:gd name="adj" fmla="val 64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5" name="section02__334">
              <a:extLst xmlns:a="http://schemas.openxmlformats.org/drawingml/2006/main">
                <a:ext uri="{FF2B5EF4-FFF2-40B4-BE49-F238E27FC236}">
                  <a16:creationId xmlns:a16="http://schemas.microsoft.com/office/drawing/2014/main" id="{A5267712-3D6A-4C0D-AC6A-E1AE59B2D2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04150" y="7686675"/>
              <a:ext cx="17399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보고서 작성</a:t>
              </a:r>
            </a:p>
          </p:txBody>
        </p:sp>
        <p:sp>
          <p:nvSpPr>
            <p:cNvPr id="56" name="section02__335">
              <a:extLst xmlns:a="http://schemas.openxmlformats.org/drawingml/2006/main">
                <a:ext uri="{FF2B5EF4-FFF2-40B4-BE49-F238E27FC236}">
                  <a16:creationId xmlns:a16="http://schemas.microsoft.com/office/drawing/2014/main" id="{32FE6128-33E7-4FEC-8210-59120D1617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32725" y="8086725"/>
              <a:ext cx="1682750" cy="647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배치 분석 실행</a:t>
              </a:r>
            </a:p>
          </p:txBody>
        </p:sp>
        <p:sp>
          <p:nvSpPr>
            <p:cNvPr id="57" name="section02__336">
              <a:extLst xmlns:a="http://schemas.openxmlformats.org/drawingml/2006/main">
                <a:ext uri="{FF2B5EF4-FFF2-40B4-BE49-F238E27FC236}">
                  <a16:creationId xmlns:a16="http://schemas.microsoft.com/office/drawing/2014/main" id="{F57B9273-5A82-493E-BA6E-82E6C1F1C7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9010650"/>
              <a:ext cx="9191625" cy="352425"/>
            </a:xfrm>
            <a:prstGeom xmlns:a="http://schemas.openxmlformats.org/drawingml/2006/main" prst="roundRect">
              <a:avLst>
                <a:gd name="adj" fmla="val 21622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8" name="section02__337">
              <a:extLst xmlns:a="http://schemas.openxmlformats.org/drawingml/2006/main">
                <a:ext uri="{FF2B5EF4-FFF2-40B4-BE49-F238E27FC236}">
                  <a16:creationId xmlns:a16="http://schemas.microsoft.com/office/drawing/2014/main" id="{EFDE50DD-4C1D-4389-AFC6-459DC1E2CB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" y="9010650"/>
              <a:ext cx="89535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Oracle  ·  RAM  ·  NAS Storage  ·  LLM API가 데이터 처리·분석·저장·추론을 지원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59" name="section03__338">
              <a:extLst xmlns:a="http://schemas.openxmlformats.org/drawingml/2006/main">
                <a:ext uri="{FF2B5EF4-FFF2-40B4-BE49-F238E27FC236}">
                  <a16:creationId xmlns:a16="http://schemas.microsoft.com/office/drawing/2014/main" id="{FA5B6E7D-608B-46C8-8A0B-531DFF0543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9696450"/>
              <a:ext cx="9601200" cy="3095625"/>
            </a:xfrm>
            <a:prstGeom xmlns:a="http://schemas.openxmlformats.org/drawingml/2006/main" prst="roundRect">
              <a:avLst>
                <a:gd name="adj" fmla="val 246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0" name="section03__339">
              <a:extLst xmlns:a="http://schemas.openxmlformats.org/drawingml/2006/main">
                <a:ext uri="{FF2B5EF4-FFF2-40B4-BE49-F238E27FC236}">
                  <a16:creationId xmlns:a16="http://schemas.microsoft.com/office/drawing/2014/main" id="{6D615DF2-3A4A-4EBA-96F7-4E41209D9A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970597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1" name="section03__340">
              <a:extLst xmlns:a="http://schemas.openxmlformats.org/drawingml/2006/main">
                <a:ext uri="{FF2B5EF4-FFF2-40B4-BE49-F238E27FC236}">
                  <a16:creationId xmlns:a16="http://schemas.microsoft.com/office/drawing/2014/main" id="{C934C900-4D56-4E71-8D5B-34F176F4F8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970597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2" name="section03__341">
              <a:extLst xmlns:a="http://schemas.openxmlformats.org/drawingml/2006/main">
                <a:ext uri="{FF2B5EF4-FFF2-40B4-BE49-F238E27FC236}">
                  <a16:creationId xmlns:a16="http://schemas.microsoft.com/office/drawing/2014/main" id="{A1904CED-313B-4569-9254-777AEB8CAD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969645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3" name="section03__342">
              <a:extLst xmlns:a="http://schemas.openxmlformats.org/drawingml/2006/main">
                <a:ext uri="{FF2B5EF4-FFF2-40B4-BE49-F238E27FC236}">
                  <a16:creationId xmlns:a16="http://schemas.microsoft.com/office/drawing/2014/main" id="{5FD71FDC-ED66-4762-970E-F8C3623017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969645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협업을 통한 개선과 다음 확장</a:t>
              </a:r>
            </a:p>
          </p:txBody>
        </p:sp>
        <p:sp>
          <p:nvSpPr>
            <p:cNvPr id="64" name="section03__343">
              <a:extLst xmlns:a="http://schemas.openxmlformats.org/drawingml/2006/main">
                <a:ext uri="{FF2B5EF4-FFF2-40B4-BE49-F238E27FC236}">
                  <a16:creationId xmlns:a16="http://schemas.microsoft.com/office/drawing/2014/main" id="{F3C6EFE3-F30D-45D3-9B16-D637A161C5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10239375"/>
              <a:ext cx="2112169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5" name="section03__344">
              <a:extLst xmlns:a="http://schemas.openxmlformats.org/drawingml/2006/main">
                <a:ext uri="{FF2B5EF4-FFF2-40B4-BE49-F238E27FC236}">
                  <a16:creationId xmlns:a16="http://schemas.microsoft.com/office/drawing/2014/main" id="{4EBFDEC2-D414-4133-BBB9-44D5FB9C59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10315575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아이디어 제안</a:t>
              </a:r>
            </a:p>
          </p:txBody>
        </p:sp>
        <p:sp>
          <p:nvSpPr>
            <p:cNvPr id="66" name="section03__345">
              <a:extLst xmlns:a="http://schemas.openxmlformats.org/drawingml/2006/main">
                <a:ext uri="{FF2B5EF4-FFF2-40B4-BE49-F238E27FC236}">
                  <a16:creationId xmlns:a16="http://schemas.microsoft.com/office/drawing/2014/main" id="{32BE671B-BBAD-4F95-AB78-0DDAE05081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10715625"/>
              <a:ext cx="1883569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/ DT</a:t>
              </a:r>
            </a:p>
          </p:txBody>
        </p:sp>
        <p:sp>
          <p:nvSpPr>
            <p:cNvPr id="67" name="section03__346">
              <a:extLst xmlns:a="http://schemas.openxmlformats.org/drawingml/2006/main">
                <a:ext uri="{FF2B5EF4-FFF2-40B4-BE49-F238E27FC236}">
                  <a16:creationId xmlns:a16="http://schemas.microsoft.com/office/drawing/2014/main" id="{AA4529C0-9DF9-47BC-9AA5-D1FC4BD6A1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9369" y="1063942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8" name="section03__347">
              <a:extLst xmlns:a="http://schemas.openxmlformats.org/drawingml/2006/main">
                <a:ext uri="{FF2B5EF4-FFF2-40B4-BE49-F238E27FC236}">
                  <a16:creationId xmlns:a16="http://schemas.microsoft.com/office/drawing/2014/main" id="{1C825A8D-2C63-4918-B647-6ABB16AA57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8919" y="10239375"/>
              <a:ext cx="2112169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9" name="section03__348">
              <a:extLst xmlns:a="http://schemas.openxmlformats.org/drawingml/2006/main">
                <a:ext uri="{FF2B5EF4-FFF2-40B4-BE49-F238E27FC236}">
                  <a16:creationId xmlns:a16="http://schemas.microsoft.com/office/drawing/2014/main" id="{C54E262B-DB0A-44E9-94A3-7A61EC27C7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64644" y="10315575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설계·개발</a:t>
              </a:r>
            </a:p>
          </p:txBody>
        </p:sp>
        <p:sp>
          <p:nvSpPr>
            <p:cNvPr id="70" name="section03__349">
              <a:extLst xmlns:a="http://schemas.openxmlformats.org/drawingml/2006/main">
                <a:ext uri="{FF2B5EF4-FFF2-40B4-BE49-F238E27FC236}">
                  <a16:creationId xmlns:a16="http://schemas.microsoft.com/office/drawing/2014/main" id="{740DC030-10E6-4791-A9C1-596C724F80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93219" y="10715625"/>
              <a:ext cx="1883569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공동 수행</a:t>
              </a:r>
            </a:p>
          </p:txBody>
        </p:sp>
        <p:sp>
          <p:nvSpPr>
            <p:cNvPr id="71" name="section03__350">
              <a:extLst xmlns:a="http://schemas.openxmlformats.org/drawingml/2006/main">
                <a:ext uri="{FF2B5EF4-FFF2-40B4-BE49-F238E27FC236}">
                  <a16:creationId xmlns:a16="http://schemas.microsoft.com/office/drawing/2014/main" id="{9EA4ABCA-EBE6-47ED-8758-2654D1F768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9188" y="1063942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2" name="section03__351">
              <a:extLst xmlns:a="http://schemas.openxmlformats.org/drawingml/2006/main">
                <a:ext uri="{FF2B5EF4-FFF2-40B4-BE49-F238E27FC236}">
                  <a16:creationId xmlns:a16="http://schemas.microsoft.com/office/drawing/2014/main" id="{498E878A-3462-419A-8A21-2BF0B617F3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8738" y="10239375"/>
              <a:ext cx="2112169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3" name="section03__352">
              <a:extLst xmlns:a="http://schemas.openxmlformats.org/drawingml/2006/main">
                <a:ext uri="{FF2B5EF4-FFF2-40B4-BE49-F238E27FC236}">
                  <a16:creationId xmlns:a16="http://schemas.microsoft.com/office/drawing/2014/main" id="{00E2952F-1113-4252-930B-C96052A0FA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4463" y="10315575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검증</a:t>
              </a:r>
            </a:p>
          </p:txBody>
        </p:sp>
        <p:sp>
          <p:nvSpPr>
            <p:cNvPr id="74" name="section03__353">
              <a:extLst xmlns:a="http://schemas.openxmlformats.org/drawingml/2006/main">
                <a:ext uri="{FF2B5EF4-FFF2-40B4-BE49-F238E27FC236}">
                  <a16:creationId xmlns:a16="http://schemas.microsoft.com/office/drawing/2014/main" id="{0E122C56-420B-4A32-B051-30AAA88129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3038" y="10715625"/>
              <a:ext cx="1883569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실제 데이터</a:t>
              </a:r>
            </a:p>
          </p:txBody>
        </p:sp>
        <p:sp>
          <p:nvSpPr>
            <p:cNvPr id="75" name="section03__354">
              <a:extLst xmlns:a="http://schemas.openxmlformats.org/drawingml/2006/main">
                <a:ext uri="{FF2B5EF4-FFF2-40B4-BE49-F238E27FC236}">
                  <a16:creationId xmlns:a16="http://schemas.microsoft.com/office/drawing/2014/main" id="{A2E20C40-9596-47C0-A06D-AA796D57F9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89006" y="1063942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6" name="section03__355">
              <a:extLst xmlns:a="http://schemas.openxmlformats.org/drawingml/2006/main">
                <a:ext uri="{FF2B5EF4-FFF2-40B4-BE49-F238E27FC236}">
                  <a16:creationId xmlns:a16="http://schemas.microsoft.com/office/drawing/2014/main" id="{A6C2B6AB-94FE-401E-94C9-DF9CB8CEF4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98556" y="10239375"/>
              <a:ext cx="2112169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7" name="section03__356">
              <a:extLst xmlns:a="http://schemas.openxmlformats.org/drawingml/2006/main">
                <a:ext uri="{FF2B5EF4-FFF2-40B4-BE49-F238E27FC236}">
                  <a16:creationId xmlns:a16="http://schemas.microsoft.com/office/drawing/2014/main" id="{081E58ED-9C40-49CC-881C-7AAC329F55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84281" y="10315575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피드백·개선</a:t>
              </a:r>
            </a:p>
          </p:txBody>
        </p:sp>
        <p:sp>
          <p:nvSpPr>
            <p:cNvPr id="78" name="section03__357">
              <a:extLst xmlns:a="http://schemas.openxmlformats.org/drawingml/2006/main">
                <a:ext uri="{FF2B5EF4-FFF2-40B4-BE49-F238E27FC236}">
                  <a16:creationId xmlns:a16="http://schemas.microsoft.com/office/drawing/2014/main" id="{DD349B24-B5BB-4477-8D39-E027C6718B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12856" y="10715625"/>
              <a:ext cx="1883569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수시 반영</a:t>
              </a:r>
            </a:p>
          </p:txBody>
        </p:sp>
        <p:sp>
          <p:nvSpPr>
            <p:cNvPr id="79" name="section03__358">
              <a:extLst xmlns:a="http://schemas.openxmlformats.org/drawingml/2006/main">
                <a:ext uri="{FF2B5EF4-FFF2-40B4-BE49-F238E27FC236}">
                  <a16:creationId xmlns:a16="http://schemas.microsoft.com/office/drawing/2014/main" id="{E9D2C18D-FEEB-49B5-99D4-9A553981C9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11382375"/>
              <a:ext cx="4438650" cy="1200150"/>
            </a:xfrm>
            <a:prstGeom xmlns:a="http://schemas.openxmlformats.org/drawingml/2006/main" prst="roundRect">
              <a:avLst>
                <a:gd name="adj" fmla="val 634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0" name="section03__359">
              <a:extLst xmlns:a="http://schemas.openxmlformats.org/drawingml/2006/main">
                <a:ext uri="{FF2B5EF4-FFF2-40B4-BE49-F238E27FC236}">
                  <a16:creationId xmlns:a16="http://schemas.microsoft.com/office/drawing/2014/main" id="{991EF1A5-44B4-4475-A12F-709AFD8B9D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7775" y="11382375"/>
              <a:ext cx="4552950" cy="1200150"/>
            </a:xfrm>
            <a:prstGeom xmlns:a="http://schemas.openxmlformats.org/drawingml/2006/main" prst="roundRect">
              <a:avLst>
                <a:gd name="adj" fmla="val 634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1" name="section03__360">
              <a:extLst xmlns:a="http://schemas.openxmlformats.org/drawingml/2006/main">
                <a:ext uri="{FF2B5EF4-FFF2-40B4-BE49-F238E27FC236}">
                  <a16:creationId xmlns:a16="http://schemas.microsoft.com/office/drawing/2014/main" id="{B953DA6D-421E-4728-A324-ED107C22C6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" y="11506200"/>
              <a:ext cx="4181475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82" name="section03__361">
              <a:extLst xmlns:a="http://schemas.openxmlformats.org/drawingml/2006/main">
                <a:ext uri="{FF2B5EF4-FFF2-40B4-BE49-F238E27FC236}">
                  <a16:creationId xmlns:a16="http://schemas.microsoft.com/office/drawing/2014/main" id="{FFBC0F27-B227-4D24-8281-0EDB77A798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" y="11506200"/>
              <a:ext cx="40862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향후  ·  Legacy Action 연계</a:t>
              </a:r>
            </a:p>
          </p:txBody>
        </p:sp>
        <p:sp>
          <p:nvSpPr>
            <p:cNvPr id="83" name="section03__362">
              <a:extLst xmlns:a="http://schemas.openxmlformats.org/drawingml/2006/main">
                <a:ext uri="{FF2B5EF4-FFF2-40B4-BE49-F238E27FC236}">
                  <a16:creationId xmlns:a16="http://schemas.microsoft.com/office/drawing/2014/main" id="{28D78D42-5C3D-4CEB-A276-E48F65B893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11982450"/>
              <a:ext cx="4162425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조회에서 기존 시스템의 액션 수행으로 확장</a:t>
              </a:r>
            </a:p>
          </p:txBody>
        </p:sp>
        <p:sp>
          <p:nvSpPr>
            <p:cNvPr id="84" name="section03__363">
              <a:extLst xmlns:a="http://schemas.openxmlformats.org/drawingml/2006/main">
                <a:ext uri="{FF2B5EF4-FFF2-40B4-BE49-F238E27FC236}">
                  <a16:creationId xmlns:a16="http://schemas.microsoft.com/office/drawing/2014/main" id="{43502889-155C-47BF-A72E-7532A60DCB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11506200"/>
              <a:ext cx="428625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85" name="section03__364">
              <a:extLst xmlns:a="http://schemas.openxmlformats.org/drawingml/2006/main">
                <a:ext uri="{FF2B5EF4-FFF2-40B4-BE49-F238E27FC236}">
                  <a16:creationId xmlns:a16="http://schemas.microsoft.com/office/drawing/2014/main" id="{3141BDE4-98B8-4047-9A2D-83155CA8E9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0" y="11506200"/>
              <a:ext cx="41910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향후  ·  Workflow 지식화</a:t>
              </a:r>
            </a:p>
          </p:txBody>
        </p:sp>
        <p:sp>
          <p:nvSpPr>
            <p:cNvPr id="86" name="section03__365">
              <a:extLst xmlns:a="http://schemas.openxmlformats.org/drawingml/2006/main">
                <a:ext uri="{FF2B5EF4-FFF2-40B4-BE49-F238E27FC236}">
                  <a16:creationId xmlns:a16="http://schemas.microsoft.com/office/drawing/2014/main" id="{3FDC9095-8490-4770-8D21-1E9C274B2D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0650" y="11982450"/>
              <a:ext cx="42672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배치 분석 경험을 축적해 현업 재사용성 개선</a:t>
              </a:r>
            </a:p>
          </p:txBody>
        </p:sp>
      </p:grpSp>
      <p:grpSp>
        <p:nvGrpSpPr>
          <p:cNvPr id="10004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7" name="footer__366">
              <a:extLst xmlns:a="http://schemas.openxmlformats.org/drawingml/2006/main">
                <a:ext uri="{FF2B5EF4-FFF2-40B4-BE49-F238E27FC236}">
                  <a16:creationId xmlns:a16="http://schemas.microsoft.com/office/drawing/2014/main" id="{7A11486C-3F2F-401E-926C-69CDA1AA59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88" name="footer__367">
              <a:extLst xmlns:a="http://schemas.openxmlformats.org/drawingml/2006/main">
                <a:ext uri="{FF2B5EF4-FFF2-40B4-BE49-F238E27FC236}">
                  <a16:creationId xmlns:a16="http://schemas.microsoft.com/office/drawing/2014/main" id="{A0E4AE3B-9F5D-4984-8F3F-B9B54BE5B5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기능 제안과 연계 활용을 중심으로 함께 구현·검증하며,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분석 연결성 확보와 실행 방식 확장을 추진</a:t>
              </a:r>
            </a:p>
          </p:txBody>
        </p:sp>
        <p:sp>
          <p:nvSpPr>
            <p:cNvPr id="89" name="footer__368">
              <a:extLst xmlns:a="http://schemas.openxmlformats.org/drawingml/2006/main">
                <a:ext uri="{FF2B5EF4-FFF2-40B4-BE49-F238E27FC236}">
                  <a16:creationId xmlns:a16="http://schemas.microsoft.com/office/drawing/2014/main" id="{9B8E7E94-D29D-455A-A831-A6F7BA73E5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90" name="footer__369">
              <a:extLst xmlns:a="http://schemas.openxmlformats.org/drawingml/2006/main">
                <a:ext uri="{FF2B5EF4-FFF2-40B4-BE49-F238E27FC236}">
                  <a16:creationId xmlns:a16="http://schemas.microsoft.com/office/drawing/2014/main" id="{BE143784-45AC-42CB-882E-5CA8B30779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6920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3" name="header__370">
              <a:extLst xmlns:a="http://schemas.openxmlformats.org/drawingml/2006/main">
                <a:ext uri="{FF2B5EF4-FFF2-40B4-BE49-F238E27FC236}">
                  <a16:creationId xmlns:a16="http://schemas.microsoft.com/office/drawing/2014/main" id="{E3893561-985B-42E3-BE16-ADDD68B521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371">
              <a:extLst xmlns:a="http://schemas.openxmlformats.org/drawingml/2006/main">
                <a:ext uri="{FF2B5EF4-FFF2-40B4-BE49-F238E27FC236}">
                  <a16:creationId xmlns:a16="http://schemas.microsoft.com/office/drawing/2014/main" id="{618D4D5F-3C22-46AA-A77D-6AD106861F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372">
              <a:extLst xmlns:a="http://schemas.openxmlformats.org/drawingml/2006/main">
                <a:ext uri="{FF2B5EF4-FFF2-40B4-BE49-F238E27FC236}">
                  <a16:creationId xmlns:a16="http://schemas.microsoft.com/office/drawing/2014/main" id="{21E30CDA-F21B-4939-B5BE-43BD0530C3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05 / 06</a:t>
              </a:r>
            </a:p>
          </p:txBody>
        </p:sp>
        <p:sp>
          <p:nvSpPr>
            <p:cNvPr id="4" name="header__373">
              <a:extLst xmlns:a="http://schemas.openxmlformats.org/drawingml/2006/main">
                <a:ext uri="{FF2B5EF4-FFF2-40B4-BE49-F238E27FC236}">
                  <a16:creationId xmlns:a16="http://schemas.microsoft.com/office/drawing/2014/main" id="{9958226C-3AE6-4AF0-9B12-306ACCE841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374">
              <a:extLst xmlns:a="http://schemas.openxmlformats.org/drawingml/2006/main">
                <a:ext uri="{FF2B5EF4-FFF2-40B4-BE49-F238E27FC236}">
                  <a16:creationId xmlns:a16="http://schemas.microsoft.com/office/drawing/2014/main" id="{3EA125E8-4F49-4C2F-8DBE-1AB1FC1C1D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실제 수율 이슈 7건 중 5건 검출</a:t>
              </a:r>
            </a:p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Co-pilot으로 적용</a:t>
              </a:r>
            </a:p>
          </p:txBody>
        </p:sp>
        <p:sp>
          <p:nvSpPr>
            <p:cNvPr id="6" name="header__375">
              <a:extLst xmlns:a="http://schemas.openxmlformats.org/drawingml/2006/main">
                <a:ext uri="{FF2B5EF4-FFF2-40B4-BE49-F238E27FC236}">
                  <a16:creationId xmlns:a16="http://schemas.microsoft.com/office/drawing/2014/main" id="{59792970-AF5E-4DC3-80BF-09B91232E3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수율팀 Daily 회의와 엔지니어 직접 사용을 통해 분석 결과의 타당성 확인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376">
              <a:extLst xmlns:a="http://schemas.openxmlformats.org/drawingml/2006/main">
                <a:ext uri="{FF2B5EF4-FFF2-40B4-BE49-F238E27FC236}">
                  <a16:creationId xmlns:a16="http://schemas.microsoft.com/office/drawing/2014/main" id="{490E5972-7170-4E43-BDAE-AA5C88AA27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400300"/>
              <a:ext cx="9601200" cy="3362325"/>
            </a:xfrm>
            <a:prstGeom xmlns:a="http://schemas.openxmlformats.org/drawingml/2006/main" prst="roundRect">
              <a:avLst>
                <a:gd name="adj" fmla="val 226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377">
              <a:extLst xmlns:a="http://schemas.openxmlformats.org/drawingml/2006/main">
                <a:ext uri="{FF2B5EF4-FFF2-40B4-BE49-F238E27FC236}">
                  <a16:creationId xmlns:a16="http://schemas.microsoft.com/office/drawing/2014/main" id="{7BFF1338-27A8-40F9-9539-B5BF8FCA71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378">
              <a:extLst xmlns:a="http://schemas.openxmlformats.org/drawingml/2006/main">
                <a:ext uri="{FF2B5EF4-FFF2-40B4-BE49-F238E27FC236}">
                  <a16:creationId xmlns:a16="http://schemas.microsoft.com/office/drawing/2014/main" id="{9C042844-81AC-49CB-BD54-54F27E76DA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379">
              <a:extLst xmlns:a="http://schemas.openxmlformats.org/drawingml/2006/main">
                <a:ext uri="{FF2B5EF4-FFF2-40B4-BE49-F238E27FC236}">
                  <a16:creationId xmlns:a16="http://schemas.microsoft.com/office/drawing/2014/main" id="{51534B62-0647-449F-BC33-5333FEB605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4003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380">
              <a:extLst xmlns:a="http://schemas.openxmlformats.org/drawingml/2006/main">
                <a:ext uri="{FF2B5EF4-FFF2-40B4-BE49-F238E27FC236}">
                  <a16:creationId xmlns:a16="http://schemas.microsoft.com/office/drawing/2014/main" id="{6AED4966-66EB-4343-9488-F658B15835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4003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검증 성과와 현업 피드백</a:t>
              </a:r>
            </a:p>
          </p:txBody>
        </p:sp>
        <p:sp>
          <p:nvSpPr>
            <p:cNvPr id="13" name="section01__381">
              <a:extLst xmlns:a="http://schemas.openxmlformats.org/drawingml/2006/main">
                <a:ext uri="{FF2B5EF4-FFF2-40B4-BE49-F238E27FC236}">
                  <a16:creationId xmlns:a16="http://schemas.microsoft.com/office/drawing/2014/main" id="{96CD04E5-AF28-4C77-80D7-F4B905D5F5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66825" y="3819525"/>
              <a:ext cx="1104900" cy="619125"/>
            </a:xfrm>
            <a:prstGeom xmlns:a="http://schemas.openxmlformats.org/drawingml/2006/main" prst="roundRect">
              <a:avLst>
                <a:gd name="adj" fmla="val 12308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p:spPr>
        </p:sp>
        <p:sp>
          <p:nvSpPr>
            <p:cNvPr id="14" name="section01__382">
              <a:extLst xmlns:a="http://schemas.openxmlformats.org/drawingml/2006/main">
                <a:ext uri="{FF2B5EF4-FFF2-40B4-BE49-F238E27FC236}">
                  <a16:creationId xmlns:a16="http://schemas.microsoft.com/office/drawing/2014/main" id="{351EB7E4-C518-44D1-B654-B833B8EF55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57300" y="3838575"/>
              <a:ext cx="1133475" cy="5810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9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9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5 / 7</a:t>
              </a:r>
            </a:p>
          </p:txBody>
        </p:sp>
        <p:sp>
          <p:nvSpPr>
            <p:cNvPr id="15" name="section01__383">
              <a:extLst xmlns:a="http://schemas.openxmlformats.org/drawingml/2006/main">
                <a:ext uri="{FF2B5EF4-FFF2-40B4-BE49-F238E27FC236}">
                  <a16:creationId xmlns:a16="http://schemas.microsoft.com/office/drawing/2014/main" id="{85E643A6-F4BB-4A4D-8D07-6DCAD0BF42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3295650"/>
              <a:ext cx="190500" cy="190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6" name="section01__384">
              <a:extLst xmlns:a="http://schemas.openxmlformats.org/drawingml/2006/main">
                <a:ext uri="{FF2B5EF4-FFF2-40B4-BE49-F238E27FC236}">
                  <a16:creationId xmlns:a16="http://schemas.microsoft.com/office/drawing/2014/main" id="{759098BF-D5A1-42E1-B3C6-09FF768215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57600" y="3209925"/>
              <a:ext cx="19716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1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검출 5건</a:t>
              </a:r>
            </a:p>
          </p:txBody>
        </p:sp>
        <p:sp>
          <p:nvSpPr>
            <p:cNvPr id="17" name="section01__385">
              <a:extLst xmlns:a="http://schemas.openxmlformats.org/drawingml/2006/main">
                <a:ext uri="{FF2B5EF4-FFF2-40B4-BE49-F238E27FC236}">
                  <a16:creationId xmlns:a16="http://schemas.microsoft.com/office/drawing/2014/main" id="{FF8CECB4-4D65-4D60-8A51-897FCF721F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57600" y="3648075"/>
              <a:ext cx="210502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분석으로 검출</a:t>
              </a:r>
            </a:p>
          </p:txBody>
        </p:sp>
        <p:sp>
          <p:nvSpPr>
            <p:cNvPr id="18" name="section01__386">
              <a:extLst xmlns:a="http://schemas.openxmlformats.org/drawingml/2006/main">
                <a:ext uri="{FF2B5EF4-FFF2-40B4-BE49-F238E27FC236}">
                  <a16:creationId xmlns:a16="http://schemas.microsoft.com/office/drawing/2014/main" id="{01D42B9C-8A57-4C92-A898-9D59BCE280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4248150"/>
              <a:ext cx="190500" cy="190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19" name="section01__387">
              <a:extLst xmlns:a="http://schemas.openxmlformats.org/drawingml/2006/main">
                <a:ext uri="{FF2B5EF4-FFF2-40B4-BE49-F238E27FC236}">
                  <a16:creationId xmlns:a16="http://schemas.microsoft.com/office/drawing/2014/main" id="{AC2AC350-E2B6-4487-987B-885E126B60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57600" y="4171950"/>
              <a:ext cx="20097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1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미검출 2건</a:t>
              </a:r>
            </a:p>
          </p:txBody>
        </p:sp>
        <p:sp>
          <p:nvSpPr>
            <p:cNvPr id="20" name="section01__388">
              <a:extLst xmlns:a="http://schemas.openxmlformats.org/drawingml/2006/main">
                <a:ext uri="{FF2B5EF4-FFF2-40B4-BE49-F238E27FC236}">
                  <a16:creationId xmlns:a16="http://schemas.microsoft.com/office/drawing/2014/main" id="{B521310F-69E4-41E0-8261-8F9018DFED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57600" y="4591050"/>
              <a:ext cx="219075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해당 분석 방법 구현 필요</a:t>
              </a:r>
            </a:p>
          </p:txBody>
        </p:sp>
        <p:sp>
          <p:nvSpPr>
            <p:cNvPr id="21" name="section01__389">
              <a:extLst xmlns:a="http://schemas.openxmlformats.org/drawingml/2006/main">
                <a:ext uri="{FF2B5EF4-FFF2-40B4-BE49-F238E27FC236}">
                  <a16:creationId xmlns:a16="http://schemas.microsoft.com/office/drawing/2014/main" id="{49E96769-014E-4210-88E6-F911D69991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0" y="3057525"/>
              <a:ext cx="0" cy="21907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22" name="section01__390">
              <a:extLst xmlns:a="http://schemas.openxmlformats.org/drawingml/2006/main">
                <a:ext uri="{FF2B5EF4-FFF2-40B4-BE49-F238E27FC236}">
                  <a16:creationId xmlns:a16="http://schemas.microsoft.com/office/drawing/2014/main" id="{4AC0899F-2A09-4142-B7D0-5541C82D25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75" y="3257550"/>
              <a:ext cx="2895600" cy="838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50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50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81건</a:t>
              </a:r>
            </a:p>
          </p:txBody>
        </p:sp>
        <p:sp>
          <p:nvSpPr>
            <p:cNvPr id="23" name="section01__391">
              <a:extLst xmlns:a="http://schemas.openxmlformats.org/drawingml/2006/main">
                <a:ext uri="{FF2B5EF4-FFF2-40B4-BE49-F238E27FC236}">
                  <a16:creationId xmlns:a16="http://schemas.microsoft.com/office/drawing/2014/main" id="{0C93B70C-4340-4487-A838-956FF5FF6E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75" y="4095750"/>
              <a:ext cx="289560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협업 Action Item</a:t>
              </a:r>
            </a:p>
          </p:txBody>
        </p:sp>
        <p:sp>
          <p:nvSpPr>
            <p:cNvPr id="24" name="section01__392">
              <a:extLst xmlns:a="http://schemas.openxmlformats.org/drawingml/2006/main">
                <a:ext uri="{FF2B5EF4-FFF2-40B4-BE49-F238E27FC236}">
                  <a16:creationId xmlns:a16="http://schemas.microsoft.com/office/drawing/2014/main" id="{11FCE123-F383-406A-BCD8-12886D2E0D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75" y="4629150"/>
              <a:ext cx="28956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요구를 기능·분석 개선으로 연결</a:t>
              </a:r>
            </a:p>
          </p:txBody>
        </p:sp>
        <p:sp>
          <p:nvSpPr>
            <p:cNvPr id="25" name="section01__393">
              <a:extLst xmlns:a="http://schemas.openxmlformats.org/drawingml/2006/main">
                <a:ext uri="{FF2B5EF4-FFF2-40B4-BE49-F238E27FC236}">
                  <a16:creationId xmlns:a16="http://schemas.microsoft.com/office/drawing/2014/main" id="{AE73F1E1-CC88-4166-9143-E7306EC5C8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" y="5410200"/>
              <a:ext cx="90297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※ 해당 7건의 검증 사례 기준  ·  미검출 2건은 현재 미구현 분석 방법이 필요한 사례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26" name="section02__394">
              <a:extLst xmlns:a="http://schemas.openxmlformats.org/drawingml/2006/main">
                <a:ext uri="{FF2B5EF4-FFF2-40B4-BE49-F238E27FC236}">
                  <a16:creationId xmlns:a16="http://schemas.microsoft.com/office/drawing/2014/main" id="{88915480-DABB-4D26-9B54-B81B2598B5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5934075"/>
              <a:ext cx="9601200" cy="2743200"/>
            </a:xfrm>
            <a:prstGeom xmlns:a="http://schemas.openxmlformats.org/drawingml/2006/main" prst="roundRect">
              <a:avLst>
                <a:gd name="adj" fmla="val 2778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7" name="section02__395">
              <a:extLst xmlns:a="http://schemas.openxmlformats.org/drawingml/2006/main">
                <a:ext uri="{FF2B5EF4-FFF2-40B4-BE49-F238E27FC236}">
                  <a16:creationId xmlns:a16="http://schemas.microsoft.com/office/drawing/2014/main" id="{357F0469-99D7-4EC2-A0C2-FBAEF35455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59436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8" name="section02__396">
              <a:extLst xmlns:a="http://schemas.openxmlformats.org/drawingml/2006/main">
                <a:ext uri="{FF2B5EF4-FFF2-40B4-BE49-F238E27FC236}">
                  <a16:creationId xmlns:a16="http://schemas.microsoft.com/office/drawing/2014/main" id="{8FB29863-2FC6-47AF-8CB9-4D8B43DF91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59436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9" name="section02__397">
              <a:extLst xmlns:a="http://schemas.openxmlformats.org/drawingml/2006/main">
                <a:ext uri="{FF2B5EF4-FFF2-40B4-BE49-F238E27FC236}">
                  <a16:creationId xmlns:a16="http://schemas.microsoft.com/office/drawing/2014/main" id="{EDB4CA1D-6685-4BAA-A1D1-2A50017035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59340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0" name="section02__398">
              <a:extLst xmlns:a="http://schemas.openxmlformats.org/drawingml/2006/main">
                <a:ext uri="{FF2B5EF4-FFF2-40B4-BE49-F238E27FC236}">
                  <a16:creationId xmlns:a16="http://schemas.microsoft.com/office/drawing/2014/main" id="{E9B3B79E-E5A8-4F7A-B815-F5C0205CA9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59340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대표 검출 사례  ·  문제 발생부터 후속 조치까지</a:t>
              </a:r>
            </a:p>
          </p:txBody>
        </p:sp>
        <p:sp>
          <p:nvSpPr>
            <p:cNvPr id="31" name="section02__399">
              <a:extLst xmlns:a="http://schemas.openxmlformats.org/drawingml/2006/main">
                <a:ext uri="{FF2B5EF4-FFF2-40B4-BE49-F238E27FC236}">
                  <a16:creationId xmlns:a16="http://schemas.microsoft.com/office/drawing/2014/main" id="{8200B10A-D942-424E-81B1-86AB6B302F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5875" y="6467475"/>
              <a:ext cx="390525" cy="3905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2" name="section02__400">
              <a:extLst xmlns:a="http://schemas.openxmlformats.org/drawingml/2006/main">
                <a:ext uri="{FF2B5EF4-FFF2-40B4-BE49-F238E27FC236}">
                  <a16:creationId xmlns:a16="http://schemas.microsoft.com/office/drawing/2014/main" id="{AD581528-B8EF-4819-A3E8-096F4E5751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2075" y="6543675"/>
              <a:ext cx="2381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</a:p>
          </p:txBody>
        </p:sp>
        <p:sp>
          <p:nvSpPr>
            <p:cNvPr id="33" name="section02__401">
              <a:extLst xmlns:a="http://schemas.openxmlformats.org/drawingml/2006/main">
                <a:ext uri="{FF2B5EF4-FFF2-40B4-BE49-F238E27FC236}">
                  <a16:creationId xmlns:a16="http://schemas.microsoft.com/office/drawing/2014/main" id="{172112A4-7961-4D9E-9F49-CB060A59E7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6953250"/>
              <a:ext cx="21907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수율 이슈</a:t>
              </a:r>
            </a:p>
          </p:txBody>
        </p:sp>
        <p:sp>
          <p:nvSpPr>
            <p:cNvPr id="34" name="section02__402">
              <a:extLst xmlns:a="http://schemas.openxmlformats.org/drawingml/2006/main">
                <a:ext uri="{FF2B5EF4-FFF2-40B4-BE49-F238E27FC236}">
                  <a16:creationId xmlns:a16="http://schemas.microsoft.com/office/drawing/2014/main" id="{41EF6F6F-42FF-4E6A-BC34-C205C5E7D5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7334250"/>
              <a:ext cx="21907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제품·공정 / 문제 현상</a:t>
              </a:r>
            </a:p>
          </p:txBody>
        </p:sp>
        <p:sp>
          <p:nvSpPr>
            <p:cNvPr id="35" name="section02__403">
              <a:extLst xmlns:a="http://schemas.openxmlformats.org/drawingml/2006/main">
                <a:ext uri="{FF2B5EF4-FFF2-40B4-BE49-F238E27FC236}">
                  <a16:creationId xmlns:a16="http://schemas.microsoft.com/office/drawing/2014/main" id="{7D7C67A7-F57C-4AE6-BBEB-591331993F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7686675"/>
              <a:ext cx="2190750" cy="781050"/>
            </a:xfrm>
            <a:prstGeom xmlns:a="http://schemas.openxmlformats.org/drawingml/2006/main" prst="roundRect">
              <a:avLst>
                <a:gd name="adj" fmla="val 9756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6" name="section02__404">
              <a:extLst xmlns:a="http://schemas.openxmlformats.org/drawingml/2006/main">
                <a:ext uri="{FF2B5EF4-FFF2-40B4-BE49-F238E27FC236}">
                  <a16:creationId xmlns:a16="http://schemas.microsoft.com/office/drawing/2014/main" id="{27F633C6-6541-467C-8420-30546D851D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7743825"/>
              <a:ext cx="20002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rPr>
                <a:t>이슈 개요·Trend</a:t>
              </a:r>
            </a:p>
            <a:p xmlns:a="http://schemas.openxmlformats.org/drawingml/2006/main">
              <a:pPr algn="ctr">
                <a:def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rPr>
                <a:t>내용 / 이미지 입력</a:t>
              </a:r>
            </a:p>
          </p:txBody>
        </p:sp>
        <p:sp>
          <p:nvSpPr>
            <p:cNvPr id="37" name="section02__405">
              <a:extLst xmlns:a="http://schemas.openxmlformats.org/drawingml/2006/main">
                <a:ext uri="{FF2B5EF4-FFF2-40B4-BE49-F238E27FC236}">
                  <a16:creationId xmlns:a16="http://schemas.microsoft.com/office/drawing/2014/main" id="{B97C864D-250D-4EF5-A3D4-DB0ADE532E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38425" y="6515100"/>
              <a:ext cx="114300" cy="2190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8" name="section02__406">
              <a:extLst xmlns:a="http://schemas.openxmlformats.org/drawingml/2006/main">
                <a:ext uri="{FF2B5EF4-FFF2-40B4-BE49-F238E27FC236}">
                  <a16:creationId xmlns:a16="http://schemas.microsoft.com/office/drawing/2014/main" id="{C05E952F-2CCA-4C98-961E-300A1BD98B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6467475"/>
              <a:ext cx="390525" cy="3905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9" name="section02__407">
              <a:extLst xmlns:a="http://schemas.openxmlformats.org/drawingml/2006/main">
                <a:ext uri="{FF2B5EF4-FFF2-40B4-BE49-F238E27FC236}">
                  <a16:creationId xmlns:a16="http://schemas.microsoft.com/office/drawing/2014/main" id="{08DE8E40-25D0-4BEC-9E6A-8E39CB6F2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86175" y="6543675"/>
              <a:ext cx="2381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2</a:t>
              </a:r>
            </a:p>
          </p:txBody>
        </p:sp>
        <p:sp>
          <p:nvSpPr>
            <p:cNvPr id="40" name="section02__408">
              <a:extLst xmlns:a="http://schemas.openxmlformats.org/drawingml/2006/main">
                <a:ext uri="{FF2B5EF4-FFF2-40B4-BE49-F238E27FC236}">
                  <a16:creationId xmlns:a16="http://schemas.microsoft.com/office/drawing/2014/main" id="{4FDA8874-C9E9-42A8-A18D-3F7E8E7949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43200" y="6953250"/>
              <a:ext cx="21907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Y-Agent 분석</a:t>
              </a:r>
            </a:p>
          </p:txBody>
        </p:sp>
        <p:sp>
          <p:nvSpPr>
            <p:cNvPr id="41" name="section02__409">
              <a:extLst xmlns:a="http://schemas.openxmlformats.org/drawingml/2006/main">
                <a:ext uri="{FF2B5EF4-FFF2-40B4-BE49-F238E27FC236}">
                  <a16:creationId xmlns:a16="http://schemas.microsoft.com/office/drawing/2014/main" id="{A277369E-05E6-4313-AAF6-8F5F54FF52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43200" y="7334250"/>
              <a:ext cx="21907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활용 Agent / 검출 결과</a:t>
              </a:r>
            </a:p>
          </p:txBody>
        </p:sp>
        <p:sp>
          <p:nvSpPr>
            <p:cNvPr id="42" name="section02__410">
              <a:extLst xmlns:a="http://schemas.openxmlformats.org/drawingml/2006/main">
                <a:ext uri="{FF2B5EF4-FFF2-40B4-BE49-F238E27FC236}">
                  <a16:creationId xmlns:a16="http://schemas.microsoft.com/office/drawing/2014/main" id="{A422B0E9-CF28-4295-ADBE-DD6FA716B7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43200" y="7686675"/>
              <a:ext cx="2190750" cy="781050"/>
            </a:xfrm>
            <a:prstGeom xmlns:a="http://schemas.openxmlformats.org/drawingml/2006/main" prst="roundRect">
              <a:avLst>
                <a:gd name="adj" fmla="val 9756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3" name="section02__411">
              <a:extLst xmlns:a="http://schemas.openxmlformats.org/drawingml/2006/main">
                <a:ext uri="{FF2B5EF4-FFF2-40B4-BE49-F238E27FC236}">
                  <a16:creationId xmlns:a16="http://schemas.microsoft.com/office/drawing/2014/main" id="{568D0801-5E90-490E-A207-207A1997AF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38450" y="7743825"/>
              <a:ext cx="20002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rPr>
                <a:t>분석 결과</a:t>
              </a:r>
            </a:p>
            <a:p xmlns:a="http://schemas.openxmlformats.org/drawingml/2006/main">
              <a:pPr algn="ctr">
                <a:def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rPr>
                <a:t>내용 / 이미지 입력</a:t>
              </a:r>
            </a:p>
          </p:txBody>
        </p:sp>
        <p:sp>
          <p:nvSpPr>
            <p:cNvPr id="44" name="section02__412">
              <a:extLst xmlns:a="http://schemas.openxmlformats.org/drawingml/2006/main">
                <a:ext uri="{FF2B5EF4-FFF2-40B4-BE49-F238E27FC236}">
                  <a16:creationId xmlns:a16="http://schemas.microsoft.com/office/drawing/2014/main" id="{A28FF7D1-FADC-4834-B104-645A2FB024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2525" y="6515100"/>
              <a:ext cx="114300" cy="2190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5" name="section02__413">
              <a:extLst xmlns:a="http://schemas.openxmlformats.org/drawingml/2006/main">
                <a:ext uri="{FF2B5EF4-FFF2-40B4-BE49-F238E27FC236}">
                  <a16:creationId xmlns:a16="http://schemas.microsoft.com/office/drawing/2014/main" id="{0347D3FB-5FFC-41C8-BC3E-D0C837D3D4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34075" y="6467475"/>
              <a:ext cx="390525" cy="3905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6" name="section02__414">
              <a:extLst xmlns:a="http://schemas.openxmlformats.org/drawingml/2006/main">
                <a:ext uri="{FF2B5EF4-FFF2-40B4-BE49-F238E27FC236}">
                  <a16:creationId xmlns:a16="http://schemas.microsoft.com/office/drawing/2014/main" id="{7486E6AA-CBE9-4807-8522-16215097B3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0275" y="6543675"/>
              <a:ext cx="2381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3</a:t>
              </a:r>
            </a:p>
          </p:txBody>
        </p:sp>
        <p:sp>
          <p:nvSpPr>
            <p:cNvPr id="47" name="section02__415">
              <a:extLst xmlns:a="http://schemas.openxmlformats.org/drawingml/2006/main">
                <a:ext uri="{FF2B5EF4-FFF2-40B4-BE49-F238E27FC236}">
                  <a16:creationId xmlns:a16="http://schemas.microsoft.com/office/drawing/2014/main" id="{7767B92B-9999-4B34-8F29-2B5CA1CD28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67300" y="6953250"/>
              <a:ext cx="21907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엔지니어 검증</a:t>
              </a:r>
            </a:p>
          </p:txBody>
        </p:sp>
        <p:sp>
          <p:nvSpPr>
            <p:cNvPr id="48" name="section02__416">
              <a:extLst xmlns:a="http://schemas.openxmlformats.org/drawingml/2006/main">
                <a:ext uri="{FF2B5EF4-FFF2-40B4-BE49-F238E27FC236}">
                  <a16:creationId xmlns:a16="http://schemas.microsoft.com/office/drawing/2014/main" id="{2B40391D-FF5C-4EFA-8383-2FCB9FB2E3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67300" y="7334250"/>
              <a:ext cx="21907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확인 근거 / 판단 내용</a:t>
              </a:r>
            </a:p>
          </p:txBody>
        </p:sp>
        <p:sp>
          <p:nvSpPr>
            <p:cNvPr id="49" name="section02__417">
              <a:extLst xmlns:a="http://schemas.openxmlformats.org/drawingml/2006/main">
                <a:ext uri="{FF2B5EF4-FFF2-40B4-BE49-F238E27FC236}">
                  <a16:creationId xmlns:a16="http://schemas.microsoft.com/office/drawing/2014/main" id="{FA42D4C4-1C06-45FB-9971-D80718B76B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67300" y="7686675"/>
              <a:ext cx="2190750" cy="781050"/>
            </a:xfrm>
            <a:prstGeom xmlns:a="http://schemas.openxmlformats.org/drawingml/2006/main" prst="roundRect">
              <a:avLst>
                <a:gd name="adj" fmla="val 9756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0" name="section02__418">
              <a:extLst xmlns:a="http://schemas.openxmlformats.org/drawingml/2006/main">
                <a:ext uri="{FF2B5EF4-FFF2-40B4-BE49-F238E27FC236}">
                  <a16:creationId xmlns:a16="http://schemas.microsoft.com/office/drawing/2014/main" id="{C3DE413B-A699-47FA-908F-83ACA2E26F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62550" y="7743825"/>
              <a:ext cx="20002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rPr>
                <a:t>검증 내용</a:t>
              </a:r>
            </a:p>
            <a:p xmlns:a="http://schemas.openxmlformats.org/drawingml/2006/main">
              <a:pPr algn="ctr">
                <a:def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rPr>
                <a:t>내용 / 이미지 입력</a:t>
              </a:r>
            </a:p>
          </p:txBody>
        </p:sp>
        <p:sp>
          <p:nvSpPr>
            <p:cNvPr id="51" name="section02__419">
              <a:extLst xmlns:a="http://schemas.openxmlformats.org/drawingml/2006/main">
                <a:ext uri="{FF2B5EF4-FFF2-40B4-BE49-F238E27FC236}">
                  <a16:creationId xmlns:a16="http://schemas.microsoft.com/office/drawing/2014/main" id="{B7F97131-14D5-489E-A18C-1D9CC3D533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86625" y="6515100"/>
              <a:ext cx="114300" cy="2190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2" name="section02__420">
              <a:extLst xmlns:a="http://schemas.openxmlformats.org/drawingml/2006/main">
                <a:ext uri="{FF2B5EF4-FFF2-40B4-BE49-F238E27FC236}">
                  <a16:creationId xmlns:a16="http://schemas.microsoft.com/office/drawing/2014/main" id="{B53293B2-8C8A-4517-830D-E7EFA4566F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58175" y="6467475"/>
              <a:ext cx="390525" cy="3905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3" name="section02__421">
              <a:extLst xmlns:a="http://schemas.openxmlformats.org/drawingml/2006/main">
                <a:ext uri="{FF2B5EF4-FFF2-40B4-BE49-F238E27FC236}">
                  <a16:creationId xmlns:a16="http://schemas.microsoft.com/office/drawing/2014/main" id="{0F5AB821-CF1C-44B4-9E5C-9CCED61D0E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4375" y="6543675"/>
              <a:ext cx="2381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4</a:t>
              </a:r>
            </a:p>
          </p:txBody>
        </p:sp>
        <p:sp>
          <p:nvSpPr>
            <p:cNvPr id="54" name="section02__422">
              <a:extLst xmlns:a="http://schemas.openxmlformats.org/drawingml/2006/main">
                <a:ext uri="{FF2B5EF4-FFF2-40B4-BE49-F238E27FC236}">
                  <a16:creationId xmlns:a16="http://schemas.microsoft.com/office/drawing/2014/main" id="{F37E8FC6-06DD-49F5-A108-4567B48B7F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91400" y="6953250"/>
              <a:ext cx="21907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후속 조치</a:t>
              </a:r>
            </a:p>
          </p:txBody>
        </p:sp>
        <p:sp>
          <p:nvSpPr>
            <p:cNvPr id="55" name="section02__423">
              <a:extLst xmlns:a="http://schemas.openxmlformats.org/drawingml/2006/main">
                <a:ext uri="{FF2B5EF4-FFF2-40B4-BE49-F238E27FC236}">
                  <a16:creationId xmlns:a16="http://schemas.microsoft.com/office/drawing/2014/main" id="{F1F633C0-0DD8-4C27-B511-DD84708AC7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91400" y="7334250"/>
              <a:ext cx="21907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조치 내용 / 현재 상태</a:t>
              </a:r>
            </a:p>
          </p:txBody>
        </p:sp>
        <p:sp>
          <p:nvSpPr>
            <p:cNvPr id="56" name="section02__424">
              <a:extLst xmlns:a="http://schemas.openxmlformats.org/drawingml/2006/main">
                <a:ext uri="{FF2B5EF4-FFF2-40B4-BE49-F238E27FC236}">
                  <a16:creationId xmlns:a16="http://schemas.microsoft.com/office/drawing/2014/main" id="{990608FE-1FE3-4C45-8705-FE988DDFF0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91400" y="7686675"/>
              <a:ext cx="2190750" cy="781050"/>
            </a:xfrm>
            <a:prstGeom xmlns:a="http://schemas.openxmlformats.org/drawingml/2006/main" prst="roundRect">
              <a:avLst>
                <a:gd name="adj" fmla="val 9756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7" name="section02__425">
              <a:extLst xmlns:a="http://schemas.openxmlformats.org/drawingml/2006/main">
                <a:ext uri="{FF2B5EF4-FFF2-40B4-BE49-F238E27FC236}">
                  <a16:creationId xmlns:a16="http://schemas.microsoft.com/office/drawing/2014/main" id="{7C970798-F596-4A6C-8583-6F98669102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86650" y="7743825"/>
              <a:ext cx="20002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rPr>
                <a:t>후속 업무·조치</a:t>
              </a:r>
            </a:p>
            <a:p xmlns:a="http://schemas.openxmlformats.org/drawingml/2006/main">
              <a:pPr algn="ctr">
                <a:def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8296A7"/>
                  </a:solidFill>
                  <a:latin typeface="Malgun Gothic"/>
                  <a:ea typeface="Malgun Gothic"/>
                  <a:cs typeface="Malgun Gothic"/>
                </a:rPr>
                <a:t>내용 / 이미지 입력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58" name="section03__426">
              <a:extLst xmlns:a="http://schemas.openxmlformats.org/drawingml/2006/main">
                <a:ext uri="{FF2B5EF4-FFF2-40B4-BE49-F238E27FC236}">
                  <a16:creationId xmlns:a16="http://schemas.microsoft.com/office/drawing/2014/main" id="{726F3378-FE00-4BA3-8F90-427DDAECAA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8848725"/>
              <a:ext cx="9601200" cy="3943350"/>
            </a:xfrm>
            <a:prstGeom xmlns:a="http://schemas.openxmlformats.org/drawingml/2006/main" prst="roundRect">
              <a:avLst>
                <a:gd name="adj" fmla="val 193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9" name="section03__427">
              <a:extLst xmlns:a="http://schemas.openxmlformats.org/drawingml/2006/main">
                <a:ext uri="{FF2B5EF4-FFF2-40B4-BE49-F238E27FC236}">
                  <a16:creationId xmlns:a16="http://schemas.microsoft.com/office/drawing/2014/main" id="{06D8321B-A114-4D27-AE03-D907122A68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85825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0" name="section03__428">
              <a:extLst xmlns:a="http://schemas.openxmlformats.org/drawingml/2006/main">
                <a:ext uri="{FF2B5EF4-FFF2-40B4-BE49-F238E27FC236}">
                  <a16:creationId xmlns:a16="http://schemas.microsoft.com/office/drawing/2014/main" id="{2B0CC77D-B8B1-45F6-8571-ED4527CC2F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85825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1" name="section03__429">
              <a:extLst xmlns:a="http://schemas.openxmlformats.org/drawingml/2006/main">
                <a:ext uri="{FF2B5EF4-FFF2-40B4-BE49-F238E27FC236}">
                  <a16:creationId xmlns:a16="http://schemas.microsoft.com/office/drawing/2014/main" id="{5D675DED-D463-44F9-AF37-8656C01DB7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884872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2" name="section03__430">
              <a:extLst xmlns:a="http://schemas.openxmlformats.org/drawingml/2006/main">
                <a:ext uri="{FF2B5EF4-FFF2-40B4-BE49-F238E27FC236}">
                  <a16:creationId xmlns:a16="http://schemas.microsoft.com/office/drawing/2014/main" id="{773299A9-8127-4C0A-BE09-0315843333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884872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개선 Loop와 실제 적용</a:t>
              </a:r>
            </a:p>
          </p:txBody>
        </p:sp>
        <p:sp>
          <p:nvSpPr>
            <p:cNvPr id="63" name="section03__431">
              <a:extLst xmlns:a="http://schemas.openxmlformats.org/drawingml/2006/main">
                <a:ext uri="{FF2B5EF4-FFF2-40B4-BE49-F238E27FC236}">
                  <a16:creationId xmlns:a16="http://schemas.microsoft.com/office/drawing/2014/main" id="{F5C51074-795B-4D4C-BE75-8C901D68A8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9372600"/>
              <a:ext cx="2112169" cy="4572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4" name="section03__432">
              <a:extLst xmlns:a="http://schemas.openxmlformats.org/drawingml/2006/main">
                <a:ext uri="{FF2B5EF4-FFF2-40B4-BE49-F238E27FC236}">
                  <a16:creationId xmlns:a16="http://schemas.microsoft.com/office/drawing/2014/main" id="{4FB12F1B-FB77-4D99-8AC3-A4EA3C5A7C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9448800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Daily 회의</a:t>
              </a:r>
            </a:p>
          </p:txBody>
        </p:sp>
        <p:sp>
          <p:nvSpPr>
            <p:cNvPr id="65" name="section03__433">
              <a:extLst xmlns:a="http://schemas.openxmlformats.org/drawingml/2006/main">
                <a:ext uri="{FF2B5EF4-FFF2-40B4-BE49-F238E27FC236}">
                  <a16:creationId xmlns:a16="http://schemas.microsoft.com/office/drawing/2014/main" id="{4761703B-E4A8-4FF8-B84B-B4C9FF8E46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9369" y="952500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6" name="section03__434">
              <a:extLst xmlns:a="http://schemas.openxmlformats.org/drawingml/2006/main">
                <a:ext uri="{FF2B5EF4-FFF2-40B4-BE49-F238E27FC236}">
                  <a16:creationId xmlns:a16="http://schemas.microsoft.com/office/drawing/2014/main" id="{A95AA0E1-F963-414E-ABB9-57FFD0F181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8919" y="9372600"/>
              <a:ext cx="2112169" cy="4572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7" name="section03__435">
              <a:extLst xmlns:a="http://schemas.openxmlformats.org/drawingml/2006/main">
                <a:ext uri="{FF2B5EF4-FFF2-40B4-BE49-F238E27FC236}">
                  <a16:creationId xmlns:a16="http://schemas.microsoft.com/office/drawing/2014/main" id="{22D205D7-1CB3-4A7A-A8CF-11B7AE0E30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64644" y="9448800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요구사항 도출</a:t>
              </a:r>
            </a:p>
          </p:txBody>
        </p:sp>
        <p:sp>
          <p:nvSpPr>
            <p:cNvPr id="68" name="section03__436">
              <a:extLst xmlns:a="http://schemas.openxmlformats.org/drawingml/2006/main">
                <a:ext uri="{FF2B5EF4-FFF2-40B4-BE49-F238E27FC236}">
                  <a16:creationId xmlns:a16="http://schemas.microsoft.com/office/drawing/2014/main" id="{C67847A3-A34E-4B90-82E2-D88C9E2A57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9188" y="952500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9" name="section03__437">
              <a:extLst xmlns:a="http://schemas.openxmlformats.org/drawingml/2006/main">
                <a:ext uri="{FF2B5EF4-FFF2-40B4-BE49-F238E27FC236}">
                  <a16:creationId xmlns:a16="http://schemas.microsoft.com/office/drawing/2014/main" id="{14E76B30-4A04-48EC-A0FD-414F636543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8738" y="9372600"/>
              <a:ext cx="2112169" cy="4572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0" name="section03__438">
              <a:extLst xmlns:a="http://schemas.openxmlformats.org/drawingml/2006/main">
                <a:ext uri="{FF2B5EF4-FFF2-40B4-BE49-F238E27FC236}">
                  <a16:creationId xmlns:a16="http://schemas.microsoft.com/office/drawing/2014/main" id="{C9E4C4A5-A2FA-402D-ABDD-AA776B837C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4463" y="9448800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기능·분석 개선</a:t>
              </a:r>
            </a:p>
          </p:txBody>
        </p:sp>
        <p:sp>
          <p:nvSpPr>
            <p:cNvPr id="71" name="section03__439">
              <a:extLst xmlns:a="http://schemas.openxmlformats.org/drawingml/2006/main">
                <a:ext uri="{FF2B5EF4-FFF2-40B4-BE49-F238E27FC236}">
                  <a16:creationId xmlns:a16="http://schemas.microsoft.com/office/drawing/2014/main" id="{CF9411B4-52BA-4B51-8D60-4E41C78119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89006" y="952500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2" name="section03__440">
              <a:extLst xmlns:a="http://schemas.openxmlformats.org/drawingml/2006/main">
                <a:ext uri="{FF2B5EF4-FFF2-40B4-BE49-F238E27FC236}">
                  <a16:creationId xmlns:a16="http://schemas.microsoft.com/office/drawing/2014/main" id="{C03A1C9D-F7B7-432D-B8FC-39A9B39488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98556" y="9372600"/>
              <a:ext cx="2112169" cy="4572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3" name="section03__441">
              <a:extLst xmlns:a="http://schemas.openxmlformats.org/drawingml/2006/main">
                <a:ext uri="{FF2B5EF4-FFF2-40B4-BE49-F238E27FC236}">
                  <a16:creationId xmlns:a16="http://schemas.microsoft.com/office/drawing/2014/main" id="{3B7277A0-79DF-4A01-B7C1-909E4141B2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84281" y="9448800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검증</a:t>
              </a:r>
            </a:p>
          </p:txBody>
        </p:sp>
        <p:sp>
          <p:nvSpPr>
            <p:cNvPr id="75" name="section03__442">
              <a:extLst xmlns:a="http://schemas.openxmlformats.org/drawingml/2006/main">
                <a:ext uri="{FF2B5EF4-FFF2-40B4-BE49-F238E27FC236}">
                  <a16:creationId xmlns:a16="http://schemas.microsoft.com/office/drawing/2014/main" id="{281414AC-02F8-4BD5-8DD7-9F02918445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11649075"/>
              <a:ext cx="91344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진행 현황 입력   완료 [  ]건  /  진행 [  ]건  /  기타 [  ]건</a:t>
              </a:r>
            </a:p>
          </p:txBody>
        </p:sp>
        <p:sp>
          <p:nvSpPr>
            <p:cNvPr id="76" name="section03__443">
              <a:extLst xmlns:a="http://schemas.openxmlformats.org/drawingml/2006/main">
                <a:ext uri="{FF2B5EF4-FFF2-40B4-BE49-F238E27FC236}">
                  <a16:creationId xmlns:a16="http://schemas.microsoft.com/office/drawing/2014/main" id="{BE67EBBA-55E6-4271-B239-76CFB528C2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2049125"/>
              <a:ext cx="9182100" cy="561975"/>
            </a:xfrm>
            <a:prstGeom xmlns:a="http://schemas.openxmlformats.org/drawingml/2006/main" prst="roundRect">
              <a:avLst>
                <a:gd name="adj" fmla="val 13559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77" name="section03__444">
              <a:extLst xmlns:a="http://schemas.openxmlformats.org/drawingml/2006/main">
                <a:ext uri="{FF2B5EF4-FFF2-40B4-BE49-F238E27FC236}">
                  <a16:creationId xmlns:a16="http://schemas.microsoft.com/office/drawing/2014/main" id="{93AFD93A-7D98-4D6A-BB2E-7E28CC794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" y="12153900"/>
              <a:ext cx="15144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현재 활용</a:t>
              </a:r>
            </a:p>
          </p:txBody>
        </p:sp>
        <p:sp>
          <p:nvSpPr>
            <p:cNvPr id="78" name="section03__445">
              <a:extLst xmlns:a="http://schemas.openxmlformats.org/drawingml/2006/main">
                <a:ext uri="{FF2B5EF4-FFF2-40B4-BE49-F238E27FC236}">
                  <a16:creationId xmlns:a16="http://schemas.microsoft.com/office/drawing/2014/main" id="{FADCCE9E-B7ED-412E-B11D-AE80C1E603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12144375"/>
              <a:ext cx="73533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일부 수율팀 엔지니어가 직접 사용하며 수율 점검과 이슈 분석에 활용</a:t>
              </a:r>
            </a:p>
          </p:txBody>
        </p:sp>
      </p:grpSp>
      <p:grpSp>
        <p:nvGrpSpPr>
          <p:cNvPr id="10004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9" name="footer__446">
              <a:extLst xmlns:a="http://schemas.openxmlformats.org/drawingml/2006/main">
                <a:ext uri="{FF2B5EF4-FFF2-40B4-BE49-F238E27FC236}">
                  <a16:creationId xmlns:a16="http://schemas.microsoft.com/office/drawing/2014/main" id="{5AFBB46B-6CA3-4FD5-8C49-68DE7CFB57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80" name="footer__447">
              <a:extLst xmlns:a="http://schemas.openxmlformats.org/drawingml/2006/main">
                <a:ext uri="{FF2B5EF4-FFF2-40B4-BE49-F238E27FC236}">
                  <a16:creationId xmlns:a16="http://schemas.microsoft.com/office/drawing/2014/main" id="{EA7F213D-D799-4F02-847A-3FEE0363E5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현업의 실제 이슈로 분석 역량을 검증하고,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사용자 피드백을 반영해 수율 분석 Co-pilot을 고도화</a:t>
              </a:r>
            </a:p>
          </p:txBody>
        </p:sp>
        <p:sp>
          <p:nvSpPr>
            <p:cNvPr id="81" name="footer__448">
              <a:extLst xmlns:a="http://schemas.openxmlformats.org/drawingml/2006/main">
                <a:ext uri="{FF2B5EF4-FFF2-40B4-BE49-F238E27FC236}">
                  <a16:creationId xmlns:a16="http://schemas.microsoft.com/office/drawing/2014/main" id="{8244D083-14E5-4BE0-ADDE-45506847AA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82" name="footer__449">
              <a:extLst xmlns:a="http://schemas.openxmlformats.org/drawingml/2006/main">
                <a:ext uri="{FF2B5EF4-FFF2-40B4-BE49-F238E27FC236}">
                  <a16:creationId xmlns:a16="http://schemas.microsoft.com/office/drawing/2014/main" id="{F21DBEE9-B679-434E-A58D-CEE616DDEE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05</a:t>
              </a:r>
            </a:p>
          </p:txBody>
        </p:sp>
      </p:grpSp>
      <p:graphicFrame>
        <p:nvGraphicFramePr>
          <p:cNvPr id="94" name="Chart"/>
          <p:cNvGraphicFramePr/>
          <p:nvPr/>
        </p:nvGraphicFramePr>
        <p:xfrm>
          <a:off xmlns:a="http://schemas.openxmlformats.org/drawingml/2006/main" x="485775" y="2981325"/>
          <a:ext xmlns:a="http://schemas.openxmlformats.org/drawingml/2006/main" cx="2705100" cy="2419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27ee4d197f4778"/>
          </a:graphicData>
        </a:graphic>
      </p:graphicFrame>
      <p:graphicFrame>
        <p:nvGraphicFramePr>
          <p:cNvPr id="156" name=""/>
          <p:cNvGraphicFramePr/>
          <p:nvPr/>
        </p:nvGraphicFramePr>
        <p:xfrm>
          <a:off xmlns:a="http://schemas.openxmlformats.org/drawingml/2006/main" x="419100" y="10020300"/>
          <a:ext xmlns:a="http://schemas.openxmlformats.org/drawingml/2006/main" cx="9191625" cy="1514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63875"/>
                <a:gridCol w="3063875"/>
                <a:gridCol w="3063875"/>
              </a:tblGrid>
              <a:tr h="50482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현업 요청·불편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개선·반영 내용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결과·상태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</a:tr>
              <a:tr h="50482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892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7" name="header__450">
              <a:extLst xmlns:a="http://schemas.openxmlformats.org/drawingml/2006/main">
                <a:ext uri="{FF2B5EF4-FFF2-40B4-BE49-F238E27FC236}">
                  <a16:creationId xmlns:a16="http://schemas.microsoft.com/office/drawing/2014/main" id="{6C1B024E-0050-4C16-888F-DE756CC49A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451">
              <a:extLst xmlns:a="http://schemas.openxmlformats.org/drawingml/2006/main">
                <a:ext uri="{FF2B5EF4-FFF2-40B4-BE49-F238E27FC236}">
                  <a16:creationId xmlns:a16="http://schemas.microsoft.com/office/drawing/2014/main" id="{9FFF2F16-0A96-4A2D-B58A-A2C4E62AAD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452">
              <a:extLst xmlns:a="http://schemas.openxmlformats.org/drawingml/2006/main">
                <a:ext uri="{FF2B5EF4-FFF2-40B4-BE49-F238E27FC236}">
                  <a16:creationId xmlns:a16="http://schemas.microsoft.com/office/drawing/2014/main" id="{A40B03C7-4D1F-4AE6-9CA1-7C57025A40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06 / 06</a:t>
              </a:r>
            </a:p>
          </p:txBody>
        </p:sp>
        <p:sp>
          <p:nvSpPr>
            <p:cNvPr id="4" name="header__453">
              <a:extLst xmlns:a="http://schemas.openxmlformats.org/drawingml/2006/main">
                <a:ext uri="{FF2B5EF4-FFF2-40B4-BE49-F238E27FC236}">
                  <a16:creationId xmlns:a16="http://schemas.microsoft.com/office/drawing/2014/main" id="{F0826832-1EFC-4DEB-ACE3-AC1416EC2D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454">
              <a:extLst xmlns:a="http://schemas.openxmlformats.org/drawingml/2006/main">
                <a:ext uri="{FF2B5EF4-FFF2-40B4-BE49-F238E27FC236}">
                  <a16:creationId xmlns:a16="http://schemas.microsoft.com/office/drawing/2014/main" id="{ABE2B5E2-08E0-435C-A725-6BA857946A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8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8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현업의 분석 경험을 조직 지식으로 축적</a:t>
              </a:r>
            </a:p>
            <a:p xmlns:a="http://schemas.openxmlformats.org/drawingml/2006/main">
              <a:pPr algn="l">
                <a:defRPr sz="28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8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지식 기반 자율 분석으로 확장</a:t>
              </a:r>
            </a:p>
          </p:txBody>
        </p:sp>
        <p:sp>
          <p:nvSpPr>
            <p:cNvPr id="6" name="header__455">
              <a:extLst xmlns:a="http://schemas.openxmlformats.org/drawingml/2006/main">
                <a:ext uri="{FF2B5EF4-FFF2-40B4-BE49-F238E27FC236}">
                  <a16:creationId xmlns:a16="http://schemas.microsoft.com/office/drawing/2014/main" id="{AAE2870C-0C9B-4D51-829C-D4006A030C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향후 방향  ·  Workflow 지식화 · 분석 추천 고도화 · 전사 확산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456">
              <a:extLst xmlns:a="http://schemas.openxmlformats.org/drawingml/2006/main">
                <a:ext uri="{FF2B5EF4-FFF2-40B4-BE49-F238E27FC236}">
                  <a16:creationId xmlns:a16="http://schemas.microsoft.com/office/drawing/2014/main" id="{62F905D9-8E63-4A7A-8B8E-C1FBA26DE4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400300"/>
              <a:ext cx="9601200" cy="5648325"/>
            </a:xfrm>
            <a:prstGeom xmlns:a="http://schemas.openxmlformats.org/drawingml/2006/main" prst="roundRect">
              <a:avLst>
                <a:gd name="adj" fmla="val 134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457">
              <a:extLst xmlns:a="http://schemas.openxmlformats.org/drawingml/2006/main">
                <a:ext uri="{FF2B5EF4-FFF2-40B4-BE49-F238E27FC236}">
                  <a16:creationId xmlns:a16="http://schemas.microsoft.com/office/drawing/2014/main" id="{96FEA3EF-2CB0-49A9-BD5E-B6386FE225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458">
              <a:extLst xmlns:a="http://schemas.openxmlformats.org/drawingml/2006/main">
                <a:ext uri="{FF2B5EF4-FFF2-40B4-BE49-F238E27FC236}">
                  <a16:creationId xmlns:a16="http://schemas.microsoft.com/office/drawing/2014/main" id="{1A06A687-066D-492E-8DE6-0ABA716ACF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98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459">
              <a:extLst xmlns:a="http://schemas.openxmlformats.org/drawingml/2006/main">
                <a:ext uri="{FF2B5EF4-FFF2-40B4-BE49-F238E27FC236}">
                  <a16:creationId xmlns:a16="http://schemas.microsoft.com/office/drawing/2014/main" id="{2FFEC0A9-A794-4D92-B5A1-4FC65C6B72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4003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460">
              <a:extLst xmlns:a="http://schemas.openxmlformats.org/drawingml/2006/main">
                <a:ext uri="{FF2B5EF4-FFF2-40B4-BE49-F238E27FC236}">
                  <a16:creationId xmlns:a16="http://schemas.microsoft.com/office/drawing/2014/main" id="{EAC75427-745F-4F2E-808C-15C838102E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4003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경험이 다시 분석 역량으로 돌아오는 지식화 구조</a:t>
              </a:r>
            </a:p>
          </p:txBody>
        </p:sp>
        <p:sp>
          <p:nvSpPr>
            <p:cNvPr id="12" name="section01__461">
              <a:extLst xmlns:a="http://schemas.openxmlformats.org/drawingml/2006/main">
                <a:ext uri="{FF2B5EF4-FFF2-40B4-BE49-F238E27FC236}">
                  <a16:creationId xmlns:a16="http://schemas.microsoft.com/office/drawing/2014/main" id="{8EAC80DE-A4DB-4393-A91B-7A6FE33DF5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2990850"/>
              <a:ext cx="3457575" cy="1343025"/>
            </a:xfrm>
            <a:prstGeom xmlns:a="http://schemas.openxmlformats.org/drawingml/2006/main" prst="roundRect">
              <a:avLst>
                <a:gd name="adj" fmla="val 5674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3" name="section01__462">
              <a:extLst xmlns:a="http://schemas.openxmlformats.org/drawingml/2006/main">
                <a:ext uri="{FF2B5EF4-FFF2-40B4-BE49-F238E27FC236}">
                  <a16:creationId xmlns:a16="http://schemas.microsoft.com/office/drawing/2014/main" id="{8F7B3975-F65F-41BD-A873-636D200732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" y="3114675"/>
              <a:ext cx="333375" cy="3333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4" name="section01__463">
              <a:extLst xmlns:a="http://schemas.openxmlformats.org/drawingml/2006/main">
                <a:ext uri="{FF2B5EF4-FFF2-40B4-BE49-F238E27FC236}">
                  <a16:creationId xmlns:a16="http://schemas.microsoft.com/office/drawing/2014/main" id="{AAAAF3F3-B18E-439D-838C-055B5DF22A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3190875"/>
              <a:ext cx="180975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</a:p>
          </p:txBody>
        </p:sp>
        <p:sp>
          <p:nvSpPr>
            <p:cNvPr id="15" name="section01__464">
              <a:extLst xmlns:a="http://schemas.openxmlformats.org/drawingml/2006/main">
                <a:ext uri="{FF2B5EF4-FFF2-40B4-BE49-F238E27FC236}">
                  <a16:creationId xmlns:a16="http://schemas.microsoft.com/office/drawing/2014/main" id="{112F1659-365F-43CD-972C-F6A20155B8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" y="3105150"/>
              <a:ext cx="2809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분석·경험 수집</a:t>
              </a:r>
            </a:p>
          </p:txBody>
        </p:sp>
        <p:sp>
          <p:nvSpPr>
            <p:cNvPr id="16" name="section01__465">
              <a:extLst xmlns:a="http://schemas.openxmlformats.org/drawingml/2006/main">
                <a:ext uri="{FF2B5EF4-FFF2-40B4-BE49-F238E27FC236}">
                  <a16:creationId xmlns:a16="http://schemas.microsoft.com/office/drawing/2014/main" id="{D534044B-62C1-44E0-9E3C-DAA91A25F1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3543300"/>
              <a:ext cx="3171825" cy="714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Fail · 분석 순서 · 결과</a:t>
              </a:r>
            </a:p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판단 포인트 · Action · CumMap</a:t>
              </a:r>
            </a:p>
          </p:txBody>
        </p:sp>
        <p:sp>
          <p:nvSpPr>
            <p:cNvPr id="17" name="section01__466">
              <a:extLst xmlns:a="http://schemas.openxmlformats.org/drawingml/2006/main">
                <a:ext uri="{FF2B5EF4-FFF2-40B4-BE49-F238E27FC236}">
                  <a16:creationId xmlns:a16="http://schemas.microsoft.com/office/drawing/2014/main" id="{12F4C682-5281-4587-AD07-66F5F3400B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62675" y="2990850"/>
              <a:ext cx="3457575" cy="1343025"/>
            </a:xfrm>
            <a:prstGeom xmlns:a="http://schemas.openxmlformats.org/drawingml/2006/main" prst="roundRect">
              <a:avLst>
                <a:gd name="adj" fmla="val 5674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8" name="section01__467">
              <a:extLst xmlns:a="http://schemas.openxmlformats.org/drawingml/2006/main">
                <a:ext uri="{FF2B5EF4-FFF2-40B4-BE49-F238E27FC236}">
                  <a16:creationId xmlns:a16="http://schemas.microsoft.com/office/drawing/2014/main" id="{D593B386-FB87-4EA7-891C-3D386E1CB7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76975" y="3114675"/>
              <a:ext cx="333375" cy="3333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9" name="section01__468">
              <a:extLst xmlns:a="http://schemas.openxmlformats.org/drawingml/2006/main">
                <a:ext uri="{FF2B5EF4-FFF2-40B4-BE49-F238E27FC236}">
                  <a16:creationId xmlns:a16="http://schemas.microsoft.com/office/drawing/2014/main" id="{646B025C-7AAF-4E17-9AEA-DDA8712396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53175" y="3190875"/>
              <a:ext cx="180975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2</a:t>
              </a:r>
            </a:p>
          </p:txBody>
        </p:sp>
        <p:sp>
          <p:nvSpPr>
            <p:cNvPr id="20" name="section01__469">
              <a:extLst xmlns:a="http://schemas.openxmlformats.org/drawingml/2006/main">
                <a:ext uri="{FF2B5EF4-FFF2-40B4-BE49-F238E27FC236}">
                  <a16:creationId xmlns:a16="http://schemas.microsoft.com/office/drawing/2014/main" id="{79716C4A-D629-47E7-B1E3-2815B3F8C4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3105150"/>
              <a:ext cx="2809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LLM Wiki에 구조화</a:t>
              </a:r>
            </a:p>
          </p:txBody>
        </p:sp>
        <p:sp>
          <p:nvSpPr>
            <p:cNvPr id="21" name="section01__470">
              <a:extLst xmlns:a="http://schemas.openxmlformats.org/drawingml/2006/main">
                <a:ext uri="{FF2B5EF4-FFF2-40B4-BE49-F238E27FC236}">
                  <a16:creationId xmlns:a16="http://schemas.microsoft.com/office/drawing/2014/main" id="{5ECC1CF5-1A33-42AD-B451-7BDADB9B9F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05550" y="3543300"/>
              <a:ext cx="3171825" cy="714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사례·Workflow 저장</a:t>
              </a:r>
            </a:p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유사 사례 태깅 · 검색</a:t>
              </a:r>
            </a:p>
          </p:txBody>
        </p:sp>
        <p:sp>
          <p:nvSpPr>
            <p:cNvPr id="22" name="section01__471">
              <a:extLst xmlns:a="http://schemas.openxmlformats.org/drawingml/2006/main">
                <a:ext uri="{FF2B5EF4-FFF2-40B4-BE49-F238E27FC236}">
                  <a16:creationId xmlns:a16="http://schemas.microsoft.com/office/drawing/2014/main" id="{4EC9E903-1766-4273-B6E4-EDE668DF90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33850" y="3486150"/>
              <a:ext cx="1724025" cy="2952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3" name="section01__472">
              <a:extLst xmlns:a="http://schemas.openxmlformats.org/drawingml/2006/main">
                <a:ext uri="{FF2B5EF4-FFF2-40B4-BE49-F238E27FC236}">
                  <a16:creationId xmlns:a16="http://schemas.microsoft.com/office/drawing/2014/main" id="{1D7269F5-2CF6-466B-A961-6D6182C89B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6391275"/>
              <a:ext cx="3457575" cy="1352550"/>
            </a:xfrm>
            <a:prstGeom xmlns:a="http://schemas.openxmlformats.org/drawingml/2006/main" prst="roundRect">
              <a:avLst>
                <a:gd name="adj" fmla="val 5634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4" name="section01__473">
              <a:extLst xmlns:a="http://schemas.openxmlformats.org/drawingml/2006/main">
                <a:ext uri="{FF2B5EF4-FFF2-40B4-BE49-F238E27FC236}">
                  <a16:creationId xmlns:a16="http://schemas.microsoft.com/office/drawing/2014/main" id="{4F7EC520-B5EC-467B-BFC4-4DD2D38925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" y="6515100"/>
              <a:ext cx="333375" cy="3333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5" name="section01__474">
              <a:extLst xmlns:a="http://schemas.openxmlformats.org/drawingml/2006/main">
                <a:ext uri="{FF2B5EF4-FFF2-40B4-BE49-F238E27FC236}">
                  <a16:creationId xmlns:a16="http://schemas.microsoft.com/office/drawing/2014/main" id="{7FB93CFD-E723-4E01-BA28-40F8E7C6B0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6591300"/>
              <a:ext cx="180975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4</a:t>
              </a:r>
            </a:p>
          </p:txBody>
        </p:sp>
        <p:sp>
          <p:nvSpPr>
            <p:cNvPr id="26" name="section01__475">
              <a:extLst xmlns:a="http://schemas.openxmlformats.org/drawingml/2006/main">
                <a:ext uri="{FF2B5EF4-FFF2-40B4-BE49-F238E27FC236}">
                  <a16:creationId xmlns:a16="http://schemas.microsoft.com/office/drawing/2014/main" id="{B5C68DD1-06E0-4340-8CE8-D80F74982E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" y="6505575"/>
              <a:ext cx="2809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Agent 로직 고도화</a:t>
              </a:r>
            </a:p>
          </p:txBody>
        </p:sp>
        <p:sp>
          <p:nvSpPr>
            <p:cNvPr id="27" name="section01__476">
              <a:extLst xmlns:a="http://schemas.openxmlformats.org/drawingml/2006/main">
                <a:ext uri="{FF2B5EF4-FFF2-40B4-BE49-F238E27FC236}">
                  <a16:creationId xmlns:a16="http://schemas.microsoft.com/office/drawing/2014/main" id="{A37BEC17-248C-43CB-B702-2056C9BB4E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6943725"/>
              <a:ext cx="3171825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피드백과 검증 경험을</a:t>
              </a:r>
            </a:p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로직 개선에 반영</a:t>
              </a:r>
            </a:p>
          </p:txBody>
        </p:sp>
        <p:sp>
          <p:nvSpPr>
            <p:cNvPr id="28" name="section01__477">
              <a:extLst xmlns:a="http://schemas.openxmlformats.org/drawingml/2006/main">
                <a:ext uri="{FF2B5EF4-FFF2-40B4-BE49-F238E27FC236}">
                  <a16:creationId xmlns:a16="http://schemas.microsoft.com/office/drawing/2014/main" id="{40788892-4662-4628-A02A-F37D972A9C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62675" y="6391275"/>
              <a:ext cx="3457575" cy="1352550"/>
            </a:xfrm>
            <a:prstGeom xmlns:a="http://schemas.openxmlformats.org/drawingml/2006/main" prst="roundRect">
              <a:avLst>
                <a:gd name="adj" fmla="val 5634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9" name="section01__478">
              <a:extLst xmlns:a="http://schemas.openxmlformats.org/drawingml/2006/main">
                <a:ext uri="{FF2B5EF4-FFF2-40B4-BE49-F238E27FC236}">
                  <a16:creationId xmlns:a16="http://schemas.microsoft.com/office/drawing/2014/main" id="{D1252B8A-8A78-4AFC-94FA-FDA06A2673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76975" y="6515100"/>
              <a:ext cx="333375" cy="3333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0" name="section01__479">
              <a:extLst xmlns:a="http://schemas.openxmlformats.org/drawingml/2006/main">
                <a:ext uri="{FF2B5EF4-FFF2-40B4-BE49-F238E27FC236}">
                  <a16:creationId xmlns:a16="http://schemas.microsoft.com/office/drawing/2014/main" id="{E0FDCF38-4453-4690-931B-34E3B7A373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53175" y="6591300"/>
              <a:ext cx="180975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3</a:t>
              </a:r>
            </a:p>
          </p:txBody>
        </p:sp>
        <p:sp>
          <p:nvSpPr>
            <p:cNvPr id="31" name="section01__480">
              <a:extLst xmlns:a="http://schemas.openxmlformats.org/drawingml/2006/main">
                <a:ext uri="{FF2B5EF4-FFF2-40B4-BE49-F238E27FC236}">
                  <a16:creationId xmlns:a16="http://schemas.microsoft.com/office/drawing/2014/main" id="{32FB88B9-E652-4378-8E5B-322748B9A3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6505575"/>
              <a:ext cx="2809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분석 지식 재사용</a:t>
              </a:r>
            </a:p>
          </p:txBody>
        </p:sp>
        <p:sp>
          <p:nvSpPr>
            <p:cNvPr id="32" name="section01__481">
              <a:extLst xmlns:a="http://schemas.openxmlformats.org/drawingml/2006/main">
                <a:ext uri="{FF2B5EF4-FFF2-40B4-BE49-F238E27FC236}">
                  <a16:creationId xmlns:a16="http://schemas.microsoft.com/office/drawing/2014/main" id="{9C01280E-F6F6-4418-B1AD-167C534174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05550" y="6943725"/>
              <a:ext cx="3171825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유사 Fail의 분석 방법 추천</a:t>
              </a:r>
            </a:p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과거 결과와 조치 이력 참조</a:t>
              </a:r>
            </a:p>
          </p:txBody>
        </p:sp>
        <p:sp>
          <p:nvSpPr>
            <p:cNvPr id="33" name="section01__482">
              <a:extLst xmlns:a="http://schemas.openxmlformats.org/drawingml/2006/main">
                <a:ext uri="{FF2B5EF4-FFF2-40B4-BE49-F238E27FC236}">
                  <a16:creationId xmlns:a16="http://schemas.microsoft.com/office/drawing/2014/main" id="{CD054C98-6B3F-45DA-93B7-6B1EF5A5C5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10800000">
              <a:off x="4114800" y="6896100"/>
              <a:ext cx="1743075" cy="2952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4" name="section01__483">
              <a:extLst xmlns:a="http://schemas.openxmlformats.org/drawingml/2006/main">
                <a:ext uri="{FF2B5EF4-FFF2-40B4-BE49-F238E27FC236}">
                  <a16:creationId xmlns:a16="http://schemas.microsoft.com/office/drawing/2014/main" id="{EB55A0E2-D5F0-444A-AD9E-9B7BDDD364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5400000">
              <a:off x="9163050" y="5010150"/>
              <a:ext cx="533400" cy="2952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5" name="section01__484">
              <a:extLst xmlns:a="http://schemas.openxmlformats.org/drawingml/2006/main">
                <a:ext uri="{FF2B5EF4-FFF2-40B4-BE49-F238E27FC236}">
                  <a16:creationId xmlns:a16="http://schemas.microsoft.com/office/drawing/2014/main" id="{E6FEA5D0-BF79-44D1-9E62-43DBBE5474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16200000">
              <a:off x="371475" y="5010150"/>
              <a:ext cx="533400" cy="2952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pic>
          <p:nvPicPr>
            <p:cNvPr id="122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3920530881094aae"/>
            <a:stretch xmlns:a="http://schemas.openxmlformats.org/drawingml/2006/main"/>
          </p:blipFill>
          <p:spPr>
            <a:xfrm xmlns:a="http://schemas.openxmlformats.org/drawingml/2006/main">
              <a:off x="3742700" y="4514850"/>
              <a:ext cx="2553949" cy="1657350"/>
            </a:xfrm>
            <a:prstGeom xmlns:a="http://schemas.openxmlformats.org/drawingml/2006/main" prst="rect">
              <a:avLst/>
            </a:prstGeom>
          </p:spPr>
        </p:pic>
        <p:sp>
          <p:nvSpPr>
            <p:cNvPr id="37" name="section01__485">
              <a:extLst xmlns:a="http://schemas.openxmlformats.org/drawingml/2006/main">
                <a:ext uri="{FF2B5EF4-FFF2-40B4-BE49-F238E27FC236}">
                  <a16:creationId xmlns:a16="http://schemas.microsoft.com/office/drawing/2014/main" id="{77E643B2-3BA9-43F8-A404-D1FED0E5CD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71850" y="6067425"/>
              <a:ext cx="3295650" cy="266700"/>
            </a:xfrm>
            <a:prstGeom xmlns:a="http://schemas.openxmlformats.org/drawingml/2006/main" prst="roundRect">
              <a:avLst>
                <a:gd name="adj" fmla="val 28571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8" name="section01__486">
              <a:extLst xmlns:a="http://schemas.openxmlformats.org/drawingml/2006/main">
                <a:ext uri="{FF2B5EF4-FFF2-40B4-BE49-F238E27FC236}">
                  <a16:creationId xmlns:a16="http://schemas.microsoft.com/office/drawing/2014/main" id="{25DA35EC-ACF5-4762-9600-D438A57B3E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19475" y="6067425"/>
              <a:ext cx="32004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Workflow 지식화</a:t>
              </a:r>
            </a:p>
          </p:txBody>
        </p:sp>
        <p:sp>
          <p:nvSpPr>
            <p:cNvPr id="39" name="section01__487">
              <a:extLst xmlns:a="http://schemas.openxmlformats.org/drawingml/2006/main">
                <a:ext uri="{FF2B5EF4-FFF2-40B4-BE49-F238E27FC236}">
                  <a16:creationId xmlns:a16="http://schemas.microsoft.com/office/drawing/2014/main" id="{67602B43-58EC-4E33-A2CA-5EA6586F3D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695825"/>
              <a:ext cx="2266950" cy="1047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순서·판단·조치</a:t>
              </a:r>
            </a:p>
            <a:p xmlns:a="http://schemas.openxmlformats.org/drawingml/2006/main">
              <a:pPr algn="ctr">
                <a:defRPr sz="16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기록 후 재사용</a:t>
              </a:r>
            </a:p>
          </p:txBody>
        </p:sp>
        <p:sp>
          <p:nvSpPr>
            <p:cNvPr id="40" name="section01__488">
              <a:extLst xmlns:a="http://schemas.openxmlformats.org/drawingml/2006/main">
                <a:ext uri="{FF2B5EF4-FFF2-40B4-BE49-F238E27FC236}">
                  <a16:creationId xmlns:a16="http://schemas.microsoft.com/office/drawing/2014/main" id="{B873AB09-630A-4925-A100-777B0C8980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8950" y="4572000"/>
              <a:ext cx="22002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현재와의 차이</a:t>
              </a:r>
            </a:p>
          </p:txBody>
        </p:sp>
        <p:sp>
          <p:nvSpPr>
            <p:cNvPr id="41" name="section01__489">
              <a:extLst xmlns:a="http://schemas.openxmlformats.org/drawingml/2006/main">
                <a:ext uri="{FF2B5EF4-FFF2-40B4-BE49-F238E27FC236}">
                  <a16:creationId xmlns:a16="http://schemas.microsoft.com/office/drawing/2014/main" id="{C6EA5585-65A9-4C66-B3DB-31D4FF399D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8950" y="4962525"/>
              <a:ext cx="2200275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정형 보고서 출력에서</a:t>
              </a:r>
            </a:p>
            <a:p xmlns:a="http://schemas.openxmlformats.org/drawingml/2006/main">
              <a:pPr algn="ctr">
                <a:def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Workflow 재사용으로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42" name="section02__490">
              <a:extLst xmlns:a="http://schemas.openxmlformats.org/drawingml/2006/main">
                <a:ext uri="{FF2B5EF4-FFF2-40B4-BE49-F238E27FC236}">
                  <a16:creationId xmlns:a16="http://schemas.microsoft.com/office/drawing/2014/main" id="{A21365A6-5566-421B-B804-67A384DAA8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8220075"/>
              <a:ext cx="9601200" cy="2114550"/>
            </a:xfrm>
            <a:prstGeom xmlns:a="http://schemas.openxmlformats.org/drawingml/2006/main" prst="roundRect">
              <a:avLst>
                <a:gd name="adj" fmla="val 360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3" name="section02__491">
              <a:extLst xmlns:a="http://schemas.openxmlformats.org/drawingml/2006/main">
                <a:ext uri="{FF2B5EF4-FFF2-40B4-BE49-F238E27FC236}">
                  <a16:creationId xmlns:a16="http://schemas.microsoft.com/office/drawing/2014/main" id="{3A9877CF-1B1D-4EFA-92D5-0A7FD16ADB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2296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4" name="section02__492">
              <a:extLst xmlns:a="http://schemas.openxmlformats.org/drawingml/2006/main">
                <a:ext uri="{FF2B5EF4-FFF2-40B4-BE49-F238E27FC236}">
                  <a16:creationId xmlns:a16="http://schemas.microsoft.com/office/drawing/2014/main" id="{752292A4-2BB8-4FE3-946D-658208699E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2296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5" name="section02__493">
              <a:extLst xmlns:a="http://schemas.openxmlformats.org/drawingml/2006/main">
                <a:ext uri="{FF2B5EF4-FFF2-40B4-BE49-F238E27FC236}">
                  <a16:creationId xmlns:a16="http://schemas.microsoft.com/office/drawing/2014/main" id="{C489C592-3859-46C6-A6B6-157818A2CF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82200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46" name="section02__494">
              <a:extLst xmlns:a="http://schemas.openxmlformats.org/drawingml/2006/main">
                <a:ext uri="{FF2B5EF4-FFF2-40B4-BE49-F238E27FC236}">
                  <a16:creationId xmlns:a16="http://schemas.microsoft.com/office/drawing/2014/main" id="{AF0B44C0-FE6B-4655-83DD-9D220D3FC0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82200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Co-pilot에서 지식 기반 자율 분석으로</a:t>
              </a:r>
            </a:p>
          </p:txBody>
        </p:sp>
        <p:sp>
          <p:nvSpPr>
            <p:cNvPr id="47" name="section02__495">
              <a:extLst xmlns:a="http://schemas.openxmlformats.org/drawingml/2006/main">
                <a:ext uri="{FF2B5EF4-FFF2-40B4-BE49-F238E27FC236}">
                  <a16:creationId xmlns:a16="http://schemas.microsoft.com/office/drawing/2014/main" id="{89E164EE-92FB-4A00-8264-8A6A850EB2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8753475"/>
              <a:ext cx="2898775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8" name="section02__496">
              <a:extLst xmlns:a="http://schemas.openxmlformats.org/drawingml/2006/main">
                <a:ext uri="{FF2B5EF4-FFF2-40B4-BE49-F238E27FC236}">
                  <a16:creationId xmlns:a16="http://schemas.microsoft.com/office/drawing/2014/main" id="{2D9BC0F5-89EE-457E-8233-F363933202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8829675"/>
              <a:ext cx="27273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현재 · 규칙 기반</a:t>
              </a:r>
            </a:p>
          </p:txBody>
        </p:sp>
        <p:sp>
          <p:nvSpPr>
            <p:cNvPr id="49" name="section02__497">
              <a:extLst xmlns:a="http://schemas.openxmlformats.org/drawingml/2006/main">
                <a:ext uri="{FF2B5EF4-FFF2-40B4-BE49-F238E27FC236}">
                  <a16:creationId xmlns:a16="http://schemas.microsoft.com/office/drawing/2014/main" id="{37471CD4-D73E-47F5-AC95-2AF3C581C3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9229725"/>
              <a:ext cx="2670175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엔지니어가 대상·Agent 선택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기본 Workflow + 자유 분석</a:t>
              </a:r>
            </a:p>
          </p:txBody>
        </p:sp>
        <p:sp>
          <p:nvSpPr>
            <p:cNvPr id="50" name="section02__498">
              <a:extLst xmlns:a="http://schemas.openxmlformats.org/drawingml/2006/main">
                <a:ext uri="{FF2B5EF4-FFF2-40B4-BE49-F238E27FC236}">
                  <a16:creationId xmlns:a16="http://schemas.microsoft.com/office/drawing/2014/main" id="{ACE09469-7BDA-46F2-8F2A-4A1F8A4BE6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5975" y="919162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1" name="section02__499">
              <a:extLst xmlns:a="http://schemas.openxmlformats.org/drawingml/2006/main">
                <a:ext uri="{FF2B5EF4-FFF2-40B4-BE49-F238E27FC236}">
                  <a16:creationId xmlns:a16="http://schemas.microsoft.com/office/drawing/2014/main" id="{49B2C758-95D1-4B6C-A553-4EA129221E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65525" y="8753475"/>
              <a:ext cx="2898775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2" name="section02__500">
              <a:extLst xmlns:a="http://schemas.openxmlformats.org/drawingml/2006/main">
                <a:ext uri="{FF2B5EF4-FFF2-40B4-BE49-F238E27FC236}">
                  <a16:creationId xmlns:a16="http://schemas.microsoft.com/office/drawing/2014/main" id="{CF835E29-9E7C-428F-B95B-16C30C377C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51250" y="8829675"/>
              <a:ext cx="27273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지식 기반 추천</a:t>
              </a:r>
            </a:p>
          </p:txBody>
        </p:sp>
        <p:sp>
          <p:nvSpPr>
            <p:cNvPr id="53" name="section02__501">
              <a:extLst xmlns:a="http://schemas.openxmlformats.org/drawingml/2006/main">
                <a:ext uri="{FF2B5EF4-FFF2-40B4-BE49-F238E27FC236}">
                  <a16:creationId xmlns:a16="http://schemas.microsoft.com/office/drawing/2014/main" id="{D0054542-813A-40BC-AB33-F0513E932C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79825" y="9229725"/>
              <a:ext cx="2670175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유사 사례·검증된 방법 검색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방식과 Action 제안</a:t>
              </a:r>
            </a:p>
          </p:txBody>
        </p:sp>
        <p:sp>
          <p:nvSpPr>
            <p:cNvPr id="54" name="section02__502">
              <a:extLst xmlns:a="http://schemas.openxmlformats.org/drawingml/2006/main">
                <a:ext uri="{FF2B5EF4-FFF2-40B4-BE49-F238E27FC236}">
                  <a16:creationId xmlns:a16="http://schemas.microsoft.com/office/drawing/2014/main" id="{1CE2AA3B-3188-48BB-9D5F-10611FC0A2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02400" y="919162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5" name="section02__503">
              <a:extLst xmlns:a="http://schemas.openxmlformats.org/drawingml/2006/main">
                <a:ext uri="{FF2B5EF4-FFF2-40B4-BE49-F238E27FC236}">
                  <a16:creationId xmlns:a16="http://schemas.microsoft.com/office/drawing/2014/main" id="{2C172BE3-1E47-4D62-B49A-3E9B5ADE52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1950" y="8753475"/>
              <a:ext cx="2898775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6" name="section02__504">
              <a:extLst xmlns:a="http://schemas.openxmlformats.org/drawingml/2006/main">
                <a:ext uri="{FF2B5EF4-FFF2-40B4-BE49-F238E27FC236}">
                  <a16:creationId xmlns:a16="http://schemas.microsoft.com/office/drawing/2014/main" id="{F7F8914B-C018-4943-B68C-2BA5F1D08C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7675" y="8829675"/>
              <a:ext cx="27273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Autonomous Agent</a:t>
              </a:r>
            </a:p>
          </p:txBody>
        </p:sp>
        <p:sp>
          <p:nvSpPr>
            <p:cNvPr id="57" name="section02__505">
              <a:extLst xmlns:a="http://schemas.openxmlformats.org/drawingml/2006/main">
                <a:ext uri="{FF2B5EF4-FFF2-40B4-BE49-F238E27FC236}">
                  <a16:creationId xmlns:a16="http://schemas.microsoft.com/office/drawing/2014/main" id="{12F11710-2B49-4523-A479-3071AB828B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26250" y="9229725"/>
              <a:ext cx="2670175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열화 감지·분석 수행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결과 해석·Action 추천</a:t>
              </a:r>
            </a:p>
          </p:txBody>
        </p:sp>
        <p:sp>
          <p:nvSpPr>
            <p:cNvPr id="58" name="section02__506">
              <a:extLst xmlns:a="http://schemas.openxmlformats.org/drawingml/2006/main">
                <a:ext uri="{FF2B5EF4-FFF2-40B4-BE49-F238E27FC236}">
                  <a16:creationId xmlns:a16="http://schemas.microsoft.com/office/drawing/2014/main" id="{7B63BAF8-775C-484B-B324-542DE930C0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" y="9925050"/>
              <a:ext cx="91344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필요한 시점에 엔지니어 판단을 결합하며, 축적된 지식으로 분석·추천의 자율성 확대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59" name="section03__507">
              <a:extLst xmlns:a="http://schemas.openxmlformats.org/drawingml/2006/main">
                <a:ext uri="{FF2B5EF4-FFF2-40B4-BE49-F238E27FC236}">
                  <a16:creationId xmlns:a16="http://schemas.microsoft.com/office/drawing/2014/main" id="{AB051152-78B4-467C-AF7B-4168A9A599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10506075"/>
              <a:ext cx="9601200" cy="2286000"/>
            </a:xfrm>
            <a:prstGeom xmlns:a="http://schemas.openxmlformats.org/drawingml/2006/main" prst="roundRect">
              <a:avLst>
                <a:gd name="adj" fmla="val 33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0" name="section03__508">
              <a:extLst xmlns:a="http://schemas.openxmlformats.org/drawingml/2006/main">
                <a:ext uri="{FF2B5EF4-FFF2-40B4-BE49-F238E27FC236}">
                  <a16:creationId xmlns:a16="http://schemas.microsoft.com/office/drawing/2014/main" id="{06E6E9E4-1C85-41E5-B555-5698B82B8D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5156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1" name="section03__509">
              <a:extLst xmlns:a="http://schemas.openxmlformats.org/drawingml/2006/main">
                <a:ext uri="{FF2B5EF4-FFF2-40B4-BE49-F238E27FC236}">
                  <a16:creationId xmlns:a16="http://schemas.microsoft.com/office/drawing/2014/main" id="{B59A9A08-7DEE-41D7-B4EB-0BB6D8E055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5156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2" name="section03__510">
              <a:extLst xmlns:a="http://schemas.openxmlformats.org/drawingml/2006/main">
                <a:ext uri="{FF2B5EF4-FFF2-40B4-BE49-F238E27FC236}">
                  <a16:creationId xmlns:a16="http://schemas.microsoft.com/office/drawing/2014/main" id="{22651FB6-7CB5-4C97-BF4A-980B2DEEAD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105060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3" name="section03__511">
              <a:extLst xmlns:a="http://schemas.openxmlformats.org/drawingml/2006/main">
                <a:ext uri="{FF2B5EF4-FFF2-40B4-BE49-F238E27FC236}">
                  <a16:creationId xmlns:a16="http://schemas.microsoft.com/office/drawing/2014/main" id="{94005F43-0087-4E1F-8759-80330F34E7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05060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확산 로드맵과 다음 단계의 기준</a:t>
              </a:r>
            </a:p>
          </p:txBody>
        </p:sp>
        <p:sp>
          <p:nvSpPr>
            <p:cNvPr id="64" name="section03__512">
              <a:extLst xmlns:a="http://schemas.openxmlformats.org/drawingml/2006/main">
                <a:ext uri="{FF2B5EF4-FFF2-40B4-BE49-F238E27FC236}">
                  <a16:creationId xmlns:a16="http://schemas.microsoft.com/office/drawing/2014/main" id="{579DE554-760E-470C-A595-124659A363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11020425"/>
              <a:ext cx="2971800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5" name="section03__513">
              <a:extLst xmlns:a="http://schemas.openxmlformats.org/drawingml/2006/main">
                <a:ext uri="{FF2B5EF4-FFF2-40B4-BE49-F238E27FC236}">
                  <a16:creationId xmlns:a16="http://schemas.microsoft.com/office/drawing/2014/main" id="{0EAC05CF-7A24-43C1-9CAC-E9C7D4CE12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11144250"/>
              <a:ext cx="333375" cy="3333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6" name="section03__514">
              <a:extLst xmlns:a="http://schemas.openxmlformats.org/drawingml/2006/main">
                <a:ext uri="{FF2B5EF4-FFF2-40B4-BE49-F238E27FC236}">
                  <a16:creationId xmlns:a16="http://schemas.microsoft.com/office/drawing/2014/main" id="{DD610513-D38F-4050-8006-9A03EA89FE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11220450"/>
              <a:ext cx="180975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</a:p>
          </p:txBody>
        </p:sp>
        <p:sp>
          <p:nvSpPr>
            <p:cNvPr id="67" name="section03__515">
              <a:extLst xmlns:a="http://schemas.openxmlformats.org/drawingml/2006/main">
                <a:ext uri="{FF2B5EF4-FFF2-40B4-BE49-F238E27FC236}">
                  <a16:creationId xmlns:a16="http://schemas.microsoft.com/office/drawing/2014/main" id="{1862C22F-0076-4B91-92C0-56A0A25514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11134725"/>
              <a:ext cx="23241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그룹 내 현업 적용</a:t>
              </a:r>
            </a:p>
          </p:txBody>
        </p:sp>
        <p:sp>
          <p:nvSpPr>
            <p:cNvPr id="68" name="section03__516">
              <a:extLst xmlns:a="http://schemas.openxmlformats.org/drawingml/2006/main">
                <a:ext uri="{FF2B5EF4-FFF2-40B4-BE49-F238E27FC236}">
                  <a16:creationId xmlns:a16="http://schemas.microsoft.com/office/drawing/2014/main" id="{5EACA5C3-2E65-440C-8ADE-4B9253E2C9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975" y="11572875"/>
              <a:ext cx="26860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사용자·제품 범위 확대</a:t>
              </a:r>
            </a:p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피드백 반영</a:t>
              </a:r>
            </a:p>
          </p:txBody>
        </p:sp>
        <p:sp>
          <p:nvSpPr>
            <p:cNvPr id="69" name="section03__517">
              <a:extLst xmlns:a="http://schemas.openxmlformats.org/drawingml/2006/main">
                <a:ext uri="{FF2B5EF4-FFF2-40B4-BE49-F238E27FC236}">
                  <a16:creationId xmlns:a16="http://schemas.microsoft.com/office/drawing/2014/main" id="{1A1B3C19-7A95-41C2-96E8-2A4F67356B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09950" y="11449050"/>
              <a:ext cx="104775" cy="1809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0" name="section03__518">
              <a:extLst xmlns:a="http://schemas.openxmlformats.org/drawingml/2006/main">
                <a:ext uri="{FF2B5EF4-FFF2-40B4-BE49-F238E27FC236}">
                  <a16:creationId xmlns:a16="http://schemas.microsoft.com/office/drawing/2014/main" id="{8A58D7A1-6C08-4815-8316-BB4EF484BD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11020425"/>
              <a:ext cx="2971800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1" name="section03__519">
              <a:extLst xmlns:a="http://schemas.openxmlformats.org/drawingml/2006/main">
                <a:ext uri="{FF2B5EF4-FFF2-40B4-BE49-F238E27FC236}">
                  <a16:creationId xmlns:a16="http://schemas.microsoft.com/office/drawing/2014/main" id="{AB477C3D-5236-4E15-9E8E-922C3959DC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38550" y="11144250"/>
              <a:ext cx="333375" cy="3333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2" name="section03__520">
              <a:extLst xmlns:a="http://schemas.openxmlformats.org/drawingml/2006/main">
                <a:ext uri="{FF2B5EF4-FFF2-40B4-BE49-F238E27FC236}">
                  <a16:creationId xmlns:a16="http://schemas.microsoft.com/office/drawing/2014/main" id="{FB393585-3A1F-495C-AF46-F75E974DA2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0" y="11220450"/>
              <a:ext cx="180975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2</a:t>
              </a:r>
            </a:p>
          </p:txBody>
        </p:sp>
        <p:sp>
          <p:nvSpPr>
            <p:cNvPr id="73" name="section03__521">
              <a:extLst xmlns:a="http://schemas.openxmlformats.org/drawingml/2006/main">
                <a:ext uri="{FF2B5EF4-FFF2-40B4-BE49-F238E27FC236}">
                  <a16:creationId xmlns:a16="http://schemas.microsoft.com/office/drawing/2014/main" id="{B6207384-9D8E-4EF8-B10A-5D6BEDF5FE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76700" y="11134725"/>
              <a:ext cx="23241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지식화·고도화</a:t>
              </a:r>
            </a:p>
          </p:txBody>
        </p:sp>
        <p:sp>
          <p:nvSpPr>
            <p:cNvPr id="74" name="section03__522">
              <a:extLst xmlns:a="http://schemas.openxmlformats.org/drawingml/2006/main">
                <a:ext uri="{FF2B5EF4-FFF2-40B4-BE49-F238E27FC236}">
                  <a16:creationId xmlns:a16="http://schemas.microsoft.com/office/drawing/2014/main" id="{681D9C9E-A78B-47DA-B547-4257F71130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67125" y="11572875"/>
              <a:ext cx="26860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Workflow·Action 축적</a:t>
              </a:r>
            </a:p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지식 기반 추천 개선</a:t>
              </a:r>
            </a:p>
          </p:txBody>
        </p:sp>
        <p:sp>
          <p:nvSpPr>
            <p:cNvPr id="75" name="section03__523">
              <a:extLst xmlns:a="http://schemas.openxmlformats.org/drawingml/2006/main">
                <a:ext uri="{FF2B5EF4-FFF2-40B4-BE49-F238E27FC236}">
                  <a16:creationId xmlns:a16="http://schemas.microsoft.com/office/drawing/2014/main" id="{CFBD9F2B-FA7A-46D0-A888-92F5BA6A6F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15100" y="11449050"/>
              <a:ext cx="104775" cy="1809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6" name="section03__524">
              <a:extLst xmlns:a="http://schemas.openxmlformats.org/drawingml/2006/main">
                <a:ext uri="{FF2B5EF4-FFF2-40B4-BE49-F238E27FC236}">
                  <a16:creationId xmlns:a16="http://schemas.microsoft.com/office/drawing/2014/main" id="{CE00412E-438A-43E2-92AA-049CB652A0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29400" y="11020425"/>
              <a:ext cx="2971800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7" name="section03__525">
              <a:extLst xmlns:a="http://schemas.openxmlformats.org/drawingml/2006/main">
                <a:ext uri="{FF2B5EF4-FFF2-40B4-BE49-F238E27FC236}">
                  <a16:creationId xmlns:a16="http://schemas.microsoft.com/office/drawing/2014/main" id="{9B7DAA91-7529-4191-BF27-FC514430D9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43700" y="11144250"/>
              <a:ext cx="333375" cy="3333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8" name="section03__526">
              <a:extLst xmlns:a="http://schemas.openxmlformats.org/drawingml/2006/main">
                <a:ext uri="{FF2B5EF4-FFF2-40B4-BE49-F238E27FC236}">
                  <a16:creationId xmlns:a16="http://schemas.microsoft.com/office/drawing/2014/main" id="{E59FF95D-2972-4058-A7AF-AC1A6989C8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19900" y="11220450"/>
              <a:ext cx="180975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3</a:t>
              </a:r>
            </a:p>
          </p:txBody>
        </p:sp>
        <p:sp>
          <p:nvSpPr>
            <p:cNvPr id="79" name="section03__527">
              <a:extLst xmlns:a="http://schemas.openxmlformats.org/drawingml/2006/main">
                <a:ext uri="{FF2B5EF4-FFF2-40B4-BE49-F238E27FC236}">
                  <a16:creationId xmlns:a16="http://schemas.microsoft.com/office/drawing/2014/main" id="{06CA3C45-0DB8-41D1-8AB8-8F2965650A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1850" y="11134725"/>
              <a:ext cx="23241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전사 확산</a:t>
              </a:r>
            </a:p>
          </p:txBody>
        </p:sp>
        <p:sp>
          <p:nvSpPr>
            <p:cNvPr id="80" name="section03__528">
              <a:extLst xmlns:a="http://schemas.openxmlformats.org/drawingml/2006/main">
                <a:ext uri="{FF2B5EF4-FFF2-40B4-BE49-F238E27FC236}">
                  <a16:creationId xmlns:a16="http://schemas.microsoft.com/office/drawing/2014/main" id="{032A55B0-02A9-4B5D-BE44-46F63811F7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72275" y="11572875"/>
              <a:ext cx="26860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사내 MCP Market 등록</a:t>
              </a:r>
            </a:p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수율·PI·개발 조직 연계</a:t>
              </a:r>
            </a:p>
          </p:txBody>
        </p:sp>
        <p:sp>
          <p:nvSpPr>
            <p:cNvPr id="81" name="section03__529">
              <a:extLst xmlns:a="http://schemas.openxmlformats.org/drawingml/2006/main">
                <a:ext uri="{FF2B5EF4-FFF2-40B4-BE49-F238E27FC236}">
                  <a16:creationId xmlns:a16="http://schemas.microsoft.com/office/drawing/2014/main" id="{30E8EF41-003C-41E0-8BC1-80C890A32B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2211050"/>
              <a:ext cx="91821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82" name="section03__530">
              <a:extLst xmlns:a="http://schemas.openxmlformats.org/drawingml/2006/main">
                <a:ext uri="{FF2B5EF4-FFF2-40B4-BE49-F238E27FC236}">
                  <a16:creationId xmlns:a16="http://schemas.microsoft.com/office/drawing/2014/main" id="{A8DFF31B-4BA6-44F9-99D0-21F421FEDF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12211050"/>
              <a:ext cx="8991600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다음 단계 기준   전 제품 Co-pilot의 실질적 도움 / Workflow 지속 축적 / 지식 활용 성공 사례 증가</a:t>
              </a:r>
            </a:p>
          </p:txBody>
        </p:sp>
      </p:grpSp>
      <p:grpSp>
        <p:nvGrpSpPr>
          <p:cNvPr id="10004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3" name="footer__531">
              <a:extLst xmlns:a="http://schemas.openxmlformats.org/drawingml/2006/main">
                <a:ext uri="{FF2B5EF4-FFF2-40B4-BE49-F238E27FC236}">
                  <a16:creationId xmlns:a16="http://schemas.microsoft.com/office/drawing/2014/main" id="{48D0728F-5D5F-43C1-8FFA-2A68CEF4CA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84" name="footer__532">
              <a:extLst xmlns:a="http://schemas.openxmlformats.org/drawingml/2006/main">
                <a:ext uri="{FF2B5EF4-FFF2-40B4-BE49-F238E27FC236}">
                  <a16:creationId xmlns:a16="http://schemas.microsoft.com/office/drawing/2014/main" id="{076F78D4-072A-4499-B43A-D2B3AA9A3D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개인의 전문성을 조직이 공유하는 분석 자산으로 전환하고,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현업 경험이 쌓일수록 분석 역량이 고도화되는 체계로 발전</a:t>
              </a:r>
            </a:p>
          </p:txBody>
        </p:sp>
        <p:sp>
          <p:nvSpPr>
            <p:cNvPr id="85" name="footer__533">
              <a:extLst xmlns:a="http://schemas.openxmlformats.org/drawingml/2006/main">
                <a:ext uri="{FF2B5EF4-FFF2-40B4-BE49-F238E27FC236}">
                  <a16:creationId xmlns:a16="http://schemas.microsoft.com/office/drawing/2014/main" id="{0E54BAAB-1AE1-437F-A943-E6452828FA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86" name="footer__534">
              <a:extLst xmlns:a="http://schemas.openxmlformats.org/drawingml/2006/main">
                <a:ext uri="{FF2B5EF4-FFF2-40B4-BE49-F238E27FC236}">
                  <a16:creationId xmlns:a16="http://schemas.microsoft.com/office/drawing/2014/main" id="{AECB2F94-8D3B-419A-9CDB-26F361D500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559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2026-09-22T22:25:51.5190000Z</dcterms:created>
  <dcterms:modified xsi:type="dcterms:W3CDTF">2026-09-22T22:25:51.5190000Z</dcterms:modified>
</coreProperties>
</file>
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5deeacbd814859" /><Relationship Type="http://schemas.openxmlformats.org/officeDocument/2006/relationships/extended-properties" Target="/docProps/app.xml" Id="Rb3baa3272cf34602" /><Relationship Type="http://schemas.openxmlformats.org/officeDocument/2006/relationships/officeDocument" Target="/ppt/presentation.xml" Id="Rb2c10489f75047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ebcf4acb8a46d7"/>
  </p:sldMasterIdLst>
  <p:notesMasterIdLst>
    <p:notesMasterId xmlns:r="http://schemas.openxmlformats.org/officeDocument/2006/relationships" r:id="R5ea24bfb42024fcb"/>
  </p:notesMasterIdLst>
  <p:sldIdLst>
    <p:sldId xmlns:r="http://schemas.openxmlformats.org/officeDocument/2006/relationships" id="256" r:id="Rfe75c0eaaa4e4886"/>
    <p:sldId xmlns:r="http://schemas.openxmlformats.org/officeDocument/2006/relationships" id="257" r:id="R693e5e68caf04c1e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2e2baf131e405b" /><Relationship Type="http://schemas.openxmlformats.org/officeDocument/2006/relationships/slideMaster" Target="/ppt/slideMasters/slideMaster1.xml" Id="Re3ebcf4acb8a46d7" /><Relationship Type="http://schemas.openxmlformats.org/officeDocument/2006/relationships/notesMaster" Target="/ppt/notesMasters/notesMaster1.xml" Id="R5ea24bfb42024fcb" /><Relationship Type="http://schemas.openxmlformats.org/officeDocument/2006/relationships/presProps" Target="/ppt/presProps.xml" Id="R3e55782c78a24072" /><Relationship Type="http://schemas.openxmlformats.org/officeDocument/2006/relationships/tableStyles" Target="/ppt/tableStyles.xml" Id="R60ba40e053084c2c" /><Relationship Type="http://schemas.openxmlformats.org/officeDocument/2006/relationships/slide" Target="/ppt/slides/slide1.xml" Id="Rfe75c0eaaa4e4886" /><Relationship Type="http://schemas.openxmlformats.org/officeDocument/2006/relationships/slide" Target="/ppt/slides/slide2.xml" Id="R693e5e68caf04c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830acfb8f743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fff81a78ff405b" /><Relationship Type="http://schemas.openxmlformats.org/officeDocument/2006/relationships/notesMaster" Target="/ppt/notesMasters/notesMaster1.xml" Id="R3ab84bbc3a5443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2bccac6bf944e5" /><Relationship Type="http://schemas.openxmlformats.org/officeDocument/2006/relationships/notesMaster" Target="/ppt/notesMasters/notesMaster1.xml" Id="R154d0e063e854d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기반: 사용자 첨부 사례요약 1장 및 2026-09-15, 2026-09-21~22 사용자 대화. OPLS SOP·현업 인터뷰, 업무 분해·Human/Agent 역할 구분, SYLD 6개월 파견, 열화감지·Mining 도메인 로직, SmartFactory 연계, MCP·BoI Wiki 정형 보고서 배치 작성 반영. 향후 workflow 지식화는 완료 기능으로 기술하지 않음. 그래프와 Map은 개념 예시.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1장 유지, 2장 디자인 재구성. 출처: 이전 사용자 제공 내용 및 2026-09-22 사용자 대화. 분석 단계·Agent 구성과 Fail list 선택/분석 자재 조정은 운영 구조를 설명한 개념도. 분석 결과의 불량 자재→열화 파라→원인 공정 후보는 기존 사용자 설명의 분석 연결 구조. PoC는 실제 이슈 7건 중 5건 검출, 2건 미검출, 협업 Action Item 81건. 일반화한 정확도/성능 백분율로 해석하지 않음. 기존 3개 Mining 대비 우수성은 사용자 정성 평가.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4a7a21319f44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d3c5d2b31f40a9" /><Relationship Type="http://schemas.openxmlformats.org/officeDocument/2006/relationships/slideLayout" Target="/ppt/slideLayouts/slideLayout1.xml" Id="R89f505c7efa84f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f505c7efa84f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00c35bd1645fe" /><Relationship Type="http://schemas.openxmlformats.org/officeDocument/2006/relationships/chart" Target="/ppt/slides/charts/chart1.xml" Id="R2ce71632e39b4e05" /><Relationship Type="http://schemas.openxmlformats.org/officeDocument/2006/relationships/notesSlide" Target="/ppt/notesSlides/notesSlide1.xml" Id="R521088610d7341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c60cd73cd434e" /><Relationship Type="http://schemas.openxmlformats.org/officeDocument/2006/relationships/notesSlide" Target="/ppt/notesSlides/notesSlide2.xml" Id="R027fec1484f949d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수율 예시</c:v>
          </c:tx>
          <c:spPr>
            <a:ln xmlns:a="http://schemas.openxmlformats.org/drawingml/2006/main" w="19050">
              <a:solidFill>
                <a:srgbClr val="287FA1"/>
              </a:solidFill>
            </a:ln>
          </c:spPr>
          <c:marker>
            <c:symbol val="circle"/>
            <c:size val="3"/>
            <c:spPr>
              <a:solidFill xmlns:a="http://schemas.openxmlformats.org/drawingml/2006/main">
                <a:srgbClr val="287FA1"/>
              </a:solidFill>
            </c:spPr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96</c:v>
                </c:pt>
                <c:pt idx="1">
                  <c:v>95</c:v>
                </c:pt>
                <c:pt idx="2">
                  <c:v>96</c:v>
                </c:pt>
                <c:pt idx="3">
                  <c:v>95</c:v>
                </c:pt>
                <c:pt idx="4">
                  <c:v>94</c:v>
                </c:pt>
                <c:pt idx="5">
                  <c:v>95</c:v>
                </c:pt>
                <c:pt idx="6">
                  <c:v>85</c:v>
                </c:pt>
                <c:pt idx="7">
                  <c:v>83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KR"/>
                  <a:ea typeface="Noto Sans KR"/>
                  <a:cs typeface="Noto Sans K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1D1A5F5-E52C-4B88-9E45-C264292A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87FA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287FA1"/>
                </a:solidFill>
                <a:latin typeface="Noto Sans KR"/>
                <a:ea typeface="Noto Sans KR"/>
                <a:cs typeface="Noto Sans KR"/>
              </a:rPr>
              <a:t>Y-AGENT  /  사례요약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79318-DE4E-4317-A883-BD47CB96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1 /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AFA37-247A-4FF3-8057-4A03B9E5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14375"/>
            <a:ext cx="6724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도메인 지식을 결합한</a:t>
            </a:r>
          </a:p>
          <a:p xmlns:a="http://schemas.openxmlformats.org/drawingml/2006/main">
            <a:pPr algn="l">
              <a:defRPr sz="232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수율 분석 전문 Agent 개발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CB56B-8C9C-4FF0-B950-C1B5C819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672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현업의 분석 판단을 Agent 로직으로 구현하고,</a:t>
            </a:r>
          </a:p>
          <a:p xmlns:a="http://schemas.openxmlformats.org/drawingml/2006/main">
            <a:pPr algn="l">
              <a:defRPr sz="12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SOP와 업무 역할을 재설계하여 연속 분석 체계 구축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EC047-FC18-489F-A14D-D5722525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8375"/>
            <a:ext cx="672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5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E85E8-D5E0-4D2D-9181-DF41E7EF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71725"/>
            <a:ext cx="672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01  분산된 업무를 실행 가능한 Workflow로 재설계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52B45-39B6-4C33-8535-B271121A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9875"/>
            <a:ext cx="904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기존 업무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E10A9-51ED-4506-86C9-1DAE6B3D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7717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403C6-9CD9-468B-B70C-899A3237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28003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SmartFactory·TAS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E2DE4-9288-49FD-853F-333AF4B5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30384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수율·공정 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0ADCE-81B1-4E55-93AC-C6693981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7717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DC69D-F53B-4ED1-ACCA-773EA251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003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Spotfire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12929-E0C1-4E55-9DFD-C74803B3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384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Trend·Map·상관도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BE422-1653-4ACB-9E88-D47D0232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717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71286-1645-4572-97A3-54012FFF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003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Excel·PPT·메일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BAD301-E849-433E-8F6C-628E52A7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03847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취합·보고·공유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CB0463-93A8-49C4-8163-9B5F4713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29000"/>
            <a:ext cx="565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EE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B0C227-0278-4C6F-BDD4-22ED7DC7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429000"/>
            <a:ext cx="5467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엔지니어가 반복 조회·비교하고 분석 순서와 해석을 직접 판단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718ED-8105-4059-8684-223EEF9C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180975" cy="4191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F748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0C581-3237-4666-90D4-E722956C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57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한계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BFBA43-16D0-42A5-AEB1-28911ECB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38600"/>
            <a:ext cx="1190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업무 재설계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4D53F2-BCC8-4BDB-B70C-80F7026D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10075"/>
            <a:ext cx="1524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2A715D-95F2-4BCA-8502-B5D0C519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76750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현업 분석 파악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BD2249-658F-425A-92F9-1BA980D0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OPLS SOP</a:t>
            </a:r>
          </a:p>
          <a:p xmlns:a="http://schemas.openxmlformats.org/drawingml/2006/main">
            <a:pPr algn="ct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수율·PI·개발 인터뷰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DF19C8-B4F7-43CC-8925-74E01357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733925"/>
            <a:ext cx="14287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FA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376157-FF0D-4BD8-9C03-8BEB2925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10075"/>
            <a:ext cx="1524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ED3B13-3BAB-47ED-98EB-03685849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76750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업무 분해·도식화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689057-CABE-427D-AB90-6700A17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62500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분석 순서와</a:t>
            </a:r>
          </a:p>
          <a:p xmlns:a="http://schemas.openxmlformats.org/drawingml/2006/main">
            <a:pPr algn="ct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입력·결과 정의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800178-FF54-4ACA-92C1-255B9D2A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33925"/>
            <a:ext cx="14287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FA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53F499-01EC-4281-8F87-A4D9ACA1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524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80724A-280D-4AF7-A058-D27FA8FE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476750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역할 구분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281DA8-6068-48A0-A25C-99A0DB20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762500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Agent 수행 영역</a:t>
            </a:r>
          </a:p>
          <a:p xmlns:a="http://schemas.openxmlformats.org/drawingml/2006/main">
            <a:pPr algn="ct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Human 판단 지점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18B9ED-2ADE-4ADE-A99D-59BACBB6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733925"/>
            <a:ext cx="142875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FA1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820E18-81B5-4F5A-9A49-3233D7D9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10075"/>
            <a:ext cx="1524000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2F1F2B-F7E9-4D4B-864F-B941D9EB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76750"/>
            <a:ext cx="1371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Workflow 구현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4A0F2D-A039-4774-A848-0C9D7AA8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762500"/>
            <a:ext cx="1371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전문 Agent 연결</a:t>
            </a:r>
          </a:p>
          <a:p xmlns:a="http://schemas.openxmlformats.org/drawingml/2006/main">
            <a:pPr algn="ct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Super Agent 구축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5A1D34-F357-43E9-9C37-3C40D1A6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24475"/>
            <a:ext cx="672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02  개별 Agent의 실효성을 만든 도메인 지식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AD65E0-13EB-4B98-BA5A-C8DCC41B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91200"/>
            <a:ext cx="326707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0F99D9-EE61-4FDE-AE86-C6C3E015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791200"/>
            <a:ext cx="3286125" cy="1438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94DD94-5E04-4717-B390-C7F49517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95975"/>
            <a:ext cx="2905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열화감지 Agent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AFBCE9-89AA-4779-860C-ED224193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38875"/>
            <a:ext cx="2905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현업 열화감지 로직을 반영해</a:t>
            </a:r>
          </a:p>
          <a:p xmlns:a="http://schemas.openxmlformats.org/drawingml/2006/main">
            <a:pPr algn="l">
              <a:defRPr sz="120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수율 이상과 열화 내용을 보고</a:t>
            </a:r>
          </a:p>
        </p:txBody>
      </p:sp>
      <p:graphicFrame>
        <p:nvGraphicFramePr>
          <p:cNvPr id="145" name="Chart"/>
          <p:cNvGraphicFramePr/>
          <p:nvPr/>
        </p:nvGraphicFramePr>
        <p:xfrm>
          <a:off xmlns:a="http://schemas.openxmlformats.org/drawingml/2006/main" x="542925" y="6743700"/>
          <a:ext xmlns:a="http://schemas.openxmlformats.org/drawingml/2006/main" cx="1600200" cy="42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e71632e39b4e05"/>
          </a:graphicData>
        </a:graphic>
      </p:graphicFrame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D890C0-F1F6-4BEC-9DEE-E4622B16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7437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현업 판단 기준</a:t>
            </a:r>
          </a:p>
          <a:p xmlns:a="http://schemas.openxmlformats.org/drawingml/2006/main">
            <a:pPr algn="l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분석 로직에 반영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72BB7D-8345-4CAA-B7A2-2088F8F6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895975"/>
            <a:ext cx="2943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7FA1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87FA1"/>
                </a:solidFill>
                <a:latin typeface="Noto Sans KR"/>
                <a:ea typeface="Noto Sans KR"/>
                <a:cs typeface="Noto Sans KR"/>
              </a:rPr>
              <a:t>Mining Agent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E51EE8-D727-4A9E-A330-817951D3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6238875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분류 ML과 Wafer Map을 결합해</a:t>
            </a:r>
          </a:p>
          <a:p xmlns:a="http://schemas.openxmlformats.org/drawingml/2006/main">
            <a:pPr algn="l">
              <a:defRPr sz="120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유사 fail-map 후보 및 원인 탐색 지원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6AED6E1-A876-4BC1-8DA6-0F40011A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724650"/>
            <a:ext cx="428625" cy="4286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7FA1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0525B6-9B8E-4B1B-A1C5-66AD2F2D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86752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A6FD37-877F-45C4-A740-50671025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91515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DE2F355-D308-40FB-8859-5A1030D2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696277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E15D89D-C41C-42A8-BB4E-D8462F13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81990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3827B2-AFB9-4362-9345-BEE677D8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86752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BF9069-6546-432C-A2B6-5E5E503E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91515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2B3989-34DD-467B-8F9D-CF8EFF7F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696277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BCEEB8-59F6-4FD9-BA1E-3404D3D5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701040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15D020-8298-48C3-9ECB-D9CC7E71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77227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082D9F3-5F63-4B61-9A18-98F1FD9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81990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147BAC-783D-4308-A744-C1DF12E2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86752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61F7AD-C476-432E-B6AF-3799C1A8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91515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BC904BF-29FD-4BF9-904F-D7CBAFCD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96277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01E9523-AA0D-41B9-BE6F-C981E2D2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701040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D6D614-2470-4636-B37F-610C3A50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705802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F3A220-7730-4AEF-B6ED-0EDC3B7F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77227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0C51C9-FAA7-4A4B-97C2-3CC35CF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81990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44304AB-DB90-4B6C-B7C0-0CD4806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86752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6A8A57-22DE-4282-B81E-8B0636D3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91515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1F2FBDF-CD15-4301-AE85-1205FA05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96277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714F6B1-8296-4AD5-8A78-1FEA6B2F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701040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7069F42-B219-46D9-9E07-9FA8E7AC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705802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1FA7E98-55B0-4465-9121-DDF6C272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677227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E44DF35-FB89-4BFC-9DF4-92EB365F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681990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B296518-D2AB-44FB-B22A-A2FD6040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686752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2B94B1E-275D-4CCC-9BA5-8C2E63BD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691515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45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9B295D1-A768-4871-BCB4-B99E2EDF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696277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45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FF32489-8B52-470A-9310-2A444354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701040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45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2B1FBE6-D776-4E0C-898B-2FB55DE6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705802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45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A6A271B-20A7-4A45-975F-450A9148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81990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77BBF1-21FA-4929-96BA-F6237A6C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86752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D603EA4-4DC9-4B1A-9361-7FB18D95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91515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45"/>
          </a:solidFill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7FEEA28-8F9E-4CC9-8297-AEFC2F8F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96277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45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605B038-5BD3-4247-93A1-947AC552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701040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45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172278-F7AF-454A-9424-7751BF3C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86752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EDB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D9C54A4-B9B4-4066-B22F-ACE952E9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915150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45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A4BA3C1-69BA-41FD-9AEC-9FF4FDC3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6962775"/>
            <a:ext cx="32385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7A45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C33B293-6316-4479-8C1B-528CBCFB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886575"/>
            <a:ext cx="2286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FA1"/>
          </a:solidFill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E59131-C044-4078-80BC-80C3A73E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743700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유사 불량 후보</a:t>
            </a:r>
          </a:p>
          <a:p xmlns:a="http://schemas.openxmlformats.org/drawingml/2006/main">
            <a:pPr algn="l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원인 추적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0A1917F-9337-4AC4-8568-B5661B5D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381875"/>
            <a:ext cx="67246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50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696EAAD-E8F4-421D-ACBB-6BC886C8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7458075"/>
            <a:ext cx="6400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도메인 지식  +  AI 추론·Tool 활용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75CADAE-8F5B-4FF6-8DBE-72A3CAFB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724775"/>
            <a:ext cx="6457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무엇을 확인할지     →     어떻게 해석할지     →     다음 분석은 무엇인지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CA1D5ED-EFD6-4F52-8E58-92B08344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143875"/>
            <a:ext cx="672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03  SYLD 6개월 파견과 DT 협업으로 구현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791F147-E8AA-4CBF-906E-7E2B8A8A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515350"/>
            <a:ext cx="6724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현업에서 분리된 개발 몰입 환경에서 도메인 지식과 AI 설계·개발 역량 결합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E24BE81-B847-40EB-85E7-5FC7C791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867775"/>
            <a:ext cx="20859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8BB004A-C61E-4E55-A37E-3A7AC641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249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Legacy 연계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512CD80-459C-4240-9244-DF9254DE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011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Y-Agent Trend에서</a:t>
            </a:r>
          </a:p>
          <a:p xmlns:a="http://schemas.openxmlformats.org/drawingml/2006/main">
            <a:pPr algn="l">
              <a:def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SmartFactory 즉시 조회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106E16C-4256-4FEB-94BD-3E621D22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8867775"/>
            <a:ext cx="20859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E87E0F7-423B-41B8-821C-B777B010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89249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MCP·BoI Wiki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3A06210-0374-4A09-AE2C-2B4B3AB8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92011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MCP 호출을 통한</a:t>
            </a:r>
          </a:p>
          <a:p xmlns:a="http://schemas.openxmlformats.org/drawingml/2006/main">
            <a:pPr algn="l">
              <a:def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정형 분석보고서 배치 작성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2D310D3-4726-4608-BCCB-3722666A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867775"/>
            <a:ext cx="20859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C5263B-8C91-4E6B-872D-AD3FC2A7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924925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개발·운영 기반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C5BAFF7-289A-469F-A1BE-97B1C9CA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92011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Oracle·RAM·NAS</a:t>
            </a:r>
          </a:p>
          <a:p xmlns:a="http://schemas.openxmlformats.org/drawingml/2006/main">
            <a:pPr algn="l">
              <a:def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LLM API 리소스 지원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343F3CF-80C6-45B7-A798-5DC478CF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63125"/>
            <a:ext cx="672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0"/>
          </a:solidFill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7727313-E7EE-48DD-A73B-81A9E00E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877425"/>
            <a:ext cx="1143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도전 목표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C2E5E2B-6183-41B1-97A1-5FDF7A6D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9848850"/>
            <a:ext cx="539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반복 탐색·분석 자동화와 Know-how 표준화로</a:t>
            </a:r>
          </a:p>
          <a:p xmlns:a="http://schemas.openxmlformats.org/drawingml/2006/main">
            <a:pPr algn="l">
              <a:defRPr sz="1275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엔지니어가 핵심 판단에 집중하는 수율 분석 체계 구축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3932CB5-D53F-48EB-BAF9-77A7CCF6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439400"/>
            <a:ext cx="6724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그래프와 Map은 분석 원리를 설명하기 위한 개념 예시</a:t>
            </a:r>
          </a:p>
        </p:txBody>
      </p:sp>
    </p:spTree>
    <p:extLst>
      <p:ext uri="{BB962C8B-B14F-4D97-AF65-F5344CB8AC3E}">
        <p14:creationId xmlns:p14="http://schemas.microsoft.com/office/powerpoint/2010/main" val="572830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64753B9-D8C0-4094-B17E-2FEF164F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6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87FA1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287FA1"/>
                </a:solidFill>
                <a:latin typeface="Noto Sans KR"/>
                <a:ea typeface="Noto Sans KR"/>
                <a:cs typeface="Noto Sans KR"/>
              </a:rPr>
              <a:t>Y-AGENT  /  사례요약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7DDA0-5D95-4F1B-876A-F97B5532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2 /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F6C36-579C-4FD5-8697-BFF4A1B4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14375"/>
            <a:ext cx="67246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전문 Agent의 연속 분석과</a:t>
            </a:r>
          </a:p>
          <a:p xmlns:a="http://schemas.openxmlformats.org/drawingml/2006/main">
            <a:pPr algn="l">
              <a:defRPr sz="232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엔지니어 협업을 현업에서 검증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95A0D-7A7F-431C-8BAD-6EBCC3B2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6724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Super Agent가 분석 목적에 따라 전문 Agent와 Tool을 연결하고,</a:t>
            </a:r>
          </a:p>
          <a:p xmlns:a="http://schemas.openxmlformats.org/drawingml/2006/main">
            <a:pPr algn="l">
              <a:defRPr sz="12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엔지니어의 선택·조정을 반영해 원인 후보 도출까지 수행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D88E5-036E-435A-93BD-7820FE0B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38375"/>
            <a:ext cx="672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50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E0765-DFE7-49CB-98B3-2F34DB37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01  분석 실행 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B67FB-E008-4D9A-8B8D-7AF7B8E4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09825"/>
            <a:ext cx="3038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13개 전문 Agent · 목적별 Tool 조합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169F87-692E-4A5C-8ECD-1A9BBE6E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19400"/>
            <a:ext cx="672465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9C162-F71C-4A02-8EA0-7CDEFA57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19400"/>
            <a:ext cx="67246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5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EC0CB-E827-4F8D-86E6-A6EC3FA8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1800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Super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7C778-17FC-4BB1-B966-70032D46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990850"/>
            <a:ext cx="449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자연어 요청 해석   →   분석 계획·실행   →   후속 분석 제안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AE7D7-9E6D-403D-8A04-F125B88F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33775"/>
            <a:ext cx="4095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전문 Agent의 분석 수행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03B80-37D8-4BAA-A5D4-96AE6228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33775"/>
            <a:ext cx="1724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엔지니어의 핵심 판단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CDAFA-52BD-430D-A4A8-DA657F56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3886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6C714-4972-4569-A179-A2AFA017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95725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2B8DB-C276-4B3B-A61F-6E21235C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229100"/>
            <a:ext cx="104775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9BEC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D3B24-4A95-47BB-9FED-7D2BDF63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9052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이상 감지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D4B48B-2B7A-4C66-AB88-CA58757E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95725"/>
            <a:ext cx="2466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수율일보·열화감지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2B7EE-AFED-41C8-ADB3-41F3955B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95750"/>
            <a:ext cx="2466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Trend 이상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8E396-A7A2-482C-95E0-229EC3D6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0075"/>
            <a:ext cx="3886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4755B-CBE7-4059-9209-0919E71D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48175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30BB4B-194A-48CC-9E46-9C400284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81550"/>
            <a:ext cx="104775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9BEC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4774C0-4681-4571-9534-D3BF039C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5770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불량 정의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784FC1-0EC4-4F3B-860D-D2197EA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48175"/>
            <a:ext cx="2466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Map·불량이력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4DD79-BDDD-4B34-8219-21762CE9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48200"/>
            <a:ext cx="2466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불량 양상·패턴 정의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FB7C1C-84BD-4F5E-AB39-FED82030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3886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19F2CD-B358-4351-B1C5-1A19E065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3D64D2-0933-4C5C-ADDC-22AE7D59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34000"/>
            <a:ext cx="104775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9BEC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2C1919-C156-4475-B2B1-DF0F5DF8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0101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이력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80741E-60CF-4286-BF7F-DED5B53D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00625"/>
            <a:ext cx="2466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자재이력·연계공정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2B785F-20B4-47AF-942F-3BDA4EF5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00650"/>
            <a:ext cx="2466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저수율 Lot 특이 이력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C9CDA1-DB4F-4ECF-9108-0F831FEB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14975"/>
            <a:ext cx="3886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E4E716-498F-4076-ABB2-2A8FE409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53075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A048B8-010E-4701-80A9-0078DCB6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886450"/>
            <a:ext cx="104775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99BEC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526FBB-7642-4704-B33D-F3AF7F78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56260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연계 분석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615B59-FC6D-4200-A64B-289C6870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53075"/>
            <a:ext cx="2466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연관분석·Mining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00CAF2-B17D-43E5-97CE-8B845580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53100"/>
            <a:ext cx="2466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Inline-WT 혐의 탐색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92B2D0-BA83-4A7F-B6B4-DB7A55A8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67425"/>
            <a:ext cx="38862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01E411-246D-4B21-A91D-96B0D375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05525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A5B122-22D6-4190-8269-84965B8D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611505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원인 후보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3567BD-923B-483A-8776-860301C7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05525"/>
            <a:ext cx="24669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Super Agent 결과 종합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DBDB61-8CD9-4823-8B4D-0B782C55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305550"/>
            <a:ext cx="24669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우선 검토 대상 제시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40955E-B859-4DB2-BA5E-0550AC73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857625"/>
            <a:ext cx="1704975" cy="265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6CF28E-50E6-4ACA-9052-5B7CC926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962400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Human-in-the-loop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7EFB66-A0E0-425D-893A-3313E62C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286250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0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146D51-065B-4568-9AA3-F0BBD66E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577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분석 대상 선택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643E48-D28F-4452-8D58-B494B029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743450"/>
            <a:ext cx="14668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Agent가 제안한</a:t>
            </a:r>
          </a:p>
          <a:p xmlns:a="http://schemas.openxmlformats.org/drawingml/2006/main">
            <a:pPr algn="ctr">
              <a:def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Fail list 확인·선택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A0E90C-E9F6-4657-A47C-8D49A6B1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53075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추가 분석 조정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2C77D8-9F33-4869-9739-A398B54A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83882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분석 자재 지정·조정</a:t>
            </a:r>
          </a:p>
          <a:p xmlns:a="http://schemas.openxmlformats.org/drawingml/2006/main">
            <a:pPr algn="ctr">
              <a:def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추가 Mining 수행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EC9067-9566-4836-ACA7-13494024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33900"/>
            <a:ext cx="371475" cy="9525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9867D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D49912-8B42-4796-A7DC-38D52888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638800"/>
            <a:ext cx="371475" cy="95250"/>
          </a:xfrm>
          <a:prstGeom xmlns:a="http://schemas.openxmlformats.org/drawingml/2006/main" prst="leftRightArrow">
            <a:avLst/>
          </a:prstGeom>
          <a:solidFill xmlns:a="http://schemas.openxmlformats.org/drawingml/2006/main">
            <a:srgbClr val="09867D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953290-C7B2-4E7C-A0AD-E868FA31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9723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분석 결과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340FE7-C70C-4D9D-B959-C745B58A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924675"/>
            <a:ext cx="1724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8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4DA2B8-8A28-48E6-8070-29BC0DBF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962775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불량 자재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6246EE-35DF-4098-A1FB-A1F9237C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720090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분석 대상 특정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767304-B4BA-448A-A0FE-DA0D6D66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7124700"/>
            <a:ext cx="1143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FA1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3BB18F-5E26-40BE-AF10-57B76C86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924675"/>
            <a:ext cx="1724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B84EF6-3938-493B-BFDD-F880566E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962775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열화 파라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BCF8190-9800-435B-B502-14217C6F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720090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연계 항목 탐색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5E0769B-0550-4952-B440-B5994139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124700"/>
            <a:ext cx="114300" cy="95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7FA1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11B792-47DF-4393-871F-ECA0F3EC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924675"/>
            <a:ext cx="17240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B50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A58735F-D97F-43C1-80B4-245E1BF8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962775"/>
            <a:ext cx="1571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원인 공정 후보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A571B94-6A88-46F5-BFC9-D4382A53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7200900"/>
            <a:ext cx="1571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2DCE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C2DCE6"/>
                </a:solidFill>
                <a:latin typeface="Noto Sans KR"/>
                <a:ea typeface="Noto Sans KR"/>
                <a:cs typeface="Noto Sans KR"/>
              </a:rPr>
              <a:t>우선 검토 대상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A2DA99-86D5-4E98-9C69-E56A6DB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00"/>
            <a:ext cx="672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02  실제 제품 PoC로 활용성 검증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9FD9C3-BE86-4D92-B449-6EAD195C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981950"/>
            <a:ext cx="672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Spica 수율팀에서 Y-Agent 결과와 엔지니어 분석을 비교하고 Daily 피드백 반영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DA11774-5AE1-4D92-AF63-FE11ED34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362950"/>
            <a:ext cx="4238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A8AFC9-D787-43DF-BDC2-42A4A7CC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8362950"/>
            <a:ext cx="2333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0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7C80BF-EFEB-4DD1-97FA-9489340C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4391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실제 수율 이슈 7건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9D9C96A-1331-46E8-8C27-9D499292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848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67D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153F792-9A74-4DFF-8DF8-32043706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848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67D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F1D169A-5ED7-46CC-8FEC-AB76A067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8848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67D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0886521-5EA0-4452-8CD3-5C6BA882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8848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67D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EBAF4D6-81CA-4605-8F88-C602A887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8848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867D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56AED8D-C036-4179-97FA-30ACAD1C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8848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DF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0F8B72E-503E-4C0C-B9D0-B0A231B9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8848725"/>
            <a:ext cx="219075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9DF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8637BB8-C95E-4AE4-A10A-A3EE3CEB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9124950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5건 검출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330558F-1BE6-494F-9C20-BEF26758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9124950"/>
            <a:ext cx="1514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2건 미검출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B157E0-8842-4753-8F3F-2AEE1A49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8743950"/>
            <a:ext cx="13430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5 / 7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3032DA-8DA5-4950-89BF-9591973F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8486775"/>
            <a:ext cx="1971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81건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4D9D46-315B-4E0B-B13D-82677247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8963025"/>
            <a:ext cx="1971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협업 Action Item 도출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EE7CBC3-CA1A-4865-A227-EEE3D349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210675"/>
            <a:ext cx="19716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현업 피드백 기반 반복 개선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A08B581-D2A8-4374-866E-6A7CB3FE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601200"/>
            <a:ext cx="672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0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7BF8AF3-43D5-4BC0-BC1B-7ED7F418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744075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검증 의미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B007CA-2776-44C4-B747-9AFDA05C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9705975"/>
            <a:ext cx="5391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도메인 기반 Mining은 기존 3개 Mining 결과 대비 우수성을 확인하고,</a:t>
            </a:r>
          </a:p>
          <a:p xmlns:a="http://schemas.openxmlformats.org/drawingml/2006/main">
            <a:pPr algn="l">
              <a:defRPr sz="1125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실제 이슈의 검출·미검출 결과를 개선 과제로 연결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03A38C1-4A69-43C2-881F-8041A688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9867D"/>
                </a:solidFill>
                <a:latin typeface="Noto Sans KR"/>
                <a:ea typeface="Noto Sans KR"/>
                <a:cs typeface="Noto Sans KR"/>
              </a:rPr>
              <a:t>SUPEX 추구·패기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C4EE60B-92EE-471E-BC18-6A849459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0287000"/>
            <a:ext cx="4962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93B5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193B50"/>
                </a:solidFill>
                <a:latin typeface="Noto Sans KR"/>
                <a:ea typeface="Noto Sans KR"/>
                <a:cs typeface="Noto Sans KR"/>
              </a:rPr>
              <a:t>업무 재설계에서 구현·현업 검증까지 추진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94D71B2-BA86-48E4-BEFB-F21B1B92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525125"/>
            <a:ext cx="6724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F7480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5F7480"/>
                </a:solidFill>
                <a:latin typeface="Noto Sans KR"/>
                <a:ea typeface="Noto Sans KR"/>
                <a:cs typeface="Noto Sans KR"/>
              </a:rPr>
              <a:t>단계별 분석은 목적에 따라 조합·반복 가능. 5/7은 검증한 실제 이슈 사례 수 기준.</a:t>
            </a:r>
          </a:p>
        </p:txBody>
      </p:sp>
    </p:spTree>
    <p:extLst>
      <p:ext uri="{BB962C8B-B14F-4D97-AF65-F5344CB8AC3E}">
        <p14:creationId xmlns:p14="http://schemas.microsoft.com/office/powerpoint/2010/main" val="381768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2026-09-22T15:25:05.9720000Z</dcterms:created>
  <dcterms:modified xsi:type="dcterms:W3CDTF">2026-09-22T15:25:05.9720000Z</dcterms:modified>
</coreProperties>
</file>
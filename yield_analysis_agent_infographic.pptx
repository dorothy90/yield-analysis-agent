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6629400"/>
            <a:ext cx="11731752" cy="0"/>
          </a:xfrm>
          <a:prstGeom prst="line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320040" y="665683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spc="200" kern="0" dirty="0">
                <a:solidFill>
                  <a:srgbClr val="7A89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YIELD ANALYSIS AGENT  ·  SOP → AGENTIC WORKFLOW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9692640" y="665683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spc="150" kern="0" dirty="0">
                <a:solidFill>
                  <a:srgbClr val="7A89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× SEMICONDUCTOR × YIELD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9A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9A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spc="200" kern="0" dirty="0">
                <a:solidFill>
                  <a:srgbClr val="819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SEMICONDUCTOR  ·  DATA  ·  AI  ·  BETTER YIELD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수율분석 SOP를 Agent로 전환하는 이유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326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37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반복적인 분석 업무를 표준화하고, 데이터 연결·이상 탐지·원인 추론을 자동화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418320" y="393192"/>
            <a:ext cx="2286000" cy="566928"/>
          </a:xfrm>
          <a:prstGeom prst="roundRect">
            <a:avLst>
              <a:gd name="adj" fmla="val 19355"/>
            </a:avLst>
          </a:prstGeom>
          <a:solidFill>
            <a:srgbClr val="E9EEFF"/>
          </a:solidFill>
          <a:ln w="12700">
            <a:solidFill>
              <a:srgbClr val="E9EE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50292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6578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SOP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442448" y="47548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5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44200" y="5029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spc="120" kern="0" dirty="0">
                <a:solidFill>
                  <a:srgbClr val="675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20040" y="1353312"/>
            <a:ext cx="1938528" cy="4983480"/>
          </a:xfrm>
          <a:prstGeom prst="roundRect">
            <a:avLst>
              <a:gd name="adj" fmla="val 5660"/>
            </a:avLst>
          </a:prstGeom>
          <a:solidFill>
            <a:srgbClr val="EAF0F8"/>
          </a:solidFill>
          <a:ln w="12700">
            <a:solidFill>
              <a:srgbClr val="EAF0F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361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현재의 수율 분석 업무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8470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37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전문가의 경험과 많은 시간에 의존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" y="2331720"/>
            <a:ext cx="1627632" cy="795528"/>
          </a:xfrm>
          <a:prstGeom prst="roundRect">
            <a:avLst>
              <a:gd name="adj" fmla="val 13793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" y="2514600"/>
            <a:ext cx="347472" cy="347472"/>
          </a:xfrm>
          <a:prstGeom prst="ellipse">
            <a:avLst/>
          </a:prstGeom>
          <a:solidFill>
            <a:srgbClr val="8FA4C4"/>
          </a:solidFill>
          <a:ln w="12700">
            <a:solidFill>
              <a:srgbClr val="8FA4C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596896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530" dirty="0"/>
          </a:p>
        </p:txBody>
      </p:sp>
      <p:sp>
        <p:nvSpPr>
          <p:cNvPr id="15" name="Text 13"/>
          <p:cNvSpPr/>
          <p:nvPr/>
        </p:nvSpPr>
        <p:spPr>
          <a:xfrm>
            <a:off x="1024128" y="2450592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분산된 데이터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4128" y="26791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37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Inline / WT / 공정 / 자재 등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637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여러 시스템에서 수동 수집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475488" y="3246120"/>
            <a:ext cx="1627632" cy="795528"/>
          </a:xfrm>
          <a:prstGeom prst="roundRect">
            <a:avLst>
              <a:gd name="adj" fmla="val 13793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" y="3429000"/>
            <a:ext cx="347472" cy="347472"/>
          </a:xfrm>
          <a:prstGeom prst="ellipse">
            <a:avLst/>
          </a:prstGeom>
          <a:solidFill>
            <a:srgbClr val="7E91B4"/>
          </a:solidFill>
          <a:ln w="12700">
            <a:solidFill>
              <a:srgbClr val="7E91B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511296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530" dirty="0"/>
          </a:p>
        </p:txBody>
      </p:sp>
      <p:sp>
        <p:nvSpPr>
          <p:cNvPr id="20" name="Text 18"/>
          <p:cNvSpPr/>
          <p:nvPr/>
        </p:nvSpPr>
        <p:spPr>
          <a:xfrm>
            <a:off x="1024128" y="3364992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긴 분석 시간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4128" y="35935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37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트렌드 확인 → 맵 분석 →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637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연계 분석을 반복 수행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475488" y="4160520"/>
            <a:ext cx="1627632" cy="795528"/>
          </a:xfrm>
          <a:prstGeom prst="roundRect">
            <a:avLst>
              <a:gd name="adj" fmla="val 13793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" y="4343400"/>
            <a:ext cx="347472" cy="347472"/>
          </a:xfrm>
          <a:prstGeom prst="ellipse">
            <a:avLst/>
          </a:prstGeom>
          <a:solidFill>
            <a:srgbClr val="667D9E"/>
          </a:solidFill>
          <a:ln w="12700">
            <a:solidFill>
              <a:srgbClr val="667D9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4425696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</a:t>
            </a:r>
            <a:endParaRPr lang="en-US" sz="530" dirty="0"/>
          </a:p>
        </p:txBody>
      </p:sp>
      <p:sp>
        <p:nvSpPr>
          <p:cNvPr id="25" name="Text 23"/>
          <p:cNvSpPr/>
          <p:nvPr/>
        </p:nvSpPr>
        <p:spPr>
          <a:xfrm>
            <a:off x="1024128" y="4279392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경험 의존성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4128" y="45079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37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담당자의 노하우에 따라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637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분석 깊이와 속도 편차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475488" y="5074920"/>
            <a:ext cx="1627632" cy="795528"/>
          </a:xfrm>
          <a:prstGeom prst="roundRect">
            <a:avLst>
              <a:gd name="adj" fmla="val 13793"/>
            </a:avLst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" y="5257800"/>
            <a:ext cx="347472" cy="347472"/>
          </a:xfrm>
          <a:prstGeom prst="ellipse">
            <a:avLst/>
          </a:prstGeom>
          <a:solidFill>
            <a:srgbClr val="5D7190"/>
          </a:solidFill>
          <a:ln w="12700">
            <a:solidFill>
              <a:srgbClr val="5D719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" y="5340096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</a:t>
            </a:r>
            <a:endParaRPr lang="en-US" sz="530" dirty="0"/>
          </a:p>
        </p:txBody>
      </p:sp>
      <p:sp>
        <p:nvSpPr>
          <p:cNvPr id="30" name="Text 28"/>
          <p:cNvSpPr/>
          <p:nvPr/>
        </p:nvSpPr>
        <p:spPr>
          <a:xfrm>
            <a:off x="1024128" y="5193792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B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참원인 도출 난이도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4128" y="5422392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37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다양한 후보군 중 실제 원인까지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6373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도달하는 데 많은 시간 소요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475488" y="5989320"/>
            <a:ext cx="1627632" cy="210312"/>
          </a:xfrm>
          <a:prstGeom prst="roundRect">
            <a:avLst>
              <a:gd name="adj" fmla="val 52174"/>
            </a:avLst>
          </a:prstGeom>
          <a:solidFill>
            <a:srgbClr val="DCE6F4"/>
          </a:solidFill>
          <a:ln w="12700">
            <a:solidFill>
              <a:srgbClr val="DCE6F4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6016752"/>
            <a:ext cx="1389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i="1" dirty="0">
                <a:solidFill>
                  <a:srgbClr val="53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“어디서부터 봐야 하지?”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2487168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수율 분석 SOP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487168" y="16642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474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문제 해결을 위한 4단계 핵심 분석 프로세스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487168" y="1965960"/>
            <a:ext cx="1993392" cy="3310128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0160">
            <a:solidFill>
              <a:srgbClr val="DCE5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33472" y="2112264"/>
            <a:ext cx="347472" cy="347472"/>
          </a:xfrm>
          <a:prstGeom prst="ellipse">
            <a:avLst/>
          </a:prstGeom>
          <a:solidFill>
            <a:srgbClr val="2474E8"/>
          </a:solidFill>
          <a:ln w="12700">
            <a:solidFill>
              <a:srgbClr val="2474E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33472" y="21854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054096" y="2121408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7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수율 이상 감지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633472" y="2551176"/>
            <a:ext cx="1700784" cy="1051560"/>
          </a:xfrm>
          <a:prstGeom prst="roundRect">
            <a:avLst>
              <a:gd name="adj" fmla="val 10435"/>
            </a:avLst>
          </a:prstGeom>
          <a:solidFill>
            <a:srgbClr val="F4F7FC"/>
          </a:solidFill>
          <a:ln w="12700">
            <a:solidFill>
              <a:srgbClr val="F4F7FC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0" y="3337560"/>
            <a:ext cx="1444752" cy="0"/>
          </a:xfrm>
          <a:prstGeom prst="line">
            <a:avLst/>
          </a:prstGeom>
          <a:noFill/>
          <a:ln w="8890">
            <a:solidFill>
              <a:srgbClr val="CBD6E8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2743200" y="2724912"/>
            <a:ext cx="0" cy="612648"/>
          </a:xfrm>
          <a:prstGeom prst="line">
            <a:avLst/>
          </a:prstGeom>
          <a:noFill/>
          <a:ln w="8890">
            <a:solidFill>
              <a:srgbClr val="CBD6E8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2770632" y="3209544"/>
            <a:ext cx="201168" cy="-219456"/>
          </a:xfrm>
          <a:prstGeom prst="line">
            <a:avLst/>
          </a:prstGeom>
          <a:noFill/>
          <a:ln w="16510">
            <a:solidFill>
              <a:srgbClr val="2474E8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2971800" y="2990088"/>
            <a:ext cx="182880" cy="237744"/>
          </a:xfrm>
          <a:prstGeom prst="line">
            <a:avLst/>
          </a:prstGeom>
          <a:noFill/>
          <a:ln w="16510">
            <a:solidFill>
              <a:srgbClr val="2474E8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3154680" y="3227832"/>
            <a:ext cx="182880" cy="-146304"/>
          </a:xfrm>
          <a:prstGeom prst="line">
            <a:avLst/>
          </a:prstGeom>
          <a:noFill/>
          <a:ln w="16510">
            <a:solidFill>
              <a:srgbClr val="2474E8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3337560" y="3081528"/>
            <a:ext cx="201168" cy="210312"/>
          </a:xfrm>
          <a:prstGeom prst="line">
            <a:avLst/>
          </a:prstGeom>
          <a:noFill/>
          <a:ln w="16510">
            <a:solidFill>
              <a:srgbClr val="2474E8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3538728" y="3291840"/>
            <a:ext cx="192024" cy="-338328"/>
          </a:xfrm>
          <a:prstGeom prst="line">
            <a:avLst/>
          </a:prstGeom>
          <a:noFill/>
          <a:ln w="16510">
            <a:solidFill>
              <a:srgbClr val="2474E8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3730752" y="2953512"/>
            <a:ext cx="210312" cy="164592"/>
          </a:xfrm>
          <a:prstGeom prst="line">
            <a:avLst/>
          </a:prstGeom>
          <a:noFill/>
          <a:ln w="16510">
            <a:solidFill>
              <a:srgbClr val="2474E8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3941064" y="3118104"/>
            <a:ext cx="201168" cy="-219456"/>
          </a:xfrm>
          <a:prstGeom prst="line">
            <a:avLst/>
          </a:prstGeom>
          <a:noFill/>
          <a:ln w="16510">
            <a:solidFill>
              <a:srgbClr val="2474E8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4014216" y="2679192"/>
            <a:ext cx="201168" cy="201168"/>
          </a:xfrm>
          <a:prstGeom prst="ellipse">
            <a:avLst/>
          </a:prstGeom>
          <a:solidFill>
            <a:srgbClr val="F05A5A"/>
          </a:solidFill>
          <a:ln w="12700">
            <a:solidFill>
              <a:srgbClr val="F05A5A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14216" y="2724912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2660904" y="3817620"/>
            <a:ext cx="64008" cy="64008"/>
          </a:xfrm>
          <a:prstGeom prst="ellipse">
            <a:avLst/>
          </a:prstGeom>
          <a:solidFill>
            <a:srgbClr val="2474E8"/>
          </a:solidFill>
          <a:ln w="12700">
            <a:solidFill>
              <a:srgbClr val="2474E8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88920" y="3767328"/>
            <a:ext cx="15179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B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제품별 수율 점검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660904" y="4119372"/>
            <a:ext cx="64008" cy="64008"/>
          </a:xfrm>
          <a:prstGeom prst="ellipse">
            <a:avLst/>
          </a:prstGeom>
          <a:solidFill>
            <a:srgbClr val="2474E8"/>
          </a:solidFill>
          <a:ln w="12700">
            <a:solidFill>
              <a:srgbClr val="2474E8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88920" y="4069080"/>
            <a:ext cx="15179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B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Wafer Test 트렌드 이상감지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660904" y="4421124"/>
            <a:ext cx="64008" cy="64008"/>
          </a:xfrm>
          <a:prstGeom prst="ellipse">
            <a:avLst/>
          </a:prstGeom>
          <a:solidFill>
            <a:srgbClr val="2474E8"/>
          </a:solidFill>
          <a:ln w="12700">
            <a:solidFill>
              <a:srgbClr val="2474E8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88920" y="4370832"/>
            <a:ext cx="15179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B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Wafer Map 분석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517136" y="3182112"/>
            <a:ext cx="201168" cy="201168"/>
          </a:xfrm>
          <a:prstGeom prst="chevron">
            <a:avLst/>
          </a:prstGeom>
          <a:solidFill>
            <a:srgbClr val="6B75D9"/>
          </a:solidFill>
          <a:ln w="12700">
            <a:solidFill>
              <a:srgbClr val="6B75D9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81728" y="1965960"/>
            <a:ext cx="1993392" cy="3310128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0160">
            <a:solidFill>
              <a:srgbClr val="DCE5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28032" y="2112264"/>
            <a:ext cx="347472" cy="347472"/>
          </a:xfrm>
          <a:prstGeom prst="ellipse">
            <a:avLst/>
          </a:prstGeom>
          <a:solidFill>
            <a:srgbClr val="6756D9"/>
          </a:solidFill>
          <a:ln w="12700">
            <a:solidFill>
              <a:srgbClr val="6756D9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28032" y="21854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248656" y="2121408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75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WT 불량 Define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828032" y="2551176"/>
            <a:ext cx="1700784" cy="1051560"/>
          </a:xfrm>
          <a:prstGeom prst="roundRect">
            <a:avLst>
              <a:gd name="adj" fmla="val 10435"/>
            </a:avLst>
          </a:prstGeom>
          <a:solidFill>
            <a:srgbClr val="F4F7FC"/>
          </a:solidFill>
          <a:ln w="12700">
            <a:solidFill>
              <a:srgbClr val="F4F7FC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92624" y="2724912"/>
            <a:ext cx="749808" cy="612648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10160">
            <a:solidFill>
              <a:srgbClr val="D9E2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49240" y="281635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553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349240" y="299923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553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5870448" y="285292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70448" y="2852928"/>
            <a:ext cx="310896" cy="310896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4E638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26480" y="3108960"/>
            <a:ext cx="182880" cy="182880"/>
          </a:xfrm>
          <a:prstGeom prst="line">
            <a:avLst/>
          </a:prstGeom>
          <a:noFill/>
          <a:ln w="25400">
            <a:solidFill>
              <a:srgbClr val="4E6385"/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4855464" y="3817620"/>
            <a:ext cx="64008" cy="64008"/>
          </a:xfrm>
          <a:prstGeom prst="ellipse">
            <a:avLst/>
          </a:prstGeom>
          <a:solidFill>
            <a:srgbClr val="6756D9"/>
          </a:solidFill>
          <a:ln w="12700">
            <a:solidFill>
              <a:srgbClr val="6756D9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83480" y="3767328"/>
            <a:ext cx="15179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B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불량 개선 History 분석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4855464" y="4119372"/>
            <a:ext cx="64008" cy="64008"/>
          </a:xfrm>
          <a:prstGeom prst="ellipse">
            <a:avLst/>
          </a:prstGeom>
          <a:solidFill>
            <a:srgbClr val="6756D9"/>
          </a:solidFill>
          <a:ln w="12700">
            <a:solidFill>
              <a:srgbClr val="6756D9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83480" y="4069080"/>
            <a:ext cx="15179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B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불량 메커니즘 분석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711696" y="3182112"/>
            <a:ext cx="201168" cy="201168"/>
          </a:xfrm>
          <a:prstGeom prst="chevron">
            <a:avLst/>
          </a:prstGeom>
          <a:solidFill>
            <a:srgbClr val="4C9EEB"/>
          </a:solidFill>
          <a:ln w="12700">
            <a:solidFill>
              <a:srgbClr val="4C9EEB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876288" y="1965960"/>
            <a:ext cx="1993392" cy="3310128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0160">
            <a:solidFill>
              <a:srgbClr val="DCE5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022592" y="2112264"/>
            <a:ext cx="347472" cy="347472"/>
          </a:xfrm>
          <a:prstGeom prst="ellipse">
            <a:avLst/>
          </a:prstGeom>
          <a:solidFill>
            <a:srgbClr val="20AFA5"/>
          </a:solidFill>
          <a:ln w="12700">
            <a:solidFill>
              <a:srgbClr val="20AFA5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22592" y="21854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443216" y="2121408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0AF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Inline - WT 연계 분석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7022592" y="2551176"/>
            <a:ext cx="1700784" cy="1051560"/>
          </a:xfrm>
          <a:prstGeom prst="roundRect">
            <a:avLst>
              <a:gd name="adj" fmla="val 10435"/>
            </a:avLst>
          </a:prstGeom>
          <a:solidFill>
            <a:srgbClr val="F4F7FC"/>
          </a:solidFill>
          <a:ln w="12700">
            <a:solidFill>
              <a:srgbClr val="F4F7FC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132320" y="2724912"/>
            <a:ext cx="594360" cy="585216"/>
          </a:xfrm>
          <a:prstGeom prst="roundRect">
            <a:avLst>
              <a:gd name="adj" fmla="val 18750"/>
            </a:avLst>
          </a:prstGeom>
          <a:solidFill>
            <a:srgbClr val="E9F7F6"/>
          </a:solidFill>
          <a:ln w="12700">
            <a:solidFill>
              <a:srgbClr val="E9F7F6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10144" y="2724912"/>
            <a:ext cx="594360" cy="585216"/>
          </a:xfrm>
          <a:prstGeom prst="roundRect">
            <a:avLst>
              <a:gd name="adj" fmla="val 18750"/>
            </a:avLst>
          </a:prstGeom>
          <a:solidFill>
            <a:srgbClr val="EDF3FF"/>
          </a:solidFill>
          <a:ln w="12700">
            <a:solidFill>
              <a:srgbClr val="EDF3FF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205472" y="292608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0AF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Inline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8101584" y="2926080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776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WT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7735824" y="3017520"/>
            <a:ext cx="265176" cy="0"/>
          </a:xfrm>
          <a:prstGeom prst="line">
            <a:avLst/>
          </a:prstGeom>
          <a:noFill/>
          <a:ln w="25400">
            <a:solidFill>
              <a:srgbClr val="20AFA5"/>
            </a:solidFill>
            <a:prstDash val="solid"/>
            <a:headEnd type="none"/>
            <a:tailEnd type="none"/>
          </a:ln>
        </p:spPr>
      </p:sp>
      <p:sp>
        <p:nvSpPr>
          <p:cNvPr id="85" name="Shape 83"/>
          <p:cNvSpPr/>
          <p:nvPr/>
        </p:nvSpPr>
        <p:spPr>
          <a:xfrm>
            <a:off x="7836408" y="2953512"/>
            <a:ext cx="128016" cy="128016"/>
          </a:xfrm>
          <a:prstGeom prst="ellipse">
            <a:avLst/>
          </a:prstGeom>
          <a:solidFill>
            <a:srgbClr val="20AFA5"/>
          </a:solidFill>
          <a:ln w="12700">
            <a:solidFill>
              <a:srgbClr val="20AFA5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050024" y="3817620"/>
            <a:ext cx="64008" cy="64008"/>
          </a:xfrm>
          <a:prstGeom prst="ellipse">
            <a:avLst/>
          </a:prstGeom>
          <a:solidFill>
            <a:srgbClr val="20AFA5"/>
          </a:solidFill>
          <a:ln w="12700">
            <a:solidFill>
              <a:srgbClr val="20AFA5">
                <a:alpha val="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178040" y="3767328"/>
            <a:ext cx="15179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B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Inline - WT 연계분석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7050024" y="4119372"/>
            <a:ext cx="64008" cy="64008"/>
          </a:xfrm>
          <a:prstGeom prst="ellipse">
            <a:avLst/>
          </a:prstGeom>
          <a:solidFill>
            <a:srgbClr val="20AFA5"/>
          </a:solidFill>
          <a:ln w="12700">
            <a:solidFill>
              <a:srgbClr val="20AFA5">
                <a:alpha val="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4069080"/>
            <a:ext cx="15179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B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Lot / Wafer / Site 연계분석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8906256" y="3182112"/>
            <a:ext cx="201168" cy="201168"/>
          </a:xfrm>
          <a:prstGeom prst="chevron">
            <a:avLst/>
          </a:prstGeom>
          <a:solidFill>
            <a:srgbClr val="39B9BE"/>
          </a:solidFill>
          <a:ln w="12700">
            <a:solidFill>
              <a:srgbClr val="39B9BE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070848" y="1965960"/>
            <a:ext cx="1993392" cy="3310128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0160">
            <a:solidFill>
              <a:srgbClr val="DCE5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217152" y="2112264"/>
            <a:ext cx="347472" cy="347472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217152" y="2185416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9637776" y="2121408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불량 참원인 도출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9217152" y="2551176"/>
            <a:ext cx="1700784" cy="1051560"/>
          </a:xfrm>
          <a:prstGeom prst="roundRect">
            <a:avLst>
              <a:gd name="adj" fmla="val 10435"/>
            </a:avLst>
          </a:prstGeom>
          <a:solidFill>
            <a:srgbClr val="F4F7FC"/>
          </a:solidFill>
          <a:ln w="12700">
            <a:solidFill>
              <a:srgbClr val="F4F7FC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317736" y="2907792"/>
            <a:ext cx="201168" cy="201168"/>
          </a:xfrm>
          <a:prstGeom prst="roundRect">
            <a:avLst>
              <a:gd name="adj" fmla="val 54545"/>
            </a:avLst>
          </a:prstGeom>
          <a:solidFill>
            <a:srgbClr val="E7EDF5"/>
          </a:solidFill>
          <a:ln w="10160">
            <a:solidFill>
              <a:srgbClr val="CBD6E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518904" y="3008376"/>
            <a:ext cx="91440" cy="0"/>
          </a:xfrm>
          <a:prstGeom prst="line">
            <a:avLst/>
          </a:prstGeom>
          <a:noFill/>
          <a:ln w="10160">
            <a:solidFill>
              <a:srgbClr val="AAB8CC"/>
            </a:solidFill>
            <a:prstDash val="solid"/>
            <a:headEnd type="none"/>
            <a:tailEnd type="none"/>
          </a:ln>
        </p:spPr>
      </p:sp>
      <p:sp>
        <p:nvSpPr>
          <p:cNvPr id="98" name="Shape 96"/>
          <p:cNvSpPr/>
          <p:nvPr/>
        </p:nvSpPr>
        <p:spPr>
          <a:xfrm>
            <a:off x="9610344" y="2907792"/>
            <a:ext cx="201168" cy="201168"/>
          </a:xfrm>
          <a:prstGeom prst="roundRect">
            <a:avLst>
              <a:gd name="adj" fmla="val 54545"/>
            </a:avLst>
          </a:prstGeom>
          <a:solidFill>
            <a:srgbClr val="E7EDF5"/>
          </a:solidFill>
          <a:ln w="10160">
            <a:solidFill>
              <a:srgbClr val="CBD6E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811512" y="3008376"/>
            <a:ext cx="91440" cy="0"/>
          </a:xfrm>
          <a:prstGeom prst="line">
            <a:avLst/>
          </a:prstGeom>
          <a:noFill/>
          <a:ln w="10160">
            <a:solidFill>
              <a:srgbClr val="AAB8CC"/>
            </a:solidFill>
            <a:prstDash val="solid"/>
            <a:headEnd type="none"/>
            <a:tailEnd type="none"/>
          </a:ln>
        </p:spPr>
      </p:sp>
      <p:sp>
        <p:nvSpPr>
          <p:cNvPr id="100" name="Shape 98"/>
          <p:cNvSpPr/>
          <p:nvPr/>
        </p:nvSpPr>
        <p:spPr>
          <a:xfrm>
            <a:off x="9902952" y="2907792"/>
            <a:ext cx="201168" cy="201168"/>
          </a:xfrm>
          <a:prstGeom prst="roundRect">
            <a:avLst>
              <a:gd name="adj" fmla="val 54545"/>
            </a:avLst>
          </a:prstGeom>
          <a:solidFill>
            <a:srgbClr val="E7EDF5"/>
          </a:solidFill>
          <a:ln w="10160">
            <a:solidFill>
              <a:srgbClr val="CBD6E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104120" y="3008376"/>
            <a:ext cx="91440" cy="0"/>
          </a:xfrm>
          <a:prstGeom prst="line">
            <a:avLst/>
          </a:prstGeom>
          <a:noFill/>
          <a:ln w="10160">
            <a:solidFill>
              <a:srgbClr val="AAB8CC"/>
            </a:solidFill>
            <a:prstDash val="solid"/>
            <a:headEnd type="none"/>
            <a:tailEnd type="none"/>
          </a:ln>
        </p:spPr>
      </p:sp>
      <p:sp>
        <p:nvSpPr>
          <p:cNvPr id="102" name="Shape 100"/>
          <p:cNvSpPr/>
          <p:nvPr/>
        </p:nvSpPr>
        <p:spPr>
          <a:xfrm>
            <a:off x="10195560" y="2907792"/>
            <a:ext cx="201168" cy="201168"/>
          </a:xfrm>
          <a:prstGeom prst="roundRect">
            <a:avLst>
              <a:gd name="adj" fmla="val 54545"/>
            </a:avLst>
          </a:prstGeom>
          <a:solidFill>
            <a:srgbClr val="FFF0E6"/>
          </a:solidFill>
          <a:ln w="10160">
            <a:solidFill>
              <a:srgbClr val="F5822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396728" y="3008376"/>
            <a:ext cx="91440" cy="0"/>
          </a:xfrm>
          <a:prstGeom prst="line">
            <a:avLst/>
          </a:prstGeom>
          <a:noFill/>
          <a:ln w="10160">
            <a:solidFill>
              <a:srgbClr val="AAB8CC"/>
            </a:solidFill>
            <a:prstDash val="solid"/>
            <a:headEnd type="none"/>
            <a:tailEnd type="none"/>
          </a:ln>
        </p:spPr>
      </p:sp>
      <p:sp>
        <p:nvSpPr>
          <p:cNvPr id="104" name="Shape 102"/>
          <p:cNvSpPr/>
          <p:nvPr/>
        </p:nvSpPr>
        <p:spPr>
          <a:xfrm>
            <a:off x="10488168" y="2907792"/>
            <a:ext cx="201168" cy="201168"/>
          </a:xfrm>
          <a:prstGeom prst="roundRect">
            <a:avLst>
              <a:gd name="adj" fmla="val 54545"/>
            </a:avLst>
          </a:prstGeom>
          <a:solidFill>
            <a:srgbClr val="E7EDF5"/>
          </a:solidFill>
          <a:ln w="10160">
            <a:solidFill>
              <a:srgbClr val="CBD6E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296144" y="3127248"/>
            <a:ext cx="0" cy="256032"/>
          </a:xfrm>
          <a:prstGeom prst="line">
            <a:avLst/>
          </a:prstGeom>
          <a:noFill/>
          <a:ln w="19050">
            <a:solidFill>
              <a:srgbClr val="F58220"/>
            </a:solidFill>
            <a:prstDash val="solid"/>
            <a:headEnd type="none"/>
            <a:tailEnd type="none"/>
          </a:ln>
        </p:spPr>
      </p:sp>
      <p:sp>
        <p:nvSpPr>
          <p:cNvPr id="106" name="Shape 104"/>
          <p:cNvSpPr/>
          <p:nvPr/>
        </p:nvSpPr>
        <p:spPr>
          <a:xfrm rot="5400000">
            <a:off x="10222992" y="3310128"/>
            <a:ext cx="146304" cy="109728"/>
          </a:xfrm>
          <a:prstGeom prst="chevron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244584" y="3817620"/>
            <a:ext cx="64008" cy="64008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372600" y="3767328"/>
            <a:ext cx="15179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B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Inline 혐의공정 도출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9244584" y="4119372"/>
            <a:ext cx="64008" cy="64008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>
                <a:alpha val="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372600" y="4069080"/>
            <a:ext cx="15179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B2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저수율 자재 특이이력 점검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2944368" y="5504688"/>
            <a:ext cx="5806440" cy="713232"/>
          </a:xfrm>
          <a:prstGeom prst="roundRect">
            <a:avLst>
              <a:gd name="adj" fmla="val 15385"/>
            </a:avLst>
          </a:prstGeom>
          <a:solidFill>
            <a:srgbClr val="EDEBFF"/>
          </a:solidFill>
          <a:ln w="10160">
            <a:solidFill>
              <a:srgbClr val="D8D2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172968" y="5650992"/>
            <a:ext cx="384048" cy="384048"/>
          </a:xfrm>
          <a:prstGeom prst="ellipse">
            <a:avLst/>
          </a:prstGeom>
          <a:solidFill>
            <a:srgbClr val="6756D9"/>
          </a:solidFill>
          <a:ln w="12700">
            <a:solidFill>
              <a:srgbClr val="6756D9">
                <a:alpha val="0"/>
              </a:srgbClr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172968" y="5751576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3685032" y="55961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D2C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수율분석 Agent</a:t>
            </a:r>
            <a:endParaRPr lang="en-US" sz="1600" dirty="0"/>
          </a:p>
        </p:txBody>
      </p:sp>
      <p:sp>
        <p:nvSpPr>
          <p:cNvPr id="115" name="Text 113"/>
          <p:cNvSpPr/>
          <p:nvPr/>
        </p:nvSpPr>
        <p:spPr>
          <a:xfrm>
            <a:off x="3685032" y="5870448"/>
            <a:ext cx="4498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D5B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SOP를 연결하고 · 분석을 자동 실행하고 · 원인 후보와 개선 방향을 제안</a:t>
            </a:r>
            <a:endParaRPr lang="en-US" sz="830" dirty="0"/>
          </a:p>
        </p:txBody>
      </p:sp>
      <p:sp>
        <p:nvSpPr>
          <p:cNvPr id="116" name="Shape 114"/>
          <p:cNvSpPr/>
          <p:nvPr/>
        </p:nvSpPr>
        <p:spPr>
          <a:xfrm>
            <a:off x="3246120" y="6336792"/>
            <a:ext cx="201168" cy="201168"/>
          </a:xfrm>
          <a:prstGeom prst="ellipse">
            <a:avLst/>
          </a:prstGeom>
          <a:solidFill>
            <a:srgbClr val="7896BF"/>
          </a:solidFill>
          <a:ln w="12700">
            <a:solidFill>
              <a:srgbClr val="7896BF">
                <a:alpha val="0"/>
              </a:srgbClr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136392" y="6528816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3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Inline</a:t>
            </a:r>
            <a:endParaRPr lang="en-US" sz="580" dirty="0"/>
          </a:p>
        </p:txBody>
      </p:sp>
      <p:sp>
        <p:nvSpPr>
          <p:cNvPr id="118" name="Shape 116"/>
          <p:cNvSpPr/>
          <p:nvPr/>
        </p:nvSpPr>
        <p:spPr>
          <a:xfrm>
            <a:off x="3346704" y="6318504"/>
            <a:ext cx="0" cy="-100584"/>
          </a:xfrm>
          <a:prstGeom prst="line">
            <a:avLst/>
          </a:prstGeom>
          <a:noFill/>
          <a:ln w="10160">
            <a:solidFill>
              <a:srgbClr val="8798B3"/>
            </a:solidFill>
            <a:prstDash val="solid"/>
            <a:headEnd type="none"/>
            <a:tailEnd type="none"/>
          </a:ln>
        </p:spPr>
      </p:sp>
      <p:sp>
        <p:nvSpPr>
          <p:cNvPr id="119" name="Shape 117"/>
          <p:cNvSpPr/>
          <p:nvPr/>
        </p:nvSpPr>
        <p:spPr>
          <a:xfrm>
            <a:off x="4270248" y="6336792"/>
            <a:ext cx="201168" cy="201168"/>
          </a:xfrm>
          <a:prstGeom prst="ellipse">
            <a:avLst/>
          </a:prstGeom>
          <a:solidFill>
            <a:srgbClr val="5E80B0"/>
          </a:solidFill>
          <a:ln w="12700">
            <a:solidFill>
              <a:srgbClr val="5E80B0">
                <a:alpha val="0"/>
              </a:srgbClr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160520" y="6528816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3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WT</a:t>
            </a:r>
            <a:endParaRPr lang="en-US" sz="580" dirty="0"/>
          </a:p>
        </p:txBody>
      </p:sp>
      <p:sp>
        <p:nvSpPr>
          <p:cNvPr id="121" name="Shape 119"/>
          <p:cNvSpPr/>
          <p:nvPr/>
        </p:nvSpPr>
        <p:spPr>
          <a:xfrm>
            <a:off x="4370832" y="6318504"/>
            <a:ext cx="0" cy="-100584"/>
          </a:xfrm>
          <a:prstGeom prst="line">
            <a:avLst/>
          </a:prstGeom>
          <a:noFill/>
          <a:ln w="10160">
            <a:solidFill>
              <a:srgbClr val="8798B3"/>
            </a:solidFill>
            <a:prstDash val="solid"/>
            <a:headEnd type="none"/>
            <a:tailEnd type="none"/>
          </a:ln>
        </p:spPr>
      </p:sp>
      <p:sp>
        <p:nvSpPr>
          <p:cNvPr id="122" name="Shape 120"/>
          <p:cNvSpPr/>
          <p:nvPr/>
        </p:nvSpPr>
        <p:spPr>
          <a:xfrm>
            <a:off x="5294376" y="6336792"/>
            <a:ext cx="201168" cy="201168"/>
          </a:xfrm>
          <a:prstGeom prst="ellipse">
            <a:avLst/>
          </a:prstGeom>
          <a:solidFill>
            <a:srgbClr val="5574A1"/>
          </a:solidFill>
          <a:ln w="12700">
            <a:solidFill>
              <a:srgbClr val="5574A1">
                <a:alpha val="0"/>
              </a:srgbClr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184648" y="6528816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3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580" dirty="0"/>
          </a:p>
        </p:txBody>
      </p:sp>
      <p:sp>
        <p:nvSpPr>
          <p:cNvPr id="124" name="Shape 122"/>
          <p:cNvSpPr/>
          <p:nvPr/>
        </p:nvSpPr>
        <p:spPr>
          <a:xfrm>
            <a:off x="5394960" y="6318504"/>
            <a:ext cx="0" cy="-100584"/>
          </a:xfrm>
          <a:prstGeom prst="line">
            <a:avLst/>
          </a:prstGeom>
          <a:noFill/>
          <a:ln w="10160">
            <a:solidFill>
              <a:srgbClr val="8798B3"/>
            </a:solidFill>
            <a:prstDash val="solid"/>
            <a:headEnd type="none"/>
            <a:tailEnd type="none"/>
          </a:ln>
        </p:spPr>
      </p:sp>
      <p:sp>
        <p:nvSpPr>
          <p:cNvPr id="125" name="Shape 123"/>
          <p:cNvSpPr/>
          <p:nvPr/>
        </p:nvSpPr>
        <p:spPr>
          <a:xfrm>
            <a:off x="6318504" y="6336792"/>
            <a:ext cx="201168" cy="201168"/>
          </a:xfrm>
          <a:prstGeom prst="ellipse">
            <a:avLst/>
          </a:prstGeom>
          <a:solidFill>
            <a:srgbClr val="6A7E9F"/>
          </a:solidFill>
          <a:ln w="12700">
            <a:solidFill>
              <a:srgbClr val="6A7E9F">
                <a:alpha val="0"/>
              </a:srgbClr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208776" y="6528816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3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</a:t>
            </a:r>
            <a:endParaRPr lang="en-US" sz="580" dirty="0"/>
          </a:p>
        </p:txBody>
      </p:sp>
      <p:sp>
        <p:nvSpPr>
          <p:cNvPr id="127" name="Shape 125"/>
          <p:cNvSpPr/>
          <p:nvPr/>
        </p:nvSpPr>
        <p:spPr>
          <a:xfrm>
            <a:off x="6419088" y="6318504"/>
            <a:ext cx="0" cy="-100584"/>
          </a:xfrm>
          <a:prstGeom prst="line">
            <a:avLst/>
          </a:prstGeom>
          <a:noFill/>
          <a:ln w="10160">
            <a:solidFill>
              <a:srgbClr val="8798B3"/>
            </a:solidFill>
            <a:prstDash val="solid"/>
            <a:headEnd type="none"/>
            <a:tailEnd type="none"/>
          </a:ln>
        </p:spPr>
      </p:sp>
      <p:sp>
        <p:nvSpPr>
          <p:cNvPr id="128" name="Shape 126"/>
          <p:cNvSpPr/>
          <p:nvPr/>
        </p:nvSpPr>
        <p:spPr>
          <a:xfrm>
            <a:off x="7342632" y="6336792"/>
            <a:ext cx="201168" cy="201168"/>
          </a:xfrm>
          <a:prstGeom prst="ellipse">
            <a:avLst/>
          </a:prstGeom>
          <a:solidFill>
            <a:srgbClr val="687590"/>
          </a:solidFill>
          <a:ln w="12700">
            <a:solidFill>
              <a:srgbClr val="687590">
                <a:alpha val="0"/>
              </a:srgbClr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232904" y="6528816"/>
            <a:ext cx="4206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53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endParaRPr lang="en-US" sz="580" dirty="0"/>
          </a:p>
        </p:txBody>
      </p:sp>
      <p:sp>
        <p:nvSpPr>
          <p:cNvPr id="130" name="Shape 128"/>
          <p:cNvSpPr/>
          <p:nvPr/>
        </p:nvSpPr>
        <p:spPr>
          <a:xfrm>
            <a:off x="7443216" y="6318504"/>
            <a:ext cx="0" cy="-100584"/>
          </a:xfrm>
          <a:prstGeom prst="line">
            <a:avLst/>
          </a:prstGeom>
          <a:noFill/>
          <a:ln w="10160">
            <a:solidFill>
              <a:srgbClr val="8798B3"/>
            </a:solidFill>
            <a:prstDash val="solid"/>
            <a:headEnd type="none"/>
            <a:tailEnd type="none"/>
          </a:ln>
        </p:spPr>
      </p:sp>
      <p:sp>
        <p:nvSpPr>
          <p:cNvPr id="131" name="Shape 129"/>
          <p:cNvSpPr/>
          <p:nvPr/>
        </p:nvSpPr>
        <p:spPr>
          <a:xfrm>
            <a:off x="3456432" y="5276088"/>
            <a:ext cx="0" cy="182880"/>
          </a:xfrm>
          <a:prstGeom prst="line">
            <a:avLst/>
          </a:prstGeom>
          <a:noFill/>
          <a:ln w="17780">
            <a:solidFill>
              <a:srgbClr val="9DAFF2"/>
            </a:solidFill>
            <a:prstDash val="solid"/>
            <a:headEnd type="none"/>
            <a:tailEnd type="none"/>
          </a:ln>
        </p:spPr>
      </p:sp>
      <p:sp>
        <p:nvSpPr>
          <p:cNvPr id="132" name="Shape 130"/>
          <p:cNvSpPr/>
          <p:nvPr/>
        </p:nvSpPr>
        <p:spPr>
          <a:xfrm rot="5400000">
            <a:off x="3401568" y="5413248"/>
            <a:ext cx="109728" cy="91440"/>
          </a:xfrm>
          <a:prstGeom prst="chevron">
            <a:avLst/>
          </a:prstGeom>
          <a:solidFill>
            <a:srgbClr val="9DAFF2"/>
          </a:solidFill>
          <a:ln w="12700">
            <a:solidFill>
              <a:srgbClr val="9DAFF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650992" y="5276088"/>
            <a:ext cx="0" cy="182880"/>
          </a:xfrm>
          <a:prstGeom prst="line">
            <a:avLst/>
          </a:prstGeom>
          <a:noFill/>
          <a:ln w="17780">
            <a:solidFill>
              <a:srgbClr val="9DAFF2"/>
            </a:solidFill>
            <a:prstDash val="solid"/>
            <a:headEnd type="none"/>
            <a:tailEnd type="none"/>
          </a:ln>
        </p:spPr>
      </p:sp>
      <p:sp>
        <p:nvSpPr>
          <p:cNvPr id="134" name="Shape 132"/>
          <p:cNvSpPr/>
          <p:nvPr/>
        </p:nvSpPr>
        <p:spPr>
          <a:xfrm rot="5400000">
            <a:off x="5596128" y="5413248"/>
            <a:ext cx="109728" cy="91440"/>
          </a:xfrm>
          <a:prstGeom prst="chevron">
            <a:avLst/>
          </a:prstGeom>
          <a:solidFill>
            <a:srgbClr val="9DAFF2"/>
          </a:solidFill>
          <a:ln w="12700">
            <a:solidFill>
              <a:srgbClr val="9DAFF2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845552" y="5276088"/>
            <a:ext cx="0" cy="182880"/>
          </a:xfrm>
          <a:prstGeom prst="line">
            <a:avLst/>
          </a:prstGeom>
          <a:noFill/>
          <a:ln w="17780">
            <a:solidFill>
              <a:srgbClr val="9DAFF2"/>
            </a:solidFill>
            <a:prstDash val="solid"/>
            <a:headEnd type="none"/>
            <a:tailEnd type="none"/>
          </a:ln>
        </p:spPr>
      </p:sp>
      <p:sp>
        <p:nvSpPr>
          <p:cNvPr id="136" name="Shape 134"/>
          <p:cNvSpPr/>
          <p:nvPr/>
        </p:nvSpPr>
        <p:spPr>
          <a:xfrm rot="5400000">
            <a:off x="7790688" y="5413248"/>
            <a:ext cx="109728" cy="91440"/>
          </a:xfrm>
          <a:prstGeom prst="chevron">
            <a:avLst/>
          </a:prstGeom>
          <a:solidFill>
            <a:srgbClr val="9DAFF2"/>
          </a:solidFill>
          <a:ln w="12700">
            <a:solidFill>
              <a:srgbClr val="9DAFF2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0040112" y="5276088"/>
            <a:ext cx="0" cy="182880"/>
          </a:xfrm>
          <a:prstGeom prst="line">
            <a:avLst/>
          </a:prstGeom>
          <a:noFill/>
          <a:ln w="17780">
            <a:solidFill>
              <a:srgbClr val="9DAFF2"/>
            </a:solidFill>
            <a:prstDash val="solid"/>
            <a:headEnd type="none"/>
            <a:tailEnd type="none"/>
          </a:ln>
        </p:spPr>
      </p:sp>
      <p:sp>
        <p:nvSpPr>
          <p:cNvPr id="138" name="Shape 136"/>
          <p:cNvSpPr/>
          <p:nvPr/>
        </p:nvSpPr>
        <p:spPr>
          <a:xfrm rot="5400000">
            <a:off x="9985248" y="5413248"/>
            <a:ext cx="109728" cy="91440"/>
          </a:xfrm>
          <a:prstGeom prst="chevron">
            <a:avLst/>
          </a:prstGeom>
          <a:solidFill>
            <a:srgbClr val="9DAFF2"/>
          </a:solidFill>
          <a:ln w="12700">
            <a:solidFill>
              <a:srgbClr val="9DAFF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1228832" y="1353312"/>
            <a:ext cx="658368" cy="4983480"/>
          </a:xfrm>
          <a:prstGeom prst="roundRect">
            <a:avLst>
              <a:gd name="adj" fmla="val 16667"/>
            </a:avLst>
          </a:prstGeom>
          <a:solidFill>
            <a:srgbClr val="315887"/>
          </a:solidFill>
          <a:ln w="12700">
            <a:solidFill>
              <a:srgbClr val="315887">
                <a:alpha val="0"/>
              </a:srgbClr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1329416" y="1572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11375136" y="2121408"/>
            <a:ext cx="365760" cy="365760"/>
          </a:xfrm>
          <a:prstGeom prst="ellipse">
            <a:avLst/>
          </a:prstGeom>
          <a:solidFill>
            <a:srgbClr val="4672A5"/>
          </a:solidFill>
          <a:ln w="12700">
            <a:solidFill>
              <a:srgbClr val="4672A5">
                <a:alpha val="0"/>
              </a:srgbClr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1375136" y="221284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100" dirty="0"/>
          </a:p>
        </p:txBody>
      </p:sp>
      <p:sp>
        <p:nvSpPr>
          <p:cNvPr id="143" name="Text 141"/>
          <p:cNvSpPr/>
          <p:nvPr/>
        </p:nvSpPr>
        <p:spPr>
          <a:xfrm>
            <a:off x="11283696" y="2560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조기 감지</a:t>
            </a:r>
            <a:endParaRPr lang="en-US" sz="670" dirty="0"/>
          </a:p>
        </p:txBody>
      </p:sp>
      <p:sp>
        <p:nvSpPr>
          <p:cNvPr id="144" name="Shape 142"/>
          <p:cNvSpPr/>
          <p:nvPr/>
        </p:nvSpPr>
        <p:spPr>
          <a:xfrm>
            <a:off x="11375136" y="3035808"/>
            <a:ext cx="365760" cy="365760"/>
          </a:xfrm>
          <a:prstGeom prst="ellipse">
            <a:avLst/>
          </a:prstGeom>
          <a:solidFill>
            <a:srgbClr val="4672A5"/>
          </a:solidFill>
          <a:ln w="12700">
            <a:solidFill>
              <a:srgbClr val="4672A5">
                <a:alpha val="0"/>
              </a:srgbClr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1375136" y="312724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◎</a:t>
            </a:r>
            <a:endParaRPr lang="en-US" sz="1100" dirty="0"/>
          </a:p>
        </p:txBody>
      </p:sp>
      <p:sp>
        <p:nvSpPr>
          <p:cNvPr id="146" name="Text 144"/>
          <p:cNvSpPr/>
          <p:nvPr/>
        </p:nvSpPr>
        <p:spPr>
          <a:xfrm>
            <a:off x="11283696" y="34747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의사결정</a:t>
            </a:r>
            <a:endParaRPr lang="en-US" sz="670" dirty="0"/>
          </a:p>
        </p:txBody>
      </p:sp>
      <p:sp>
        <p:nvSpPr>
          <p:cNvPr id="147" name="Shape 145"/>
          <p:cNvSpPr/>
          <p:nvPr/>
        </p:nvSpPr>
        <p:spPr>
          <a:xfrm>
            <a:off x="11375136" y="3950208"/>
            <a:ext cx="365760" cy="365760"/>
          </a:xfrm>
          <a:prstGeom prst="ellipse">
            <a:avLst/>
          </a:prstGeom>
          <a:solidFill>
            <a:srgbClr val="4672A5"/>
          </a:solidFill>
          <a:ln w="12700">
            <a:solidFill>
              <a:srgbClr val="4672A5">
                <a:alpha val="0"/>
              </a:srgbClr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1375136" y="404164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</a:t>
            </a:r>
            <a:endParaRPr lang="en-US" sz="1100" dirty="0"/>
          </a:p>
        </p:txBody>
      </p:sp>
      <p:sp>
        <p:nvSpPr>
          <p:cNvPr id="149" name="Text 147"/>
          <p:cNvSpPr/>
          <p:nvPr/>
        </p:nvSpPr>
        <p:spPr>
          <a:xfrm>
            <a:off x="11283696" y="43891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효율화</a:t>
            </a:r>
            <a:endParaRPr lang="en-US" sz="670" dirty="0"/>
          </a:p>
        </p:txBody>
      </p:sp>
      <p:sp>
        <p:nvSpPr>
          <p:cNvPr id="150" name="Shape 148"/>
          <p:cNvSpPr/>
          <p:nvPr/>
        </p:nvSpPr>
        <p:spPr>
          <a:xfrm>
            <a:off x="11375136" y="4864608"/>
            <a:ext cx="365760" cy="365760"/>
          </a:xfrm>
          <a:prstGeom prst="ellipse">
            <a:avLst/>
          </a:prstGeom>
          <a:solidFill>
            <a:srgbClr val="4672A5"/>
          </a:solidFill>
          <a:ln w="12700">
            <a:solidFill>
              <a:srgbClr val="4672A5">
                <a:alpha val="0"/>
              </a:srgbClr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1375136" y="4956048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1100" dirty="0"/>
          </a:p>
        </p:txBody>
      </p:sp>
      <p:sp>
        <p:nvSpPr>
          <p:cNvPr id="152" name="Text 150"/>
          <p:cNvSpPr/>
          <p:nvPr/>
        </p:nvSpPr>
        <p:spPr>
          <a:xfrm>
            <a:off x="11283696" y="5303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수율 경쟁력</a:t>
            </a:r>
            <a:endParaRPr lang="en-US" sz="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A89A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SK hynix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수율분석 Agent 개발 배경</dc:title>
  <dc:subject>Yield Analysis Agent infographic</dc:subject>
  <dc:creator>OpenAI</dc:creator>
  <cp:lastModifiedBy>OpenAI</cp:lastModifiedBy>
  <cp:revision>1</cp:revision>
  <dcterms:created xsi:type="dcterms:W3CDTF">2026-09-09T08:02:29Z</dcterms:created>
  <dcterms:modified xsi:type="dcterms:W3CDTF">2026-09-09T08:02:29Z</dcterms:modified>
</cp:coreProperties>
</file>
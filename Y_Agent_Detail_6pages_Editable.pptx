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73e000de748e0" /><Relationship Type="http://schemas.openxmlformats.org/officeDocument/2006/relationships/extended-properties" Target="/docProps/app.xml" Id="R8aa67f72bdb3417c" /><Relationship Type="http://schemas.openxmlformats.org/officeDocument/2006/relationships/officeDocument" Target="/ppt/presentation.xml" Id="R23eb0669d565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3ade7d90a4ee5"/>
  </p:sldMasterIdLst>
  <p:notesMasterIdLst>
    <p:notesMasterId xmlns:r="http://schemas.openxmlformats.org/officeDocument/2006/relationships" r:id="Re8e3c5df561344d3"/>
  </p:notesMasterIdLst>
  <p:sldIdLst>
    <p:sldId xmlns:r="http://schemas.openxmlformats.org/officeDocument/2006/relationships" id="256" r:id="R395ed29703d745e0"/>
    <p:sldId xmlns:r="http://schemas.openxmlformats.org/officeDocument/2006/relationships" id="257" r:id="R3ecc773d423f464f"/>
    <p:sldId xmlns:r="http://schemas.openxmlformats.org/officeDocument/2006/relationships" id="258" r:id="R1e60a12f4c8d4b40"/>
    <p:sldId xmlns:r="http://schemas.openxmlformats.org/officeDocument/2006/relationships" id="259" r:id="R8397705227c74955"/>
    <p:sldId xmlns:r="http://schemas.openxmlformats.org/officeDocument/2006/relationships" id="260" r:id="Rc3eee0e1bd9641e4"/>
    <p:sldId xmlns:r="http://schemas.openxmlformats.org/officeDocument/2006/relationships" id="261" r:id="R7607faa3f3314fc4"/>
  </p:sldIdLst>
  <p:sldSz cx="10039350" cy="14211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9050a14c3e46d5" /><Relationship Type="http://schemas.openxmlformats.org/officeDocument/2006/relationships/slideMaster" Target="/ppt/slideMasters/slideMaster1.xml" Id="R1583ade7d90a4ee5" /><Relationship Type="http://schemas.openxmlformats.org/officeDocument/2006/relationships/notesMaster" Target="/ppt/notesMasters/notesMaster1.xml" Id="Re8e3c5df561344d3" /><Relationship Type="http://schemas.openxmlformats.org/officeDocument/2006/relationships/presProps" Target="/ppt/presProps.xml" Id="Rf56ac50da16d462f" /><Relationship Type="http://schemas.openxmlformats.org/officeDocument/2006/relationships/tableStyles" Target="/ppt/tableStyles.xml" Id="Reb47850387994f25" /><Relationship Type="http://schemas.openxmlformats.org/officeDocument/2006/relationships/slide" Target="/ppt/slides/slide1.xml" Id="R395ed29703d745e0" /><Relationship Type="http://schemas.openxmlformats.org/officeDocument/2006/relationships/slide" Target="/ppt/slides/slide2.xml" Id="R3ecc773d423f464f" /><Relationship Type="http://schemas.openxmlformats.org/officeDocument/2006/relationships/slide" Target="/ppt/slides/slide3.xml" Id="R1e60a12f4c8d4b40" /><Relationship Type="http://schemas.openxmlformats.org/officeDocument/2006/relationships/slide" Target="/ppt/slides/slide4.xml" Id="R8397705227c74955" /><Relationship Type="http://schemas.openxmlformats.org/officeDocument/2006/relationships/slide" Target="/ppt/slides/slide5.xml" Id="Rc3eee0e1bd9641e4" /><Relationship Type="http://schemas.openxmlformats.org/officeDocument/2006/relationships/slide" Target="/ppt/slides/slide6.xml" Id="R7607faa3f331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139572d51c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230e0e688468b" /><Relationship Type="http://schemas.openxmlformats.org/officeDocument/2006/relationships/notesMaster" Target="/ppt/notesMasters/notesMaster1.xml" Id="Reb30e76c3cd8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befa27bd7457c" /><Relationship Type="http://schemas.openxmlformats.org/officeDocument/2006/relationships/notesMaster" Target="/ppt/notesMasters/notesMaster1.xml" Id="Rc7bc969613d9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6784cc52943a7" /><Relationship Type="http://schemas.openxmlformats.org/officeDocument/2006/relationships/notesMaster" Target="/ppt/notesMasters/notesMaster1.xml" Id="R267dfaded8dc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4a1d4513754c7d" /><Relationship Type="http://schemas.openxmlformats.org/officeDocument/2006/relationships/notesMaster" Target="/ppt/notesMasters/notesMaster1.xml" Id="R292a50e9519d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b60a2ce2b44fc" /><Relationship Type="http://schemas.openxmlformats.org/officeDocument/2006/relationships/notesMaster" Target="/ppt/notesMasters/notesMaster1.xml" Id="Rb35822e6fb784a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7a8c3221ec4fa4" /><Relationship Type="http://schemas.openxmlformats.org/officeDocument/2006/relationships/notesMaster" Target="/ppt/notesMasters/notesMaster1.xml" Id="R3afe174103a1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자료의 1페이지 내용 기반. 동일 번호 수정본이 있는 경우 수정 세로형 자료를 우선 반영. 완료 기능과 향후 계획을 구분. 원본에서 수치가 제시되지 않은 성능 비교는 정량 수치를 생성하지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자료의 2페이지 내용 기반. 동일 번호 수정본이 있는 경우 수정 세로형 자료를 우선 반영. 완료 기능과 향후 계획을 구분. 원본에서 수치가 제시되지 않은 성능 비교는 정량 수치를 생성하지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자료의 3페이지 내용 기반. 동일 번호 수정본이 있는 경우 수정 세로형 자료를 우선 반영. 완료 기능과 향후 계획을 구분. 원본에서 수치가 제시되지 않은 성능 비교는 정량 수치를 생성하지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자료의 4페이지 내용 기반. 동일 번호 수정본이 있는 경우 수정 세로형 자료를 우선 반영. 완료 기능과 향후 계획을 구분. 원본에서 수치가 제시되지 않은 성능 비교는 정량 수치를 생성하지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자료의 5페이지 내용 기반. 동일 번호 수정본이 있는 경우 수정 세로형 자료를 우선 반영. 완료 기능과 향후 계획을 구분. 원본에서 수치가 제시되지 않은 성능 비교는 정량 수치를 생성하지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50FD48E2-B027-412F-939B-CC3FFF944CDE(1).jpeg 기반 세로 재배치. Workflow 지식화·자율 분석·MCP Market 확산은 향후 추진 방향. 다음 단계 기준: 전 제품 Co-pilot의 실질적 도움, Workflow 지속 축적, 축적 지식을 활용한 성공 사례 증가.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ea27e4da1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1ccaf930e4a59" /><Relationship Type="http://schemas.openxmlformats.org/officeDocument/2006/relationships/slideLayout" Target="/ppt/slideLayouts/slideLayout1.xml" Id="R4b95aedac6574f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5aedac6574f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652bac064849" /><Relationship Type="http://schemas.openxmlformats.org/officeDocument/2006/relationships/notesSlide" Target="/ppt/notesSlides/notesSlide1.xml" Id="R78487f3e8c2941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2cfd178d14e04" /><Relationship Type="http://schemas.openxmlformats.org/officeDocument/2006/relationships/image" Target="/ppt/media/image.png" Id="Ra413c31b754d447c" /><Relationship Type="http://schemas.openxmlformats.org/officeDocument/2006/relationships/notesSlide" Target="/ppt/notesSlides/notesSlide2.xml" Id="Rb158ea84a90b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d651713f64b86" /><Relationship Type="http://schemas.openxmlformats.org/officeDocument/2006/relationships/image" Target="/ppt/media/image2.png" Id="Rb9f8acf19f874b54" /><Relationship Type="http://schemas.openxmlformats.org/officeDocument/2006/relationships/notesSlide" Target="/ppt/notesSlides/notesSlide3.xml" Id="Rd0dca8e6bd4b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5db9961df4d19" /><Relationship Type="http://schemas.openxmlformats.org/officeDocument/2006/relationships/notesSlide" Target="/ppt/notesSlides/notesSlide4.xml" Id="R6c4b86247bde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a5fec15c84793" /><Relationship Type="http://schemas.openxmlformats.org/officeDocument/2006/relationships/notesSlide" Target="/ppt/notesSlides/notesSlide5.xml" Id="R54cf56bb7c8646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f119b41db4038" /><Relationship Type="http://schemas.openxmlformats.org/officeDocument/2006/relationships/notesSlide" Target="/ppt/notesSlides/notesSlide6.xml" Id="Re9485d91715f40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8" name="header__1">
              <a:extLst xmlns:a="http://schemas.openxmlformats.org/drawingml/2006/main">
                <a:ext uri="{FF2B5EF4-FFF2-40B4-BE49-F238E27FC236}">
                  <a16:creationId xmlns:a16="http://schemas.microsoft.com/office/drawing/2014/main" id="{3DE30F6C-442B-4373-B787-FF4752DD1E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2">
              <a:extLst xmlns:a="http://schemas.openxmlformats.org/drawingml/2006/main">
                <a:ext uri="{FF2B5EF4-FFF2-40B4-BE49-F238E27FC236}">
                  <a16:creationId xmlns:a16="http://schemas.microsoft.com/office/drawing/2014/main" id="{B892EA88-527A-4605-914C-FFC7B2D543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3">
              <a:extLst xmlns:a="http://schemas.openxmlformats.org/drawingml/2006/main">
                <a:ext uri="{FF2B5EF4-FFF2-40B4-BE49-F238E27FC236}">
                  <a16:creationId xmlns:a16="http://schemas.microsoft.com/office/drawing/2014/main" id="{74CAAD60-3E62-45B5-9F29-D8ED2AF768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01 / 06</a:t>
              </a:r>
            </a:p>
          </p:txBody>
        </p:sp>
        <p:sp>
          <p:nvSpPr>
            <p:cNvPr id="4" name="header__4">
              <a:extLst xmlns:a="http://schemas.openxmlformats.org/drawingml/2006/main">
                <a:ext uri="{FF2B5EF4-FFF2-40B4-BE49-F238E27FC236}">
                  <a16:creationId xmlns:a16="http://schemas.microsoft.com/office/drawing/2014/main" id="{57E2F7CB-E328-4727-9724-E219B6432C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5">
              <a:extLst xmlns:a="http://schemas.openxmlformats.org/drawingml/2006/main">
                <a:ext uri="{FF2B5EF4-FFF2-40B4-BE49-F238E27FC236}">
                  <a16:creationId xmlns:a16="http://schemas.microsoft.com/office/drawing/2014/main" id="{F31006ED-97B5-4D07-BCCD-872774D28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7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숙련자의 도메인 전문성과 분석 Know-how를 결합한</a:t>
              </a:r>
            </a:p>
            <a:p xmlns:a="http://schemas.openxmlformats.org/drawingml/2006/main">
              <a:pPr algn="l">
                <a:defRPr sz="27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7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Y-Agent 기반 수율 분석 혁신</a:t>
              </a:r>
            </a:p>
          </p:txBody>
        </p:sp>
        <p:sp>
          <p:nvSpPr>
            <p:cNvPr id="6" name="header__6">
              <a:extLst xmlns:a="http://schemas.openxmlformats.org/drawingml/2006/main">
                <a:ext uri="{FF2B5EF4-FFF2-40B4-BE49-F238E27FC236}">
                  <a16:creationId xmlns:a16="http://schemas.microsoft.com/office/drawing/2014/main" id="{99126F7B-C55C-4A8E-A2C7-8D6503CCC7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사람의 경험을 조직의 자산으로, 더 높은 수율을 위한 분석 체계 구축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7">
              <a:extLst xmlns:a="http://schemas.openxmlformats.org/drawingml/2006/main">
                <a:ext uri="{FF2B5EF4-FFF2-40B4-BE49-F238E27FC236}">
                  <a16:creationId xmlns:a16="http://schemas.microsoft.com/office/drawing/2014/main" id="{0EF755FA-F3AC-48AD-B1A9-915C9BB9AA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114550"/>
            </a:xfrm>
            <a:prstGeom xmlns:a="http://schemas.openxmlformats.org/drawingml/2006/main" prst="roundRect">
              <a:avLst>
                <a:gd name="adj" fmla="val 360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8">
              <a:extLst xmlns:a="http://schemas.openxmlformats.org/drawingml/2006/main">
                <a:ext uri="{FF2B5EF4-FFF2-40B4-BE49-F238E27FC236}">
                  <a16:creationId xmlns:a16="http://schemas.microsoft.com/office/drawing/2014/main" id="{D16B44BA-78FF-46A4-9A6A-448FD347B5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9">
              <a:extLst xmlns:a="http://schemas.openxmlformats.org/drawingml/2006/main">
                <a:ext uri="{FF2B5EF4-FFF2-40B4-BE49-F238E27FC236}">
                  <a16:creationId xmlns:a16="http://schemas.microsoft.com/office/drawing/2014/main" id="{D9A2F39B-793B-4912-A1AA-4D67B42FA3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0">
              <a:extLst xmlns:a="http://schemas.openxmlformats.org/drawingml/2006/main">
                <a:ext uri="{FF2B5EF4-FFF2-40B4-BE49-F238E27FC236}">
                  <a16:creationId xmlns:a16="http://schemas.microsoft.com/office/drawing/2014/main" id="{EDBCBB20-02B0-48C0-8727-F06CB24BC8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1">
              <a:extLst xmlns:a="http://schemas.openxmlformats.org/drawingml/2006/main">
                <a:ext uri="{FF2B5EF4-FFF2-40B4-BE49-F238E27FC236}">
                  <a16:creationId xmlns:a16="http://schemas.microsoft.com/office/drawing/2014/main" id="{B3623B66-148B-4F58-B170-8331DC9B37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업무 특성  ·  수율 분석은 전문적 판단의 연속</a:t>
              </a:r>
            </a:p>
          </p:txBody>
        </p:sp>
        <p:sp>
          <p:nvSpPr>
            <p:cNvPr id="12" name="section01__12">
              <a:extLst xmlns:a="http://schemas.openxmlformats.org/drawingml/2006/main">
                <a:ext uri="{FF2B5EF4-FFF2-40B4-BE49-F238E27FC236}">
                  <a16:creationId xmlns:a16="http://schemas.microsoft.com/office/drawing/2014/main" id="{512AC239-2F42-4F8C-BCB3-789F72941D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2847975"/>
              <a:ext cx="558165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WT 특정 Fail 열화 발생</a:t>
              </a:r>
            </a:p>
          </p:txBody>
        </p:sp>
        <p:sp>
          <p:nvSpPr>
            <p:cNvPr id="13" name="section01__13">
              <a:extLst xmlns:a="http://schemas.openxmlformats.org/drawingml/2006/main">
                <a:ext uri="{FF2B5EF4-FFF2-40B4-BE49-F238E27FC236}">
                  <a16:creationId xmlns:a16="http://schemas.microsoft.com/office/drawing/2014/main" id="{A2DD6029-0D5D-48B0-8185-6C624A5D85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3209925"/>
              <a:ext cx="1304925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4" name="section01__14">
              <a:extLst xmlns:a="http://schemas.openxmlformats.org/drawingml/2006/main">
                <a:ext uri="{FF2B5EF4-FFF2-40B4-BE49-F238E27FC236}">
                  <a16:creationId xmlns:a16="http://schemas.microsoft.com/office/drawing/2014/main" id="{6426D877-D567-407C-8614-8708C365A6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3286125"/>
              <a:ext cx="11334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무엇을 먼저</a:t>
              </a:r>
            </a:p>
          </p:txBody>
        </p:sp>
        <p:sp>
          <p:nvSpPr>
            <p:cNvPr id="15" name="section01__15">
              <a:extLst xmlns:a="http://schemas.openxmlformats.org/drawingml/2006/main">
                <a:ext uri="{FF2B5EF4-FFF2-40B4-BE49-F238E27FC236}">
                  <a16:creationId xmlns:a16="http://schemas.microsoft.com/office/drawing/2014/main" id="{34A49F3F-83D2-46A1-A673-D755242A52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686175"/>
              <a:ext cx="1076325" cy="561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확인할 것인가</a:t>
              </a:r>
            </a:p>
          </p:txBody>
        </p:sp>
        <p:sp>
          <p:nvSpPr>
            <p:cNvPr id="16" name="section01__16">
              <a:extLst xmlns:a="http://schemas.openxmlformats.org/drawingml/2006/main">
                <a:ext uri="{FF2B5EF4-FFF2-40B4-BE49-F238E27FC236}">
                  <a16:creationId xmlns:a16="http://schemas.microsoft.com/office/drawing/2014/main" id="{E6981DFE-77E9-4213-B13A-C86BDB1726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43075" y="368617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7" name="section01__17">
              <a:extLst xmlns:a="http://schemas.openxmlformats.org/drawingml/2006/main">
                <a:ext uri="{FF2B5EF4-FFF2-40B4-BE49-F238E27FC236}">
                  <a16:creationId xmlns:a16="http://schemas.microsoft.com/office/drawing/2014/main" id="{750B5645-E7E5-4239-93E8-6CEBCE1935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3209925"/>
              <a:ext cx="1304925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8" name="section01__18">
              <a:extLst xmlns:a="http://schemas.openxmlformats.org/drawingml/2006/main">
                <a:ext uri="{FF2B5EF4-FFF2-40B4-BE49-F238E27FC236}">
                  <a16:creationId xmlns:a16="http://schemas.microsoft.com/office/drawing/2014/main" id="{EA475ADD-8E90-4D4D-9322-2BE6B44902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38350" y="3286125"/>
              <a:ext cx="11334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결과를</a:t>
              </a:r>
            </a:p>
          </p:txBody>
        </p:sp>
        <p:sp>
          <p:nvSpPr>
            <p:cNvPr id="19" name="section01__19">
              <a:extLst xmlns:a="http://schemas.openxmlformats.org/drawingml/2006/main">
                <a:ext uri="{FF2B5EF4-FFF2-40B4-BE49-F238E27FC236}">
                  <a16:creationId xmlns:a16="http://schemas.microsoft.com/office/drawing/2014/main" id="{EB29969F-22FA-4C93-98FE-5A7D515173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66925" y="3686175"/>
              <a:ext cx="1076325" cy="561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어떻게 해석할 것인가</a:t>
              </a:r>
            </a:p>
          </p:txBody>
        </p:sp>
        <p:sp>
          <p:nvSpPr>
            <p:cNvPr id="20" name="section01__20">
              <a:extLst xmlns:a="http://schemas.openxmlformats.org/drawingml/2006/main">
                <a:ext uri="{FF2B5EF4-FFF2-40B4-BE49-F238E27FC236}">
                  <a16:creationId xmlns:a16="http://schemas.microsoft.com/office/drawing/2014/main" id="{F01EAA3D-087E-4B92-9CB3-31667BBFFC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95650" y="368617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1" name="section01__21">
              <a:extLst xmlns:a="http://schemas.openxmlformats.org/drawingml/2006/main">
                <a:ext uri="{FF2B5EF4-FFF2-40B4-BE49-F238E27FC236}">
                  <a16:creationId xmlns:a16="http://schemas.microsoft.com/office/drawing/2014/main" id="{90130EED-BA82-4536-9CCE-F6143CDF85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3209925"/>
              <a:ext cx="1304925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2" name="section01__22">
              <a:extLst xmlns:a="http://schemas.openxmlformats.org/drawingml/2006/main">
                <a:ext uri="{FF2B5EF4-FFF2-40B4-BE49-F238E27FC236}">
                  <a16:creationId xmlns:a16="http://schemas.microsoft.com/office/drawing/2014/main" id="{D56EE8AB-1874-4EAE-881C-2796BAF229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90925" y="3286125"/>
              <a:ext cx="11334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어떤 후속 분석으로</a:t>
              </a:r>
            </a:p>
          </p:txBody>
        </p:sp>
        <p:sp>
          <p:nvSpPr>
            <p:cNvPr id="23" name="section01__23">
              <a:extLst xmlns:a="http://schemas.openxmlformats.org/drawingml/2006/main">
                <a:ext uri="{FF2B5EF4-FFF2-40B4-BE49-F238E27FC236}">
                  <a16:creationId xmlns:a16="http://schemas.microsoft.com/office/drawing/2014/main" id="{A7DA80B2-86CD-4713-BE0C-07AF9A8E1B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3686175"/>
              <a:ext cx="1076325" cy="561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연결할 것인가</a:t>
              </a:r>
            </a:p>
          </p:txBody>
        </p:sp>
        <p:sp>
          <p:nvSpPr>
            <p:cNvPr id="24" name="section01__24">
              <a:extLst xmlns:a="http://schemas.openxmlformats.org/drawingml/2006/main">
                <a:ext uri="{FF2B5EF4-FFF2-40B4-BE49-F238E27FC236}">
                  <a16:creationId xmlns:a16="http://schemas.microsoft.com/office/drawing/2014/main" id="{9BA21079-BB2E-4D47-9456-B89382A4AA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48225" y="368617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5" name="section01__25">
              <a:extLst xmlns:a="http://schemas.openxmlformats.org/drawingml/2006/main">
                <a:ext uri="{FF2B5EF4-FFF2-40B4-BE49-F238E27FC236}">
                  <a16:creationId xmlns:a16="http://schemas.microsoft.com/office/drawing/2014/main" id="{8D9A7412-B002-4710-8D47-654BAA12FE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3209925"/>
              <a:ext cx="1304925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6" name="section01__26">
              <a:extLst xmlns:a="http://schemas.openxmlformats.org/drawingml/2006/main">
                <a:ext uri="{FF2B5EF4-FFF2-40B4-BE49-F238E27FC236}">
                  <a16:creationId xmlns:a16="http://schemas.microsoft.com/office/drawing/2014/main" id="{D1DF216A-C810-4DD1-86D5-E26F7D6259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3286125"/>
              <a:ext cx="11334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원인 후보 도출</a:t>
              </a:r>
            </a:p>
          </p:txBody>
        </p:sp>
        <p:sp>
          <p:nvSpPr>
            <p:cNvPr id="27" name="section01__27">
              <a:extLst xmlns:a="http://schemas.openxmlformats.org/drawingml/2006/main">
                <a:ext uri="{FF2B5EF4-FFF2-40B4-BE49-F238E27FC236}">
                  <a16:creationId xmlns:a16="http://schemas.microsoft.com/office/drawing/2014/main" id="{961B8392-8569-4276-A890-7A768CB1D1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075" y="3686175"/>
              <a:ext cx="1076325" cy="561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대응 방향 설정</a:t>
              </a:r>
            </a:p>
          </p:txBody>
        </p:sp>
        <p:sp>
          <p:nvSpPr>
            <p:cNvPr id="28" name="section01__28">
              <a:extLst xmlns:a="http://schemas.openxmlformats.org/drawingml/2006/main">
                <a:ext uri="{FF2B5EF4-FFF2-40B4-BE49-F238E27FC236}">
                  <a16:creationId xmlns:a16="http://schemas.microsoft.com/office/drawing/2014/main" id="{9A698751-5C29-4420-9D8E-78FF6F863A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886075"/>
              <a:ext cx="302895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불량과 공정에 대한 이해를 바탕으로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분석의 우선순위를 정하고 결과를 해석하며,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여러 정보를 연결해 원인을 좁히는 업무입니다.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동일한 Fail과 결과라도 보유한 지식에 따라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접근 방식과 해석의 깊이가 달라집니다.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9" name="section02__29">
              <a:extLst xmlns:a="http://schemas.openxmlformats.org/drawingml/2006/main">
                <a:ext uri="{FF2B5EF4-FFF2-40B4-BE49-F238E27FC236}">
                  <a16:creationId xmlns:a16="http://schemas.microsoft.com/office/drawing/2014/main" id="{D23F84F6-9563-4B54-A178-97B9EE8349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648200"/>
              <a:ext cx="9601200" cy="3124200"/>
            </a:xfrm>
            <a:prstGeom xmlns:a="http://schemas.openxmlformats.org/drawingml/2006/main" prst="roundRect">
              <a:avLst>
                <a:gd name="adj" fmla="val 24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0" name="section02__30">
              <a:extLst xmlns:a="http://schemas.openxmlformats.org/drawingml/2006/main">
                <a:ext uri="{FF2B5EF4-FFF2-40B4-BE49-F238E27FC236}">
                  <a16:creationId xmlns:a16="http://schemas.microsoft.com/office/drawing/2014/main" id="{A076C46B-CC4E-4841-871A-05AAFEB2F5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577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1" name="section02__31">
              <a:extLst xmlns:a="http://schemas.openxmlformats.org/drawingml/2006/main">
                <a:ext uri="{FF2B5EF4-FFF2-40B4-BE49-F238E27FC236}">
                  <a16:creationId xmlns:a16="http://schemas.microsoft.com/office/drawing/2014/main" id="{12AE7845-3B2D-4650-B3B5-87C66F903D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577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2__32">
              <a:extLst xmlns:a="http://schemas.openxmlformats.org/drawingml/2006/main">
                <a:ext uri="{FF2B5EF4-FFF2-40B4-BE49-F238E27FC236}">
                  <a16:creationId xmlns:a16="http://schemas.microsoft.com/office/drawing/2014/main" id="{B5F37B64-FE4E-40B3-9470-03AC53BB3C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6482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3" name="section02__33">
              <a:extLst xmlns:a="http://schemas.openxmlformats.org/drawingml/2006/main">
                <a:ext uri="{FF2B5EF4-FFF2-40B4-BE49-F238E27FC236}">
                  <a16:creationId xmlns:a16="http://schemas.microsoft.com/office/drawing/2014/main" id="{28EF1194-743C-46AB-8C5B-E602387F72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6482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추진 배경  ·  반복 탐색과 전문성 전수의 한계</a:t>
              </a:r>
            </a:p>
          </p:txBody>
        </p:sp>
        <p:sp>
          <p:nvSpPr>
            <p:cNvPr id="34" name="section02__34">
              <a:extLst xmlns:a="http://schemas.openxmlformats.org/drawingml/2006/main">
                <a:ext uri="{FF2B5EF4-FFF2-40B4-BE49-F238E27FC236}">
                  <a16:creationId xmlns:a16="http://schemas.microsoft.com/office/drawing/2014/main" id="{A3617DE8-59AC-4C4E-A7AA-C89F36E6B0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162550"/>
              <a:ext cx="3057525" cy="2438400"/>
            </a:xfrm>
            <a:prstGeom xmlns:a="http://schemas.openxmlformats.org/drawingml/2006/main" prst="roundRect">
              <a:avLst>
                <a:gd name="adj" fmla="val 312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2__35">
              <a:extLst xmlns:a="http://schemas.openxmlformats.org/drawingml/2006/main">
                <a:ext uri="{FF2B5EF4-FFF2-40B4-BE49-F238E27FC236}">
                  <a16:creationId xmlns:a16="http://schemas.microsoft.com/office/drawing/2014/main" id="{D4C5AA87-7F37-4A2D-ADDE-E1E7A34E0F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5276850"/>
              <a:ext cx="27717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데이터 탐색·정리에 많은 시간</a:t>
              </a:r>
            </a:p>
          </p:txBody>
        </p:sp>
        <p:sp>
          <p:nvSpPr>
            <p:cNvPr id="36" name="section02__36">
              <a:extLst xmlns:a="http://schemas.openxmlformats.org/drawingml/2006/main">
                <a:ext uri="{FF2B5EF4-FFF2-40B4-BE49-F238E27FC236}">
                  <a16:creationId xmlns:a16="http://schemas.microsoft.com/office/drawing/2014/main" id="{7E056478-5EB2-46FF-94D7-79C208BB2B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5667375"/>
              <a:ext cx="2771775" cy="1819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37" name="section02__37">
              <a:extLst xmlns:a="http://schemas.openxmlformats.org/drawingml/2006/main">
                <a:ext uri="{FF2B5EF4-FFF2-40B4-BE49-F238E27FC236}">
                  <a16:creationId xmlns:a16="http://schemas.microsoft.com/office/drawing/2014/main" id="{01B1660C-FE68-45FE-8E2C-BDC2ED2F94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5619750"/>
              <a:ext cx="2800350" cy="1133475"/>
            </a:xfrm>
            <a:prstGeom xmlns:a="http://schemas.openxmlformats.org/drawingml/2006/main" prst="roundRect">
              <a:avLst>
                <a:gd name="adj" fmla="val 672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8" name="section02__38">
              <a:extLst xmlns:a="http://schemas.openxmlformats.org/drawingml/2006/main">
                <a:ext uri="{FF2B5EF4-FFF2-40B4-BE49-F238E27FC236}">
                  <a16:creationId xmlns:a16="http://schemas.microsoft.com/office/drawing/2014/main" id="{0E70C920-6EBD-4004-9FE7-5B993811D4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56769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9" name="section02__39">
              <a:extLst xmlns:a="http://schemas.openxmlformats.org/drawingml/2006/main">
                <a:ext uri="{FF2B5EF4-FFF2-40B4-BE49-F238E27FC236}">
                  <a16:creationId xmlns:a16="http://schemas.microsoft.com/office/drawing/2014/main" id="{56C47006-4B05-4771-8142-11025FD61D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56769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Spotfire</a:t>
              </a:r>
            </a:p>
          </p:txBody>
        </p:sp>
        <p:sp>
          <p:nvSpPr>
            <p:cNvPr id="40" name="section02__40">
              <a:extLst xmlns:a="http://schemas.openxmlformats.org/drawingml/2006/main">
                <a:ext uri="{FF2B5EF4-FFF2-40B4-BE49-F238E27FC236}">
                  <a16:creationId xmlns:a16="http://schemas.microsoft.com/office/drawing/2014/main" id="{854C9AEC-800C-442E-9825-FCF380E2A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4050" y="56769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1" name="section02__41">
              <a:extLst xmlns:a="http://schemas.openxmlformats.org/drawingml/2006/main">
                <a:ext uri="{FF2B5EF4-FFF2-40B4-BE49-F238E27FC236}">
                  <a16:creationId xmlns:a16="http://schemas.microsoft.com/office/drawing/2014/main" id="{F8975860-57D3-49E4-B1E1-C47529ADD9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56769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42" name="section02__42">
              <a:extLst xmlns:a="http://schemas.openxmlformats.org/drawingml/2006/main">
                <a:ext uri="{FF2B5EF4-FFF2-40B4-BE49-F238E27FC236}">
                  <a16:creationId xmlns:a16="http://schemas.microsoft.com/office/drawing/2014/main" id="{66DDBB50-69D1-4C24-B230-1DAAD14814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60198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3" name="section02__43">
              <a:extLst xmlns:a="http://schemas.openxmlformats.org/drawingml/2006/main">
                <a:ext uri="{FF2B5EF4-FFF2-40B4-BE49-F238E27FC236}">
                  <a16:creationId xmlns:a16="http://schemas.microsoft.com/office/drawing/2014/main" id="{0CB29F9A-9E0F-4207-B1D8-21229CD4B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60198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MES / TAS</a:t>
              </a:r>
            </a:p>
          </p:txBody>
        </p:sp>
        <p:sp>
          <p:nvSpPr>
            <p:cNvPr id="44" name="section02__44">
              <a:extLst xmlns:a="http://schemas.openxmlformats.org/drawingml/2006/main">
                <a:ext uri="{FF2B5EF4-FFF2-40B4-BE49-F238E27FC236}">
                  <a16:creationId xmlns:a16="http://schemas.microsoft.com/office/drawing/2014/main" id="{2C98C759-1C99-41BB-B160-5A14F40AF3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4050" y="60198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5" name="section02__45">
              <a:extLst xmlns:a="http://schemas.openxmlformats.org/drawingml/2006/main">
                <a:ext uri="{FF2B5EF4-FFF2-40B4-BE49-F238E27FC236}">
                  <a16:creationId xmlns:a16="http://schemas.microsoft.com/office/drawing/2014/main" id="{7E8FCABC-45B8-4911-B7EA-0FC43ED244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60198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PPT</a:t>
              </a:r>
            </a:p>
          </p:txBody>
        </p:sp>
        <p:sp>
          <p:nvSpPr>
            <p:cNvPr id="46" name="section02__46">
              <a:extLst xmlns:a="http://schemas.openxmlformats.org/drawingml/2006/main">
                <a:ext uri="{FF2B5EF4-FFF2-40B4-BE49-F238E27FC236}">
                  <a16:creationId xmlns:a16="http://schemas.microsoft.com/office/drawing/2014/main" id="{F9B80116-7D47-4D7B-8EB1-BE20FBCCC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63627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7" name="section02__47">
              <a:extLst xmlns:a="http://schemas.openxmlformats.org/drawingml/2006/main">
                <a:ext uri="{FF2B5EF4-FFF2-40B4-BE49-F238E27FC236}">
                  <a16:creationId xmlns:a16="http://schemas.microsoft.com/office/drawing/2014/main" id="{2D3D354C-7955-483F-966C-39C11FD419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63627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과거 분석자료</a:t>
              </a:r>
            </a:p>
          </p:txBody>
        </p:sp>
        <p:sp>
          <p:nvSpPr>
            <p:cNvPr id="48" name="section02__48">
              <a:extLst xmlns:a="http://schemas.openxmlformats.org/drawingml/2006/main">
                <a:ext uri="{FF2B5EF4-FFF2-40B4-BE49-F238E27FC236}">
                  <a16:creationId xmlns:a16="http://schemas.microsoft.com/office/drawing/2014/main" id="{69539491-1C7B-4125-8E6A-0ED89759D0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24050" y="6362700"/>
              <a:ext cx="128587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9" name="section02__49">
              <a:extLst xmlns:a="http://schemas.openxmlformats.org/drawingml/2006/main">
                <a:ext uri="{FF2B5EF4-FFF2-40B4-BE49-F238E27FC236}">
                  <a16:creationId xmlns:a16="http://schemas.microsoft.com/office/drawing/2014/main" id="{4825BCE9-2846-4EA8-B2D9-65121B43EB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52625" y="6362700"/>
              <a:ext cx="12287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개인 보관</a:t>
              </a:r>
            </a:p>
          </p:txBody>
        </p:sp>
        <p:sp>
          <p:nvSpPr>
            <p:cNvPr id="50" name="section02__50">
              <a:extLst xmlns:a="http://schemas.openxmlformats.org/drawingml/2006/main">
                <a:ext uri="{FF2B5EF4-FFF2-40B4-BE49-F238E27FC236}">
                  <a16:creationId xmlns:a16="http://schemas.microsoft.com/office/drawing/2014/main" id="{4BC33252-4A5F-4C30-9809-F7FE3CD14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6924675"/>
              <a:ext cx="278130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여러 시스템의 자료를 수작업으로 연결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반복 조회·정리에 분석 시간이 소요</a:t>
              </a:r>
            </a:p>
          </p:txBody>
        </p:sp>
        <p:sp>
          <p:nvSpPr>
            <p:cNvPr id="51" name="section02__51">
              <a:extLst xmlns:a="http://schemas.openxmlformats.org/drawingml/2006/main">
                <a:ext uri="{FF2B5EF4-FFF2-40B4-BE49-F238E27FC236}">
                  <a16:creationId xmlns:a16="http://schemas.microsoft.com/office/drawing/2014/main" id="{3B79DDF9-6815-4BBB-AD5C-079317109C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5162550"/>
              <a:ext cx="2971800" cy="2438400"/>
            </a:xfrm>
            <a:prstGeom xmlns:a="http://schemas.openxmlformats.org/drawingml/2006/main" prst="roundRect">
              <a:avLst>
                <a:gd name="adj" fmla="val 312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2" name="section02__52">
              <a:extLst xmlns:a="http://schemas.openxmlformats.org/drawingml/2006/main">
                <a:ext uri="{FF2B5EF4-FFF2-40B4-BE49-F238E27FC236}">
                  <a16:creationId xmlns:a16="http://schemas.microsoft.com/office/drawing/2014/main" id="{F98D62D3-1164-4F81-814B-BC31D5024A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05225" y="5276850"/>
              <a:ext cx="26860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숙련도에 따른 분석 편차</a:t>
              </a:r>
            </a:p>
          </p:txBody>
        </p:sp>
        <p:sp>
          <p:nvSpPr>
            <p:cNvPr id="53" name="section02__53">
              <a:extLst xmlns:a="http://schemas.openxmlformats.org/drawingml/2006/main">
                <a:ext uri="{FF2B5EF4-FFF2-40B4-BE49-F238E27FC236}">
                  <a16:creationId xmlns:a16="http://schemas.microsoft.com/office/drawing/2014/main" id="{89D10DFB-E701-431D-8FC4-34FA84A480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05225" y="5667375"/>
              <a:ext cx="2686050" cy="1819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저년차  ·  경험 부족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정형적인 분석과 제한적인 해석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추가 분석 방향 설정에 어려움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고년차  ·  충분한 경험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다양한 관점과 깊이 있는 해석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후속 분석까지 연결</a:t>
              </a:r>
            </a:p>
          </p:txBody>
        </p:sp>
        <p:sp>
          <p:nvSpPr>
            <p:cNvPr id="54" name="section02__54">
              <a:extLst xmlns:a="http://schemas.openxmlformats.org/drawingml/2006/main">
                <a:ext uri="{FF2B5EF4-FFF2-40B4-BE49-F238E27FC236}">
                  <a16:creationId xmlns:a16="http://schemas.microsoft.com/office/drawing/2014/main" id="{4B019FE0-D68E-40E7-91F9-A39F2B007E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57975" y="5162550"/>
              <a:ext cx="2990850" cy="2438400"/>
            </a:xfrm>
            <a:prstGeom xmlns:a="http://schemas.openxmlformats.org/drawingml/2006/main" prst="roundRect">
              <a:avLst>
                <a:gd name="adj" fmla="val 312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5" name="section02__55">
              <a:extLst xmlns:a="http://schemas.openxmlformats.org/drawingml/2006/main">
                <a:ext uri="{FF2B5EF4-FFF2-40B4-BE49-F238E27FC236}">
                  <a16:creationId xmlns:a16="http://schemas.microsoft.com/office/drawing/2014/main" id="{8CCD0819-5E16-4A2B-B15B-06D5CDF407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5276850"/>
              <a:ext cx="27051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전문성 전수의 한계</a:t>
              </a:r>
            </a:p>
          </p:txBody>
        </p:sp>
        <p:sp>
          <p:nvSpPr>
            <p:cNvPr id="56" name="section02__56">
              <a:extLst xmlns:a="http://schemas.openxmlformats.org/drawingml/2006/main">
                <a:ext uri="{FF2B5EF4-FFF2-40B4-BE49-F238E27FC236}">
                  <a16:creationId xmlns:a16="http://schemas.microsoft.com/office/drawing/2014/main" id="{4C8D38A9-A6F1-487B-9F98-CBA91F0F54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5667375"/>
              <a:ext cx="2705100" cy="1819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고년차의 지식과 분석 방법을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개별 설명·교육으로 전수하는 데 한계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축적된 분석 경험이 개인에게 머무름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숙련자의 전문성을 조직 전체로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확산하기 어려운 구조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7" name="section03__57">
              <a:extLst xmlns:a="http://schemas.openxmlformats.org/drawingml/2006/main">
                <a:ext uri="{FF2B5EF4-FFF2-40B4-BE49-F238E27FC236}">
                  <a16:creationId xmlns:a16="http://schemas.microsoft.com/office/drawing/2014/main" id="{3C404954-A443-4549-969F-8A352B97B7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7915275"/>
              <a:ext cx="9601200" cy="2266950"/>
            </a:xfrm>
            <a:prstGeom xmlns:a="http://schemas.openxmlformats.org/drawingml/2006/main" prst="roundRect">
              <a:avLst>
                <a:gd name="adj" fmla="val 336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8" name="section03__58">
              <a:extLst xmlns:a="http://schemas.openxmlformats.org/drawingml/2006/main">
                <a:ext uri="{FF2B5EF4-FFF2-40B4-BE49-F238E27FC236}">
                  <a16:creationId xmlns:a16="http://schemas.microsoft.com/office/drawing/2014/main" id="{12BC0E79-7331-4FF5-8F58-611C8E421B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79248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9" name="section03__59">
              <a:extLst xmlns:a="http://schemas.openxmlformats.org/drawingml/2006/main">
                <a:ext uri="{FF2B5EF4-FFF2-40B4-BE49-F238E27FC236}">
                  <a16:creationId xmlns:a16="http://schemas.microsoft.com/office/drawing/2014/main" id="{3E8115AE-0DF5-4C6F-88A3-18D901248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79248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0" name="section03__60">
              <a:extLst xmlns:a="http://schemas.openxmlformats.org/drawingml/2006/main">
                <a:ext uri="{FF2B5EF4-FFF2-40B4-BE49-F238E27FC236}">
                  <a16:creationId xmlns:a16="http://schemas.microsoft.com/office/drawing/2014/main" id="{AB098D1F-1C2B-400C-A272-9339F6B43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79152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1" name="section03__61">
              <a:extLst xmlns:a="http://schemas.openxmlformats.org/drawingml/2006/main">
                <a:ext uri="{FF2B5EF4-FFF2-40B4-BE49-F238E27FC236}">
                  <a16:creationId xmlns:a16="http://schemas.microsoft.com/office/drawing/2014/main" id="{04AD2AA3-5B39-4935-A95A-161F6BB63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79152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핵심 난이도  ·  암묵적 판단을 실행 가능한 분석 로직으로 전환</a:t>
              </a:r>
            </a:p>
          </p:txBody>
        </p:sp>
        <p:sp>
          <p:nvSpPr>
            <p:cNvPr id="62" name="section03__62">
              <a:extLst xmlns:a="http://schemas.openxmlformats.org/drawingml/2006/main">
                <a:ext uri="{FF2B5EF4-FFF2-40B4-BE49-F238E27FC236}">
                  <a16:creationId xmlns:a16="http://schemas.microsoft.com/office/drawing/2014/main" id="{E8238623-4824-4369-B5CE-3AE9281B6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8439150"/>
              <a:ext cx="4429125" cy="962025"/>
            </a:xfrm>
            <a:prstGeom xmlns:a="http://schemas.openxmlformats.org/drawingml/2006/main" prst="roundRect">
              <a:avLst>
                <a:gd name="adj" fmla="val 79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3" name="section03__63">
              <a:extLst xmlns:a="http://schemas.openxmlformats.org/drawingml/2006/main">
                <a:ext uri="{FF2B5EF4-FFF2-40B4-BE49-F238E27FC236}">
                  <a16:creationId xmlns:a16="http://schemas.microsoft.com/office/drawing/2014/main" id="{E19A403E-6842-4955-942D-D7F7A0C70F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8553450"/>
              <a:ext cx="41433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도메인 지식의 분석 로직화</a:t>
              </a:r>
            </a:p>
          </p:txBody>
        </p:sp>
        <p:sp>
          <p:nvSpPr>
            <p:cNvPr id="64" name="section03__64">
              <a:extLst xmlns:a="http://schemas.openxmlformats.org/drawingml/2006/main">
                <a:ext uri="{FF2B5EF4-FFF2-40B4-BE49-F238E27FC236}">
                  <a16:creationId xmlns:a16="http://schemas.microsoft.com/office/drawing/2014/main" id="{95F057E7-6F61-4378-9BB1-CBE320CF15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8943975"/>
              <a:ext cx="414337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우선순위·해석 기준·후속 분석을 정리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Agent가 실제 분석에 활용하도록 구현</a:t>
              </a:r>
            </a:p>
          </p:txBody>
        </p:sp>
        <p:sp>
          <p:nvSpPr>
            <p:cNvPr id="65" name="section03__65">
              <a:extLst xmlns:a="http://schemas.openxmlformats.org/drawingml/2006/main">
                <a:ext uri="{FF2B5EF4-FFF2-40B4-BE49-F238E27FC236}">
                  <a16:creationId xmlns:a16="http://schemas.microsoft.com/office/drawing/2014/main" id="{B325E8C9-3099-4DF6-90F7-2BAB0068A6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2525" y="8439150"/>
              <a:ext cx="4686300" cy="962025"/>
            </a:xfrm>
            <a:prstGeom xmlns:a="http://schemas.openxmlformats.org/drawingml/2006/main" prst="roundRect">
              <a:avLst>
                <a:gd name="adj" fmla="val 79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6" name="section03__66">
              <a:extLst xmlns:a="http://schemas.openxmlformats.org/drawingml/2006/main">
                <a:ext uri="{FF2B5EF4-FFF2-40B4-BE49-F238E27FC236}">
                  <a16:creationId xmlns:a16="http://schemas.microsoft.com/office/drawing/2014/main" id="{D5CE1984-0C2D-4866-86F5-56AD37B2DC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05400" y="8553450"/>
              <a:ext cx="4400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분산 데이터와 분석의 연계</a:t>
              </a:r>
            </a:p>
          </p:txBody>
        </p:sp>
        <p:sp>
          <p:nvSpPr>
            <p:cNvPr id="67" name="section03__67">
              <a:extLst xmlns:a="http://schemas.openxmlformats.org/drawingml/2006/main">
                <a:ext uri="{FF2B5EF4-FFF2-40B4-BE49-F238E27FC236}">
                  <a16:creationId xmlns:a16="http://schemas.microsoft.com/office/drawing/2014/main" id="{22B11DFA-CBF0-4B58-9C19-B6CD4A2EC2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05400" y="8943975"/>
              <a:ext cx="4400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수율·공정·자재·Inline 정보를 목적에 맞게 연결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개별 결과가 다음 분석으로 이어지도록 설계</a:t>
              </a:r>
            </a:p>
          </p:txBody>
        </p:sp>
        <p:sp>
          <p:nvSpPr>
            <p:cNvPr id="68" name="section03__68">
              <a:extLst xmlns:a="http://schemas.openxmlformats.org/drawingml/2006/main">
                <a:ext uri="{FF2B5EF4-FFF2-40B4-BE49-F238E27FC236}">
                  <a16:creationId xmlns:a16="http://schemas.microsoft.com/office/drawing/2014/main" id="{5C60AAE8-1AEA-4D7B-AD60-800A4345A5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" y="9525000"/>
              <a:ext cx="9258300" cy="49530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9" name="section03__69">
              <a:extLst xmlns:a="http://schemas.openxmlformats.org/drawingml/2006/main">
                <a:ext uri="{FF2B5EF4-FFF2-40B4-BE49-F238E27FC236}">
                  <a16:creationId xmlns:a16="http://schemas.microsoft.com/office/drawing/2014/main" id="{5E59BA28-25F6-41EA-9717-D65FCDF12A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9534525"/>
              <a:ext cx="89916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도메인 지식과 데이터·분석 기법을 결합해 현업에 유효한 분석을 수행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0" name="section04__70">
              <a:extLst xmlns:a="http://schemas.openxmlformats.org/drawingml/2006/main">
                <a:ext uri="{FF2B5EF4-FFF2-40B4-BE49-F238E27FC236}">
                  <a16:creationId xmlns:a16="http://schemas.microsoft.com/office/drawing/2014/main" id="{3E609829-F740-46B8-ADC3-450FFF53EE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325100"/>
              <a:ext cx="9601200" cy="2466975"/>
            </a:xfrm>
            <a:prstGeom xmlns:a="http://schemas.openxmlformats.org/drawingml/2006/main" prst="roundRect">
              <a:avLst>
                <a:gd name="adj" fmla="val 308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1" name="section04__71">
              <a:extLst xmlns:a="http://schemas.openxmlformats.org/drawingml/2006/main">
                <a:ext uri="{FF2B5EF4-FFF2-40B4-BE49-F238E27FC236}">
                  <a16:creationId xmlns:a16="http://schemas.microsoft.com/office/drawing/2014/main" id="{25587BCB-8126-4E08-9E65-7608409691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346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4__72">
              <a:extLst xmlns:a="http://schemas.openxmlformats.org/drawingml/2006/main">
                <a:ext uri="{FF2B5EF4-FFF2-40B4-BE49-F238E27FC236}">
                  <a16:creationId xmlns:a16="http://schemas.microsoft.com/office/drawing/2014/main" id="{5C040DFE-7603-43FC-933E-CC9B174BD9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346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4__73">
              <a:extLst xmlns:a="http://schemas.openxmlformats.org/drawingml/2006/main">
                <a:ext uri="{FF2B5EF4-FFF2-40B4-BE49-F238E27FC236}">
                  <a16:creationId xmlns:a16="http://schemas.microsoft.com/office/drawing/2014/main" id="{AFFFD104-AD5B-4997-983F-A5C074DA29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3251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74" name="section04__74">
              <a:extLst xmlns:a="http://schemas.openxmlformats.org/drawingml/2006/main">
                <a:ext uri="{FF2B5EF4-FFF2-40B4-BE49-F238E27FC236}">
                  <a16:creationId xmlns:a16="http://schemas.microsoft.com/office/drawing/2014/main" id="{A3AFD49D-BE14-434C-B829-D77E1B17EE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3251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도전 목표  ·  전문성의 조직적 확산과 전사 수율 제고 기반 마련</a:t>
              </a:r>
            </a:p>
          </p:txBody>
        </p:sp>
        <p:sp>
          <p:nvSpPr>
            <p:cNvPr id="75" name="section04__75">
              <a:extLst xmlns:a="http://schemas.openxmlformats.org/drawingml/2006/main">
                <a:ext uri="{FF2B5EF4-FFF2-40B4-BE49-F238E27FC236}">
                  <a16:creationId xmlns:a16="http://schemas.microsoft.com/office/drawing/2014/main" id="{2F20BB20-AC83-4B85-8829-1B10A940DF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10877550"/>
              <a:ext cx="2124075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6" name="section04__76">
              <a:extLst xmlns:a="http://schemas.openxmlformats.org/drawingml/2006/main">
                <a:ext uri="{FF2B5EF4-FFF2-40B4-BE49-F238E27FC236}">
                  <a16:creationId xmlns:a16="http://schemas.microsoft.com/office/drawing/2014/main" id="{92CAD74C-88CD-4115-A81B-7BCE05D982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109537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숙련자의 전문성</a:t>
              </a:r>
            </a:p>
          </p:txBody>
        </p:sp>
        <p:sp>
          <p:nvSpPr>
            <p:cNvPr id="77" name="section04__77">
              <a:extLst xmlns:a="http://schemas.openxmlformats.org/drawingml/2006/main">
                <a:ext uri="{FF2B5EF4-FFF2-40B4-BE49-F238E27FC236}">
                  <a16:creationId xmlns:a16="http://schemas.microsoft.com/office/drawing/2014/main" id="{744E1CB1-304F-4B54-8697-2D85BB4EDC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11353800"/>
              <a:ext cx="1895475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도메인 지식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Know-how</a:t>
              </a:r>
            </a:p>
          </p:txBody>
        </p:sp>
        <p:sp>
          <p:nvSpPr>
            <p:cNvPr id="78" name="section04__78">
              <a:extLst xmlns:a="http://schemas.openxmlformats.org/drawingml/2006/main">
                <a:ext uri="{FF2B5EF4-FFF2-40B4-BE49-F238E27FC236}">
                  <a16:creationId xmlns:a16="http://schemas.microsoft.com/office/drawing/2014/main" id="{4484F375-E0A4-491F-99EA-CAEBB5DF33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2225" y="113204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9" name="section04__79">
              <a:extLst xmlns:a="http://schemas.openxmlformats.org/drawingml/2006/main">
                <a:ext uri="{FF2B5EF4-FFF2-40B4-BE49-F238E27FC236}">
                  <a16:creationId xmlns:a16="http://schemas.microsoft.com/office/drawing/2014/main" id="{2715151C-979F-4A5E-8A80-DE59572DD8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10877550"/>
              <a:ext cx="2124075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0" name="section04__80">
              <a:extLst xmlns:a="http://schemas.openxmlformats.org/drawingml/2006/main">
                <a:ext uri="{FF2B5EF4-FFF2-40B4-BE49-F238E27FC236}">
                  <a16:creationId xmlns:a16="http://schemas.microsoft.com/office/drawing/2014/main" id="{F2FDB8ED-B1F3-47A2-951C-F9B042F21D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09537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통계·머신러닝</a:t>
              </a:r>
            </a:p>
          </p:txBody>
        </p:sp>
        <p:sp>
          <p:nvSpPr>
            <p:cNvPr id="81" name="section04__81">
              <a:extLst xmlns:a="http://schemas.openxmlformats.org/drawingml/2006/main">
                <a:ext uri="{FF2B5EF4-FFF2-40B4-BE49-F238E27FC236}">
                  <a16:creationId xmlns:a16="http://schemas.microsoft.com/office/drawing/2014/main" id="{6DF43B24-9E1A-4A0A-948E-9DC20BBD61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11353800"/>
              <a:ext cx="1895475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고급 분석 기법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로직 결합</a:t>
              </a:r>
            </a:p>
          </p:txBody>
        </p:sp>
        <p:sp>
          <p:nvSpPr>
            <p:cNvPr id="82" name="section04__82">
              <a:extLst xmlns:a="http://schemas.openxmlformats.org/drawingml/2006/main">
                <a:ext uri="{FF2B5EF4-FFF2-40B4-BE49-F238E27FC236}">
                  <a16:creationId xmlns:a16="http://schemas.microsoft.com/office/drawing/2014/main" id="{5AC5498F-2B35-4530-83A7-D247B8040A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113204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4__83">
              <a:extLst xmlns:a="http://schemas.openxmlformats.org/drawingml/2006/main">
                <a:ext uri="{FF2B5EF4-FFF2-40B4-BE49-F238E27FC236}">
                  <a16:creationId xmlns:a16="http://schemas.microsoft.com/office/drawing/2014/main" id="{673B6599-A4F4-49F4-A5F0-93C4205205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10877550"/>
              <a:ext cx="2124075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4" name="section04__84">
              <a:extLst xmlns:a="http://schemas.openxmlformats.org/drawingml/2006/main">
                <a:ext uri="{FF2B5EF4-FFF2-40B4-BE49-F238E27FC236}">
                  <a16:creationId xmlns:a16="http://schemas.microsoft.com/office/drawing/2014/main" id="{C1B8FFD4-305F-462C-B878-2DB5EC50E9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109537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SOP 기반 Multi-Agent</a:t>
              </a:r>
            </a:p>
          </p:txBody>
        </p:sp>
        <p:sp>
          <p:nvSpPr>
            <p:cNvPr id="85" name="section04__85">
              <a:extLst xmlns:a="http://schemas.openxmlformats.org/drawingml/2006/main">
                <a:ext uri="{FF2B5EF4-FFF2-40B4-BE49-F238E27FC236}">
                  <a16:creationId xmlns:a16="http://schemas.microsoft.com/office/drawing/2014/main" id="{6BEDEB5D-7882-4753-A85E-31D3E603F9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11353800"/>
              <a:ext cx="1895475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전문 Agent 연결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Workflow 구현</a:t>
              </a:r>
            </a:p>
          </p:txBody>
        </p:sp>
        <p:sp>
          <p:nvSpPr>
            <p:cNvPr id="86" name="section04__86">
              <a:extLst xmlns:a="http://schemas.openxmlformats.org/drawingml/2006/main">
                <a:ext uri="{FF2B5EF4-FFF2-40B4-BE49-F238E27FC236}">
                  <a16:creationId xmlns:a16="http://schemas.microsoft.com/office/drawing/2014/main" id="{D6B0E3A9-7EA7-4DB6-A96C-56DD4813B7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5675" y="113204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7" name="section04__87">
              <a:extLst xmlns:a="http://schemas.openxmlformats.org/drawingml/2006/main">
                <a:ext uri="{FF2B5EF4-FFF2-40B4-BE49-F238E27FC236}">
                  <a16:creationId xmlns:a16="http://schemas.microsoft.com/office/drawing/2014/main" id="{ADF8E769-AD9D-4C7C-96B7-339150122D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15225" y="10877550"/>
              <a:ext cx="2124075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8" name="section04__88">
              <a:extLst xmlns:a="http://schemas.openxmlformats.org/drawingml/2006/main">
                <a:ext uri="{FF2B5EF4-FFF2-40B4-BE49-F238E27FC236}">
                  <a16:creationId xmlns:a16="http://schemas.microsoft.com/office/drawing/2014/main" id="{77BAB112-9F5B-45F1-BC33-0A040B726B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00950" y="109537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전문 분석 활용 확대</a:t>
              </a:r>
            </a:p>
          </p:txBody>
        </p:sp>
        <p:sp>
          <p:nvSpPr>
            <p:cNvPr id="89" name="section04__89">
              <a:extLst xmlns:a="http://schemas.openxmlformats.org/drawingml/2006/main">
                <a:ext uri="{FF2B5EF4-FFF2-40B4-BE49-F238E27FC236}">
                  <a16:creationId xmlns:a16="http://schemas.microsoft.com/office/drawing/2014/main" id="{EFBC0037-B36F-49E7-9ACF-BB2B2EB53A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9525" y="11353800"/>
              <a:ext cx="1895475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경험 수준에 관계없이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역량 활용</a:t>
              </a:r>
            </a:p>
          </p:txBody>
        </p:sp>
        <p:sp>
          <p:nvSpPr>
            <p:cNvPr id="90" name="section04__90">
              <a:extLst xmlns:a="http://schemas.openxmlformats.org/drawingml/2006/main">
                <a:ext uri="{FF2B5EF4-FFF2-40B4-BE49-F238E27FC236}">
                  <a16:creationId xmlns:a16="http://schemas.microsoft.com/office/drawing/2014/main" id="{3ABD08A2-4200-4443-BEA1-C7745A876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12039600"/>
              <a:ext cx="9239250" cy="581025"/>
            </a:xfrm>
            <a:prstGeom xmlns:a="http://schemas.openxmlformats.org/drawingml/2006/main" prst="roundRect">
              <a:avLst>
                <a:gd name="adj" fmla="val 13115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1" name="section04__91">
              <a:extLst xmlns:a="http://schemas.openxmlformats.org/drawingml/2006/main">
                <a:ext uri="{FF2B5EF4-FFF2-40B4-BE49-F238E27FC236}">
                  <a16:creationId xmlns:a16="http://schemas.microsoft.com/office/drawing/2014/main" id="{6F022CBD-18CF-4D42-A790-6D24FCA49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12115800"/>
              <a:ext cx="27432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 RAG 기반 챗봇</a:t>
              </a:r>
            </a:p>
          </p:txBody>
        </p:sp>
        <p:sp>
          <p:nvSpPr>
            <p:cNvPr id="92" name="section04__92">
              <a:extLst xmlns:a="http://schemas.openxmlformats.org/drawingml/2006/main">
                <a:ext uri="{FF2B5EF4-FFF2-40B4-BE49-F238E27FC236}">
                  <a16:creationId xmlns:a16="http://schemas.microsoft.com/office/drawing/2014/main" id="{4E75234C-2E6D-424D-800E-006E8A4D4D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12220575"/>
              <a:ext cx="323850" cy="2095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3" name="section04__93">
              <a:extLst xmlns:a="http://schemas.openxmlformats.org/drawingml/2006/main">
                <a:ext uri="{FF2B5EF4-FFF2-40B4-BE49-F238E27FC236}">
                  <a16:creationId xmlns:a16="http://schemas.microsoft.com/office/drawing/2014/main" id="{688A64DA-D08A-4E19-BD53-2B5CD884CF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12115800"/>
              <a:ext cx="57150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새로운 시도  수율 SOP 기반 Multi-Agent · 전사 최초 Agentic AI 구축</a:t>
              </a:r>
            </a:p>
          </p:txBody>
        </p:sp>
      </p:grpSp>
      <p:grpSp>
        <p:nvGrpSpPr>
          <p:cNvPr id="10005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4" name="footer__94">
              <a:extLst xmlns:a="http://schemas.openxmlformats.org/drawingml/2006/main">
                <a:ext uri="{FF2B5EF4-FFF2-40B4-BE49-F238E27FC236}">
                  <a16:creationId xmlns:a16="http://schemas.microsoft.com/office/drawing/2014/main" id="{120D9900-A26C-48D2-8F37-3C04F77E26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95" name="footer__95">
              <a:extLst xmlns:a="http://schemas.openxmlformats.org/drawingml/2006/main">
                <a:ext uri="{FF2B5EF4-FFF2-40B4-BE49-F238E27FC236}">
                  <a16:creationId xmlns:a16="http://schemas.microsoft.com/office/drawing/2014/main" id="{1EA51FA7-7B9F-4A05-A554-076D77FA8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SUPEX 추구·패기  ·  숙련자 의존적 분석의 한계를 스스로 과제로 정의하고,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전문성 확산과 전사 수율 제고를 목표로 새로운 분석 체계 구현에 도전</a:t>
              </a:r>
            </a:p>
          </p:txBody>
        </p:sp>
        <p:sp>
          <p:nvSpPr>
            <p:cNvPr id="96" name="footer__96">
              <a:extLst xmlns:a="http://schemas.openxmlformats.org/drawingml/2006/main">
                <a:ext uri="{FF2B5EF4-FFF2-40B4-BE49-F238E27FC236}">
                  <a16:creationId xmlns:a16="http://schemas.microsoft.com/office/drawing/2014/main" id="{E3BFE75F-8CAA-46F8-B30A-7C9918350B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97" name="footer__97">
              <a:extLst xmlns:a="http://schemas.openxmlformats.org/drawingml/2006/main">
                <a:ext uri="{FF2B5EF4-FFF2-40B4-BE49-F238E27FC236}">
                  <a16:creationId xmlns:a16="http://schemas.microsoft.com/office/drawing/2014/main" id="{3722F247-F434-4016-8DA4-B23B46A6A0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934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5" name="header__98">
              <a:extLst xmlns:a="http://schemas.openxmlformats.org/drawingml/2006/main">
                <a:ext uri="{FF2B5EF4-FFF2-40B4-BE49-F238E27FC236}">
                  <a16:creationId xmlns:a16="http://schemas.microsoft.com/office/drawing/2014/main" id="{58375ADF-B97D-4D6D-8F10-B89FF4D0B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99">
              <a:extLst xmlns:a="http://schemas.openxmlformats.org/drawingml/2006/main">
                <a:ext uri="{FF2B5EF4-FFF2-40B4-BE49-F238E27FC236}">
                  <a16:creationId xmlns:a16="http://schemas.microsoft.com/office/drawing/2014/main" id="{3708CAF1-7652-4835-8738-65F4E46E52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100">
              <a:extLst xmlns:a="http://schemas.openxmlformats.org/drawingml/2006/main">
                <a:ext uri="{FF2B5EF4-FFF2-40B4-BE49-F238E27FC236}">
                  <a16:creationId xmlns:a16="http://schemas.microsoft.com/office/drawing/2014/main" id="{23BF6175-448F-4FB7-A3B2-A5B97B4FB4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02 / 06</a:t>
              </a:r>
            </a:p>
          </p:txBody>
        </p:sp>
        <p:sp>
          <p:nvSpPr>
            <p:cNvPr id="4" name="header__101">
              <a:extLst xmlns:a="http://schemas.openxmlformats.org/drawingml/2006/main">
                <a:ext uri="{FF2B5EF4-FFF2-40B4-BE49-F238E27FC236}">
                  <a16:creationId xmlns:a16="http://schemas.microsoft.com/office/drawing/2014/main" id="{48024B43-0A71-49B5-851B-8F48CF704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102">
              <a:extLst xmlns:a="http://schemas.openxmlformats.org/drawingml/2006/main">
                <a:ext uri="{FF2B5EF4-FFF2-40B4-BE49-F238E27FC236}">
                  <a16:creationId xmlns:a16="http://schemas.microsoft.com/office/drawing/2014/main" id="{F5DD090F-381D-482A-A1E4-3C4F60321C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SOP 기반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 분석 프로세스의 재설계</a:t>
              </a:r>
            </a:p>
          </p:txBody>
        </p:sp>
        <p:sp>
          <p:nvSpPr>
            <p:cNvPr id="6" name="header__103">
              <a:extLst xmlns:a="http://schemas.openxmlformats.org/drawingml/2006/main">
                <a:ext uri="{FF2B5EF4-FFF2-40B4-BE49-F238E27FC236}">
                  <a16:creationId xmlns:a16="http://schemas.microsoft.com/office/drawing/2014/main" id="{F1A2ACEF-69BC-492B-8158-1FD61039E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SOP와 숙련자의 Know-how를 자연어 기반 Human–Agent 협업 Workflow로 전환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104">
              <a:extLst xmlns:a="http://schemas.openxmlformats.org/drawingml/2006/main">
                <a:ext uri="{FF2B5EF4-FFF2-40B4-BE49-F238E27FC236}">
                  <a16:creationId xmlns:a16="http://schemas.microsoft.com/office/drawing/2014/main" id="{39FB9715-DE4D-4EC8-85E9-657F1608D1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152650"/>
            </a:xfrm>
            <a:prstGeom xmlns:a="http://schemas.openxmlformats.org/drawingml/2006/main" prst="roundRect">
              <a:avLst>
                <a:gd name="adj" fmla="val 354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105">
              <a:extLst xmlns:a="http://schemas.openxmlformats.org/drawingml/2006/main">
                <a:ext uri="{FF2B5EF4-FFF2-40B4-BE49-F238E27FC236}">
                  <a16:creationId xmlns:a16="http://schemas.microsoft.com/office/drawing/2014/main" id="{6DD55EE6-3454-4DB1-A12C-13A84A04CE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106">
              <a:extLst xmlns:a="http://schemas.openxmlformats.org/drawingml/2006/main">
                <a:ext uri="{FF2B5EF4-FFF2-40B4-BE49-F238E27FC236}">
                  <a16:creationId xmlns:a16="http://schemas.microsoft.com/office/drawing/2014/main" id="{68EE0843-A6B6-4707-8796-5EC5C86AD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07">
              <a:extLst xmlns:a="http://schemas.openxmlformats.org/drawingml/2006/main">
                <a:ext uri="{FF2B5EF4-FFF2-40B4-BE49-F238E27FC236}">
                  <a16:creationId xmlns:a16="http://schemas.microsoft.com/office/drawing/2014/main" id="{138BBA83-0996-45DF-819C-6DBE738EFB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08">
              <a:extLst xmlns:a="http://schemas.openxmlformats.org/drawingml/2006/main">
                <a:ext uri="{FF2B5EF4-FFF2-40B4-BE49-F238E27FC236}">
                  <a16:creationId xmlns:a16="http://schemas.microsoft.com/office/drawing/2014/main" id="{819A1096-2829-4A39-960C-DC040EE127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기존 업무 자산과 현업 경험을 분석 로직으로 구체화</a:t>
              </a:r>
            </a:p>
          </p:txBody>
        </p:sp>
        <p:sp>
          <p:nvSpPr>
            <p:cNvPr id="12" name="section01__109">
              <a:extLst xmlns:a="http://schemas.openxmlformats.org/drawingml/2006/main">
                <a:ext uri="{FF2B5EF4-FFF2-40B4-BE49-F238E27FC236}">
                  <a16:creationId xmlns:a16="http://schemas.microsoft.com/office/drawing/2014/main" id="{A7DA82BF-4319-404C-917C-A32411D42C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2914650"/>
              <a:ext cx="21240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110">
              <a:extLst xmlns:a="http://schemas.openxmlformats.org/drawingml/2006/main">
                <a:ext uri="{FF2B5EF4-FFF2-40B4-BE49-F238E27FC236}">
                  <a16:creationId xmlns:a16="http://schemas.microsoft.com/office/drawing/2014/main" id="{D5C6342B-F12F-4E75-8CF3-A2DA46A754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OPLS SOP 검토</a:t>
              </a:r>
            </a:p>
          </p:txBody>
        </p:sp>
        <p:sp>
          <p:nvSpPr>
            <p:cNvPr id="14" name="section01__111">
              <a:extLst xmlns:a="http://schemas.openxmlformats.org/drawingml/2006/main">
                <a:ext uri="{FF2B5EF4-FFF2-40B4-BE49-F238E27FC236}">
                  <a16:creationId xmlns:a16="http://schemas.microsoft.com/office/drawing/2014/main" id="{089DCB2F-65B6-4F71-8F33-926FC79CC1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390900"/>
              <a:ext cx="18954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분석 표준 프로세스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수율·PI·개발 업무 포함</a:t>
              </a:r>
            </a:p>
          </p:txBody>
        </p:sp>
        <p:sp>
          <p:nvSpPr>
            <p:cNvPr id="15" name="section01__112">
              <a:extLst xmlns:a="http://schemas.openxmlformats.org/drawingml/2006/main">
                <a:ext uri="{FF2B5EF4-FFF2-40B4-BE49-F238E27FC236}">
                  <a16:creationId xmlns:a16="http://schemas.microsoft.com/office/drawing/2014/main" id="{B49B7D2E-1E5D-4126-8107-5AC4C2D706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2225" y="33528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113">
              <a:extLst xmlns:a="http://schemas.openxmlformats.org/drawingml/2006/main">
                <a:ext uri="{FF2B5EF4-FFF2-40B4-BE49-F238E27FC236}">
                  <a16:creationId xmlns:a16="http://schemas.microsoft.com/office/drawing/2014/main" id="{DBDB8B6E-48DC-4F2B-807A-D3670415B1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2914650"/>
              <a:ext cx="21240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114">
              <a:extLst xmlns:a="http://schemas.openxmlformats.org/drawingml/2006/main">
                <a:ext uri="{FF2B5EF4-FFF2-40B4-BE49-F238E27FC236}">
                  <a16:creationId xmlns:a16="http://schemas.microsoft.com/office/drawing/2014/main" id="{DFBE215C-47D9-4C66-A0C8-1BCCE5CE5A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엔지니어 인터뷰</a:t>
              </a:r>
            </a:p>
          </p:txBody>
        </p:sp>
        <p:sp>
          <p:nvSpPr>
            <p:cNvPr id="18" name="section01__115">
              <a:extLst xmlns:a="http://schemas.openxmlformats.org/drawingml/2006/main">
                <a:ext uri="{FF2B5EF4-FFF2-40B4-BE49-F238E27FC236}">
                  <a16:creationId xmlns:a16="http://schemas.microsoft.com/office/drawing/2014/main" id="{76024B4E-8FAD-4B89-A7C4-D765C5BBC5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3390900"/>
              <a:ext cx="18954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다양한 실제 분석 사례와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업무 방식 파악</a:t>
              </a:r>
            </a:p>
          </p:txBody>
        </p:sp>
        <p:sp>
          <p:nvSpPr>
            <p:cNvPr id="19" name="section01__116">
              <a:extLst xmlns:a="http://schemas.openxmlformats.org/drawingml/2006/main">
                <a:ext uri="{FF2B5EF4-FFF2-40B4-BE49-F238E27FC236}">
                  <a16:creationId xmlns:a16="http://schemas.microsoft.com/office/drawing/2014/main" id="{32937ACB-D5CD-4571-B4B9-7D6C0FB3A0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33528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117">
              <a:extLst xmlns:a="http://schemas.openxmlformats.org/drawingml/2006/main">
                <a:ext uri="{FF2B5EF4-FFF2-40B4-BE49-F238E27FC236}">
                  <a16:creationId xmlns:a16="http://schemas.microsoft.com/office/drawing/2014/main" id="{7906A928-BA8E-47BB-8BA9-8CE47EA657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2914650"/>
              <a:ext cx="21240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118">
              <a:extLst xmlns:a="http://schemas.openxmlformats.org/drawingml/2006/main">
                <a:ext uri="{FF2B5EF4-FFF2-40B4-BE49-F238E27FC236}">
                  <a16:creationId xmlns:a16="http://schemas.microsoft.com/office/drawing/2014/main" id="{27620D30-5939-4BA6-8176-6BF0AE3BF3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방법 로직화</a:t>
              </a:r>
            </a:p>
          </p:txBody>
        </p:sp>
        <p:sp>
          <p:nvSpPr>
            <p:cNvPr id="22" name="section01__119">
              <a:extLst xmlns:a="http://schemas.openxmlformats.org/drawingml/2006/main">
                <a:ext uri="{FF2B5EF4-FFF2-40B4-BE49-F238E27FC236}">
                  <a16:creationId xmlns:a16="http://schemas.microsoft.com/office/drawing/2014/main" id="{FE3C38DB-CB4B-4B6C-A145-C236C69F7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3390900"/>
              <a:ext cx="18954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방법을 로직으로 정리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비교·검토</a:t>
              </a:r>
            </a:p>
          </p:txBody>
        </p:sp>
        <p:sp>
          <p:nvSpPr>
            <p:cNvPr id="23" name="section01__120">
              <a:extLst xmlns:a="http://schemas.openxmlformats.org/drawingml/2006/main">
                <a:ext uri="{FF2B5EF4-FFF2-40B4-BE49-F238E27FC236}">
                  <a16:creationId xmlns:a16="http://schemas.microsoft.com/office/drawing/2014/main" id="{C9E4A65B-10CE-4558-8749-BD54F50749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5675" y="335280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1__121">
              <a:extLst xmlns:a="http://schemas.openxmlformats.org/drawingml/2006/main">
                <a:ext uri="{FF2B5EF4-FFF2-40B4-BE49-F238E27FC236}">
                  <a16:creationId xmlns:a16="http://schemas.microsoft.com/office/drawing/2014/main" id="{0C9940CB-4FA4-4875-AD92-3D35F18D4F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15225" y="2914650"/>
              <a:ext cx="2124075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5" name="section01__122">
              <a:extLst xmlns:a="http://schemas.openxmlformats.org/drawingml/2006/main">
                <a:ext uri="{FF2B5EF4-FFF2-40B4-BE49-F238E27FC236}">
                  <a16:creationId xmlns:a16="http://schemas.microsoft.com/office/drawing/2014/main" id="{929627F8-D64C-4C62-9860-06598CC76A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00950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전문 Agent·Workflow</a:t>
              </a:r>
            </a:p>
          </p:txBody>
        </p:sp>
        <p:sp>
          <p:nvSpPr>
            <p:cNvPr id="26" name="section01__123">
              <a:extLst xmlns:a="http://schemas.openxmlformats.org/drawingml/2006/main">
                <a:ext uri="{FF2B5EF4-FFF2-40B4-BE49-F238E27FC236}">
                  <a16:creationId xmlns:a16="http://schemas.microsoft.com/office/drawing/2014/main" id="{D99D4DF6-D274-477F-90BC-D63DE13301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9525" y="3390900"/>
              <a:ext cx="1895475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업무 목적에 적합한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전문 분석 흐름 설계</a:t>
              </a:r>
            </a:p>
          </p:txBody>
        </p:sp>
        <p:sp>
          <p:nvSpPr>
            <p:cNvPr id="27" name="section01__124">
              <a:extLst xmlns:a="http://schemas.openxmlformats.org/drawingml/2006/main">
                <a:ext uri="{FF2B5EF4-FFF2-40B4-BE49-F238E27FC236}">
                  <a16:creationId xmlns:a16="http://schemas.microsoft.com/office/drawing/2014/main" id="{83642EAF-98A8-4BE1-B287-BC71FDDF96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4076700"/>
              <a:ext cx="122872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1__125">
              <a:extLst xmlns:a="http://schemas.openxmlformats.org/drawingml/2006/main">
                <a:ext uri="{FF2B5EF4-FFF2-40B4-BE49-F238E27FC236}">
                  <a16:creationId xmlns:a16="http://schemas.microsoft.com/office/drawing/2014/main" id="{795D21EF-5A2A-42F1-AAF2-1CD398BE8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4076700"/>
              <a:ext cx="1133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기존 SOP</a:t>
              </a:r>
            </a:p>
          </p:txBody>
        </p:sp>
        <p:sp>
          <p:nvSpPr>
            <p:cNvPr id="29" name="section01__126">
              <a:extLst xmlns:a="http://schemas.openxmlformats.org/drawingml/2006/main">
                <a:ext uri="{FF2B5EF4-FFF2-40B4-BE49-F238E27FC236}">
                  <a16:creationId xmlns:a16="http://schemas.microsoft.com/office/drawing/2014/main" id="{9955E42A-EB6C-486B-9C41-D3CF2DBE8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0700" y="4095750"/>
              <a:ext cx="7715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이상 감지     →     WT 불량 Define     →     Inline-WT 연계     →     불량 참원인 도출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30" name="section02__127">
              <a:extLst xmlns:a="http://schemas.openxmlformats.org/drawingml/2006/main">
                <a:ext uri="{FF2B5EF4-FFF2-40B4-BE49-F238E27FC236}">
                  <a16:creationId xmlns:a16="http://schemas.microsoft.com/office/drawing/2014/main" id="{A50E1BE3-FD90-46CE-AFE4-00FDE043DF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686300"/>
              <a:ext cx="9601200" cy="3924300"/>
            </a:xfrm>
            <a:prstGeom xmlns:a="http://schemas.openxmlformats.org/drawingml/2006/main" prst="roundRect">
              <a:avLst>
                <a:gd name="adj" fmla="val 194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1" name="section02__128">
              <a:extLst xmlns:a="http://schemas.openxmlformats.org/drawingml/2006/main">
                <a:ext uri="{FF2B5EF4-FFF2-40B4-BE49-F238E27FC236}">
                  <a16:creationId xmlns:a16="http://schemas.microsoft.com/office/drawing/2014/main" id="{658E6D74-786B-489D-87B0-B3053C7FA7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958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2__129">
              <a:extLst xmlns:a="http://schemas.openxmlformats.org/drawingml/2006/main">
                <a:ext uri="{FF2B5EF4-FFF2-40B4-BE49-F238E27FC236}">
                  <a16:creationId xmlns:a16="http://schemas.microsoft.com/office/drawing/2014/main" id="{E5A3F0CF-9799-49C1-8039-C203C98196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958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3" name="section02__130">
              <a:extLst xmlns:a="http://schemas.openxmlformats.org/drawingml/2006/main">
                <a:ext uri="{FF2B5EF4-FFF2-40B4-BE49-F238E27FC236}">
                  <a16:creationId xmlns:a16="http://schemas.microsoft.com/office/drawing/2014/main" id="{6740646A-6BCB-4014-B673-5E6ABC564D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6863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4" name="section02__131">
              <a:extLst xmlns:a="http://schemas.openxmlformats.org/drawingml/2006/main">
                <a:ext uri="{FF2B5EF4-FFF2-40B4-BE49-F238E27FC236}">
                  <a16:creationId xmlns:a16="http://schemas.microsoft.com/office/drawing/2014/main" id="{7594E6A0-F16B-412D-B527-F451C4204F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6863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분산된 분석 업무를 Y-Agent 단일 환경으로 통합</a:t>
              </a:r>
            </a:p>
          </p:txBody>
        </p:sp>
        <p:sp>
          <p:nvSpPr>
            <p:cNvPr id="35" name="section02__132">
              <a:extLst xmlns:a="http://schemas.openxmlformats.org/drawingml/2006/main">
                <a:ext uri="{FF2B5EF4-FFF2-40B4-BE49-F238E27FC236}">
                  <a16:creationId xmlns:a16="http://schemas.microsoft.com/office/drawing/2014/main" id="{C65407DC-9C54-4D34-90D8-076EEAF63F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200650"/>
              <a:ext cx="4010025" cy="3238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36" name="section02__133">
              <a:extLst xmlns:a="http://schemas.openxmlformats.org/drawingml/2006/main">
                <a:ext uri="{FF2B5EF4-FFF2-40B4-BE49-F238E27FC236}">
                  <a16:creationId xmlns:a16="http://schemas.microsoft.com/office/drawing/2014/main" id="{8C02105D-8805-4CC2-A534-1F40393989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67275" y="5200650"/>
              <a:ext cx="4781550" cy="3238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37" name="section02__134">
              <a:extLst xmlns:a="http://schemas.openxmlformats.org/drawingml/2006/main">
                <a:ext uri="{FF2B5EF4-FFF2-40B4-BE49-F238E27FC236}">
                  <a16:creationId xmlns:a16="http://schemas.microsoft.com/office/drawing/2014/main" id="{19C8BBDB-B800-4664-9C7F-50A001372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5267325"/>
              <a:ext cx="3629025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업무 방식</a:t>
              </a:r>
            </a:p>
          </p:txBody>
        </p:sp>
        <p:sp>
          <p:nvSpPr>
            <p:cNvPr id="38" name="section02__135">
              <a:extLst xmlns:a="http://schemas.openxmlformats.org/drawingml/2006/main">
                <a:ext uri="{FF2B5EF4-FFF2-40B4-BE49-F238E27FC236}">
                  <a16:creationId xmlns:a16="http://schemas.microsoft.com/office/drawing/2014/main" id="{64AA0B17-143A-4F3A-A956-C103FCAC1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5267325"/>
              <a:ext cx="4400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기반 업무 방식</a:t>
              </a:r>
            </a:p>
          </p:txBody>
        </p:sp>
        <p:sp>
          <p:nvSpPr>
            <p:cNvPr id="39" name="section02__136">
              <a:extLst xmlns:a="http://schemas.openxmlformats.org/drawingml/2006/main">
                <a:ext uri="{FF2B5EF4-FFF2-40B4-BE49-F238E27FC236}">
                  <a16:creationId xmlns:a16="http://schemas.microsoft.com/office/drawing/2014/main" id="{2BA845EE-9A96-45D5-8085-6EB2CC77CD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5715000"/>
              <a:ext cx="3724275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0" name="section02__137">
              <a:extLst xmlns:a="http://schemas.openxmlformats.org/drawingml/2006/main">
                <a:ext uri="{FF2B5EF4-FFF2-40B4-BE49-F238E27FC236}">
                  <a16:creationId xmlns:a16="http://schemas.microsoft.com/office/drawing/2014/main" id="{F509410E-E3D5-47AA-B793-5CADA8C04D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5743575"/>
              <a:ext cx="15621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수율일보</a:t>
              </a:r>
            </a:p>
          </p:txBody>
        </p:sp>
        <p:sp>
          <p:nvSpPr>
            <p:cNvPr id="41" name="section02__138">
              <a:extLst xmlns:a="http://schemas.openxmlformats.org/drawingml/2006/main">
                <a:ext uri="{FF2B5EF4-FFF2-40B4-BE49-F238E27FC236}">
                  <a16:creationId xmlns:a16="http://schemas.microsoft.com/office/drawing/2014/main" id="{EE64BC4C-C3B1-478E-916E-CA8F2CC025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5050" y="5743575"/>
              <a:ext cx="18669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Parameter 확인</a:t>
              </a:r>
            </a:p>
          </p:txBody>
        </p:sp>
        <p:sp>
          <p:nvSpPr>
            <p:cNvPr id="42" name="section02__139">
              <a:extLst xmlns:a="http://schemas.openxmlformats.org/drawingml/2006/main">
                <a:ext uri="{FF2B5EF4-FFF2-40B4-BE49-F238E27FC236}">
                  <a16:creationId xmlns:a16="http://schemas.microsoft.com/office/drawing/2014/main" id="{3CC50E73-087C-4A6B-8B60-7203E936F1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6248400"/>
              <a:ext cx="3724275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140">
              <a:extLst xmlns:a="http://schemas.openxmlformats.org/drawingml/2006/main">
                <a:ext uri="{FF2B5EF4-FFF2-40B4-BE49-F238E27FC236}">
                  <a16:creationId xmlns:a16="http://schemas.microsoft.com/office/drawing/2014/main" id="{594CD285-ED49-417C-8F1F-ED1BDEEAED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6276975"/>
              <a:ext cx="15621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44" name="section02__141">
              <a:extLst xmlns:a="http://schemas.openxmlformats.org/drawingml/2006/main">
                <a:ext uri="{FF2B5EF4-FFF2-40B4-BE49-F238E27FC236}">
                  <a16:creationId xmlns:a16="http://schemas.microsoft.com/office/drawing/2014/main" id="{2BF93B1F-DA67-4FAB-8363-E4AC7FD846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5050" y="6276975"/>
              <a:ext cx="18669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Probe / Response / EPM</a:t>
              </a:r>
            </a:p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Trend 조회</a:t>
              </a:r>
            </a:p>
          </p:txBody>
        </p:sp>
        <p:sp>
          <p:nvSpPr>
            <p:cNvPr id="45" name="section02__142">
              <a:extLst xmlns:a="http://schemas.openxmlformats.org/drawingml/2006/main">
                <a:ext uri="{FF2B5EF4-FFF2-40B4-BE49-F238E27FC236}">
                  <a16:creationId xmlns:a16="http://schemas.microsoft.com/office/drawing/2014/main" id="{5E0E962A-71B6-475B-B6AF-6B8E57C85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6781800"/>
              <a:ext cx="3724275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6" name="section02__143">
              <a:extLst xmlns:a="http://schemas.openxmlformats.org/drawingml/2006/main">
                <a:ext uri="{FF2B5EF4-FFF2-40B4-BE49-F238E27FC236}">
                  <a16:creationId xmlns:a16="http://schemas.microsoft.com/office/drawing/2014/main" id="{037BD94B-CDC3-4F05-9CA2-F83FEB0984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6810375"/>
              <a:ext cx="15621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Raw Data 추출</a:t>
              </a:r>
            </a:p>
          </p:txBody>
        </p:sp>
        <p:sp>
          <p:nvSpPr>
            <p:cNvPr id="47" name="section02__144">
              <a:extLst xmlns:a="http://schemas.openxmlformats.org/drawingml/2006/main">
                <a:ext uri="{FF2B5EF4-FFF2-40B4-BE49-F238E27FC236}">
                  <a16:creationId xmlns:a16="http://schemas.microsoft.com/office/drawing/2014/main" id="{FCAD543B-D3AE-4F1C-8D72-6AC528A248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5050" y="6810375"/>
              <a:ext cx="18669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분석용 데이터 준비</a:t>
              </a:r>
            </a:p>
          </p:txBody>
        </p:sp>
        <p:sp>
          <p:nvSpPr>
            <p:cNvPr id="48" name="section02__145">
              <a:extLst xmlns:a="http://schemas.openxmlformats.org/drawingml/2006/main">
                <a:ext uri="{FF2B5EF4-FFF2-40B4-BE49-F238E27FC236}">
                  <a16:creationId xmlns:a16="http://schemas.microsoft.com/office/drawing/2014/main" id="{CA3B3F56-2534-452E-8FB7-5CA98ED4BC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7315200"/>
              <a:ext cx="3724275" cy="4572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9" name="section02__146">
              <a:extLst xmlns:a="http://schemas.openxmlformats.org/drawingml/2006/main">
                <a:ext uri="{FF2B5EF4-FFF2-40B4-BE49-F238E27FC236}">
                  <a16:creationId xmlns:a16="http://schemas.microsoft.com/office/drawing/2014/main" id="{0017AE33-3590-4231-AAC0-76DCA9B887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7343775"/>
              <a:ext cx="15621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  <a:p xmlns:a="http://schemas.openxmlformats.org/drawingml/2006/main">
              <a:pPr algn="l">
                <a:def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수행</a:t>
              </a:r>
            </a:p>
          </p:txBody>
        </p:sp>
        <p:sp>
          <p:nvSpPr>
            <p:cNvPr id="50" name="section02__147">
              <a:extLst xmlns:a="http://schemas.openxmlformats.org/drawingml/2006/main">
                <a:ext uri="{FF2B5EF4-FFF2-40B4-BE49-F238E27FC236}">
                  <a16:creationId xmlns:a16="http://schemas.microsoft.com/office/drawing/2014/main" id="{20D65F2C-F78C-4C6D-BFAD-21906D58F2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05050" y="7343775"/>
              <a:ext cx="186690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개별 분석 도구 활용</a:t>
              </a:r>
            </a:p>
          </p:txBody>
        </p:sp>
        <p:sp>
          <p:nvSpPr>
            <p:cNvPr id="51" name="section02__148">
              <a:extLst xmlns:a="http://schemas.openxmlformats.org/drawingml/2006/main">
                <a:ext uri="{FF2B5EF4-FFF2-40B4-BE49-F238E27FC236}">
                  <a16:creationId xmlns:a16="http://schemas.microsoft.com/office/drawing/2014/main" id="{E929D618-F667-4498-8EE6-D3607C986E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7943850"/>
              <a:ext cx="3686175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탐색·추출·분석을 직접 연결</a:t>
              </a:r>
            </a:p>
            <a:p xmlns:a="http://schemas.openxmlformats.org/drawingml/2006/main">
              <a:pPr algn="ctr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후속 분석 선택과 해석은 개인 경험에 의존</a:t>
              </a:r>
            </a:p>
          </p:txBody>
        </p:sp>
        <p:sp>
          <p:nvSpPr>
            <p:cNvPr id="52" name="section02__149">
              <a:extLst xmlns:a="http://schemas.openxmlformats.org/drawingml/2006/main">
                <a:ext uri="{FF2B5EF4-FFF2-40B4-BE49-F238E27FC236}">
                  <a16:creationId xmlns:a16="http://schemas.microsoft.com/office/drawing/2014/main" id="{3006457F-D6A9-4BB6-ACEC-5F07A3F838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6275" y="6677025"/>
              <a:ext cx="295275" cy="32385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3" name="section02__150">
              <a:extLst xmlns:a="http://schemas.openxmlformats.org/drawingml/2006/main">
                <a:ext uri="{FF2B5EF4-FFF2-40B4-BE49-F238E27FC236}">
                  <a16:creationId xmlns:a16="http://schemas.microsoft.com/office/drawing/2014/main" id="{C20B46B3-0AA5-4FEA-A411-457FBEDDFD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9200" y="5734050"/>
              <a:ext cx="4457700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4" name="section02__151">
              <a:extLst xmlns:a="http://schemas.openxmlformats.org/drawingml/2006/main">
                <a:ext uri="{FF2B5EF4-FFF2-40B4-BE49-F238E27FC236}">
                  <a16:creationId xmlns:a16="http://schemas.microsoft.com/office/drawing/2014/main" id="{8980FC8A-83B1-4275-B78E-E625207A36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6825" y="5734050"/>
              <a:ext cx="43624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“최근 제품의 수율 저하 원인을 분석해줘”</a:t>
              </a:r>
            </a:p>
          </p:txBody>
        </p:sp>
        <p:sp>
          <p:nvSpPr>
            <p:cNvPr id="55" name="section02__152">
              <a:extLst xmlns:a="http://schemas.openxmlformats.org/drawingml/2006/main">
                <a:ext uri="{FF2B5EF4-FFF2-40B4-BE49-F238E27FC236}">
                  <a16:creationId xmlns:a16="http://schemas.microsoft.com/office/drawing/2014/main" id="{62B95AB4-DA51-4F5A-BC2F-BAD65AF58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6200775"/>
              <a:ext cx="1390650" cy="1419225"/>
            </a:xfrm>
            <a:prstGeom xmlns:a="http://schemas.openxmlformats.org/drawingml/2006/main" prst="roundRect">
              <a:avLst>
                <a:gd name="adj" fmla="val 547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6" name="section02__153">
              <a:extLst xmlns:a="http://schemas.openxmlformats.org/drawingml/2006/main">
                <a:ext uri="{FF2B5EF4-FFF2-40B4-BE49-F238E27FC236}">
                  <a16:creationId xmlns:a16="http://schemas.microsoft.com/office/drawing/2014/main" id="{5DABCC3C-56FA-4F1E-BBB2-6BCA19743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6286500"/>
              <a:ext cx="11620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  <p:sp>
          <p:nvSpPr>
            <p:cNvPr id="57" name="section02__154">
              <a:extLst xmlns:a="http://schemas.openxmlformats.org/drawingml/2006/main">
                <a:ext uri="{FF2B5EF4-FFF2-40B4-BE49-F238E27FC236}">
                  <a16:creationId xmlns:a16="http://schemas.microsoft.com/office/drawing/2014/main" id="{E2B0C367-BD08-47AA-9884-F2A57B3BCC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6677025"/>
              <a:ext cx="1190625" cy="828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수율일보 Agent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이상감지 Agent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Map 분석 Agent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연계분석·Mining</a:t>
              </a:r>
            </a:p>
          </p:txBody>
        </p:sp>
        <p:pic>
          <p:nvPicPr>
            <p:cNvPr id="142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13c31b754d447c"/>
            <a:stretch xmlns:a="http://schemas.openxmlformats.org/drawingml/2006/main"/>
          </p:blipFill>
          <p:spPr>
            <a:xfrm xmlns:a="http://schemas.openxmlformats.org/drawingml/2006/main">
              <a:off x="7037558" y="6191250"/>
              <a:ext cx="1936409" cy="1438275"/>
            </a:xfrm>
            <a:prstGeom xmlns:a="http://schemas.openxmlformats.org/drawingml/2006/main" prst="rect">
              <a:avLst/>
            </a:prstGeom>
          </p:spPr>
        </p:pic>
        <p:sp>
          <p:nvSpPr>
            <p:cNvPr id="59" name="section02__155">
              <a:extLst xmlns:a="http://schemas.openxmlformats.org/drawingml/2006/main">
                <a:ext uri="{FF2B5EF4-FFF2-40B4-BE49-F238E27FC236}">
                  <a16:creationId xmlns:a16="http://schemas.microsoft.com/office/drawing/2014/main" id="{4F685AD4-D459-46A1-BF29-0E3DB5C65E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7696200"/>
              <a:ext cx="424815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다음 분석도 진행할까요?</a:t>
              </a:r>
            </a:p>
          </p:txBody>
        </p:sp>
        <p:sp>
          <p:nvSpPr>
            <p:cNvPr id="60" name="section02__156">
              <a:extLst xmlns:a="http://schemas.openxmlformats.org/drawingml/2006/main">
                <a:ext uri="{FF2B5EF4-FFF2-40B4-BE49-F238E27FC236}">
                  <a16:creationId xmlns:a16="http://schemas.microsoft.com/office/drawing/2014/main" id="{393EAD65-09CE-49BA-AB47-6A9E46A479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8039100"/>
              <a:ext cx="440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자재 분석  ·  공정별 Trend  ·  유사 이력  ·  추가 Mining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61" name="section03__157">
              <a:extLst xmlns:a="http://schemas.openxmlformats.org/drawingml/2006/main">
                <a:ext uri="{FF2B5EF4-FFF2-40B4-BE49-F238E27FC236}">
                  <a16:creationId xmlns:a16="http://schemas.microsoft.com/office/drawing/2014/main" id="{D1645F6E-5C01-45A8-BB2E-C414CDBE33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8763000"/>
              <a:ext cx="9601200" cy="2514600"/>
            </a:xfrm>
            <a:prstGeom xmlns:a="http://schemas.openxmlformats.org/drawingml/2006/main" prst="roundRect">
              <a:avLst>
                <a:gd name="adj" fmla="val 303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2" name="section03__158">
              <a:extLst xmlns:a="http://schemas.openxmlformats.org/drawingml/2006/main">
                <a:ext uri="{FF2B5EF4-FFF2-40B4-BE49-F238E27FC236}">
                  <a16:creationId xmlns:a16="http://schemas.microsoft.com/office/drawing/2014/main" id="{30E3A206-7C96-4D41-93B0-2FFA3F62C1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7725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3" name="section03__159">
              <a:extLst xmlns:a="http://schemas.openxmlformats.org/drawingml/2006/main">
                <a:ext uri="{FF2B5EF4-FFF2-40B4-BE49-F238E27FC236}">
                  <a16:creationId xmlns:a16="http://schemas.microsoft.com/office/drawing/2014/main" id="{C43BE235-D2E5-4570-B99C-EDC026012F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7725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4" name="section03__160">
              <a:extLst xmlns:a="http://schemas.openxmlformats.org/drawingml/2006/main">
                <a:ext uri="{FF2B5EF4-FFF2-40B4-BE49-F238E27FC236}">
                  <a16:creationId xmlns:a16="http://schemas.microsoft.com/office/drawing/2014/main" id="{A0F20C88-9B11-4171-9255-0671A03680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87630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5" name="section03__161">
              <a:extLst xmlns:a="http://schemas.openxmlformats.org/drawingml/2006/main">
                <a:ext uri="{FF2B5EF4-FFF2-40B4-BE49-F238E27FC236}">
                  <a16:creationId xmlns:a16="http://schemas.microsoft.com/office/drawing/2014/main" id="{1C9707BE-F52B-455D-AE43-6471D4F0F0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87630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사람과 Agent가 함께하는 분석 Workflow</a:t>
              </a:r>
            </a:p>
          </p:txBody>
        </p:sp>
        <p:sp>
          <p:nvSpPr>
            <p:cNvPr id="67" name="section03__162">
              <a:extLst xmlns:a="http://schemas.openxmlformats.org/drawingml/2006/main">
                <a:ext uri="{FF2B5EF4-FFF2-40B4-BE49-F238E27FC236}">
                  <a16:creationId xmlns:a16="http://schemas.microsoft.com/office/drawing/2014/main" id="{078A2D2C-0978-435F-8E38-4E458BF38D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10896600"/>
              <a:ext cx="91440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결과에 따라 이전 단계로 돌아가 추가 분석  ·  기본 Workflow와 엔지니어 주도 분석을 함께 지원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68" name="section04__163">
              <a:extLst xmlns:a="http://schemas.openxmlformats.org/drawingml/2006/main">
                <a:ext uri="{FF2B5EF4-FFF2-40B4-BE49-F238E27FC236}">
                  <a16:creationId xmlns:a16="http://schemas.microsoft.com/office/drawing/2014/main" id="{664A7451-F397-4E2B-AC21-3B9F5639AD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1430000"/>
              <a:ext cx="9601200" cy="1362075"/>
            </a:xfrm>
            <a:prstGeom xmlns:a="http://schemas.openxmlformats.org/drawingml/2006/main" prst="roundRect">
              <a:avLst>
                <a:gd name="adj" fmla="val 55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9" name="section04__164">
              <a:extLst xmlns:a="http://schemas.openxmlformats.org/drawingml/2006/main">
                <a:ext uri="{FF2B5EF4-FFF2-40B4-BE49-F238E27FC236}">
                  <a16:creationId xmlns:a16="http://schemas.microsoft.com/office/drawing/2014/main" id="{CB8DB482-4FC2-4ACB-A43D-ABBB0A32EC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14395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0" name="section04__165">
              <a:extLst xmlns:a="http://schemas.openxmlformats.org/drawingml/2006/main">
                <a:ext uri="{FF2B5EF4-FFF2-40B4-BE49-F238E27FC236}">
                  <a16:creationId xmlns:a16="http://schemas.microsoft.com/office/drawing/2014/main" id="{2BAD30FF-C085-40B0-A983-978A12762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14395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1" name="section04__166">
              <a:extLst xmlns:a="http://schemas.openxmlformats.org/drawingml/2006/main">
                <a:ext uri="{FF2B5EF4-FFF2-40B4-BE49-F238E27FC236}">
                  <a16:creationId xmlns:a16="http://schemas.microsoft.com/office/drawing/2014/main" id="{3F34EDB6-7E79-47E0-9F70-0591B0E046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14300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72" name="section04__167">
              <a:extLst xmlns:a="http://schemas.openxmlformats.org/drawingml/2006/main">
                <a:ext uri="{FF2B5EF4-FFF2-40B4-BE49-F238E27FC236}">
                  <a16:creationId xmlns:a16="http://schemas.microsoft.com/office/drawing/2014/main" id="{F0D4AB25-4F50-4151-8B99-0BEEC24C5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14300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기대 효과  ·  숙련자의 분석 방법을 누구나 활용하는 체계</a:t>
              </a:r>
            </a:p>
          </p:txBody>
        </p:sp>
        <p:sp>
          <p:nvSpPr>
            <p:cNvPr id="73" name="section04__168">
              <a:extLst xmlns:a="http://schemas.openxmlformats.org/drawingml/2006/main">
                <a:ext uri="{FF2B5EF4-FFF2-40B4-BE49-F238E27FC236}">
                  <a16:creationId xmlns:a16="http://schemas.microsoft.com/office/drawing/2014/main" id="{8FD63A91-6753-4C28-87C4-5C4C469DB8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" y="11963400"/>
              <a:ext cx="22383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업무 효율화</a:t>
              </a:r>
            </a:p>
          </p:txBody>
        </p:sp>
        <p:sp>
          <p:nvSpPr>
            <p:cNvPr id="74" name="section04__169">
              <a:extLst xmlns:a="http://schemas.openxmlformats.org/drawingml/2006/main">
                <a:ext uri="{FF2B5EF4-FFF2-40B4-BE49-F238E27FC236}">
                  <a16:creationId xmlns:a16="http://schemas.microsoft.com/office/drawing/2014/main" id="{D32EABBA-98CA-4461-AD69-EBC88D8B79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" y="12334875"/>
              <a:ext cx="2238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반복 탐색·정리 시간 단축</a:t>
              </a:r>
            </a:p>
          </p:txBody>
        </p:sp>
        <p:sp>
          <p:nvSpPr>
            <p:cNvPr id="75" name="section04__170">
              <a:extLst xmlns:a="http://schemas.openxmlformats.org/drawingml/2006/main">
                <a:ext uri="{FF2B5EF4-FFF2-40B4-BE49-F238E27FC236}">
                  <a16:creationId xmlns:a16="http://schemas.microsoft.com/office/drawing/2014/main" id="{40F8878B-D4F1-4692-962E-CD1B3CADD2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3675" y="11963400"/>
              <a:ext cx="22383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방법 표준화</a:t>
              </a:r>
            </a:p>
          </p:txBody>
        </p:sp>
        <p:sp>
          <p:nvSpPr>
            <p:cNvPr id="76" name="section04__171">
              <a:extLst xmlns:a="http://schemas.openxmlformats.org/drawingml/2006/main">
                <a:ext uri="{FF2B5EF4-FFF2-40B4-BE49-F238E27FC236}">
                  <a16:creationId xmlns:a16="http://schemas.microsoft.com/office/drawing/2014/main" id="{7C91CECB-B0FA-44DF-8976-25B6317DD4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3675" y="12334875"/>
              <a:ext cx="2238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지식을 재사용</a:t>
              </a:r>
            </a:p>
          </p:txBody>
        </p:sp>
        <p:sp>
          <p:nvSpPr>
            <p:cNvPr id="77" name="section04__172">
              <a:extLst xmlns:a="http://schemas.openxmlformats.org/drawingml/2006/main">
                <a:ext uri="{FF2B5EF4-FFF2-40B4-BE49-F238E27FC236}">
                  <a16:creationId xmlns:a16="http://schemas.microsoft.com/office/drawing/2014/main" id="{351EFE45-6B01-4F4E-AA2C-A169080882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6825" y="11963400"/>
              <a:ext cx="22383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품질·신뢰도 향상</a:t>
              </a:r>
            </a:p>
          </p:txBody>
        </p:sp>
        <p:sp>
          <p:nvSpPr>
            <p:cNvPr id="78" name="section04__173">
              <a:extLst xmlns:a="http://schemas.openxmlformats.org/drawingml/2006/main">
                <a:ext uri="{FF2B5EF4-FFF2-40B4-BE49-F238E27FC236}">
                  <a16:creationId xmlns:a16="http://schemas.microsoft.com/office/drawing/2014/main" id="{A0EBDD19-5C41-41DA-807A-376894313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76825" y="12334875"/>
              <a:ext cx="2238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체계적인 결과와 해석</a:t>
              </a:r>
            </a:p>
          </p:txBody>
        </p:sp>
        <p:sp>
          <p:nvSpPr>
            <p:cNvPr id="79" name="section04__174">
              <a:extLst xmlns:a="http://schemas.openxmlformats.org/drawingml/2006/main">
                <a:ext uri="{FF2B5EF4-FFF2-40B4-BE49-F238E27FC236}">
                  <a16:creationId xmlns:a16="http://schemas.microsoft.com/office/drawing/2014/main" id="{17AE545C-9CC0-4191-9199-5D35C0D87D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11963400"/>
              <a:ext cx="22383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전사 확산 기반</a:t>
              </a:r>
            </a:p>
          </p:txBody>
        </p:sp>
        <p:sp>
          <p:nvSpPr>
            <p:cNvPr id="80" name="section04__175">
              <a:extLst xmlns:a="http://schemas.openxmlformats.org/drawingml/2006/main">
                <a:ext uri="{FF2B5EF4-FFF2-40B4-BE49-F238E27FC236}">
                  <a16:creationId xmlns:a16="http://schemas.microsoft.com/office/drawing/2014/main" id="{AE59933C-FC45-4430-94C8-3391C56436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12334875"/>
              <a:ext cx="22383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전문 분석 활용 확대</a:t>
              </a:r>
            </a:p>
          </p:txBody>
        </p:sp>
      </p:grpSp>
      <p:grpSp>
        <p:nvGrpSpPr>
          <p:cNvPr id="10005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1" name="footer__176">
              <a:extLst xmlns:a="http://schemas.openxmlformats.org/drawingml/2006/main">
                <a:ext uri="{FF2B5EF4-FFF2-40B4-BE49-F238E27FC236}">
                  <a16:creationId xmlns:a16="http://schemas.microsoft.com/office/drawing/2014/main" id="{BC2C3CB7-57CE-4B9B-BEA9-66AA537F8D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2" name="footer__177">
              <a:extLst xmlns:a="http://schemas.openxmlformats.org/drawingml/2006/main">
                <a:ext uri="{FF2B5EF4-FFF2-40B4-BE49-F238E27FC236}">
                  <a16:creationId xmlns:a16="http://schemas.microsoft.com/office/drawing/2014/main" id="{857F82B7-4082-49A5-97EE-E936775FE4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숙련자의 분석 전문성을 실행 가능한 업무 체계로 전환하고,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한 환경에서 결과 확인부터 후속 분석까지 연속적으로 수행</a:t>
              </a:r>
            </a:p>
          </p:txBody>
        </p:sp>
        <p:sp>
          <p:nvSpPr>
            <p:cNvPr id="83" name="footer__178">
              <a:extLst xmlns:a="http://schemas.openxmlformats.org/drawingml/2006/main">
                <a:ext uri="{FF2B5EF4-FFF2-40B4-BE49-F238E27FC236}">
                  <a16:creationId xmlns:a16="http://schemas.microsoft.com/office/drawing/2014/main" id="{347AF6A0-33E4-49A1-976B-F788DC8F1F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84" name="footer__179">
              <a:extLst xmlns:a="http://schemas.openxmlformats.org/drawingml/2006/main">
                <a:ext uri="{FF2B5EF4-FFF2-40B4-BE49-F238E27FC236}">
                  <a16:creationId xmlns:a16="http://schemas.microsoft.com/office/drawing/2014/main" id="{A26D82C9-75DC-4049-A24E-725588FFE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  <p:graphicFrame>
        <p:nvGraphicFramePr>
          <p:cNvPr id="150" name=""/>
          <p:cNvGraphicFramePr/>
          <p:nvPr/>
        </p:nvGraphicFramePr>
        <p:xfrm>
          <a:off xmlns:a="http://schemas.openxmlformats.org/drawingml/2006/main" x="390525" y="9296400"/>
          <a:ext xmlns:a="http://schemas.openxmlformats.org/drawingml/2006/main" cx="9248775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9755"/>
                <a:gridCol w="1849755"/>
                <a:gridCol w="1849755"/>
                <a:gridCol w="1849755"/>
                <a:gridCol w="1849755"/>
              </a:tblGrid>
              <a:tr h="495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수율 점검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분석 대상 선정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전문 분석 진행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결과 확인·확장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</a:tr>
              <a:tr h="495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제안·실행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기간별 수율 분석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열화 감지·이상 탐지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Fail List 제안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Agent·분석 방법 추천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분석 수행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정리·시각화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분석 추천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분석 제안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엔지니어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판단·선택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기간·목적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대상 Fail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검토·선택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원하는 분석 선택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Workflow 활용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확인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분석·방향 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85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5" name="header__180">
              <a:extLst xmlns:a="http://schemas.openxmlformats.org/drawingml/2006/main">
                <a:ext uri="{FF2B5EF4-FFF2-40B4-BE49-F238E27FC236}">
                  <a16:creationId xmlns:a16="http://schemas.microsoft.com/office/drawing/2014/main" id="{D48A2BB1-CF60-4AEA-9815-A3B36984EC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181">
              <a:extLst xmlns:a="http://schemas.openxmlformats.org/drawingml/2006/main">
                <a:ext uri="{FF2B5EF4-FFF2-40B4-BE49-F238E27FC236}">
                  <a16:creationId xmlns:a16="http://schemas.microsoft.com/office/drawing/2014/main" id="{33977E57-8065-4727-B82E-993631A86A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182">
              <a:extLst xmlns:a="http://schemas.openxmlformats.org/drawingml/2006/main">
                <a:ext uri="{FF2B5EF4-FFF2-40B4-BE49-F238E27FC236}">
                  <a16:creationId xmlns:a16="http://schemas.microsoft.com/office/drawing/2014/main" id="{E7364531-4C80-417D-A2CD-4BA554FFC7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03 / 06</a:t>
              </a:r>
            </a:p>
          </p:txBody>
        </p:sp>
        <p:sp>
          <p:nvSpPr>
            <p:cNvPr id="4" name="header__183">
              <a:extLst xmlns:a="http://schemas.openxmlformats.org/drawingml/2006/main">
                <a:ext uri="{FF2B5EF4-FFF2-40B4-BE49-F238E27FC236}">
                  <a16:creationId xmlns:a16="http://schemas.microsoft.com/office/drawing/2014/main" id="{92787494-EAC9-4CFE-98EB-272FA2D17A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184">
              <a:extLst xmlns:a="http://schemas.openxmlformats.org/drawingml/2006/main">
                <a:ext uri="{FF2B5EF4-FFF2-40B4-BE49-F238E27FC236}">
                  <a16:creationId xmlns:a16="http://schemas.microsoft.com/office/drawing/2014/main" id="{52228416-D07C-42EB-9F3C-AE7BCCD9A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숙련자의 Know-how를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전문 Agent의 분석 역량으로 구현</a:t>
              </a:r>
            </a:p>
          </p:txBody>
        </p:sp>
        <p:sp>
          <p:nvSpPr>
            <p:cNvPr id="6" name="header__185">
              <a:extLst xmlns:a="http://schemas.openxmlformats.org/drawingml/2006/main">
                <a:ext uri="{FF2B5EF4-FFF2-40B4-BE49-F238E27FC236}">
                  <a16:creationId xmlns:a16="http://schemas.microsoft.com/office/drawing/2014/main" id="{047C5C43-BC00-4283-BD6C-3FE2EFAC18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도메인 지식을 Agent의 분석 Logic과 Workflow에 내재화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186">
              <a:extLst xmlns:a="http://schemas.openxmlformats.org/drawingml/2006/main">
                <a:ext uri="{FF2B5EF4-FFF2-40B4-BE49-F238E27FC236}">
                  <a16:creationId xmlns:a16="http://schemas.microsoft.com/office/drawing/2014/main" id="{E2D4F312-97C6-4DC7-A037-F80C223CA9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247900"/>
            </a:xfrm>
            <a:prstGeom xmlns:a="http://schemas.openxmlformats.org/drawingml/2006/main" prst="roundRect">
              <a:avLst>
                <a:gd name="adj" fmla="val 339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187">
              <a:extLst xmlns:a="http://schemas.openxmlformats.org/drawingml/2006/main">
                <a:ext uri="{FF2B5EF4-FFF2-40B4-BE49-F238E27FC236}">
                  <a16:creationId xmlns:a16="http://schemas.microsoft.com/office/drawing/2014/main" id="{5060AF2B-AC03-4FFE-AE58-AA031A8AB1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188">
              <a:extLst xmlns:a="http://schemas.openxmlformats.org/drawingml/2006/main">
                <a:ext uri="{FF2B5EF4-FFF2-40B4-BE49-F238E27FC236}">
                  <a16:creationId xmlns:a16="http://schemas.microsoft.com/office/drawing/2014/main" id="{8C246F41-E77A-409C-9A72-44BE239AF6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189">
              <a:extLst xmlns:a="http://schemas.openxmlformats.org/drawingml/2006/main">
                <a:ext uri="{FF2B5EF4-FFF2-40B4-BE49-F238E27FC236}">
                  <a16:creationId xmlns:a16="http://schemas.microsoft.com/office/drawing/2014/main" id="{875D13B4-A6CB-4769-BA3F-B39A8C5DA3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190">
              <a:extLst xmlns:a="http://schemas.openxmlformats.org/drawingml/2006/main">
                <a:ext uri="{FF2B5EF4-FFF2-40B4-BE49-F238E27FC236}">
                  <a16:creationId xmlns:a16="http://schemas.microsoft.com/office/drawing/2014/main" id="{263DE460-EBC5-4F09-A4F6-4346D18F62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전문성을 실행 가능한 분석 Logic으로 전환</a:t>
              </a:r>
            </a:p>
          </p:txBody>
        </p:sp>
        <p:sp>
          <p:nvSpPr>
            <p:cNvPr id="12" name="section01__191">
              <a:extLst xmlns:a="http://schemas.openxmlformats.org/drawingml/2006/main">
                <a:ext uri="{FF2B5EF4-FFF2-40B4-BE49-F238E27FC236}">
                  <a16:creationId xmlns:a16="http://schemas.microsoft.com/office/drawing/2014/main" id="{C69737B0-D189-4AE4-B6C6-AFB9843139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2914650"/>
              <a:ext cx="2124075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192">
              <a:extLst xmlns:a="http://schemas.openxmlformats.org/drawingml/2006/main">
                <a:ext uri="{FF2B5EF4-FFF2-40B4-BE49-F238E27FC236}">
                  <a16:creationId xmlns:a16="http://schemas.microsoft.com/office/drawing/2014/main" id="{C019EFCC-7C62-435B-821D-15A4364664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도메인 지식</a:t>
              </a:r>
            </a:p>
          </p:txBody>
        </p:sp>
        <p:sp>
          <p:nvSpPr>
            <p:cNvPr id="14" name="section01__193">
              <a:extLst xmlns:a="http://schemas.openxmlformats.org/drawingml/2006/main">
                <a:ext uri="{FF2B5EF4-FFF2-40B4-BE49-F238E27FC236}">
                  <a16:creationId xmlns:a16="http://schemas.microsoft.com/office/drawing/2014/main" id="{7E4AF64E-1E81-427B-AB42-3A725A4F81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390900"/>
              <a:ext cx="1895475" cy="981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불량별 분석 관점·공정 이해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해석 기준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원인 추적·분석 연결 순서</a:t>
              </a:r>
            </a:p>
          </p:txBody>
        </p:sp>
        <p:sp>
          <p:nvSpPr>
            <p:cNvPr id="15" name="section01__194">
              <a:extLst xmlns:a="http://schemas.openxmlformats.org/drawingml/2006/main">
                <a:ext uri="{FF2B5EF4-FFF2-40B4-BE49-F238E27FC236}">
                  <a16:creationId xmlns:a16="http://schemas.microsoft.com/office/drawing/2014/main" id="{445A850A-A666-49FB-A192-0AB3787E77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2225" y="36004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195">
              <a:extLst xmlns:a="http://schemas.openxmlformats.org/drawingml/2006/main">
                <a:ext uri="{FF2B5EF4-FFF2-40B4-BE49-F238E27FC236}">
                  <a16:creationId xmlns:a16="http://schemas.microsoft.com/office/drawing/2014/main" id="{C5B2D824-C930-490A-83AF-1A7FDBD98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2914650"/>
              <a:ext cx="2124075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196">
              <a:extLst xmlns:a="http://schemas.openxmlformats.org/drawingml/2006/main">
                <a:ext uri="{FF2B5EF4-FFF2-40B4-BE49-F238E27FC236}">
                  <a16:creationId xmlns:a16="http://schemas.microsoft.com/office/drawing/2014/main" id="{DBDAAB03-1A06-474C-8EDB-5A248D8C8E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분석 Logic</a:t>
              </a:r>
            </a:p>
          </p:txBody>
        </p:sp>
        <p:sp>
          <p:nvSpPr>
            <p:cNvPr id="18" name="section01__197">
              <a:extLst xmlns:a="http://schemas.openxmlformats.org/drawingml/2006/main">
                <a:ext uri="{FF2B5EF4-FFF2-40B4-BE49-F238E27FC236}">
                  <a16:creationId xmlns:a16="http://schemas.microsoft.com/office/drawing/2014/main" id="{BB994816-D594-4BE7-922F-3E7486712D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3390900"/>
              <a:ext cx="1895475" cy="981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무엇을 확인할 것인가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어떻게 해석할 것인가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어떤 후속 분석으로 연결할까</a:t>
              </a:r>
            </a:p>
          </p:txBody>
        </p:sp>
        <p:sp>
          <p:nvSpPr>
            <p:cNvPr id="19" name="section01__198">
              <a:extLst xmlns:a="http://schemas.openxmlformats.org/drawingml/2006/main">
                <a:ext uri="{FF2B5EF4-FFF2-40B4-BE49-F238E27FC236}">
                  <a16:creationId xmlns:a16="http://schemas.microsoft.com/office/drawing/2014/main" id="{09C27C95-206B-4D71-9D3D-16A6D78138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33950" y="36004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199">
              <a:extLst xmlns:a="http://schemas.openxmlformats.org/drawingml/2006/main">
                <a:ext uri="{FF2B5EF4-FFF2-40B4-BE49-F238E27FC236}">
                  <a16:creationId xmlns:a16="http://schemas.microsoft.com/office/drawing/2014/main" id="{D013EDB4-524C-4AC2-9CDA-BFAD73DC1E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2914650"/>
              <a:ext cx="2124075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200">
              <a:extLst xmlns:a="http://schemas.openxmlformats.org/drawingml/2006/main">
                <a:ext uri="{FF2B5EF4-FFF2-40B4-BE49-F238E27FC236}">
                  <a16:creationId xmlns:a16="http://schemas.microsoft.com/office/drawing/2014/main" id="{21CFB661-0F64-400E-BC37-737E24FFC1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전문 Agent</a:t>
              </a:r>
            </a:p>
          </p:txBody>
        </p:sp>
        <p:sp>
          <p:nvSpPr>
            <p:cNvPr id="22" name="section01__201">
              <a:extLst xmlns:a="http://schemas.openxmlformats.org/drawingml/2006/main">
                <a:ext uri="{FF2B5EF4-FFF2-40B4-BE49-F238E27FC236}">
                  <a16:creationId xmlns:a16="http://schemas.microsoft.com/office/drawing/2014/main" id="{4F68A0AD-D37B-4AD1-B8F0-74B10C9989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3390900"/>
              <a:ext cx="1895475" cy="981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13개 전문 Agent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24개 Tool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다양한 수율 업무 지원</a:t>
              </a:r>
            </a:p>
          </p:txBody>
        </p:sp>
        <p:sp>
          <p:nvSpPr>
            <p:cNvPr id="23" name="section01__202">
              <a:extLst xmlns:a="http://schemas.openxmlformats.org/drawingml/2006/main">
                <a:ext uri="{FF2B5EF4-FFF2-40B4-BE49-F238E27FC236}">
                  <a16:creationId xmlns:a16="http://schemas.microsoft.com/office/drawing/2014/main" id="{FAE6C4F5-158E-42C0-8D22-0BC131570F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5675" y="36004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1__203">
              <a:extLst xmlns:a="http://schemas.openxmlformats.org/drawingml/2006/main">
                <a:ext uri="{FF2B5EF4-FFF2-40B4-BE49-F238E27FC236}">
                  <a16:creationId xmlns:a16="http://schemas.microsoft.com/office/drawing/2014/main" id="{8B14B7F3-C1EB-4903-94EF-13CA283AE9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15225" y="2914650"/>
              <a:ext cx="2124075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5" name="section01__204">
              <a:extLst xmlns:a="http://schemas.openxmlformats.org/drawingml/2006/main">
                <a:ext uri="{FF2B5EF4-FFF2-40B4-BE49-F238E27FC236}">
                  <a16:creationId xmlns:a16="http://schemas.microsoft.com/office/drawing/2014/main" id="{18876DC6-75EF-404A-B250-8658AFF31E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00950" y="2990850"/>
              <a:ext cx="1952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Super Agent</a:t>
              </a:r>
            </a:p>
          </p:txBody>
        </p:sp>
        <p:sp>
          <p:nvSpPr>
            <p:cNvPr id="26" name="section01__205">
              <a:extLst xmlns:a="http://schemas.openxmlformats.org/drawingml/2006/main">
                <a:ext uri="{FF2B5EF4-FFF2-40B4-BE49-F238E27FC236}">
                  <a16:creationId xmlns:a16="http://schemas.microsoft.com/office/drawing/2014/main" id="{6BA24724-4B95-4FA3-B8AA-EEEDF2019C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9525" y="3390900"/>
              <a:ext cx="1895475" cy="981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사전 정의 Workflow 추천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전문 Agent·Tool 연결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End-to-End 분석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7" name="section02__206">
              <a:extLst xmlns:a="http://schemas.openxmlformats.org/drawingml/2006/main">
                <a:ext uri="{FF2B5EF4-FFF2-40B4-BE49-F238E27FC236}">
                  <a16:creationId xmlns:a16="http://schemas.microsoft.com/office/drawing/2014/main" id="{25598448-374D-4C06-B236-B2F8A7DFE4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781550"/>
              <a:ext cx="9601200" cy="3867150"/>
            </a:xfrm>
            <a:prstGeom xmlns:a="http://schemas.openxmlformats.org/drawingml/2006/main" prst="roundRect">
              <a:avLst>
                <a:gd name="adj" fmla="val 197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8" name="section02__207">
              <a:extLst xmlns:a="http://schemas.openxmlformats.org/drawingml/2006/main">
                <a:ext uri="{FF2B5EF4-FFF2-40B4-BE49-F238E27FC236}">
                  <a16:creationId xmlns:a16="http://schemas.microsoft.com/office/drawing/2014/main" id="{DCA8CEAB-1D48-474E-ACB8-F4C7980165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7910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9" name="section02__208">
              <a:extLst xmlns:a="http://schemas.openxmlformats.org/drawingml/2006/main">
                <a:ext uri="{FF2B5EF4-FFF2-40B4-BE49-F238E27FC236}">
                  <a16:creationId xmlns:a16="http://schemas.microsoft.com/office/drawing/2014/main" id="{7DB8CD2E-0A8C-4AC0-B9C1-AA47313F0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7910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0" name="section02__209">
              <a:extLst xmlns:a="http://schemas.openxmlformats.org/drawingml/2006/main">
                <a:ext uri="{FF2B5EF4-FFF2-40B4-BE49-F238E27FC236}">
                  <a16:creationId xmlns:a16="http://schemas.microsoft.com/office/drawing/2014/main" id="{5357A56D-B520-428D-97FE-EDA654D94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7815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1" name="section02__210">
              <a:extLst xmlns:a="http://schemas.openxmlformats.org/drawingml/2006/main">
                <a:ext uri="{FF2B5EF4-FFF2-40B4-BE49-F238E27FC236}">
                  <a16:creationId xmlns:a16="http://schemas.microsoft.com/office/drawing/2014/main" id="{9DE43A33-8D92-411B-B6B4-2A7C579B8B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7815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대표 구현 사례  ·  현업 로직과 머신러닝·Map 분석의 결합</a:t>
              </a:r>
            </a:p>
          </p:txBody>
        </p:sp>
        <p:sp>
          <p:nvSpPr>
            <p:cNvPr id="32" name="section02__211">
              <a:extLst xmlns:a="http://schemas.openxmlformats.org/drawingml/2006/main">
                <a:ext uri="{FF2B5EF4-FFF2-40B4-BE49-F238E27FC236}">
                  <a16:creationId xmlns:a16="http://schemas.microsoft.com/office/drawing/2014/main" id="{E81959D6-47A4-4871-9CBA-0159EA066E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305425"/>
              <a:ext cx="4524375" cy="3162300"/>
            </a:xfrm>
            <a:prstGeom xmlns:a="http://schemas.openxmlformats.org/drawingml/2006/main" prst="roundRect">
              <a:avLst>
                <a:gd name="adj" fmla="val 241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3" name="section02__212">
              <a:extLst xmlns:a="http://schemas.openxmlformats.org/drawingml/2006/main">
                <a:ext uri="{FF2B5EF4-FFF2-40B4-BE49-F238E27FC236}">
                  <a16:creationId xmlns:a16="http://schemas.microsoft.com/office/drawing/2014/main" id="{E92A3A9C-CF47-4780-B4C2-AF7FEBAD9D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57775" y="5305425"/>
              <a:ext cx="4591050" cy="3162300"/>
            </a:xfrm>
            <a:prstGeom xmlns:a="http://schemas.openxmlformats.org/drawingml/2006/main" prst="roundRect">
              <a:avLst>
                <a:gd name="adj" fmla="val 241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4" name="section02__213">
              <a:extLst xmlns:a="http://schemas.openxmlformats.org/drawingml/2006/main">
                <a:ext uri="{FF2B5EF4-FFF2-40B4-BE49-F238E27FC236}">
                  <a16:creationId xmlns:a16="http://schemas.microsoft.com/office/drawing/2014/main" id="{51C735E2-AC37-429B-B088-13AC75E0BC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5429250"/>
              <a:ext cx="423862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2__214">
              <a:extLst xmlns:a="http://schemas.openxmlformats.org/drawingml/2006/main">
                <a:ext uri="{FF2B5EF4-FFF2-40B4-BE49-F238E27FC236}">
                  <a16:creationId xmlns:a16="http://schemas.microsoft.com/office/drawing/2014/main" id="{7E6E5A07-B20F-4D52-9075-8ADDC88910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5429250"/>
              <a:ext cx="41433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열화감지 로직의 Agent화</a:t>
              </a:r>
            </a:p>
          </p:txBody>
        </p:sp>
        <p:sp>
          <p:nvSpPr>
            <p:cNvPr id="36" name="section02__215">
              <a:extLst xmlns:a="http://schemas.openxmlformats.org/drawingml/2006/main">
                <a:ext uri="{FF2B5EF4-FFF2-40B4-BE49-F238E27FC236}">
                  <a16:creationId xmlns:a16="http://schemas.microsoft.com/office/drawing/2014/main" id="{1B94C228-D29D-49A2-9D51-5DF3C8D5F8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5857875"/>
              <a:ext cx="42005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0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열화감지 Agent</a:t>
              </a:r>
            </a:p>
          </p:txBody>
        </p:sp>
        <p:sp>
          <p:nvSpPr>
            <p:cNvPr id="37" name="section02__216">
              <a:extLst xmlns:a="http://schemas.openxmlformats.org/drawingml/2006/main">
                <a:ext uri="{FF2B5EF4-FFF2-40B4-BE49-F238E27FC236}">
                  <a16:creationId xmlns:a16="http://schemas.microsoft.com/office/drawing/2014/main" id="{D5B6E730-D9AD-4308-AA06-46B37C0FE3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6296025"/>
              <a:ext cx="4219575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현업에서 활용하는 열화감지 로직을 구현하여</a:t>
              </a:r>
            </a:p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Y-Agent에서 보고서와 열화 내용을 함께 확인</a:t>
              </a:r>
            </a:p>
          </p:txBody>
        </p:sp>
        <p:sp>
          <p:nvSpPr>
            <p:cNvPr id="38" name="section02__217">
              <a:extLst xmlns:a="http://schemas.openxmlformats.org/drawingml/2006/main">
                <a:ext uri="{FF2B5EF4-FFF2-40B4-BE49-F238E27FC236}">
                  <a16:creationId xmlns:a16="http://schemas.microsoft.com/office/drawing/2014/main" id="{C62B5930-A006-4D1B-9952-747CFB8A08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6953250"/>
              <a:ext cx="1238250" cy="828675"/>
            </a:xfrm>
            <a:prstGeom xmlns:a="http://schemas.openxmlformats.org/drawingml/2006/main" prst="roundRect">
              <a:avLst>
                <a:gd name="adj" fmla="val 919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9" name="section02__218">
              <a:extLst xmlns:a="http://schemas.openxmlformats.org/drawingml/2006/main">
                <a:ext uri="{FF2B5EF4-FFF2-40B4-BE49-F238E27FC236}">
                  <a16:creationId xmlns:a16="http://schemas.microsoft.com/office/drawing/2014/main" id="{77A6021C-C135-4D8E-8D92-3AAB1E883D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7029450"/>
              <a:ext cx="1066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 데이터</a:t>
              </a:r>
            </a:p>
          </p:txBody>
        </p:sp>
        <p:sp>
          <p:nvSpPr>
            <p:cNvPr id="40" name="section02__219">
              <a:extLst xmlns:a="http://schemas.openxmlformats.org/drawingml/2006/main">
                <a:ext uri="{FF2B5EF4-FFF2-40B4-BE49-F238E27FC236}">
                  <a16:creationId xmlns:a16="http://schemas.microsoft.com/office/drawing/2014/main" id="{E5636FE9-9D94-489D-9EEA-27BE0AE97D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7429500"/>
              <a:ext cx="1009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제품·기간·공정</a:t>
              </a:r>
            </a:p>
          </p:txBody>
        </p:sp>
        <p:sp>
          <p:nvSpPr>
            <p:cNvPr id="41" name="section02__220">
              <a:extLst xmlns:a="http://schemas.openxmlformats.org/drawingml/2006/main">
                <a:ext uri="{FF2B5EF4-FFF2-40B4-BE49-F238E27FC236}">
                  <a16:creationId xmlns:a16="http://schemas.microsoft.com/office/drawing/2014/main" id="{F964F194-054C-408B-B62B-D305F4D06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9750" y="7291388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2" name="section02__221">
              <a:extLst xmlns:a="http://schemas.openxmlformats.org/drawingml/2006/main">
                <a:ext uri="{FF2B5EF4-FFF2-40B4-BE49-F238E27FC236}">
                  <a16:creationId xmlns:a16="http://schemas.microsoft.com/office/drawing/2014/main" id="{719C0219-7757-4C62-8245-21798B1491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19300" y="6953250"/>
              <a:ext cx="1238250" cy="828675"/>
            </a:xfrm>
            <a:prstGeom xmlns:a="http://schemas.openxmlformats.org/drawingml/2006/main" prst="roundRect">
              <a:avLst>
                <a:gd name="adj" fmla="val 919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222">
              <a:extLst xmlns:a="http://schemas.openxmlformats.org/drawingml/2006/main">
                <a:ext uri="{FF2B5EF4-FFF2-40B4-BE49-F238E27FC236}">
                  <a16:creationId xmlns:a16="http://schemas.microsoft.com/office/drawing/2014/main" id="{673DD510-73A1-4F92-B248-E1172164F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05025" y="7029450"/>
              <a:ext cx="1066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감지 로직</a:t>
              </a:r>
            </a:p>
          </p:txBody>
        </p:sp>
        <p:sp>
          <p:nvSpPr>
            <p:cNvPr id="44" name="section02__223">
              <a:extLst xmlns:a="http://schemas.openxmlformats.org/drawingml/2006/main">
                <a:ext uri="{FF2B5EF4-FFF2-40B4-BE49-F238E27FC236}">
                  <a16:creationId xmlns:a16="http://schemas.microsoft.com/office/drawing/2014/main" id="{C8E3BD8F-866B-4BA3-8BB7-56A4486389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33600" y="7429500"/>
              <a:ext cx="1009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열화 내용 파악</a:t>
              </a:r>
            </a:p>
          </p:txBody>
        </p:sp>
        <p:sp>
          <p:nvSpPr>
            <p:cNvPr id="45" name="section02__224">
              <a:extLst xmlns:a="http://schemas.openxmlformats.org/drawingml/2006/main">
                <a:ext uri="{FF2B5EF4-FFF2-40B4-BE49-F238E27FC236}">
                  <a16:creationId xmlns:a16="http://schemas.microsoft.com/office/drawing/2014/main" id="{E327BB3D-39FE-454A-8DDA-4B8B3F8407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95650" y="7291388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6" name="section02__225">
              <a:extLst xmlns:a="http://schemas.openxmlformats.org/drawingml/2006/main">
                <a:ext uri="{FF2B5EF4-FFF2-40B4-BE49-F238E27FC236}">
                  <a16:creationId xmlns:a16="http://schemas.microsoft.com/office/drawing/2014/main" id="{FF730B0C-09C4-45E5-B393-6A50AD7D0C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6953250"/>
              <a:ext cx="1238250" cy="828675"/>
            </a:xfrm>
            <a:prstGeom xmlns:a="http://schemas.openxmlformats.org/drawingml/2006/main" prst="roundRect">
              <a:avLst>
                <a:gd name="adj" fmla="val 919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7" name="section02__226">
              <a:extLst xmlns:a="http://schemas.openxmlformats.org/drawingml/2006/main">
                <a:ext uri="{FF2B5EF4-FFF2-40B4-BE49-F238E27FC236}">
                  <a16:creationId xmlns:a16="http://schemas.microsoft.com/office/drawing/2014/main" id="{8561B05A-971C-4733-9626-034C14858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90925" y="7029450"/>
              <a:ext cx="10668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Web 보고서</a:t>
              </a:r>
            </a:p>
          </p:txBody>
        </p:sp>
        <p:sp>
          <p:nvSpPr>
            <p:cNvPr id="48" name="section02__227">
              <a:extLst xmlns:a="http://schemas.openxmlformats.org/drawingml/2006/main">
                <a:ext uri="{FF2B5EF4-FFF2-40B4-BE49-F238E27FC236}">
                  <a16:creationId xmlns:a16="http://schemas.microsoft.com/office/drawing/2014/main" id="{48126C09-06E1-4490-9335-DEA96FCE3D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7429500"/>
              <a:ext cx="1009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후속 분석 활용</a:t>
              </a:r>
            </a:p>
          </p:txBody>
        </p:sp>
        <p:sp>
          <p:nvSpPr>
            <p:cNvPr id="49" name="section02__228">
              <a:extLst xmlns:a="http://schemas.openxmlformats.org/drawingml/2006/main">
                <a:ext uri="{FF2B5EF4-FFF2-40B4-BE49-F238E27FC236}">
                  <a16:creationId xmlns:a16="http://schemas.microsoft.com/office/drawing/2014/main" id="{69EB4744-067F-4685-AF16-288211968D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7972425"/>
              <a:ext cx="4219575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기간별 수율 확인 · 열화 내용 정리 · 분석 대상 검토</a:t>
              </a:r>
            </a:p>
            <a:p xmlns:a="http://schemas.openxmlformats.org/drawingml/2006/main">
              <a:pPr algn="l">
                <a:def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보고서 확인과 열화 파악을 한 환경에서 수행</a:t>
              </a:r>
            </a:p>
          </p:txBody>
        </p:sp>
        <p:sp>
          <p:nvSpPr>
            <p:cNvPr id="50" name="section02__229">
              <a:extLst xmlns:a="http://schemas.openxmlformats.org/drawingml/2006/main">
                <a:ext uri="{FF2B5EF4-FFF2-40B4-BE49-F238E27FC236}">
                  <a16:creationId xmlns:a16="http://schemas.microsoft.com/office/drawing/2014/main" id="{A8C38410-F489-46E2-89A0-60D1DAB8FD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0650" y="5429250"/>
              <a:ext cx="4295775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1" name="section02__230">
              <a:extLst xmlns:a="http://schemas.openxmlformats.org/drawingml/2006/main">
                <a:ext uri="{FF2B5EF4-FFF2-40B4-BE49-F238E27FC236}">
                  <a16:creationId xmlns:a16="http://schemas.microsoft.com/office/drawing/2014/main" id="{B583FAB6-2F2C-458E-9582-C655A960F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8275" y="5429250"/>
              <a:ext cx="42005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분류 머신러닝 + Wafer Map</a:t>
              </a:r>
            </a:p>
          </p:txBody>
        </p:sp>
        <p:sp>
          <p:nvSpPr>
            <p:cNvPr id="52" name="section02__231">
              <a:extLst xmlns:a="http://schemas.openxmlformats.org/drawingml/2006/main">
                <a:ext uri="{FF2B5EF4-FFF2-40B4-BE49-F238E27FC236}">
                  <a16:creationId xmlns:a16="http://schemas.microsoft.com/office/drawing/2014/main" id="{717C84C4-A919-418E-9386-09473AB90E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0650" y="5857875"/>
              <a:ext cx="43053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0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Mining Agent</a:t>
              </a:r>
            </a:p>
          </p:txBody>
        </p:sp>
        <p:sp>
          <p:nvSpPr>
            <p:cNvPr id="53" name="section02__232">
              <a:extLst xmlns:a="http://schemas.openxmlformats.org/drawingml/2006/main">
                <a:ext uri="{FF2B5EF4-FFF2-40B4-BE49-F238E27FC236}">
                  <a16:creationId xmlns:a16="http://schemas.microsoft.com/office/drawing/2014/main" id="{04D02083-85DC-4DD3-919C-F71E63E807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00650" y="6296025"/>
              <a:ext cx="4295775" cy="466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분류 모델 기반 로직과 Wafer Map을 활용하여</a:t>
              </a:r>
            </a:p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Fail Map과 비슷한 양상의 원인 후보를 추출</a:t>
              </a:r>
            </a:p>
          </p:txBody>
        </p:sp>
        <p:pic>
          <p:nvPicPr>
            <p:cNvPr id="158" name=""/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9f8acf19f874b54"/>
            <a:stretch xmlns:a="http://schemas.openxmlformats.org/drawingml/2006/main"/>
          </p:blipFill>
          <p:spPr>
            <a:xfrm xmlns:a="http://schemas.openxmlformats.org/drawingml/2006/main">
              <a:off x="5345013" y="6896100"/>
              <a:ext cx="3987998" cy="828675"/>
            </a:xfrm>
            <a:prstGeom xmlns:a="http://schemas.openxmlformats.org/drawingml/2006/main" prst="rect">
              <a:avLst/>
            </a:prstGeom>
          </p:spPr>
        </p:pic>
        <p:sp>
          <p:nvSpPr>
            <p:cNvPr id="55" name="section02__233">
              <a:extLst xmlns:a="http://schemas.openxmlformats.org/drawingml/2006/main">
                <a:ext uri="{FF2B5EF4-FFF2-40B4-BE49-F238E27FC236}">
                  <a16:creationId xmlns:a16="http://schemas.microsoft.com/office/drawing/2014/main" id="{19EDD2FC-8E5F-429F-92D6-FE9E672E5B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7800" y="7696200"/>
              <a:ext cx="176212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Target Fail Map</a:t>
              </a:r>
            </a:p>
          </p:txBody>
        </p:sp>
        <p:sp>
          <p:nvSpPr>
            <p:cNvPr id="56" name="section02__234">
              <a:extLst xmlns:a="http://schemas.openxmlformats.org/drawingml/2006/main">
                <a:ext uri="{FF2B5EF4-FFF2-40B4-BE49-F238E27FC236}">
                  <a16:creationId xmlns:a16="http://schemas.microsoft.com/office/drawing/2014/main" id="{DC781979-79B6-40B1-B6A4-768F116898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7696200"/>
              <a:ext cx="200977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양상 후보</a:t>
              </a:r>
            </a:p>
          </p:txBody>
        </p:sp>
        <p:sp>
          <p:nvSpPr>
            <p:cNvPr id="57" name="section02__235">
              <a:extLst xmlns:a="http://schemas.openxmlformats.org/drawingml/2006/main">
                <a:ext uri="{FF2B5EF4-FFF2-40B4-BE49-F238E27FC236}">
                  <a16:creationId xmlns:a16="http://schemas.microsoft.com/office/drawing/2014/main" id="{EF7D43DC-BA60-4968-AA6F-B7FB60DDE9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7991475"/>
              <a:ext cx="42291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3가지 Mining 결과 비교 검증에서</a:t>
              </a:r>
            </a:p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도메인 지식 기반 방식의 우수성 확인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8" name="section03__236">
              <a:extLst xmlns:a="http://schemas.openxmlformats.org/drawingml/2006/main">
                <a:ext uri="{FF2B5EF4-FFF2-40B4-BE49-F238E27FC236}">
                  <a16:creationId xmlns:a16="http://schemas.microsoft.com/office/drawing/2014/main" id="{C181BC12-62BD-4EC9-A231-1B89CEECF9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8801100"/>
              <a:ext cx="9601200" cy="1419225"/>
            </a:xfrm>
            <a:prstGeom xmlns:a="http://schemas.openxmlformats.org/drawingml/2006/main" prst="roundRect">
              <a:avLst>
                <a:gd name="adj" fmla="val 536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9" name="section03__237">
              <a:extLst xmlns:a="http://schemas.openxmlformats.org/drawingml/2006/main">
                <a:ext uri="{FF2B5EF4-FFF2-40B4-BE49-F238E27FC236}">
                  <a16:creationId xmlns:a16="http://schemas.microsoft.com/office/drawing/2014/main" id="{A12E6C37-F35C-49F5-B07F-79E1E0193C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8106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0" name="section03__238">
              <a:extLst xmlns:a="http://schemas.openxmlformats.org/drawingml/2006/main">
                <a:ext uri="{FF2B5EF4-FFF2-40B4-BE49-F238E27FC236}">
                  <a16:creationId xmlns:a16="http://schemas.microsoft.com/office/drawing/2014/main" id="{1E32FFB8-A518-435F-BE7E-50EA494C0E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8106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3__239">
              <a:extLst xmlns:a="http://schemas.openxmlformats.org/drawingml/2006/main">
                <a:ext uri="{FF2B5EF4-FFF2-40B4-BE49-F238E27FC236}">
                  <a16:creationId xmlns:a16="http://schemas.microsoft.com/office/drawing/2014/main" id="{67CB01FA-5C48-4D74-AA44-F35D052995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88011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2" name="section03__240">
              <a:extLst xmlns:a="http://schemas.openxmlformats.org/drawingml/2006/main">
                <a:ext uri="{FF2B5EF4-FFF2-40B4-BE49-F238E27FC236}">
                  <a16:creationId xmlns:a16="http://schemas.microsoft.com/office/drawing/2014/main" id="{215C681F-B994-402D-9ACB-5E944AECA3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88011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지연을 데이터 전처리·DB 적재로 개선</a:t>
              </a:r>
            </a:p>
          </p:txBody>
        </p:sp>
        <p:sp>
          <p:nvSpPr>
            <p:cNvPr id="63" name="section03__241">
              <a:extLst xmlns:a="http://schemas.openxmlformats.org/drawingml/2006/main">
                <a:ext uri="{FF2B5EF4-FFF2-40B4-BE49-F238E27FC236}">
                  <a16:creationId xmlns:a16="http://schemas.microsoft.com/office/drawing/2014/main" id="{6A220C69-7E58-4F9F-ACF9-063F4EE3D4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9315450"/>
              <a:ext cx="2901950" cy="733425"/>
            </a:xfrm>
            <a:prstGeom xmlns:a="http://schemas.openxmlformats.org/drawingml/2006/main" prst="roundRect">
              <a:avLst>
                <a:gd name="adj" fmla="val 1039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4" name="section03__242">
              <a:extLst xmlns:a="http://schemas.openxmlformats.org/drawingml/2006/main">
                <a:ext uri="{FF2B5EF4-FFF2-40B4-BE49-F238E27FC236}">
                  <a16:creationId xmlns:a16="http://schemas.microsoft.com/office/drawing/2014/main" id="{0785CE80-1ADA-42B9-9FE4-2735448FDC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9391650"/>
              <a:ext cx="27305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장애 요인</a:t>
              </a:r>
            </a:p>
          </p:txBody>
        </p:sp>
        <p:sp>
          <p:nvSpPr>
            <p:cNvPr id="65" name="section03__243">
              <a:extLst xmlns:a="http://schemas.openxmlformats.org/drawingml/2006/main">
                <a:ext uri="{FF2B5EF4-FFF2-40B4-BE49-F238E27FC236}">
                  <a16:creationId xmlns:a16="http://schemas.microsoft.com/office/drawing/2014/main" id="{54F59CEA-4045-4314-90CA-43BE1B9A3A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9791700"/>
              <a:ext cx="26733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수행에 시간 소요</a:t>
              </a:r>
            </a:p>
          </p:txBody>
        </p:sp>
        <p:sp>
          <p:nvSpPr>
            <p:cNvPr id="66" name="section03__244">
              <a:extLst xmlns:a="http://schemas.openxmlformats.org/drawingml/2006/main">
                <a:ext uri="{FF2B5EF4-FFF2-40B4-BE49-F238E27FC236}">
                  <a16:creationId xmlns:a16="http://schemas.microsoft.com/office/drawing/2014/main" id="{62F53062-1931-4B7D-A359-DB7AD27BA9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49625" y="96059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7" name="section03__245">
              <a:extLst xmlns:a="http://schemas.openxmlformats.org/drawingml/2006/main">
                <a:ext uri="{FF2B5EF4-FFF2-40B4-BE49-F238E27FC236}">
                  <a16:creationId xmlns:a16="http://schemas.microsoft.com/office/drawing/2014/main" id="{318062E0-BE4F-4783-A86B-7FA2DC8A3B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59175" y="9315450"/>
              <a:ext cx="2901950" cy="733425"/>
            </a:xfrm>
            <a:prstGeom xmlns:a="http://schemas.openxmlformats.org/drawingml/2006/main" prst="roundRect">
              <a:avLst>
                <a:gd name="adj" fmla="val 1039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8" name="section03__246">
              <a:extLst xmlns:a="http://schemas.openxmlformats.org/drawingml/2006/main">
                <a:ext uri="{FF2B5EF4-FFF2-40B4-BE49-F238E27FC236}">
                  <a16:creationId xmlns:a16="http://schemas.microsoft.com/office/drawing/2014/main" id="{0DAC0DA5-701E-4E6D-BCC8-7C4FF3B211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4900" y="9391650"/>
              <a:ext cx="27305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해결 방식</a:t>
              </a:r>
            </a:p>
          </p:txBody>
        </p:sp>
        <p:sp>
          <p:nvSpPr>
            <p:cNvPr id="69" name="section03__247">
              <a:extLst xmlns:a="http://schemas.openxmlformats.org/drawingml/2006/main">
                <a:ext uri="{FF2B5EF4-FFF2-40B4-BE49-F238E27FC236}">
                  <a16:creationId xmlns:a16="http://schemas.microsoft.com/office/drawing/2014/main" id="{6A5A6E35-081D-4C3A-BEFC-1780EEA06A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3475" y="9791700"/>
              <a:ext cx="26733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전처리 후 DB 적재</a:t>
              </a:r>
            </a:p>
          </p:txBody>
        </p:sp>
        <p:sp>
          <p:nvSpPr>
            <p:cNvPr id="70" name="section03__248">
              <a:extLst xmlns:a="http://schemas.openxmlformats.org/drawingml/2006/main">
                <a:ext uri="{FF2B5EF4-FFF2-40B4-BE49-F238E27FC236}">
                  <a16:creationId xmlns:a16="http://schemas.microsoft.com/office/drawing/2014/main" id="{29AEE15B-5B4B-422F-AE2D-A46E1314BF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9225" y="96059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1" name="section03__249">
              <a:extLst xmlns:a="http://schemas.openxmlformats.org/drawingml/2006/main">
                <a:ext uri="{FF2B5EF4-FFF2-40B4-BE49-F238E27FC236}">
                  <a16:creationId xmlns:a16="http://schemas.microsoft.com/office/drawing/2014/main" id="{A2C11F8A-C758-4814-A203-44B0B81E1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8775" y="9315450"/>
              <a:ext cx="2901950" cy="733425"/>
            </a:xfrm>
            <a:prstGeom xmlns:a="http://schemas.openxmlformats.org/drawingml/2006/main" prst="roundRect">
              <a:avLst>
                <a:gd name="adj" fmla="val 1039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2" name="section03__250">
              <a:extLst xmlns:a="http://schemas.openxmlformats.org/drawingml/2006/main">
                <a:ext uri="{FF2B5EF4-FFF2-40B4-BE49-F238E27FC236}">
                  <a16:creationId xmlns:a16="http://schemas.microsoft.com/office/drawing/2014/main" id="{E16BAB83-B583-4862-854F-09483DD5E3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4500" y="9391650"/>
              <a:ext cx="27305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개선 결과</a:t>
              </a:r>
            </a:p>
          </p:txBody>
        </p:sp>
        <p:sp>
          <p:nvSpPr>
            <p:cNvPr id="73" name="section03__251">
              <a:extLst xmlns:a="http://schemas.openxmlformats.org/drawingml/2006/main">
                <a:ext uri="{FF2B5EF4-FFF2-40B4-BE49-F238E27FC236}">
                  <a16:creationId xmlns:a16="http://schemas.microsoft.com/office/drawing/2014/main" id="{22A47AB1-7E65-4643-B65E-338BF608F4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3075" y="9791700"/>
              <a:ext cx="26733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속도 개선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4" name="section04__252">
              <a:extLst xmlns:a="http://schemas.openxmlformats.org/drawingml/2006/main">
                <a:ext uri="{FF2B5EF4-FFF2-40B4-BE49-F238E27FC236}">
                  <a16:creationId xmlns:a16="http://schemas.microsoft.com/office/drawing/2014/main" id="{20E0C2CF-1F7C-41D5-BB7A-52D4DF14CB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372725"/>
              <a:ext cx="9601200" cy="2419350"/>
            </a:xfrm>
            <a:prstGeom xmlns:a="http://schemas.openxmlformats.org/drawingml/2006/main" prst="roundRect">
              <a:avLst>
                <a:gd name="adj" fmla="val 315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5" name="section04__253">
              <a:extLst xmlns:a="http://schemas.openxmlformats.org/drawingml/2006/main">
                <a:ext uri="{FF2B5EF4-FFF2-40B4-BE49-F238E27FC236}">
                  <a16:creationId xmlns:a16="http://schemas.microsoft.com/office/drawing/2014/main" id="{65626516-C15E-40D5-A43B-FBE1451EC1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8225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4__254">
              <a:extLst xmlns:a="http://schemas.openxmlformats.org/drawingml/2006/main">
                <a:ext uri="{FF2B5EF4-FFF2-40B4-BE49-F238E27FC236}">
                  <a16:creationId xmlns:a16="http://schemas.microsoft.com/office/drawing/2014/main" id="{6B2E1629-765B-46F1-8D5D-8F32AA5D55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38225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7" name="section04__255">
              <a:extLst xmlns:a="http://schemas.openxmlformats.org/drawingml/2006/main">
                <a:ext uri="{FF2B5EF4-FFF2-40B4-BE49-F238E27FC236}">
                  <a16:creationId xmlns:a16="http://schemas.microsoft.com/office/drawing/2014/main" id="{326494FC-63F1-4EF9-847E-E1276E7361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37272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78" name="section04__256">
              <a:extLst xmlns:a="http://schemas.openxmlformats.org/drawingml/2006/main">
                <a:ext uri="{FF2B5EF4-FFF2-40B4-BE49-F238E27FC236}">
                  <a16:creationId xmlns:a16="http://schemas.microsoft.com/office/drawing/2014/main" id="{8A6D68AE-8AB6-4143-88DA-7663AB468B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37272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규칙 기반 추천과 엔지니어의 분석 선택권을 결합</a:t>
              </a:r>
            </a:p>
          </p:txBody>
        </p:sp>
        <p:sp>
          <p:nvSpPr>
            <p:cNvPr id="79" name="section04__257">
              <a:extLst xmlns:a="http://schemas.openxmlformats.org/drawingml/2006/main">
                <a:ext uri="{FF2B5EF4-FFF2-40B4-BE49-F238E27FC236}">
                  <a16:creationId xmlns:a16="http://schemas.microsoft.com/office/drawing/2014/main" id="{670C8AA2-9C4B-45B1-83A0-9CE8E9E2E2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0896600"/>
              <a:ext cx="211455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0" name="section04__258">
              <a:extLst xmlns:a="http://schemas.openxmlformats.org/drawingml/2006/main">
                <a:ext uri="{FF2B5EF4-FFF2-40B4-BE49-F238E27FC236}">
                  <a16:creationId xmlns:a16="http://schemas.microsoft.com/office/drawing/2014/main" id="{80712360-0065-45E6-9A7F-F8E1DD0204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10972800"/>
              <a:ext cx="19431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분석</a:t>
              </a:r>
            </a:p>
          </p:txBody>
        </p:sp>
        <p:sp>
          <p:nvSpPr>
            <p:cNvPr id="81" name="section04__259">
              <a:extLst xmlns:a="http://schemas.openxmlformats.org/drawingml/2006/main">
                <a:ext uri="{FF2B5EF4-FFF2-40B4-BE49-F238E27FC236}">
                  <a16:creationId xmlns:a16="http://schemas.microsoft.com/office/drawing/2014/main" id="{5754A71D-11F5-41C0-ACA2-9A9163F552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11372850"/>
              <a:ext cx="188595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 정리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다음 분석 추천</a:t>
              </a:r>
            </a:p>
          </p:txBody>
        </p:sp>
        <p:sp>
          <p:nvSpPr>
            <p:cNvPr id="82" name="section04__260">
              <a:extLst xmlns:a="http://schemas.openxmlformats.org/drawingml/2006/main">
                <a:ext uri="{FF2B5EF4-FFF2-40B4-BE49-F238E27FC236}">
                  <a16:creationId xmlns:a16="http://schemas.microsoft.com/office/drawing/2014/main" id="{DA364D2A-8364-4ACE-BD9D-3F127D4431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2225" y="11334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4__261">
              <a:extLst xmlns:a="http://schemas.openxmlformats.org/drawingml/2006/main">
                <a:ext uri="{FF2B5EF4-FFF2-40B4-BE49-F238E27FC236}">
                  <a16:creationId xmlns:a16="http://schemas.microsoft.com/office/drawing/2014/main" id="{AB581CC0-2B40-4C30-8A21-275C341C23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10896600"/>
              <a:ext cx="211455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4" name="section04__262">
              <a:extLst xmlns:a="http://schemas.openxmlformats.org/drawingml/2006/main">
                <a:ext uri="{FF2B5EF4-FFF2-40B4-BE49-F238E27FC236}">
                  <a16:creationId xmlns:a16="http://schemas.microsoft.com/office/drawing/2014/main" id="{3C28F2C5-E492-49AE-B2EF-7A5B17747B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0972800"/>
              <a:ext cx="19431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Engineer 판단</a:t>
              </a:r>
            </a:p>
          </p:txBody>
        </p:sp>
        <p:sp>
          <p:nvSpPr>
            <p:cNvPr id="85" name="section04__263">
              <a:extLst xmlns:a="http://schemas.openxmlformats.org/drawingml/2006/main">
                <a:ext uri="{FF2B5EF4-FFF2-40B4-BE49-F238E27FC236}">
                  <a16:creationId xmlns:a16="http://schemas.microsoft.com/office/drawing/2014/main" id="{4D3C28DA-822C-45F2-BA25-35BE958096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11372850"/>
              <a:ext cx="188595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대상·진행 방향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검토 및 선택</a:t>
              </a:r>
            </a:p>
          </p:txBody>
        </p:sp>
        <p:sp>
          <p:nvSpPr>
            <p:cNvPr id="86" name="section04__264">
              <a:extLst xmlns:a="http://schemas.openxmlformats.org/drawingml/2006/main">
                <a:ext uri="{FF2B5EF4-FFF2-40B4-BE49-F238E27FC236}">
                  <a16:creationId xmlns:a16="http://schemas.microsoft.com/office/drawing/2014/main" id="{B709D3FB-AE5A-432D-899B-A92D14704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4425" y="11334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7" name="section04__265">
              <a:extLst xmlns:a="http://schemas.openxmlformats.org/drawingml/2006/main">
                <a:ext uri="{FF2B5EF4-FFF2-40B4-BE49-F238E27FC236}">
                  <a16:creationId xmlns:a16="http://schemas.microsoft.com/office/drawing/2014/main" id="{D9687042-B3E9-4DC0-A73D-5D50662F27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3975" y="10896600"/>
              <a:ext cx="211455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8" name="section04__266">
              <a:extLst xmlns:a="http://schemas.openxmlformats.org/drawingml/2006/main">
                <a:ext uri="{FF2B5EF4-FFF2-40B4-BE49-F238E27FC236}">
                  <a16:creationId xmlns:a16="http://schemas.microsoft.com/office/drawing/2014/main" id="{9AC037B2-B8F1-4BDF-A87E-E4E774B753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9700" y="10972800"/>
              <a:ext cx="19431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추가 분석 선택</a:t>
              </a:r>
            </a:p>
          </p:txBody>
        </p:sp>
        <p:sp>
          <p:nvSpPr>
            <p:cNvPr id="89" name="section04__267">
              <a:extLst xmlns:a="http://schemas.openxmlformats.org/drawingml/2006/main">
                <a:ext uri="{FF2B5EF4-FFF2-40B4-BE49-F238E27FC236}">
                  <a16:creationId xmlns:a16="http://schemas.microsoft.com/office/drawing/2014/main" id="{F2327A5B-5BB1-4BC3-950E-D986B9C9ED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48275" y="11372850"/>
              <a:ext cx="188595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원하는 전문 Agent 선택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조건 변경·심화 분석</a:t>
              </a:r>
            </a:p>
          </p:txBody>
        </p:sp>
        <p:sp>
          <p:nvSpPr>
            <p:cNvPr id="90" name="section04__268">
              <a:extLst xmlns:a="http://schemas.openxmlformats.org/drawingml/2006/main">
                <a:ext uri="{FF2B5EF4-FFF2-40B4-BE49-F238E27FC236}">
                  <a16:creationId xmlns:a16="http://schemas.microsoft.com/office/drawing/2014/main" id="{CFF79531-DC26-4D35-85A6-BE5749D57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6625" y="113347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1" name="section04__269">
              <a:extLst xmlns:a="http://schemas.openxmlformats.org/drawingml/2006/main">
                <a:ext uri="{FF2B5EF4-FFF2-40B4-BE49-F238E27FC236}">
                  <a16:creationId xmlns:a16="http://schemas.microsoft.com/office/drawing/2014/main" id="{AEC5775C-AF28-446B-AD1B-F62809BC6A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6175" y="10896600"/>
              <a:ext cx="2114550" cy="1028700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2" name="section04__270">
              <a:extLst xmlns:a="http://schemas.openxmlformats.org/drawingml/2006/main">
                <a:ext uri="{FF2B5EF4-FFF2-40B4-BE49-F238E27FC236}">
                  <a16:creationId xmlns:a16="http://schemas.microsoft.com/office/drawing/2014/main" id="{937ABA5C-DC9E-4E3B-9706-50B2EBE925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1900" y="10972800"/>
              <a:ext cx="1943100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Agent 실행</a:t>
              </a:r>
            </a:p>
          </p:txBody>
        </p:sp>
        <p:sp>
          <p:nvSpPr>
            <p:cNvPr id="93" name="section04__271">
              <a:extLst xmlns:a="http://schemas.openxmlformats.org/drawingml/2006/main">
                <a:ext uri="{FF2B5EF4-FFF2-40B4-BE49-F238E27FC236}">
                  <a16:creationId xmlns:a16="http://schemas.microsoft.com/office/drawing/2014/main" id="{822E49C2-ECB6-4A26-BA80-B9426997EC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0475" y="11372850"/>
              <a:ext cx="1885950" cy="4857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선택한 분석 수행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 제공</a:t>
              </a:r>
            </a:p>
          </p:txBody>
        </p:sp>
        <p:sp>
          <p:nvSpPr>
            <p:cNvPr id="94" name="section04__272">
              <a:extLst xmlns:a="http://schemas.openxmlformats.org/drawingml/2006/main">
                <a:ext uri="{FF2B5EF4-FFF2-40B4-BE49-F238E27FC236}">
                  <a16:creationId xmlns:a16="http://schemas.microsoft.com/office/drawing/2014/main" id="{A57E096D-58AE-430E-B23C-16257F4865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90675" y="12030075"/>
              <a:ext cx="679132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57778C"/>
              </a:solidFill>
            </a:ln>
          </p:spPr>
        </p:sp>
        <p:sp>
          <p:nvSpPr>
            <p:cNvPr id="95" name="section04__273">
              <a:extLst xmlns:a="http://schemas.openxmlformats.org/drawingml/2006/main">
                <a:ext uri="{FF2B5EF4-FFF2-40B4-BE49-F238E27FC236}">
                  <a16:creationId xmlns:a16="http://schemas.microsoft.com/office/drawing/2014/main" id="{DAB52E9B-3666-4A83-A916-F961283E6D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09850" y="12030075"/>
              <a:ext cx="4857750" cy="276225"/>
            </a:xfrm>
            <a:prstGeom xmlns:a="http://schemas.openxmlformats.org/drawingml/2006/main" prst="roundRect">
              <a:avLst>
                <a:gd name="adj" fmla="val 275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p:spPr>
        </p:sp>
        <p:sp>
          <p:nvSpPr>
            <p:cNvPr id="96" name="section04__274">
              <a:extLst xmlns:a="http://schemas.openxmlformats.org/drawingml/2006/main">
                <a:ext uri="{FF2B5EF4-FFF2-40B4-BE49-F238E27FC236}">
                  <a16:creationId xmlns:a16="http://schemas.microsoft.com/office/drawing/2014/main" id="{63FF7446-9CC2-4AB8-B424-8C448C62E6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76525" y="12001500"/>
              <a:ext cx="47244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결과에 따라 이전 단계로 돌아가 추가 분석</a:t>
              </a:r>
            </a:p>
          </p:txBody>
        </p:sp>
        <p:sp>
          <p:nvSpPr>
            <p:cNvPr id="97" name="section04__275">
              <a:extLst xmlns:a="http://schemas.openxmlformats.org/drawingml/2006/main">
                <a:ext uri="{FF2B5EF4-FFF2-40B4-BE49-F238E27FC236}">
                  <a16:creationId xmlns:a16="http://schemas.microsoft.com/office/drawing/2014/main" id="{8593AF13-7922-4FA3-A7A1-4F352F1BB8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2401550"/>
              <a:ext cx="18478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기본 Workflow</a:t>
              </a:r>
            </a:p>
          </p:txBody>
        </p:sp>
        <p:sp>
          <p:nvSpPr>
            <p:cNvPr id="98" name="section04__276">
              <a:extLst xmlns:a="http://schemas.openxmlformats.org/drawingml/2006/main">
                <a:ext uri="{FF2B5EF4-FFF2-40B4-BE49-F238E27FC236}">
                  <a16:creationId xmlns:a16="http://schemas.microsoft.com/office/drawing/2014/main" id="{59124FE7-FD60-4744-941F-2BF040517D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47900" y="12401550"/>
              <a:ext cx="36480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사전에 정한 규칙에 따라 분석 흐름 추천</a:t>
              </a:r>
            </a:p>
          </p:txBody>
        </p:sp>
        <p:sp>
          <p:nvSpPr>
            <p:cNvPr id="99" name="section04__277">
              <a:extLst xmlns:a="http://schemas.openxmlformats.org/drawingml/2006/main">
                <a:ext uri="{FF2B5EF4-FFF2-40B4-BE49-F238E27FC236}">
                  <a16:creationId xmlns:a16="http://schemas.microsoft.com/office/drawing/2014/main" id="{749F593C-C736-47E2-8F36-A417E4E38B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2200" y="12401550"/>
              <a:ext cx="11144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자유 분석</a:t>
              </a:r>
            </a:p>
          </p:txBody>
        </p:sp>
        <p:sp>
          <p:nvSpPr>
            <p:cNvPr id="100" name="section04__278">
              <a:extLst xmlns:a="http://schemas.openxmlformats.org/drawingml/2006/main">
                <a:ext uri="{FF2B5EF4-FFF2-40B4-BE49-F238E27FC236}">
                  <a16:creationId xmlns:a16="http://schemas.microsoft.com/office/drawing/2014/main" id="{260393E6-36EF-43D2-9A79-04723E3019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5675" y="12401550"/>
              <a:ext cx="2276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추천 외 다른 Agent도 활용</a:t>
              </a:r>
            </a:p>
          </p:txBody>
        </p:sp>
      </p:grpSp>
      <p:grpSp>
        <p:nvGrpSpPr>
          <p:cNvPr id="10005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1" name="footer__279">
              <a:extLst xmlns:a="http://schemas.openxmlformats.org/drawingml/2006/main">
                <a:ext uri="{FF2B5EF4-FFF2-40B4-BE49-F238E27FC236}">
                  <a16:creationId xmlns:a16="http://schemas.microsoft.com/office/drawing/2014/main" id="{8F4225C7-525B-4900-B2EC-72178151DD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102" name="footer__280">
              <a:extLst xmlns:a="http://schemas.openxmlformats.org/drawingml/2006/main">
                <a:ext uri="{FF2B5EF4-FFF2-40B4-BE49-F238E27FC236}">
                  <a16:creationId xmlns:a16="http://schemas.microsoft.com/office/drawing/2014/main" id="{2E220B08-FDEC-4F3E-84E0-D12DC43FCE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 전문성을 개별 Agent의 분석 Logic과 Workflow에 반영하여,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현장에서 활용할 수 있는 전문 분석 역량으로 구현</a:t>
              </a:r>
            </a:p>
          </p:txBody>
        </p:sp>
        <p:sp>
          <p:nvSpPr>
            <p:cNvPr id="103" name="footer__281">
              <a:extLst xmlns:a="http://schemas.openxmlformats.org/drawingml/2006/main">
                <a:ext uri="{FF2B5EF4-FFF2-40B4-BE49-F238E27FC236}">
                  <a16:creationId xmlns:a16="http://schemas.microsoft.com/office/drawing/2014/main" id="{95DF08A7-0A0A-4AC1-813E-26655CEDBC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104" name="footer__282">
              <a:extLst xmlns:a="http://schemas.openxmlformats.org/drawingml/2006/main">
                <a:ext uri="{FF2B5EF4-FFF2-40B4-BE49-F238E27FC236}">
                  <a16:creationId xmlns:a16="http://schemas.microsoft.com/office/drawing/2014/main" id="{FF511CDF-922C-440D-BCD3-F5E8F58E83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876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7" name="header__283">
              <a:extLst xmlns:a="http://schemas.openxmlformats.org/drawingml/2006/main">
                <a:ext uri="{FF2B5EF4-FFF2-40B4-BE49-F238E27FC236}">
                  <a16:creationId xmlns:a16="http://schemas.microsoft.com/office/drawing/2014/main" id="{A448A3B4-99C6-4615-AAEE-9D5E375587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284">
              <a:extLst xmlns:a="http://schemas.openxmlformats.org/drawingml/2006/main">
                <a:ext uri="{FF2B5EF4-FFF2-40B4-BE49-F238E27FC236}">
                  <a16:creationId xmlns:a16="http://schemas.microsoft.com/office/drawing/2014/main" id="{CFF66054-C13F-4DE8-96FB-E5A4758E90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285">
              <a:extLst xmlns:a="http://schemas.openxmlformats.org/drawingml/2006/main">
                <a:ext uri="{FF2B5EF4-FFF2-40B4-BE49-F238E27FC236}">
                  <a16:creationId xmlns:a16="http://schemas.microsoft.com/office/drawing/2014/main" id="{3D471BB0-B9E6-46D3-A841-0254CEF717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04 / 06</a:t>
              </a:r>
            </a:p>
          </p:txBody>
        </p:sp>
        <p:sp>
          <p:nvSpPr>
            <p:cNvPr id="4" name="header__286">
              <a:extLst xmlns:a="http://schemas.openxmlformats.org/drawingml/2006/main">
                <a:ext uri="{FF2B5EF4-FFF2-40B4-BE49-F238E27FC236}">
                  <a16:creationId xmlns:a16="http://schemas.microsoft.com/office/drawing/2014/main" id="{E275C1DF-E300-4BE3-A14D-497504088F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287">
              <a:extLst xmlns:a="http://schemas.openxmlformats.org/drawingml/2006/main">
                <a:ext uri="{FF2B5EF4-FFF2-40B4-BE49-F238E27FC236}">
                  <a16:creationId xmlns:a16="http://schemas.microsoft.com/office/drawing/2014/main" id="{AD649A5D-D361-4768-A35C-348928F87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× DT 협업으로 확장한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Y-Agent의 분석·실행 기반</a:t>
              </a:r>
            </a:p>
          </p:txBody>
        </p:sp>
        <p:sp>
          <p:nvSpPr>
            <p:cNvPr id="6" name="header__288">
              <a:extLst xmlns:a="http://schemas.openxmlformats.org/drawingml/2006/main">
                <a:ext uri="{FF2B5EF4-FFF2-40B4-BE49-F238E27FC236}">
                  <a16:creationId xmlns:a16="http://schemas.microsoft.com/office/drawing/2014/main" id="{BE9F184E-D4A9-4183-BE23-BE43F7BBDD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Legacy 연계 · BoI Wiki 하네스 기반 분석 Loop · 개발·분석 리소스 지원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289">
              <a:extLst xmlns:a="http://schemas.openxmlformats.org/drawingml/2006/main">
                <a:ext uri="{FF2B5EF4-FFF2-40B4-BE49-F238E27FC236}">
                  <a16:creationId xmlns:a16="http://schemas.microsoft.com/office/drawing/2014/main" id="{1A26AF37-F43A-49B4-8696-ABDD6B723F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352675"/>
            </a:xfrm>
            <a:prstGeom xmlns:a="http://schemas.openxmlformats.org/drawingml/2006/main" prst="roundRect">
              <a:avLst>
                <a:gd name="adj" fmla="val 323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290">
              <a:extLst xmlns:a="http://schemas.openxmlformats.org/drawingml/2006/main">
                <a:ext uri="{FF2B5EF4-FFF2-40B4-BE49-F238E27FC236}">
                  <a16:creationId xmlns:a16="http://schemas.microsoft.com/office/drawing/2014/main" id="{1F62649F-C060-4CCB-948B-80A18CEFAB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291">
              <a:extLst xmlns:a="http://schemas.openxmlformats.org/drawingml/2006/main">
                <a:ext uri="{FF2B5EF4-FFF2-40B4-BE49-F238E27FC236}">
                  <a16:creationId xmlns:a16="http://schemas.microsoft.com/office/drawing/2014/main" id="{665D66B1-523C-48A3-B9A0-BCFED68771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292">
              <a:extLst xmlns:a="http://schemas.openxmlformats.org/drawingml/2006/main">
                <a:ext uri="{FF2B5EF4-FFF2-40B4-BE49-F238E27FC236}">
                  <a16:creationId xmlns:a16="http://schemas.microsoft.com/office/drawing/2014/main" id="{B4D7FC6A-488E-4F3C-A0B2-5A4056A6D5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293">
              <a:extLst xmlns:a="http://schemas.openxmlformats.org/drawingml/2006/main">
                <a:ext uri="{FF2B5EF4-FFF2-40B4-BE49-F238E27FC236}">
                  <a16:creationId xmlns:a16="http://schemas.microsoft.com/office/drawing/2014/main" id="{61940179-D241-4D04-866E-7E36B61D1C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Legacy 연계  ·  Y-Agent 분석을 기존 분석 환경으로 연결</a:t>
              </a:r>
            </a:p>
          </p:txBody>
        </p:sp>
        <p:sp>
          <p:nvSpPr>
            <p:cNvPr id="12" name="section01__294">
              <a:extLst xmlns:a="http://schemas.openxmlformats.org/drawingml/2006/main">
                <a:ext uri="{FF2B5EF4-FFF2-40B4-BE49-F238E27FC236}">
                  <a16:creationId xmlns:a16="http://schemas.microsoft.com/office/drawing/2014/main" id="{D1C5513A-96C5-4F9F-A83C-8E1BC4C857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2914650"/>
              <a:ext cx="6105525" cy="167640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295">
              <a:extLst xmlns:a="http://schemas.openxmlformats.org/drawingml/2006/main">
                <a:ext uri="{FF2B5EF4-FFF2-40B4-BE49-F238E27FC236}">
                  <a16:creationId xmlns:a16="http://schemas.microsoft.com/office/drawing/2014/main" id="{CDB1D09A-B973-49E6-BF7B-4AF3C6C0D7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57975" y="2914650"/>
              <a:ext cx="2990850" cy="1676400"/>
            </a:xfrm>
            <a:prstGeom xmlns:a="http://schemas.openxmlformats.org/drawingml/2006/main" prst="roundRect">
              <a:avLst>
                <a:gd name="adj" fmla="val 4545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4" name="section01__296">
              <a:extLst xmlns:a="http://schemas.openxmlformats.org/drawingml/2006/main">
                <a:ext uri="{FF2B5EF4-FFF2-40B4-BE49-F238E27FC236}">
                  <a16:creationId xmlns:a16="http://schemas.microsoft.com/office/drawing/2014/main" id="{3F336AF8-8DF2-4026-AD05-41C4E294B3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038475"/>
              <a:ext cx="5838825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15" name="section01__297">
              <a:extLst xmlns:a="http://schemas.openxmlformats.org/drawingml/2006/main">
                <a:ext uri="{FF2B5EF4-FFF2-40B4-BE49-F238E27FC236}">
                  <a16:creationId xmlns:a16="http://schemas.microsoft.com/office/drawing/2014/main" id="{78B8EAA8-D83C-4919-89CE-587E2CB295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3038475"/>
              <a:ext cx="5743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· SmartFactory 연계</a:t>
              </a:r>
            </a:p>
          </p:txBody>
        </p:sp>
        <p:sp>
          <p:nvSpPr>
            <p:cNvPr id="16" name="section01__298">
              <a:extLst xmlns:a="http://schemas.openxmlformats.org/drawingml/2006/main">
                <a:ext uri="{FF2B5EF4-FFF2-40B4-BE49-F238E27FC236}">
                  <a16:creationId xmlns:a16="http://schemas.microsoft.com/office/drawing/2014/main" id="{4AB74870-705D-4FE3-9D30-8C0A91A06F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3476625"/>
              <a:ext cx="2790825" cy="733425"/>
            </a:xfrm>
            <a:prstGeom xmlns:a="http://schemas.openxmlformats.org/drawingml/2006/main" prst="roundRect">
              <a:avLst>
                <a:gd name="adj" fmla="val 1039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299">
              <a:extLst xmlns:a="http://schemas.openxmlformats.org/drawingml/2006/main">
                <a:ext uri="{FF2B5EF4-FFF2-40B4-BE49-F238E27FC236}">
                  <a16:creationId xmlns:a16="http://schemas.microsoft.com/office/drawing/2014/main" id="{3CA83213-EB16-4213-88A1-4F3C2A63EF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3552825"/>
              <a:ext cx="26193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</a:t>
              </a:r>
            </a:p>
          </p:txBody>
        </p:sp>
        <p:sp>
          <p:nvSpPr>
            <p:cNvPr id="18" name="section01__300">
              <a:extLst xmlns:a="http://schemas.openxmlformats.org/drawingml/2006/main">
                <a:ext uri="{FF2B5EF4-FFF2-40B4-BE49-F238E27FC236}">
                  <a16:creationId xmlns:a16="http://schemas.microsoft.com/office/drawing/2014/main" id="{D27545AE-3CE1-4925-A582-6BC51021C8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3952875"/>
              <a:ext cx="256222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중인 Trend</a:t>
              </a:r>
            </a:p>
          </p:txBody>
        </p:sp>
        <p:sp>
          <p:nvSpPr>
            <p:cNvPr id="19" name="section01__301">
              <a:extLst xmlns:a="http://schemas.openxmlformats.org/drawingml/2006/main">
                <a:ext uri="{FF2B5EF4-FFF2-40B4-BE49-F238E27FC236}">
                  <a16:creationId xmlns:a16="http://schemas.microsoft.com/office/drawing/2014/main" id="{4E172A46-27FD-48C3-99F2-0635E3560A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3767138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302">
              <a:extLst xmlns:a="http://schemas.openxmlformats.org/drawingml/2006/main">
                <a:ext uri="{FF2B5EF4-FFF2-40B4-BE49-F238E27FC236}">
                  <a16:creationId xmlns:a16="http://schemas.microsoft.com/office/drawing/2014/main" id="{6C5AC64B-16B2-4887-8134-562F24BB5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3476625"/>
              <a:ext cx="2790825" cy="733425"/>
            </a:xfrm>
            <a:prstGeom xmlns:a="http://schemas.openxmlformats.org/drawingml/2006/main" prst="roundRect">
              <a:avLst>
                <a:gd name="adj" fmla="val 1039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303">
              <a:extLst xmlns:a="http://schemas.openxmlformats.org/drawingml/2006/main">
                <a:ext uri="{FF2B5EF4-FFF2-40B4-BE49-F238E27FC236}">
                  <a16:creationId xmlns:a16="http://schemas.microsoft.com/office/drawing/2014/main" id="{FC65802F-726E-415A-BA8D-B50E5E56D0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3552825"/>
              <a:ext cx="26193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SmartFactory</a:t>
              </a:r>
            </a:p>
          </p:txBody>
        </p:sp>
        <p:sp>
          <p:nvSpPr>
            <p:cNvPr id="22" name="section01__304">
              <a:extLst xmlns:a="http://schemas.openxmlformats.org/drawingml/2006/main">
                <a:ext uri="{FF2B5EF4-FFF2-40B4-BE49-F238E27FC236}">
                  <a16:creationId xmlns:a16="http://schemas.microsoft.com/office/drawing/2014/main" id="{32FDC295-244B-468E-AC83-FCA571246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6650" y="3952875"/>
              <a:ext cx="256222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동일 Trend 연계 조회</a:t>
              </a:r>
            </a:p>
          </p:txBody>
        </p:sp>
        <p:sp>
          <p:nvSpPr>
            <p:cNvPr id="23" name="section01__305">
              <a:extLst xmlns:a="http://schemas.openxmlformats.org/drawingml/2006/main">
                <a:ext uri="{FF2B5EF4-FFF2-40B4-BE49-F238E27FC236}">
                  <a16:creationId xmlns:a16="http://schemas.microsoft.com/office/drawing/2014/main" id="{4CB55331-611C-49ED-9E2E-567480B033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4267200"/>
              <a:ext cx="5829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분석 도구와 연결하여 연계 분석 지원</a:t>
              </a:r>
            </a:p>
          </p:txBody>
        </p:sp>
        <p:sp>
          <p:nvSpPr>
            <p:cNvPr id="24" name="section01__306">
              <a:extLst xmlns:a="http://schemas.openxmlformats.org/drawingml/2006/main">
                <a:ext uri="{FF2B5EF4-FFF2-40B4-BE49-F238E27FC236}">
                  <a16:creationId xmlns:a16="http://schemas.microsoft.com/office/drawing/2014/main" id="{E676E182-E24D-4E70-A234-4F5909B16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1325" y="3038475"/>
              <a:ext cx="2705100" cy="295275"/>
            </a:xfrm>
            <a:prstGeom xmlns:a="http://schemas.openxmlformats.org/drawingml/2006/main" prst="roundRect">
              <a:avLst>
                <a:gd name="adj" fmla="val 2580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5" name="section01__307">
              <a:extLst xmlns:a="http://schemas.openxmlformats.org/drawingml/2006/main">
                <a:ext uri="{FF2B5EF4-FFF2-40B4-BE49-F238E27FC236}">
                  <a16:creationId xmlns:a16="http://schemas.microsoft.com/office/drawing/2014/main" id="{929A7867-F695-410B-9450-0605AE3849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38950" y="3038475"/>
              <a:ext cx="260985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· 확장 계획</a:t>
              </a:r>
            </a:p>
          </p:txBody>
        </p:sp>
        <p:sp>
          <p:nvSpPr>
            <p:cNvPr id="26" name="section01__308">
              <a:extLst xmlns:a="http://schemas.openxmlformats.org/drawingml/2006/main">
                <a:ext uri="{FF2B5EF4-FFF2-40B4-BE49-F238E27FC236}">
                  <a16:creationId xmlns:a16="http://schemas.microsoft.com/office/drawing/2014/main" id="{58AB58C4-87EB-4B65-A31A-507357D0BC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3476625"/>
              <a:ext cx="26574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Legacy Action 연계</a:t>
              </a:r>
            </a:p>
          </p:txBody>
        </p:sp>
        <p:sp>
          <p:nvSpPr>
            <p:cNvPr id="27" name="section01__309">
              <a:extLst xmlns:a="http://schemas.openxmlformats.org/drawingml/2006/main">
                <a:ext uri="{FF2B5EF4-FFF2-40B4-BE49-F238E27FC236}">
                  <a16:creationId xmlns:a16="http://schemas.microsoft.com/office/drawing/2014/main" id="{F29F0880-0EFC-4564-9D72-964EEEBFA6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3848100"/>
              <a:ext cx="2657475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조회 중심의 연결을 넘어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기존 시스템에 액션을 수행하는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Agent로 확장할 계획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8" name="section02__310">
              <a:extLst xmlns:a="http://schemas.openxmlformats.org/drawingml/2006/main">
                <a:ext uri="{FF2B5EF4-FFF2-40B4-BE49-F238E27FC236}">
                  <a16:creationId xmlns:a16="http://schemas.microsoft.com/office/drawing/2014/main" id="{4D597ECE-BEFC-4913-8B3A-A4756D33CB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895850"/>
              <a:ext cx="9601200" cy="3143250"/>
            </a:xfrm>
            <a:prstGeom xmlns:a="http://schemas.openxmlformats.org/drawingml/2006/main" prst="roundRect">
              <a:avLst>
                <a:gd name="adj" fmla="val 242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9" name="section02__311">
              <a:extLst xmlns:a="http://schemas.openxmlformats.org/drawingml/2006/main">
                <a:ext uri="{FF2B5EF4-FFF2-40B4-BE49-F238E27FC236}">
                  <a16:creationId xmlns:a16="http://schemas.microsoft.com/office/drawing/2014/main" id="{8571B1F3-F9C7-49DE-BC95-617D39D00C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9053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0" name="section02__312">
              <a:extLst xmlns:a="http://schemas.openxmlformats.org/drawingml/2006/main">
                <a:ext uri="{FF2B5EF4-FFF2-40B4-BE49-F238E27FC236}">
                  <a16:creationId xmlns:a16="http://schemas.microsoft.com/office/drawing/2014/main" id="{EA00EF95-F83D-41F2-89EC-46811A9A25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9053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1" name="section02__313">
              <a:extLst xmlns:a="http://schemas.openxmlformats.org/drawingml/2006/main">
                <a:ext uri="{FF2B5EF4-FFF2-40B4-BE49-F238E27FC236}">
                  <a16:creationId xmlns:a16="http://schemas.microsoft.com/office/drawing/2014/main" id="{837C7F04-9538-44F1-9B84-28E31FFB0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8958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2" name="section02__314">
              <a:extLst xmlns:a="http://schemas.openxmlformats.org/drawingml/2006/main">
                <a:ext uri="{FF2B5EF4-FFF2-40B4-BE49-F238E27FC236}">
                  <a16:creationId xmlns:a16="http://schemas.microsoft.com/office/drawing/2014/main" id="{EAF524C6-0DC4-48F8-974B-7BA46F2FD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8958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AI팀 협업  ·  MCP × BoI Wiki 하네스 기반 분석 Loop</a:t>
              </a:r>
            </a:p>
          </p:txBody>
        </p:sp>
        <p:sp>
          <p:nvSpPr>
            <p:cNvPr id="33" name="section02__315">
              <a:extLst xmlns:a="http://schemas.openxmlformats.org/drawingml/2006/main">
                <a:ext uri="{FF2B5EF4-FFF2-40B4-BE49-F238E27FC236}">
                  <a16:creationId xmlns:a16="http://schemas.microsoft.com/office/drawing/2014/main" id="{5AD7458F-9F1B-4741-BA7E-5972A207BC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5353050"/>
              <a:ext cx="92202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MCP를 반복 활용하여 실제 분석보고서를 배치로 작성</a:t>
              </a:r>
            </a:p>
          </p:txBody>
        </p:sp>
        <p:sp>
          <p:nvSpPr>
            <p:cNvPr id="34" name="section02__316">
              <a:extLst xmlns:a="http://schemas.openxmlformats.org/drawingml/2006/main">
                <a:ext uri="{FF2B5EF4-FFF2-40B4-BE49-F238E27FC236}">
                  <a16:creationId xmlns:a16="http://schemas.microsoft.com/office/drawing/2014/main" id="{921AC136-7F2D-4134-815A-D10B8F00F0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5810250"/>
              <a:ext cx="2116931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5" name="section02__317">
              <a:extLst xmlns:a="http://schemas.openxmlformats.org/drawingml/2006/main">
                <a:ext uri="{FF2B5EF4-FFF2-40B4-BE49-F238E27FC236}">
                  <a16:creationId xmlns:a16="http://schemas.microsoft.com/office/drawing/2014/main" id="{49AFD88C-B1BF-454A-A522-07C0E5F12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5886450"/>
              <a:ext cx="1945481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Y-Agent MCP</a:t>
              </a:r>
            </a:p>
          </p:txBody>
        </p:sp>
        <p:sp>
          <p:nvSpPr>
            <p:cNvPr id="36" name="section02__318">
              <a:extLst xmlns:a="http://schemas.openxmlformats.org/drawingml/2006/main">
                <a:ext uri="{FF2B5EF4-FFF2-40B4-BE49-F238E27FC236}">
                  <a16:creationId xmlns:a16="http://schemas.microsoft.com/office/drawing/2014/main" id="{EF6C0E4D-E9D7-44C2-9E42-BF353AB72B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6286500"/>
              <a:ext cx="1888331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기능 제공</a:t>
              </a:r>
            </a:p>
          </p:txBody>
        </p:sp>
        <p:sp>
          <p:nvSpPr>
            <p:cNvPr id="37" name="section02__319">
              <a:extLst xmlns:a="http://schemas.openxmlformats.org/drawingml/2006/main">
                <a:ext uri="{FF2B5EF4-FFF2-40B4-BE49-F238E27FC236}">
                  <a16:creationId xmlns:a16="http://schemas.microsoft.com/office/drawing/2014/main" id="{6D0C64C6-7E98-4BDC-B036-02FB01DB0F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4606" y="62341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2__320">
              <a:extLst xmlns:a="http://schemas.openxmlformats.org/drawingml/2006/main">
                <a:ext uri="{FF2B5EF4-FFF2-40B4-BE49-F238E27FC236}">
                  <a16:creationId xmlns:a16="http://schemas.microsoft.com/office/drawing/2014/main" id="{467A9407-E27F-45C4-B480-B428DA70C4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4156" y="5810250"/>
              <a:ext cx="2116931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9" name="section02__321">
              <a:extLst xmlns:a="http://schemas.openxmlformats.org/drawingml/2006/main">
                <a:ext uri="{FF2B5EF4-FFF2-40B4-BE49-F238E27FC236}">
                  <a16:creationId xmlns:a16="http://schemas.microsoft.com/office/drawing/2014/main" id="{C80E1135-E4BC-4B5E-A4F6-B4378E89E8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9881" y="5886450"/>
              <a:ext cx="1945481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BoI Wiki 하네스</a:t>
              </a:r>
            </a:p>
          </p:txBody>
        </p:sp>
        <p:sp>
          <p:nvSpPr>
            <p:cNvPr id="40" name="section02__322">
              <a:extLst xmlns:a="http://schemas.openxmlformats.org/drawingml/2006/main">
                <a:ext uri="{FF2B5EF4-FFF2-40B4-BE49-F238E27FC236}">
                  <a16:creationId xmlns:a16="http://schemas.microsoft.com/office/drawing/2014/main" id="{C8FA48EB-9A00-458D-9096-C7BA19426D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8456" y="6286500"/>
              <a:ext cx="1888331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MCP 연결·활용</a:t>
              </a:r>
            </a:p>
          </p:txBody>
        </p:sp>
        <p:sp>
          <p:nvSpPr>
            <p:cNvPr id="41" name="section02__323">
              <a:extLst xmlns:a="http://schemas.openxmlformats.org/drawingml/2006/main">
                <a:ext uri="{FF2B5EF4-FFF2-40B4-BE49-F238E27FC236}">
                  <a16:creationId xmlns:a16="http://schemas.microsoft.com/office/drawing/2014/main" id="{07C606CB-C6D7-420E-BE03-85388B38D8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9188" y="62341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2" name="section02__324">
              <a:extLst xmlns:a="http://schemas.openxmlformats.org/drawingml/2006/main">
                <a:ext uri="{FF2B5EF4-FFF2-40B4-BE49-F238E27FC236}">
                  <a16:creationId xmlns:a16="http://schemas.microsoft.com/office/drawing/2014/main" id="{A7F40D86-B928-4AB8-B2AF-D547FA65EA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8738" y="5810250"/>
              <a:ext cx="2116931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2__325">
              <a:extLst xmlns:a="http://schemas.openxmlformats.org/drawingml/2006/main">
                <a:ext uri="{FF2B5EF4-FFF2-40B4-BE49-F238E27FC236}">
                  <a16:creationId xmlns:a16="http://schemas.microsoft.com/office/drawing/2014/main" id="{70AF797A-ACF4-4228-938C-437DF8E196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4463" y="5886450"/>
              <a:ext cx="1945481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Loop 실행</a:t>
              </a:r>
            </a:p>
          </p:txBody>
        </p:sp>
        <p:sp>
          <p:nvSpPr>
            <p:cNvPr id="44" name="section02__326">
              <a:extLst xmlns:a="http://schemas.openxmlformats.org/drawingml/2006/main">
                <a:ext uri="{FF2B5EF4-FFF2-40B4-BE49-F238E27FC236}">
                  <a16:creationId xmlns:a16="http://schemas.microsoft.com/office/drawing/2014/main" id="{78BE5841-6A88-4EBE-80CA-AEBA32EFE5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3038" y="6286500"/>
              <a:ext cx="1888331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반복 호출·분석</a:t>
              </a:r>
            </a:p>
          </p:txBody>
        </p:sp>
        <p:sp>
          <p:nvSpPr>
            <p:cNvPr id="45" name="section02__327">
              <a:extLst xmlns:a="http://schemas.openxmlformats.org/drawingml/2006/main">
                <a:ext uri="{FF2B5EF4-FFF2-40B4-BE49-F238E27FC236}">
                  <a16:creationId xmlns:a16="http://schemas.microsoft.com/office/drawing/2014/main" id="{D8272E70-DD37-4CB9-8BCE-C53871F101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93769" y="623411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6" name="section02__328">
              <a:extLst xmlns:a="http://schemas.openxmlformats.org/drawingml/2006/main">
                <a:ext uri="{FF2B5EF4-FFF2-40B4-BE49-F238E27FC236}">
                  <a16:creationId xmlns:a16="http://schemas.microsoft.com/office/drawing/2014/main" id="{E7BF7E97-7324-415B-9C53-DB8E310F0F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3319" y="5810250"/>
              <a:ext cx="2116931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7" name="section02__329">
              <a:extLst xmlns:a="http://schemas.openxmlformats.org/drawingml/2006/main">
                <a:ext uri="{FF2B5EF4-FFF2-40B4-BE49-F238E27FC236}">
                  <a16:creationId xmlns:a16="http://schemas.microsoft.com/office/drawing/2014/main" id="{F23137E5-FCB8-4C1D-B548-B2D8DB59B9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9044" y="5886450"/>
              <a:ext cx="1945481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실제 보고서 작성</a:t>
              </a:r>
            </a:p>
          </p:txBody>
        </p:sp>
        <p:sp>
          <p:nvSpPr>
            <p:cNvPr id="48" name="section02__330">
              <a:extLst xmlns:a="http://schemas.openxmlformats.org/drawingml/2006/main">
                <a:ext uri="{FF2B5EF4-FFF2-40B4-BE49-F238E27FC236}">
                  <a16:creationId xmlns:a16="http://schemas.microsoft.com/office/drawing/2014/main" id="{71BD40CD-0E15-45D6-8B90-F5B3875390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7619" y="6286500"/>
              <a:ext cx="1888331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배치 실행으로 생성</a:t>
              </a:r>
            </a:p>
          </p:txBody>
        </p:sp>
        <p:sp>
          <p:nvSpPr>
            <p:cNvPr id="49" name="section02__331">
              <a:extLst xmlns:a="http://schemas.openxmlformats.org/drawingml/2006/main">
                <a:ext uri="{FF2B5EF4-FFF2-40B4-BE49-F238E27FC236}">
                  <a16:creationId xmlns:a16="http://schemas.microsoft.com/office/drawing/2014/main" id="{6CC61766-5EF4-4875-A177-5B3006D49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7010400"/>
              <a:ext cx="4171950" cy="838200"/>
            </a:xfrm>
            <a:prstGeom xmlns:a="http://schemas.openxmlformats.org/drawingml/2006/main" prst="roundRect">
              <a:avLst>
                <a:gd name="adj" fmla="val 90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0" name="section02__332">
              <a:extLst xmlns:a="http://schemas.openxmlformats.org/drawingml/2006/main">
                <a:ext uri="{FF2B5EF4-FFF2-40B4-BE49-F238E27FC236}">
                  <a16:creationId xmlns:a16="http://schemas.microsoft.com/office/drawing/2014/main" id="{60126C75-7CB8-4F04-B882-E9C8855C20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7124700"/>
              <a:ext cx="3886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한계</a:t>
              </a:r>
            </a:p>
          </p:txBody>
        </p:sp>
        <p:sp>
          <p:nvSpPr>
            <p:cNvPr id="51" name="section02__333">
              <a:extLst xmlns:a="http://schemas.openxmlformats.org/drawingml/2006/main">
                <a:ext uri="{FF2B5EF4-FFF2-40B4-BE49-F238E27FC236}">
                  <a16:creationId xmlns:a16="http://schemas.microsoft.com/office/drawing/2014/main" id="{E2820B04-6E13-4C04-8DAA-2CA4142A91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7515225"/>
              <a:ext cx="38862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하네스 기반 방식을 다른 현업 엔지니어가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직접 활용하는 데 한계</a:t>
              </a:r>
            </a:p>
          </p:txBody>
        </p:sp>
        <p:sp>
          <p:nvSpPr>
            <p:cNvPr id="52" name="section02__334">
              <a:extLst xmlns:a="http://schemas.openxmlformats.org/drawingml/2006/main">
                <a:ext uri="{FF2B5EF4-FFF2-40B4-BE49-F238E27FC236}">
                  <a16:creationId xmlns:a16="http://schemas.microsoft.com/office/drawing/2014/main" id="{ADEF6C7D-589E-44A8-AE2B-F8B4451CF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76775" y="7343775"/>
              <a:ext cx="247650" cy="1905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3" name="section02__335">
              <a:extLst xmlns:a="http://schemas.openxmlformats.org/drawingml/2006/main">
                <a:ext uri="{FF2B5EF4-FFF2-40B4-BE49-F238E27FC236}">
                  <a16:creationId xmlns:a16="http://schemas.microsoft.com/office/drawing/2014/main" id="{D3393320-E22C-4828-ACA2-74EE613BF2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7010400"/>
              <a:ext cx="4552950" cy="838200"/>
            </a:xfrm>
            <a:prstGeom xmlns:a="http://schemas.openxmlformats.org/drawingml/2006/main" prst="roundRect">
              <a:avLst>
                <a:gd name="adj" fmla="val 909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54" name="section02__336">
              <a:extLst xmlns:a="http://schemas.openxmlformats.org/drawingml/2006/main">
                <a:ext uri="{FF2B5EF4-FFF2-40B4-BE49-F238E27FC236}">
                  <a16:creationId xmlns:a16="http://schemas.microsoft.com/office/drawing/2014/main" id="{28936B5B-3870-462F-9C65-C2CC76B5F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0175" y="7124700"/>
              <a:ext cx="4267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· Workflow 지식화</a:t>
              </a:r>
            </a:p>
          </p:txBody>
        </p:sp>
        <p:sp>
          <p:nvSpPr>
            <p:cNvPr id="55" name="section02__337">
              <a:extLst xmlns:a="http://schemas.openxmlformats.org/drawingml/2006/main">
                <a:ext uri="{FF2B5EF4-FFF2-40B4-BE49-F238E27FC236}">
                  <a16:creationId xmlns:a16="http://schemas.microsoft.com/office/drawing/2014/main" id="{D09C6E42-10E1-4E3A-974A-2D84DBE866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10175" y="7515225"/>
              <a:ext cx="42672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엔지니어 Workflow를 LLM Wiki에 축적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배치 분석 경험을 지식화 고도화에 접목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6" name="section03__338">
              <a:extLst xmlns:a="http://schemas.openxmlformats.org/drawingml/2006/main">
                <a:ext uri="{FF2B5EF4-FFF2-40B4-BE49-F238E27FC236}">
                  <a16:creationId xmlns:a16="http://schemas.microsoft.com/office/drawing/2014/main" id="{C7319975-A6A2-438C-9438-AAFF7AD5E9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8191500"/>
              <a:ext cx="960120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7" name="section03__339">
              <a:extLst xmlns:a="http://schemas.openxmlformats.org/drawingml/2006/main">
                <a:ext uri="{FF2B5EF4-FFF2-40B4-BE49-F238E27FC236}">
                  <a16:creationId xmlns:a16="http://schemas.microsoft.com/office/drawing/2014/main" id="{936F4A68-9A95-4945-B4DE-4705C5640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2010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8" name="section03__340">
              <a:extLst xmlns:a="http://schemas.openxmlformats.org/drawingml/2006/main">
                <a:ext uri="{FF2B5EF4-FFF2-40B4-BE49-F238E27FC236}">
                  <a16:creationId xmlns:a16="http://schemas.microsoft.com/office/drawing/2014/main" id="{526E4525-6676-4386-8CD0-4FD974C4BA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82010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9" name="section03__341">
              <a:extLst xmlns:a="http://schemas.openxmlformats.org/drawingml/2006/main">
                <a:ext uri="{FF2B5EF4-FFF2-40B4-BE49-F238E27FC236}">
                  <a16:creationId xmlns:a16="http://schemas.microsoft.com/office/drawing/2014/main" id="{AC6E4DCC-2EC4-4AA0-8FB3-390D823AC5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81915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0" name="section03__342">
              <a:extLst xmlns:a="http://schemas.openxmlformats.org/drawingml/2006/main">
                <a:ext uri="{FF2B5EF4-FFF2-40B4-BE49-F238E27FC236}">
                  <a16:creationId xmlns:a16="http://schemas.microsoft.com/office/drawing/2014/main" id="{0E44AB48-4474-41BD-822E-524A540892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81915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개발·분석 리소스 지원  ·  구현·검증을 위한 실행 기반</a:t>
              </a:r>
            </a:p>
          </p:txBody>
        </p:sp>
        <p:sp>
          <p:nvSpPr>
            <p:cNvPr id="61" name="section03__343">
              <a:extLst xmlns:a="http://schemas.openxmlformats.org/drawingml/2006/main">
                <a:ext uri="{FF2B5EF4-FFF2-40B4-BE49-F238E27FC236}">
                  <a16:creationId xmlns:a16="http://schemas.microsoft.com/office/drawing/2014/main" id="{B0F5319E-4FF5-4865-98DB-3B45F59905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8715375"/>
              <a:ext cx="2219325" cy="914400"/>
            </a:xfrm>
            <a:prstGeom xmlns:a="http://schemas.openxmlformats.org/drawingml/2006/main" prst="roundRect">
              <a:avLst>
                <a:gd name="adj" fmla="val 833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2" name="section03__344">
              <a:extLst xmlns:a="http://schemas.openxmlformats.org/drawingml/2006/main">
                <a:ext uri="{FF2B5EF4-FFF2-40B4-BE49-F238E27FC236}">
                  <a16:creationId xmlns:a16="http://schemas.microsoft.com/office/drawing/2014/main" id="{17C935E1-F87E-4F31-8A39-209DF4D0A2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8829675"/>
              <a:ext cx="1933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Oracle</a:t>
              </a:r>
            </a:p>
          </p:txBody>
        </p:sp>
        <p:sp>
          <p:nvSpPr>
            <p:cNvPr id="63" name="section03__345">
              <a:extLst xmlns:a="http://schemas.openxmlformats.org/drawingml/2006/main">
                <a:ext uri="{FF2B5EF4-FFF2-40B4-BE49-F238E27FC236}">
                  <a16:creationId xmlns:a16="http://schemas.microsoft.com/office/drawing/2014/main" id="{BF687D7D-BA0F-4CCE-B5BA-1299DA5CA8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9220200"/>
              <a:ext cx="1933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데이터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저장·조회 기반</a:t>
              </a:r>
            </a:p>
          </p:txBody>
        </p:sp>
        <p:sp>
          <p:nvSpPr>
            <p:cNvPr id="64" name="section03__346">
              <a:extLst xmlns:a="http://schemas.openxmlformats.org/drawingml/2006/main">
                <a:ext uri="{FF2B5EF4-FFF2-40B4-BE49-F238E27FC236}">
                  <a16:creationId xmlns:a16="http://schemas.microsoft.com/office/drawing/2014/main" id="{BD3F4364-6546-427D-9BCE-650D13ED2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8715375"/>
              <a:ext cx="2219325" cy="914400"/>
            </a:xfrm>
            <a:prstGeom xmlns:a="http://schemas.openxmlformats.org/drawingml/2006/main" prst="roundRect">
              <a:avLst>
                <a:gd name="adj" fmla="val 833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5" name="section03__347">
              <a:extLst xmlns:a="http://schemas.openxmlformats.org/drawingml/2006/main">
                <a:ext uri="{FF2B5EF4-FFF2-40B4-BE49-F238E27FC236}">
                  <a16:creationId xmlns:a16="http://schemas.microsoft.com/office/drawing/2014/main" id="{60C1A617-804A-4995-9CF8-4A912253F6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8829675"/>
              <a:ext cx="1933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RAM</a:t>
              </a:r>
            </a:p>
          </p:txBody>
        </p:sp>
        <p:sp>
          <p:nvSpPr>
            <p:cNvPr id="66" name="section03__348">
              <a:extLst xmlns:a="http://schemas.openxmlformats.org/drawingml/2006/main">
                <a:ext uri="{FF2B5EF4-FFF2-40B4-BE49-F238E27FC236}">
                  <a16:creationId xmlns:a16="http://schemas.microsoft.com/office/drawing/2014/main" id="{2C842512-E76A-4723-B1D8-34075EDCC6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86075" y="9220200"/>
              <a:ext cx="1933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데이터 처리·분석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실행 메모리</a:t>
              </a:r>
            </a:p>
          </p:txBody>
        </p:sp>
        <p:sp>
          <p:nvSpPr>
            <p:cNvPr id="67" name="section03__349">
              <a:extLst xmlns:a="http://schemas.openxmlformats.org/drawingml/2006/main">
                <a:ext uri="{FF2B5EF4-FFF2-40B4-BE49-F238E27FC236}">
                  <a16:creationId xmlns:a16="http://schemas.microsoft.com/office/drawing/2014/main" id="{2C670FA5-ABEB-444D-8967-60B374B06F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6350" y="8715375"/>
              <a:ext cx="2219325" cy="914400"/>
            </a:xfrm>
            <a:prstGeom xmlns:a="http://schemas.openxmlformats.org/drawingml/2006/main" prst="roundRect">
              <a:avLst>
                <a:gd name="adj" fmla="val 833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8" name="section03__350">
              <a:extLst xmlns:a="http://schemas.openxmlformats.org/drawingml/2006/main">
                <a:ext uri="{FF2B5EF4-FFF2-40B4-BE49-F238E27FC236}">
                  <a16:creationId xmlns:a16="http://schemas.microsoft.com/office/drawing/2014/main" id="{CFED2B28-EE61-44BB-9274-16C68C40B5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8829675"/>
              <a:ext cx="1933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NAS Storage</a:t>
              </a:r>
            </a:p>
          </p:txBody>
        </p:sp>
        <p:sp>
          <p:nvSpPr>
            <p:cNvPr id="69" name="section03__351">
              <a:extLst xmlns:a="http://schemas.openxmlformats.org/drawingml/2006/main">
                <a:ext uri="{FF2B5EF4-FFF2-40B4-BE49-F238E27FC236}">
                  <a16:creationId xmlns:a16="http://schemas.microsoft.com/office/drawing/2014/main" id="{1003B68D-963F-47EF-A930-B1258B4C7D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9220200"/>
              <a:ext cx="1933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데이터·결과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저장 공간</a:t>
              </a:r>
            </a:p>
          </p:txBody>
        </p:sp>
        <p:sp>
          <p:nvSpPr>
            <p:cNvPr id="70" name="section03__352">
              <a:extLst xmlns:a="http://schemas.openxmlformats.org/drawingml/2006/main">
                <a:ext uri="{FF2B5EF4-FFF2-40B4-BE49-F238E27FC236}">
                  <a16:creationId xmlns:a16="http://schemas.microsoft.com/office/drawing/2014/main" id="{35C235B6-A758-4F3E-A05A-78271C1568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0" y="8715375"/>
              <a:ext cx="2219325" cy="914400"/>
            </a:xfrm>
            <a:prstGeom xmlns:a="http://schemas.openxmlformats.org/drawingml/2006/main" prst="roundRect">
              <a:avLst>
                <a:gd name="adj" fmla="val 8333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71" name="section03__353">
              <a:extLst xmlns:a="http://schemas.openxmlformats.org/drawingml/2006/main">
                <a:ext uri="{FF2B5EF4-FFF2-40B4-BE49-F238E27FC236}">
                  <a16:creationId xmlns:a16="http://schemas.microsoft.com/office/drawing/2014/main" id="{D4E8796D-367D-4C10-B226-D4F68B2D8C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72375" y="8829675"/>
              <a:ext cx="1933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LLM API</a:t>
              </a:r>
            </a:p>
          </p:txBody>
        </p:sp>
        <p:sp>
          <p:nvSpPr>
            <p:cNvPr id="72" name="section03__354">
              <a:extLst xmlns:a="http://schemas.openxmlformats.org/drawingml/2006/main">
                <a:ext uri="{FF2B5EF4-FFF2-40B4-BE49-F238E27FC236}">
                  <a16:creationId xmlns:a16="http://schemas.microsoft.com/office/drawing/2014/main" id="{68D92347-45C2-4B6C-8BF8-21D9EB5C3B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72375" y="9220200"/>
              <a:ext cx="19335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자연어 이해·추론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Agent 실행 기반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3" name="section04__355">
              <a:extLst xmlns:a="http://schemas.openxmlformats.org/drawingml/2006/main">
                <a:ext uri="{FF2B5EF4-FFF2-40B4-BE49-F238E27FC236}">
                  <a16:creationId xmlns:a16="http://schemas.microsoft.com/office/drawing/2014/main" id="{C8E0F07D-95D3-4D6B-82CD-499417BB6D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9963150"/>
              <a:ext cx="9601200" cy="2828925"/>
            </a:xfrm>
            <a:prstGeom xmlns:a="http://schemas.openxmlformats.org/drawingml/2006/main" prst="roundRect">
              <a:avLst>
                <a:gd name="adj" fmla="val 269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4" name="section04__356">
              <a:extLst xmlns:a="http://schemas.openxmlformats.org/drawingml/2006/main">
                <a:ext uri="{FF2B5EF4-FFF2-40B4-BE49-F238E27FC236}">
                  <a16:creationId xmlns:a16="http://schemas.microsoft.com/office/drawing/2014/main" id="{D2D86AEA-5FDB-43AF-938E-5AAAE428A6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9726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5" name="section04__357">
              <a:extLst xmlns:a="http://schemas.openxmlformats.org/drawingml/2006/main">
                <a:ext uri="{FF2B5EF4-FFF2-40B4-BE49-F238E27FC236}">
                  <a16:creationId xmlns:a16="http://schemas.microsoft.com/office/drawing/2014/main" id="{FF38585D-2D4D-450A-9AA5-8647EE5DC7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9726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4__358">
              <a:extLst xmlns:a="http://schemas.openxmlformats.org/drawingml/2006/main">
                <a:ext uri="{FF2B5EF4-FFF2-40B4-BE49-F238E27FC236}">
                  <a16:creationId xmlns:a16="http://schemas.microsoft.com/office/drawing/2014/main" id="{E41484BE-0A70-4530-A913-3C4FD3E7C9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99631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77" name="section04__359">
              <a:extLst xmlns:a="http://schemas.openxmlformats.org/drawingml/2006/main">
                <a:ext uri="{FF2B5EF4-FFF2-40B4-BE49-F238E27FC236}">
                  <a16:creationId xmlns:a16="http://schemas.microsoft.com/office/drawing/2014/main" id="{D503AC24-5E82-464F-8942-D61D174131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99631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기능 제안·연계 활용 중심의 협업과 확인된 변화</a:t>
              </a:r>
            </a:p>
          </p:txBody>
        </p:sp>
        <p:sp>
          <p:nvSpPr>
            <p:cNvPr id="78" name="section04__360">
              <a:extLst xmlns:a="http://schemas.openxmlformats.org/drawingml/2006/main">
                <a:ext uri="{FF2B5EF4-FFF2-40B4-BE49-F238E27FC236}">
                  <a16:creationId xmlns:a16="http://schemas.microsoft.com/office/drawing/2014/main" id="{A8405D01-D508-429D-8804-BB6EC24AF6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0448925"/>
              <a:ext cx="91725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개발 과정에서 기능을 제안하고 연결해 활용하며, 함께 검증하고 개선</a:t>
              </a:r>
            </a:p>
          </p:txBody>
        </p:sp>
        <p:sp>
          <p:nvSpPr>
            <p:cNvPr id="79" name="section04__361">
              <a:extLst xmlns:a="http://schemas.openxmlformats.org/drawingml/2006/main">
                <a:ext uri="{FF2B5EF4-FFF2-40B4-BE49-F238E27FC236}">
                  <a16:creationId xmlns:a16="http://schemas.microsoft.com/office/drawing/2014/main" id="{B07C47D8-D5FF-4CB4-97A2-70A78521C7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10858500"/>
              <a:ext cx="2112169" cy="723900"/>
            </a:xfrm>
            <a:prstGeom xmlns:a="http://schemas.openxmlformats.org/drawingml/2006/main" prst="roundRect">
              <a:avLst>
                <a:gd name="adj" fmla="val 1052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0" name="section04__362">
              <a:extLst xmlns:a="http://schemas.openxmlformats.org/drawingml/2006/main">
                <a:ext uri="{FF2B5EF4-FFF2-40B4-BE49-F238E27FC236}">
                  <a16:creationId xmlns:a16="http://schemas.microsoft.com/office/drawing/2014/main" id="{532474CA-3286-4EB7-934C-0FD526C869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109347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아이디어 제안</a:t>
              </a:r>
            </a:p>
          </p:txBody>
        </p:sp>
        <p:sp>
          <p:nvSpPr>
            <p:cNvPr id="81" name="section04__363">
              <a:extLst xmlns:a="http://schemas.openxmlformats.org/drawingml/2006/main">
                <a:ext uri="{FF2B5EF4-FFF2-40B4-BE49-F238E27FC236}">
                  <a16:creationId xmlns:a16="http://schemas.microsoft.com/office/drawing/2014/main" id="{CF7D1ADD-AF3A-4281-8375-416170C3E3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11334750"/>
              <a:ext cx="1883569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 / DT</a:t>
              </a:r>
            </a:p>
          </p:txBody>
        </p:sp>
        <p:sp>
          <p:nvSpPr>
            <p:cNvPr id="82" name="section04__364">
              <a:extLst xmlns:a="http://schemas.openxmlformats.org/drawingml/2006/main">
                <a:ext uri="{FF2B5EF4-FFF2-40B4-BE49-F238E27FC236}">
                  <a16:creationId xmlns:a16="http://schemas.microsoft.com/office/drawing/2014/main" id="{C720691D-97A3-44BD-BBC6-373CF9D6FE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9369" y="111442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3" name="section04__365">
              <a:extLst xmlns:a="http://schemas.openxmlformats.org/drawingml/2006/main">
                <a:ext uri="{FF2B5EF4-FFF2-40B4-BE49-F238E27FC236}">
                  <a16:creationId xmlns:a16="http://schemas.microsoft.com/office/drawing/2014/main" id="{4310F036-169E-4203-A0D2-970F8F663F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8919" y="10858500"/>
              <a:ext cx="2112169" cy="723900"/>
            </a:xfrm>
            <a:prstGeom xmlns:a="http://schemas.openxmlformats.org/drawingml/2006/main" prst="roundRect">
              <a:avLst>
                <a:gd name="adj" fmla="val 1052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4" name="section04__366">
              <a:extLst xmlns:a="http://schemas.openxmlformats.org/drawingml/2006/main">
                <a:ext uri="{FF2B5EF4-FFF2-40B4-BE49-F238E27FC236}">
                  <a16:creationId xmlns:a16="http://schemas.microsoft.com/office/drawing/2014/main" id="{1C1D9110-CB6C-4831-AA9B-026269515C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64644" y="109347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설계·개발</a:t>
              </a:r>
            </a:p>
          </p:txBody>
        </p:sp>
        <p:sp>
          <p:nvSpPr>
            <p:cNvPr id="85" name="section04__367">
              <a:extLst xmlns:a="http://schemas.openxmlformats.org/drawingml/2006/main">
                <a:ext uri="{FF2B5EF4-FFF2-40B4-BE49-F238E27FC236}">
                  <a16:creationId xmlns:a16="http://schemas.microsoft.com/office/drawing/2014/main" id="{D8376484-B06C-4584-8220-94B51260F2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93219" y="11334750"/>
              <a:ext cx="1883569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공동 수행</a:t>
              </a:r>
            </a:p>
          </p:txBody>
        </p:sp>
        <p:sp>
          <p:nvSpPr>
            <p:cNvPr id="86" name="section04__368">
              <a:extLst xmlns:a="http://schemas.openxmlformats.org/drawingml/2006/main">
                <a:ext uri="{FF2B5EF4-FFF2-40B4-BE49-F238E27FC236}">
                  <a16:creationId xmlns:a16="http://schemas.microsoft.com/office/drawing/2014/main" id="{54278ABE-541B-4639-B68C-2128989111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9188" y="111442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7" name="section04__369">
              <a:extLst xmlns:a="http://schemas.openxmlformats.org/drawingml/2006/main">
                <a:ext uri="{FF2B5EF4-FFF2-40B4-BE49-F238E27FC236}">
                  <a16:creationId xmlns:a16="http://schemas.microsoft.com/office/drawing/2014/main" id="{B2036455-1EB9-4E24-B7A0-16888BAFFE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38738" y="10858500"/>
              <a:ext cx="2112169" cy="723900"/>
            </a:xfrm>
            <a:prstGeom xmlns:a="http://schemas.openxmlformats.org/drawingml/2006/main" prst="roundRect">
              <a:avLst>
                <a:gd name="adj" fmla="val 1052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8" name="section04__370">
              <a:extLst xmlns:a="http://schemas.openxmlformats.org/drawingml/2006/main">
                <a:ext uri="{FF2B5EF4-FFF2-40B4-BE49-F238E27FC236}">
                  <a16:creationId xmlns:a16="http://schemas.microsoft.com/office/drawing/2014/main" id="{F0B8EE18-5432-48F7-8D47-61A0C8C193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4463" y="109347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테스트·검증</a:t>
              </a:r>
            </a:p>
          </p:txBody>
        </p:sp>
        <p:sp>
          <p:nvSpPr>
            <p:cNvPr id="89" name="section04__371">
              <a:extLst xmlns:a="http://schemas.openxmlformats.org/drawingml/2006/main">
                <a:ext uri="{FF2B5EF4-FFF2-40B4-BE49-F238E27FC236}">
                  <a16:creationId xmlns:a16="http://schemas.microsoft.com/office/drawing/2014/main" id="{27C852A8-87E6-4744-8B67-23D5B151B7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3038" y="11334750"/>
              <a:ext cx="1883569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데이터 활용</a:t>
              </a:r>
            </a:p>
          </p:txBody>
        </p:sp>
        <p:sp>
          <p:nvSpPr>
            <p:cNvPr id="90" name="section04__372">
              <a:extLst xmlns:a="http://schemas.openxmlformats.org/drawingml/2006/main">
                <a:ext uri="{FF2B5EF4-FFF2-40B4-BE49-F238E27FC236}">
                  <a16:creationId xmlns:a16="http://schemas.microsoft.com/office/drawing/2014/main" id="{0788DD3C-0D26-4FB7-80EA-6D54DFBC03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9006" y="11144250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91" name="section04__373">
              <a:extLst xmlns:a="http://schemas.openxmlformats.org/drawingml/2006/main">
                <a:ext uri="{FF2B5EF4-FFF2-40B4-BE49-F238E27FC236}">
                  <a16:creationId xmlns:a16="http://schemas.microsoft.com/office/drawing/2014/main" id="{040E10EA-8FA1-4215-A4D7-4A9A595999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8556" y="10858500"/>
              <a:ext cx="2112169" cy="723900"/>
            </a:xfrm>
            <a:prstGeom xmlns:a="http://schemas.openxmlformats.org/drawingml/2006/main" prst="roundRect">
              <a:avLst>
                <a:gd name="adj" fmla="val 10526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92" name="section04__374">
              <a:extLst xmlns:a="http://schemas.openxmlformats.org/drawingml/2006/main">
                <a:ext uri="{FF2B5EF4-FFF2-40B4-BE49-F238E27FC236}">
                  <a16:creationId xmlns:a16="http://schemas.microsoft.com/office/drawing/2014/main" id="{855BD39C-62D0-4079-B82D-D93C7A3560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84281" y="10934700"/>
              <a:ext cx="1940719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피드백·개선</a:t>
              </a:r>
            </a:p>
          </p:txBody>
        </p:sp>
        <p:sp>
          <p:nvSpPr>
            <p:cNvPr id="93" name="section04__375">
              <a:extLst xmlns:a="http://schemas.openxmlformats.org/drawingml/2006/main">
                <a:ext uri="{FF2B5EF4-FFF2-40B4-BE49-F238E27FC236}">
                  <a16:creationId xmlns:a16="http://schemas.microsoft.com/office/drawing/2014/main" id="{116E6450-8617-4797-925B-F60D01514F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12856" y="11334750"/>
              <a:ext cx="1883569" cy="1809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수시 반영</a:t>
              </a:r>
            </a:p>
          </p:txBody>
        </p:sp>
        <p:sp>
          <p:nvSpPr>
            <p:cNvPr id="94" name="section04__376">
              <a:extLst xmlns:a="http://schemas.openxmlformats.org/drawingml/2006/main">
                <a:ext uri="{FF2B5EF4-FFF2-40B4-BE49-F238E27FC236}">
                  <a16:creationId xmlns:a16="http://schemas.microsoft.com/office/drawing/2014/main" id="{12228BD3-5295-4DCF-ADF6-015D40806E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1734800"/>
              <a:ext cx="2981325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5" name="section04__377">
              <a:extLst xmlns:a="http://schemas.openxmlformats.org/drawingml/2006/main">
                <a:ext uri="{FF2B5EF4-FFF2-40B4-BE49-F238E27FC236}">
                  <a16:creationId xmlns:a16="http://schemas.microsoft.com/office/drawing/2014/main" id="{599A3F65-8419-4D94-BC15-52E315928F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1849100"/>
              <a:ext cx="2695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연결성 확보</a:t>
              </a:r>
            </a:p>
          </p:txBody>
        </p:sp>
        <p:sp>
          <p:nvSpPr>
            <p:cNvPr id="96" name="section04__378">
              <a:extLst xmlns:a="http://schemas.openxmlformats.org/drawingml/2006/main">
                <a:ext uri="{FF2B5EF4-FFF2-40B4-BE49-F238E27FC236}">
                  <a16:creationId xmlns:a16="http://schemas.microsoft.com/office/drawing/2014/main" id="{C2BD419E-C1F4-43B8-AC5C-08F0BFBC1C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2239625"/>
              <a:ext cx="26955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Y-Agent와 SmartFactory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바로 연계 조회</a:t>
              </a:r>
            </a:p>
          </p:txBody>
        </p:sp>
        <p:sp>
          <p:nvSpPr>
            <p:cNvPr id="97" name="section04__379">
              <a:extLst xmlns:a="http://schemas.openxmlformats.org/drawingml/2006/main">
                <a:ext uri="{FF2B5EF4-FFF2-40B4-BE49-F238E27FC236}">
                  <a16:creationId xmlns:a16="http://schemas.microsoft.com/office/drawing/2014/main" id="{D87288D8-86E9-42AC-94CC-8C8CF11F22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11734800"/>
              <a:ext cx="2981325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8" name="section04__380">
              <a:extLst xmlns:a="http://schemas.openxmlformats.org/drawingml/2006/main">
                <a:ext uri="{FF2B5EF4-FFF2-40B4-BE49-F238E27FC236}">
                  <a16:creationId xmlns:a16="http://schemas.microsoft.com/office/drawing/2014/main" id="{CE0EF7E0-4C4A-4072-96D3-097B16A8B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11849100"/>
              <a:ext cx="2695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실행 방식 확장</a:t>
              </a:r>
            </a:p>
          </p:txBody>
        </p:sp>
        <p:sp>
          <p:nvSpPr>
            <p:cNvPr id="99" name="section04__381">
              <a:extLst xmlns:a="http://schemas.openxmlformats.org/drawingml/2006/main">
                <a:ext uri="{FF2B5EF4-FFF2-40B4-BE49-F238E27FC236}">
                  <a16:creationId xmlns:a16="http://schemas.microsoft.com/office/drawing/2014/main" id="{293CBB6E-45E0-433C-984A-F4C53E1E6A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12239625"/>
              <a:ext cx="26955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대화형 분석에서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배치 보고서 작성으로</a:t>
              </a:r>
            </a:p>
          </p:txBody>
        </p:sp>
        <p:sp>
          <p:nvSpPr>
            <p:cNvPr id="100" name="section04__382">
              <a:extLst xmlns:a="http://schemas.openxmlformats.org/drawingml/2006/main">
                <a:ext uri="{FF2B5EF4-FFF2-40B4-BE49-F238E27FC236}">
                  <a16:creationId xmlns:a16="http://schemas.microsoft.com/office/drawing/2014/main" id="{3CFEAA1D-EBB2-4338-A9A3-E279311F01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00825" y="11734800"/>
              <a:ext cx="2981325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01" name="section04__383">
              <a:extLst xmlns:a="http://schemas.openxmlformats.org/drawingml/2006/main">
                <a:ext uri="{FF2B5EF4-FFF2-40B4-BE49-F238E27FC236}">
                  <a16:creationId xmlns:a16="http://schemas.microsoft.com/office/drawing/2014/main" id="{EC98395C-FA60-4B63-8009-A577A6DB54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11849100"/>
              <a:ext cx="269557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고도화 방향 구체화</a:t>
              </a:r>
            </a:p>
          </p:txBody>
        </p:sp>
        <p:sp>
          <p:nvSpPr>
            <p:cNvPr id="102" name="section04__384">
              <a:extLst xmlns:a="http://schemas.openxmlformats.org/drawingml/2006/main">
                <a:ext uri="{FF2B5EF4-FFF2-40B4-BE49-F238E27FC236}">
                  <a16:creationId xmlns:a16="http://schemas.microsoft.com/office/drawing/2014/main" id="{7A19C885-7D61-49E8-8505-2AB66A238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12239625"/>
              <a:ext cx="2695575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하네스 활용 경험을 바탕으로</a:t>
              </a:r>
            </a:p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사용자 Workflow 지식화 추진</a:t>
              </a:r>
            </a:p>
          </p:txBody>
        </p:sp>
      </p:grpSp>
      <p:grpSp>
        <p:nvGrpSpPr>
          <p:cNvPr id="10005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3" name="footer__385">
              <a:extLst xmlns:a="http://schemas.openxmlformats.org/drawingml/2006/main">
                <a:ext uri="{FF2B5EF4-FFF2-40B4-BE49-F238E27FC236}">
                  <a16:creationId xmlns:a16="http://schemas.microsoft.com/office/drawing/2014/main" id="{B8ADF484-907C-45C3-B074-DF6AE5738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104" name="footer__386">
              <a:extLst xmlns:a="http://schemas.openxmlformats.org/drawingml/2006/main">
                <a:ext uri="{FF2B5EF4-FFF2-40B4-BE49-F238E27FC236}">
                  <a16:creationId xmlns:a16="http://schemas.microsoft.com/office/drawing/2014/main" id="{08F31ACD-2587-4BF1-9DAD-BBC3B25E19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 지식에 DT의 연계·실행 역량을 결합하여,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Legacy 연계와 배치 분석을 구현하고 지식화 확장의 기반을 마련</a:t>
              </a:r>
            </a:p>
          </p:txBody>
        </p:sp>
        <p:sp>
          <p:nvSpPr>
            <p:cNvPr id="105" name="footer__387">
              <a:extLst xmlns:a="http://schemas.openxmlformats.org/drawingml/2006/main">
                <a:ext uri="{FF2B5EF4-FFF2-40B4-BE49-F238E27FC236}">
                  <a16:creationId xmlns:a16="http://schemas.microsoft.com/office/drawing/2014/main" id="{FF9CF396-A08A-49A6-A338-60BA577C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106" name="footer__388">
              <a:extLst xmlns:a="http://schemas.openxmlformats.org/drawingml/2006/main">
                <a:ext uri="{FF2B5EF4-FFF2-40B4-BE49-F238E27FC236}">
                  <a16:creationId xmlns:a16="http://schemas.microsoft.com/office/drawing/2014/main" id="{2A95D3D0-5A5A-4E36-9983-71CCBDB4C4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80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100" name="header__389">
              <a:extLst xmlns:a="http://schemas.openxmlformats.org/drawingml/2006/main">
                <a:ext uri="{FF2B5EF4-FFF2-40B4-BE49-F238E27FC236}">
                  <a16:creationId xmlns:a16="http://schemas.microsoft.com/office/drawing/2014/main" id="{2E81DF82-DEBD-49C4-9D8C-7888F466F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390">
              <a:extLst xmlns:a="http://schemas.openxmlformats.org/drawingml/2006/main">
                <a:ext uri="{FF2B5EF4-FFF2-40B4-BE49-F238E27FC236}">
                  <a16:creationId xmlns:a16="http://schemas.microsoft.com/office/drawing/2014/main" id="{53ECD0DE-2BCC-4ECE-A0DE-691AA869FC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391">
              <a:extLst xmlns:a="http://schemas.openxmlformats.org/drawingml/2006/main">
                <a:ext uri="{FF2B5EF4-FFF2-40B4-BE49-F238E27FC236}">
                  <a16:creationId xmlns:a16="http://schemas.microsoft.com/office/drawing/2014/main" id="{9C99BACB-A54A-4CCE-9819-DB702D3EB9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05 / 06</a:t>
              </a:r>
            </a:p>
          </p:txBody>
        </p:sp>
        <p:sp>
          <p:nvSpPr>
            <p:cNvPr id="4" name="header__392">
              <a:extLst xmlns:a="http://schemas.openxmlformats.org/drawingml/2006/main">
                <a:ext uri="{FF2B5EF4-FFF2-40B4-BE49-F238E27FC236}">
                  <a16:creationId xmlns:a16="http://schemas.microsoft.com/office/drawing/2014/main" id="{387AA1BB-180B-4639-A467-CA988A2A9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393">
              <a:extLst xmlns:a="http://schemas.openxmlformats.org/drawingml/2006/main">
                <a:ext uri="{FF2B5EF4-FFF2-40B4-BE49-F238E27FC236}">
                  <a16:creationId xmlns:a16="http://schemas.microsoft.com/office/drawing/2014/main" id="{C03D4618-7A18-4442-A6C8-7F66394720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실제 수율 이슈를 검증하고,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Co-pilot으로 적용</a:t>
              </a:r>
            </a:p>
          </p:txBody>
        </p:sp>
        <p:sp>
          <p:nvSpPr>
            <p:cNvPr id="6" name="header__394">
              <a:extLst xmlns:a="http://schemas.openxmlformats.org/drawingml/2006/main">
                <a:ext uri="{FF2B5EF4-FFF2-40B4-BE49-F238E27FC236}">
                  <a16:creationId xmlns:a16="http://schemas.microsoft.com/office/drawing/2014/main" id="{6633CCE6-576C-4EDF-9F6D-E35E3F95BA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수율팀과의 Daily 협업 · 81개 개선 과제 · 현업 엔지니어 직접 사용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395">
              <a:extLst xmlns:a="http://schemas.openxmlformats.org/drawingml/2006/main">
                <a:ext uri="{FF2B5EF4-FFF2-40B4-BE49-F238E27FC236}">
                  <a16:creationId xmlns:a16="http://schemas.microsoft.com/office/drawing/2014/main" id="{E84C7A7B-76CC-47D0-A790-7C9CE3E79E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114550"/>
            </a:xfrm>
            <a:prstGeom xmlns:a="http://schemas.openxmlformats.org/drawingml/2006/main" prst="roundRect">
              <a:avLst>
                <a:gd name="adj" fmla="val 360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396">
              <a:extLst xmlns:a="http://schemas.openxmlformats.org/drawingml/2006/main">
                <a:ext uri="{FF2B5EF4-FFF2-40B4-BE49-F238E27FC236}">
                  <a16:creationId xmlns:a16="http://schemas.microsoft.com/office/drawing/2014/main" id="{691E9E9F-32EB-422E-8C4D-02A3A124E3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397">
              <a:extLst xmlns:a="http://schemas.openxmlformats.org/drawingml/2006/main">
                <a:ext uri="{FF2B5EF4-FFF2-40B4-BE49-F238E27FC236}">
                  <a16:creationId xmlns:a16="http://schemas.microsoft.com/office/drawing/2014/main" id="{4BB5C36D-18AA-48FF-A2E9-2EE421E0BE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398">
              <a:extLst xmlns:a="http://schemas.openxmlformats.org/drawingml/2006/main">
                <a:ext uri="{FF2B5EF4-FFF2-40B4-BE49-F238E27FC236}">
                  <a16:creationId xmlns:a16="http://schemas.microsoft.com/office/drawing/2014/main" id="{5B20068E-6BFC-4AFD-97F7-4C95618E7A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399">
              <a:extLst xmlns:a="http://schemas.openxmlformats.org/drawingml/2006/main">
                <a:ext uri="{FF2B5EF4-FFF2-40B4-BE49-F238E27FC236}">
                  <a16:creationId xmlns:a16="http://schemas.microsoft.com/office/drawing/2014/main" id="{78FD76B0-48D4-40A1-9558-6A0A32E44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실제 수율 이슈 검증  ·  7건 중 5건 검출</a:t>
              </a:r>
            </a:p>
          </p:txBody>
        </p:sp>
        <p:sp>
          <p:nvSpPr>
            <p:cNvPr id="12" name="section01__400">
              <a:extLst xmlns:a="http://schemas.openxmlformats.org/drawingml/2006/main">
                <a:ext uri="{FF2B5EF4-FFF2-40B4-BE49-F238E27FC236}">
                  <a16:creationId xmlns:a16="http://schemas.microsoft.com/office/drawing/2014/main" id="{6A5C68DD-9703-488E-8029-654310F81D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" y="2914650"/>
              <a:ext cx="2971800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3" name="section01__401">
              <a:extLst xmlns:a="http://schemas.openxmlformats.org/drawingml/2006/main">
                <a:ext uri="{FF2B5EF4-FFF2-40B4-BE49-F238E27FC236}">
                  <a16:creationId xmlns:a16="http://schemas.microsoft.com/office/drawing/2014/main" id="{60D5F24B-F2DA-421C-A0A3-DA628E742D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2990850"/>
              <a:ext cx="27241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검증 대상</a:t>
              </a:r>
            </a:p>
          </p:txBody>
        </p:sp>
        <p:sp>
          <p:nvSpPr>
            <p:cNvPr id="14" name="section01__402">
              <a:extLst xmlns:a="http://schemas.openxmlformats.org/drawingml/2006/main">
                <a:ext uri="{FF2B5EF4-FFF2-40B4-BE49-F238E27FC236}">
                  <a16:creationId xmlns:a16="http://schemas.microsoft.com/office/drawing/2014/main" id="{93F625DA-3DD8-466C-8BE8-F8CECF7615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3305175"/>
              <a:ext cx="1066800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7건</a:t>
              </a:r>
            </a:p>
          </p:txBody>
        </p:sp>
        <p:sp>
          <p:nvSpPr>
            <p:cNvPr id="15" name="section01__403">
              <a:extLst xmlns:a="http://schemas.openxmlformats.org/drawingml/2006/main">
                <a:ext uri="{FF2B5EF4-FFF2-40B4-BE49-F238E27FC236}">
                  <a16:creationId xmlns:a16="http://schemas.microsoft.com/office/drawing/2014/main" id="{1C479E40-87FF-4526-857D-1F95218FFE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9725" y="3476625"/>
              <a:ext cx="16287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수율 이슈</a:t>
              </a:r>
            </a:p>
          </p:txBody>
        </p:sp>
        <p:sp>
          <p:nvSpPr>
            <p:cNvPr id="16" name="section01__404">
              <a:extLst xmlns:a="http://schemas.openxmlformats.org/drawingml/2006/main">
                <a:ext uri="{FF2B5EF4-FFF2-40B4-BE49-F238E27FC236}">
                  <a16:creationId xmlns:a16="http://schemas.microsoft.com/office/drawing/2014/main" id="{28C586FD-D50C-432F-8DD1-A9CA145ED7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86150" y="2914650"/>
              <a:ext cx="2971800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17" name="section01__405">
              <a:extLst xmlns:a="http://schemas.openxmlformats.org/drawingml/2006/main">
                <a:ext uri="{FF2B5EF4-FFF2-40B4-BE49-F238E27FC236}">
                  <a16:creationId xmlns:a16="http://schemas.microsoft.com/office/drawing/2014/main" id="{593F8B0E-883C-4BA6-A299-9930F7CE8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2990850"/>
              <a:ext cx="27241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검출 사례</a:t>
              </a:r>
            </a:p>
          </p:txBody>
        </p:sp>
        <p:sp>
          <p:nvSpPr>
            <p:cNvPr id="18" name="section01__406">
              <a:extLst xmlns:a="http://schemas.openxmlformats.org/drawingml/2006/main">
                <a:ext uri="{FF2B5EF4-FFF2-40B4-BE49-F238E27FC236}">
                  <a16:creationId xmlns:a16="http://schemas.microsoft.com/office/drawing/2014/main" id="{AF25219C-788D-43E8-BE04-EECE1077C4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29025" y="3305175"/>
              <a:ext cx="1066800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5건</a:t>
              </a:r>
            </a:p>
          </p:txBody>
        </p:sp>
        <p:sp>
          <p:nvSpPr>
            <p:cNvPr id="19" name="section01__407">
              <a:extLst xmlns:a="http://schemas.openxmlformats.org/drawingml/2006/main">
                <a:ext uri="{FF2B5EF4-FFF2-40B4-BE49-F238E27FC236}">
                  <a16:creationId xmlns:a16="http://schemas.microsoft.com/office/drawing/2014/main" id="{5CAA30D0-4132-4F54-913F-873D047098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05350" y="3476625"/>
              <a:ext cx="16287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분석으로 검출</a:t>
              </a:r>
            </a:p>
          </p:txBody>
        </p:sp>
        <p:sp>
          <p:nvSpPr>
            <p:cNvPr id="20" name="section01__408">
              <a:extLst xmlns:a="http://schemas.openxmlformats.org/drawingml/2006/main">
                <a:ext uri="{FF2B5EF4-FFF2-40B4-BE49-F238E27FC236}">
                  <a16:creationId xmlns:a16="http://schemas.microsoft.com/office/drawing/2014/main" id="{3D771101-E8AE-43C6-B24E-17B1179AB8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81775" y="2914650"/>
              <a:ext cx="2971800" cy="1038225"/>
            </a:xfrm>
            <a:prstGeom xmlns:a="http://schemas.openxmlformats.org/drawingml/2006/main" prst="roundRect">
              <a:avLst>
                <a:gd name="adj" fmla="val 73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21" name="section01__409">
              <a:extLst xmlns:a="http://schemas.openxmlformats.org/drawingml/2006/main">
                <a:ext uri="{FF2B5EF4-FFF2-40B4-BE49-F238E27FC236}">
                  <a16:creationId xmlns:a16="http://schemas.microsoft.com/office/drawing/2014/main" id="{A42A200A-3665-47FD-BEF7-92EA3C5383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05600" y="2990850"/>
              <a:ext cx="27241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미구현 분석 방법 필요</a:t>
              </a:r>
            </a:p>
          </p:txBody>
        </p:sp>
        <p:sp>
          <p:nvSpPr>
            <p:cNvPr id="22" name="section01__410">
              <a:extLst xmlns:a="http://schemas.openxmlformats.org/drawingml/2006/main">
                <a:ext uri="{FF2B5EF4-FFF2-40B4-BE49-F238E27FC236}">
                  <a16:creationId xmlns:a16="http://schemas.microsoft.com/office/drawing/2014/main" id="{11E287C1-1447-43D4-B573-0F4AAEDD81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24650" y="3305175"/>
              <a:ext cx="1066800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3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3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2건</a:t>
              </a:r>
            </a:p>
          </p:txBody>
        </p:sp>
        <p:sp>
          <p:nvSpPr>
            <p:cNvPr id="23" name="section01__411">
              <a:extLst xmlns:a="http://schemas.openxmlformats.org/drawingml/2006/main">
                <a:ext uri="{FF2B5EF4-FFF2-40B4-BE49-F238E27FC236}">
                  <a16:creationId xmlns:a16="http://schemas.microsoft.com/office/drawing/2014/main" id="{1EC0F3F4-EA48-4F80-A3DB-39A74AF759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00975" y="3476625"/>
              <a:ext cx="162877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해당 분석 방법 구현 필요</a:t>
              </a:r>
            </a:p>
          </p:txBody>
        </p:sp>
        <p:sp>
          <p:nvSpPr>
            <p:cNvPr id="24" name="section01__412">
              <a:extLst xmlns:a="http://schemas.openxmlformats.org/drawingml/2006/main">
                <a:ext uri="{FF2B5EF4-FFF2-40B4-BE49-F238E27FC236}">
                  <a16:creationId xmlns:a16="http://schemas.microsoft.com/office/drawing/2014/main" id="{06BF4BD8-E47C-4FB9-851C-F90F18DE3F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4038600"/>
              <a:ext cx="92011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※ 2건은 현재 미구현된 분석 방법으로 검출 가능한 사례</a:t>
              </a:r>
            </a:p>
          </p:txBody>
        </p:sp>
        <p:sp>
          <p:nvSpPr>
            <p:cNvPr id="25" name="section01__413">
              <a:extLst xmlns:a="http://schemas.openxmlformats.org/drawingml/2006/main">
                <a:ext uri="{FF2B5EF4-FFF2-40B4-BE49-F238E27FC236}">
                  <a16:creationId xmlns:a16="http://schemas.microsoft.com/office/drawing/2014/main" id="{EA70F155-BEE2-4204-9509-AC12CBB1D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4257675"/>
              <a:ext cx="92011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수율팀 Daily 회의와 엔지니어 직접 사용을 통해 분석 결과의 타당성 확인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6" name="section02__414">
              <a:extLst xmlns:a="http://schemas.openxmlformats.org/drawingml/2006/main">
                <a:ext uri="{FF2B5EF4-FFF2-40B4-BE49-F238E27FC236}">
                  <a16:creationId xmlns:a16="http://schemas.microsoft.com/office/drawing/2014/main" id="{033E63F2-7FA6-4759-BE06-BA46C09E7C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657725"/>
              <a:ext cx="9601200" cy="2447925"/>
            </a:xfrm>
            <a:prstGeom xmlns:a="http://schemas.openxmlformats.org/drawingml/2006/main" prst="roundRect">
              <a:avLst>
                <a:gd name="adj" fmla="val 311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7" name="section02__415">
              <a:extLst xmlns:a="http://schemas.openxmlformats.org/drawingml/2006/main">
                <a:ext uri="{FF2B5EF4-FFF2-40B4-BE49-F238E27FC236}">
                  <a16:creationId xmlns:a16="http://schemas.microsoft.com/office/drawing/2014/main" id="{C5736AB0-449C-497F-8D34-499769FB89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6725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2__416">
              <a:extLst xmlns:a="http://schemas.openxmlformats.org/drawingml/2006/main">
                <a:ext uri="{FF2B5EF4-FFF2-40B4-BE49-F238E27FC236}">
                  <a16:creationId xmlns:a16="http://schemas.microsoft.com/office/drawing/2014/main" id="{83AE74B5-2FDE-40AF-B4E1-6D2FCF7565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66725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9" name="section02__417">
              <a:extLst xmlns:a="http://schemas.openxmlformats.org/drawingml/2006/main">
                <a:ext uri="{FF2B5EF4-FFF2-40B4-BE49-F238E27FC236}">
                  <a16:creationId xmlns:a16="http://schemas.microsoft.com/office/drawing/2014/main" id="{AB042A32-A7D6-408A-82AB-8131716AFA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65772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30" name="section02__418">
              <a:extLst xmlns:a="http://schemas.openxmlformats.org/drawingml/2006/main">
                <a:ext uri="{FF2B5EF4-FFF2-40B4-BE49-F238E27FC236}">
                  <a16:creationId xmlns:a16="http://schemas.microsoft.com/office/drawing/2014/main" id="{36735632-5801-423B-B5FE-53F47FA7DF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65772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대표 검출 사례  ·  이슈부터 후속 조치까지</a:t>
              </a:r>
            </a:p>
          </p:txBody>
        </p:sp>
        <p:sp>
          <p:nvSpPr>
            <p:cNvPr id="31" name="section02__419">
              <a:extLst xmlns:a="http://schemas.openxmlformats.org/drawingml/2006/main">
                <a:ext uri="{FF2B5EF4-FFF2-40B4-BE49-F238E27FC236}">
                  <a16:creationId xmlns:a16="http://schemas.microsoft.com/office/drawing/2014/main" id="{CFDB3AD9-2F12-4EC9-90C7-D1F6BADE04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5200650"/>
              <a:ext cx="2200275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2" name="section02__420">
              <a:extLst xmlns:a="http://schemas.openxmlformats.org/drawingml/2006/main">
                <a:ext uri="{FF2B5EF4-FFF2-40B4-BE49-F238E27FC236}">
                  <a16:creationId xmlns:a16="http://schemas.microsoft.com/office/drawing/2014/main" id="{D15DE584-441E-485C-BE95-5639833EB8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" y="5200650"/>
              <a:ext cx="21050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① 수율 이슈</a:t>
              </a:r>
            </a:p>
          </p:txBody>
        </p:sp>
        <p:sp>
          <p:nvSpPr>
            <p:cNvPr id="33" name="section02__421">
              <a:extLst xmlns:a="http://schemas.openxmlformats.org/drawingml/2006/main">
                <a:ext uri="{FF2B5EF4-FFF2-40B4-BE49-F238E27FC236}">
                  <a16:creationId xmlns:a16="http://schemas.microsoft.com/office/drawing/2014/main" id="{3D6C8B03-B6A9-4585-ABE5-1F0B89817F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5581650"/>
              <a:ext cx="2171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제품·공정 / 문제 현상</a:t>
              </a:r>
            </a:p>
          </p:txBody>
        </p:sp>
        <p:sp>
          <p:nvSpPr>
            <p:cNvPr id="34" name="section02__422">
              <a:extLst xmlns:a="http://schemas.openxmlformats.org/drawingml/2006/main">
                <a:ext uri="{FF2B5EF4-FFF2-40B4-BE49-F238E27FC236}">
                  <a16:creationId xmlns:a16="http://schemas.microsoft.com/office/drawing/2014/main" id="{D21E52DE-5649-417C-A535-78C7409D07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5915025"/>
              <a:ext cx="2200275" cy="1019175"/>
            </a:xfrm>
            <a:prstGeom xmlns:a="http://schemas.openxmlformats.org/drawingml/2006/main" prst="roundRect">
              <a:avLst>
                <a:gd name="adj" fmla="val 747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5" name="section02__423">
              <a:extLst xmlns:a="http://schemas.openxmlformats.org/drawingml/2006/main">
                <a:ext uri="{FF2B5EF4-FFF2-40B4-BE49-F238E27FC236}">
                  <a16:creationId xmlns:a16="http://schemas.microsoft.com/office/drawing/2014/main" id="{286992B9-B62B-414E-AE4C-7B7D745E8A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086475"/>
              <a:ext cx="2047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이슈 개요·Trend</a:t>
              </a:r>
            </a:p>
          </p:txBody>
        </p:sp>
        <p:sp>
          <p:nvSpPr>
            <p:cNvPr id="36" name="section02__424">
              <a:extLst xmlns:a="http://schemas.openxmlformats.org/drawingml/2006/main">
                <a:ext uri="{FF2B5EF4-FFF2-40B4-BE49-F238E27FC236}">
                  <a16:creationId xmlns:a16="http://schemas.microsoft.com/office/drawing/2014/main" id="{4E223D0C-0DCA-4D5C-B0FE-8130DF23D7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96050"/>
              <a:ext cx="20478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37" name="section02__425">
              <a:extLst xmlns:a="http://schemas.openxmlformats.org/drawingml/2006/main">
                <a:ext uri="{FF2B5EF4-FFF2-40B4-BE49-F238E27FC236}">
                  <a16:creationId xmlns:a16="http://schemas.microsoft.com/office/drawing/2014/main" id="{4F188EB6-FF87-4941-AB3A-242BFF02E6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19375" y="52863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8" name="section02__426">
              <a:extLst xmlns:a="http://schemas.openxmlformats.org/drawingml/2006/main">
                <a:ext uri="{FF2B5EF4-FFF2-40B4-BE49-F238E27FC236}">
                  <a16:creationId xmlns:a16="http://schemas.microsoft.com/office/drawing/2014/main" id="{8D1D7356-A422-460C-A351-9BF863CE0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3675" y="5200650"/>
              <a:ext cx="2200275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9" name="section02__427">
              <a:extLst xmlns:a="http://schemas.openxmlformats.org/drawingml/2006/main">
                <a:ext uri="{FF2B5EF4-FFF2-40B4-BE49-F238E27FC236}">
                  <a16:creationId xmlns:a16="http://schemas.microsoft.com/office/drawing/2014/main" id="{0585B035-F2C8-4557-B045-8FC22633F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1300" y="5200650"/>
              <a:ext cx="21050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② Y-Agent 분석</a:t>
              </a:r>
            </a:p>
          </p:txBody>
        </p:sp>
        <p:sp>
          <p:nvSpPr>
            <p:cNvPr id="40" name="section02__428">
              <a:extLst xmlns:a="http://schemas.openxmlformats.org/drawingml/2006/main">
                <a:ext uri="{FF2B5EF4-FFF2-40B4-BE49-F238E27FC236}">
                  <a16:creationId xmlns:a16="http://schemas.microsoft.com/office/drawing/2014/main" id="{C184A38F-3DBD-4D9B-AADE-E5B9CB17A2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52725" y="5581650"/>
              <a:ext cx="2171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활용 Agent / 검출 결과</a:t>
              </a:r>
            </a:p>
          </p:txBody>
        </p:sp>
        <p:sp>
          <p:nvSpPr>
            <p:cNvPr id="41" name="section02__429">
              <a:extLst xmlns:a="http://schemas.openxmlformats.org/drawingml/2006/main">
                <a:ext uri="{FF2B5EF4-FFF2-40B4-BE49-F238E27FC236}">
                  <a16:creationId xmlns:a16="http://schemas.microsoft.com/office/drawing/2014/main" id="{40199B8E-1B06-4952-BF67-2E7205233A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33675" y="5915025"/>
              <a:ext cx="2200275" cy="1019175"/>
            </a:xfrm>
            <a:prstGeom xmlns:a="http://schemas.openxmlformats.org/drawingml/2006/main" prst="roundRect">
              <a:avLst>
                <a:gd name="adj" fmla="val 747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2" name="section02__430">
              <a:extLst xmlns:a="http://schemas.openxmlformats.org/drawingml/2006/main">
                <a:ext uri="{FF2B5EF4-FFF2-40B4-BE49-F238E27FC236}">
                  <a16:creationId xmlns:a16="http://schemas.microsoft.com/office/drawing/2014/main" id="{3E222A99-32DE-4360-8E00-CC1E4ED10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6086475"/>
              <a:ext cx="2047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검출 결과</a:t>
              </a:r>
            </a:p>
          </p:txBody>
        </p:sp>
        <p:sp>
          <p:nvSpPr>
            <p:cNvPr id="43" name="section02__431">
              <a:extLst xmlns:a="http://schemas.openxmlformats.org/drawingml/2006/main">
                <a:ext uri="{FF2B5EF4-FFF2-40B4-BE49-F238E27FC236}">
                  <a16:creationId xmlns:a16="http://schemas.microsoft.com/office/drawing/2014/main" id="{F5D52923-C07A-4FD6-81C5-1D3447558A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9875" y="6496050"/>
              <a:ext cx="20478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44" name="section02__432">
              <a:extLst xmlns:a="http://schemas.openxmlformats.org/drawingml/2006/main">
                <a:ext uri="{FF2B5EF4-FFF2-40B4-BE49-F238E27FC236}">
                  <a16:creationId xmlns:a16="http://schemas.microsoft.com/office/drawing/2014/main" id="{6629DA08-2A90-4EEC-B91D-F7229BD6B3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0" y="52863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5" name="section02__433">
              <a:extLst xmlns:a="http://schemas.openxmlformats.org/drawingml/2006/main">
                <a:ext uri="{FF2B5EF4-FFF2-40B4-BE49-F238E27FC236}">
                  <a16:creationId xmlns:a16="http://schemas.microsoft.com/office/drawing/2014/main" id="{F80F5F3B-E0DB-4399-9315-006535A1C1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5200650"/>
              <a:ext cx="2200275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46" name="section02__434">
              <a:extLst xmlns:a="http://schemas.openxmlformats.org/drawingml/2006/main">
                <a:ext uri="{FF2B5EF4-FFF2-40B4-BE49-F238E27FC236}">
                  <a16:creationId xmlns:a16="http://schemas.microsoft.com/office/drawing/2014/main" id="{83A78F7E-3F5B-455C-8A44-CBD76F1B57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14925" y="5200650"/>
              <a:ext cx="21050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③ 엔지니어 검증</a:t>
              </a:r>
            </a:p>
          </p:txBody>
        </p:sp>
        <p:sp>
          <p:nvSpPr>
            <p:cNvPr id="47" name="section02__435">
              <a:extLst xmlns:a="http://schemas.openxmlformats.org/drawingml/2006/main">
                <a:ext uri="{FF2B5EF4-FFF2-40B4-BE49-F238E27FC236}">
                  <a16:creationId xmlns:a16="http://schemas.microsoft.com/office/drawing/2014/main" id="{299B5A85-40AA-4ABA-B933-0E9EAB711A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86350" y="5581650"/>
              <a:ext cx="2171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확인 근거 / 판단 내용</a:t>
              </a:r>
            </a:p>
          </p:txBody>
        </p:sp>
        <p:sp>
          <p:nvSpPr>
            <p:cNvPr id="48" name="section02__436">
              <a:extLst xmlns:a="http://schemas.openxmlformats.org/drawingml/2006/main">
                <a:ext uri="{FF2B5EF4-FFF2-40B4-BE49-F238E27FC236}">
                  <a16:creationId xmlns:a16="http://schemas.microsoft.com/office/drawing/2014/main" id="{5485BA71-885D-40B8-83C9-89EF7D0F66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67300" y="5915025"/>
              <a:ext cx="2200275" cy="1019175"/>
            </a:xfrm>
            <a:prstGeom xmlns:a="http://schemas.openxmlformats.org/drawingml/2006/main" prst="roundRect">
              <a:avLst>
                <a:gd name="adj" fmla="val 747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9" name="section02__437">
              <a:extLst xmlns:a="http://schemas.openxmlformats.org/drawingml/2006/main">
                <a:ext uri="{FF2B5EF4-FFF2-40B4-BE49-F238E27FC236}">
                  <a16:creationId xmlns:a16="http://schemas.microsoft.com/office/drawing/2014/main" id="{EB8A1DD6-5C66-4E16-AD4B-AD5680E4D7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6086475"/>
              <a:ext cx="2047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검증 내용</a:t>
              </a:r>
            </a:p>
          </p:txBody>
        </p:sp>
        <p:sp>
          <p:nvSpPr>
            <p:cNvPr id="50" name="section02__438">
              <a:extLst xmlns:a="http://schemas.openxmlformats.org/drawingml/2006/main">
                <a:ext uri="{FF2B5EF4-FFF2-40B4-BE49-F238E27FC236}">
                  <a16:creationId xmlns:a16="http://schemas.microsoft.com/office/drawing/2014/main" id="{D5C16760-181B-49EF-9CA3-F33BD9CFB4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0" y="6496050"/>
              <a:ext cx="20478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  <p:sp>
          <p:nvSpPr>
            <p:cNvPr id="51" name="section02__439">
              <a:extLst xmlns:a="http://schemas.openxmlformats.org/drawingml/2006/main">
                <a:ext uri="{FF2B5EF4-FFF2-40B4-BE49-F238E27FC236}">
                  <a16:creationId xmlns:a16="http://schemas.microsoft.com/office/drawing/2014/main" id="{0CA51D8B-DB4C-4DEC-91C8-E87456C5C3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6625" y="5286375"/>
              <a:ext cx="95250" cy="1238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2" name="section02__440">
              <a:extLst xmlns:a="http://schemas.openxmlformats.org/drawingml/2006/main">
                <a:ext uri="{FF2B5EF4-FFF2-40B4-BE49-F238E27FC236}">
                  <a16:creationId xmlns:a16="http://schemas.microsoft.com/office/drawing/2014/main" id="{555D1466-CBAB-4A39-9840-0C4A84FEF1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00925" y="5200650"/>
              <a:ext cx="2200275" cy="323850"/>
            </a:xfrm>
            <a:prstGeom xmlns:a="http://schemas.openxmlformats.org/drawingml/2006/main" prst="roundRect">
              <a:avLst>
                <a:gd name="adj" fmla="val 23529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3" name="section02__441">
              <a:extLst xmlns:a="http://schemas.openxmlformats.org/drawingml/2006/main">
                <a:ext uri="{FF2B5EF4-FFF2-40B4-BE49-F238E27FC236}">
                  <a16:creationId xmlns:a16="http://schemas.microsoft.com/office/drawing/2014/main" id="{826345A3-C75E-4B35-BEFE-0F5EA6B1D9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48550" y="5200650"/>
              <a:ext cx="210502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④ 후속 조치</a:t>
              </a:r>
            </a:p>
          </p:txBody>
        </p:sp>
        <p:sp>
          <p:nvSpPr>
            <p:cNvPr id="54" name="section02__442">
              <a:extLst xmlns:a="http://schemas.openxmlformats.org/drawingml/2006/main">
                <a:ext uri="{FF2B5EF4-FFF2-40B4-BE49-F238E27FC236}">
                  <a16:creationId xmlns:a16="http://schemas.microsoft.com/office/drawing/2014/main" id="{1895FCDC-8585-4CD2-A79B-64D129521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9975" y="5581650"/>
              <a:ext cx="2171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조치 내용 / 현재 상태</a:t>
              </a:r>
            </a:p>
          </p:txBody>
        </p:sp>
        <p:sp>
          <p:nvSpPr>
            <p:cNvPr id="55" name="section02__443">
              <a:extLst xmlns:a="http://schemas.openxmlformats.org/drawingml/2006/main">
                <a:ext uri="{FF2B5EF4-FFF2-40B4-BE49-F238E27FC236}">
                  <a16:creationId xmlns:a16="http://schemas.microsoft.com/office/drawing/2014/main" id="{9E607A9D-FC5C-4D50-AD13-606F52024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00925" y="5915025"/>
              <a:ext cx="2200275" cy="1019175"/>
            </a:xfrm>
            <a:prstGeom xmlns:a="http://schemas.openxmlformats.org/drawingml/2006/main" prst="roundRect">
              <a:avLst>
                <a:gd name="adj" fmla="val 747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6" name="section02__444">
              <a:extLst xmlns:a="http://schemas.openxmlformats.org/drawingml/2006/main">
                <a:ext uri="{FF2B5EF4-FFF2-40B4-BE49-F238E27FC236}">
                  <a16:creationId xmlns:a16="http://schemas.microsoft.com/office/drawing/2014/main" id="{3F67F2C0-DEE8-4CF2-85CC-91BF47DFB5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77125" y="6086475"/>
              <a:ext cx="2047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후속 업무·조치</a:t>
              </a:r>
            </a:p>
          </p:txBody>
        </p:sp>
        <p:sp>
          <p:nvSpPr>
            <p:cNvPr id="57" name="section02__445">
              <a:extLst xmlns:a="http://schemas.openxmlformats.org/drawingml/2006/main">
                <a:ext uri="{FF2B5EF4-FFF2-40B4-BE49-F238E27FC236}">
                  <a16:creationId xmlns:a16="http://schemas.microsoft.com/office/drawing/2014/main" id="{A9FE81E5-2C2F-4B90-8D3C-9533D34941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77125" y="6496050"/>
              <a:ext cx="204787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8397A9"/>
                  </a:solidFill>
                  <a:latin typeface="Malgun Gothic"/>
                  <a:ea typeface="Malgun Gothic"/>
                  <a:cs typeface="Malgun Gothic"/>
                </a:rPr>
                <a:t>내용 / 이미지 입력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8" name="section03__446">
              <a:extLst xmlns:a="http://schemas.openxmlformats.org/drawingml/2006/main">
                <a:ext uri="{FF2B5EF4-FFF2-40B4-BE49-F238E27FC236}">
                  <a16:creationId xmlns:a16="http://schemas.microsoft.com/office/drawing/2014/main" id="{12A52B40-A953-4C4D-8AA8-B22C4314B2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7258050"/>
              <a:ext cx="9601200" cy="3352800"/>
            </a:xfrm>
            <a:prstGeom xmlns:a="http://schemas.openxmlformats.org/drawingml/2006/main" prst="roundRect">
              <a:avLst>
                <a:gd name="adj" fmla="val 227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9" name="section03__447">
              <a:extLst xmlns:a="http://schemas.openxmlformats.org/drawingml/2006/main">
                <a:ext uri="{FF2B5EF4-FFF2-40B4-BE49-F238E27FC236}">
                  <a16:creationId xmlns:a16="http://schemas.microsoft.com/office/drawing/2014/main" id="{795DFF57-012C-42AB-BF38-1B2A229B55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72675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60" name="section03__448">
              <a:extLst xmlns:a="http://schemas.openxmlformats.org/drawingml/2006/main">
                <a:ext uri="{FF2B5EF4-FFF2-40B4-BE49-F238E27FC236}">
                  <a16:creationId xmlns:a16="http://schemas.microsoft.com/office/drawing/2014/main" id="{9514EC00-36CD-4DB3-B28D-88883761A9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72675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1" name="section03__449">
              <a:extLst xmlns:a="http://schemas.openxmlformats.org/drawingml/2006/main">
                <a:ext uri="{FF2B5EF4-FFF2-40B4-BE49-F238E27FC236}">
                  <a16:creationId xmlns:a16="http://schemas.microsoft.com/office/drawing/2014/main" id="{64A50945-7814-4BDA-9DAB-4A2BF31566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72580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62" name="section03__450">
              <a:extLst xmlns:a="http://schemas.openxmlformats.org/drawingml/2006/main">
                <a:ext uri="{FF2B5EF4-FFF2-40B4-BE49-F238E27FC236}">
                  <a16:creationId xmlns:a16="http://schemas.microsoft.com/office/drawing/2014/main" id="{A1DF5F80-5962-4B36-A82D-A1381C89CD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72580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피드백 기반 고도화  ·  81개 Action Item 도출</a:t>
              </a:r>
            </a:p>
          </p:txBody>
        </p:sp>
        <p:sp>
          <p:nvSpPr>
            <p:cNvPr id="63" name="section03__451">
              <a:extLst xmlns:a="http://schemas.openxmlformats.org/drawingml/2006/main">
                <a:ext uri="{FF2B5EF4-FFF2-40B4-BE49-F238E27FC236}">
                  <a16:creationId xmlns:a16="http://schemas.microsoft.com/office/drawing/2014/main" id="{AFDEA90F-A51C-4C8B-9026-3C8AE592E3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" y="7781925"/>
              <a:ext cx="2124075" cy="2647950"/>
            </a:xfrm>
            <a:prstGeom xmlns:a="http://schemas.openxmlformats.org/drawingml/2006/main" prst="roundRect">
              <a:avLst>
                <a:gd name="adj" fmla="val 358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64" name="section03__452">
              <a:extLst xmlns:a="http://schemas.openxmlformats.org/drawingml/2006/main">
                <a:ext uri="{FF2B5EF4-FFF2-40B4-BE49-F238E27FC236}">
                  <a16:creationId xmlns:a16="http://schemas.microsoft.com/office/drawing/2014/main" id="{A7A239BD-0846-417E-8365-033789D81F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7915275"/>
              <a:ext cx="19050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요구 기반 개선 과제</a:t>
              </a:r>
            </a:p>
          </p:txBody>
        </p:sp>
        <p:sp>
          <p:nvSpPr>
            <p:cNvPr id="65" name="section03__453">
              <a:extLst xmlns:a="http://schemas.openxmlformats.org/drawingml/2006/main">
                <a:ext uri="{FF2B5EF4-FFF2-40B4-BE49-F238E27FC236}">
                  <a16:creationId xmlns:a16="http://schemas.microsoft.com/office/drawing/2014/main" id="{4C792FA2-4C55-43FF-B12E-A84DBA6AF1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8315325"/>
              <a:ext cx="1828800" cy="657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4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4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81건</a:t>
              </a:r>
            </a:p>
          </p:txBody>
        </p:sp>
        <p:sp>
          <p:nvSpPr>
            <p:cNvPr id="66" name="section03__454">
              <a:extLst xmlns:a="http://schemas.openxmlformats.org/drawingml/2006/main">
                <a:ext uri="{FF2B5EF4-FFF2-40B4-BE49-F238E27FC236}">
                  <a16:creationId xmlns:a16="http://schemas.microsoft.com/office/drawing/2014/main" id="{916878D3-E24E-4B3C-8CCD-58AD09500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9010650"/>
              <a:ext cx="1876425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필요한 기능과 개선 요구를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도출하여 Y-Agent</a:t>
              </a:r>
            </a:p>
            <a:p xmlns:a="http://schemas.openxmlformats.org/drawingml/2006/main">
              <a:pPr algn="ctr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고도화에 반영</a:t>
              </a:r>
            </a:p>
          </p:txBody>
        </p:sp>
        <p:sp>
          <p:nvSpPr>
            <p:cNvPr id="67" name="section03__455">
              <a:extLst xmlns:a="http://schemas.openxmlformats.org/drawingml/2006/main">
                <a:ext uri="{FF2B5EF4-FFF2-40B4-BE49-F238E27FC236}">
                  <a16:creationId xmlns:a16="http://schemas.microsoft.com/office/drawing/2014/main" id="{D4D4C040-ABF7-44C2-8B6E-7FD8908BAA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9677400"/>
              <a:ext cx="18573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68" name="section03__456">
              <a:extLst xmlns:a="http://schemas.openxmlformats.org/drawingml/2006/main">
                <a:ext uri="{FF2B5EF4-FFF2-40B4-BE49-F238E27FC236}">
                  <a16:creationId xmlns:a16="http://schemas.microsoft.com/office/drawing/2014/main" id="{7D9901E6-0A70-4766-8496-EC796E7AF0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9829800"/>
              <a:ext cx="1885950" cy="552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진행 현황 직접 입력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완료 [  ]건 · 진행 [  ]건</a:t>
              </a:r>
            </a:p>
            <a:p xmlns:a="http://schemas.openxmlformats.org/drawingml/2006/main">
              <a:pPr algn="l">
                <a:def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기타 [  ]건</a:t>
              </a:r>
            </a:p>
          </p:txBody>
        </p:sp>
        <p:sp>
          <p:nvSpPr>
            <p:cNvPr id="69" name="section03__457">
              <a:extLst xmlns:a="http://schemas.openxmlformats.org/drawingml/2006/main">
                <a:ext uri="{FF2B5EF4-FFF2-40B4-BE49-F238E27FC236}">
                  <a16:creationId xmlns:a16="http://schemas.microsoft.com/office/drawing/2014/main" id="{1A1BA4FC-7E55-4902-A4C1-7AA4836D0D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86050" y="7781925"/>
              <a:ext cx="1552575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0" name="section03__458">
              <a:extLst xmlns:a="http://schemas.openxmlformats.org/drawingml/2006/main">
                <a:ext uri="{FF2B5EF4-FFF2-40B4-BE49-F238E27FC236}">
                  <a16:creationId xmlns:a16="http://schemas.microsoft.com/office/drawing/2014/main" id="{CCF37103-4BDD-4DB3-A240-C26774EAD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71775" y="7858125"/>
              <a:ext cx="13811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Daily 회의</a:t>
              </a:r>
            </a:p>
          </p:txBody>
        </p:sp>
        <p:sp>
          <p:nvSpPr>
            <p:cNvPr id="71" name="section03__459">
              <a:extLst xmlns:a="http://schemas.openxmlformats.org/drawingml/2006/main">
                <a:ext uri="{FF2B5EF4-FFF2-40B4-BE49-F238E27FC236}">
                  <a16:creationId xmlns:a16="http://schemas.microsoft.com/office/drawing/2014/main" id="{F5A33500-7FF0-4743-913A-014078A872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76725" y="79295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3__460">
              <a:extLst xmlns:a="http://schemas.openxmlformats.org/drawingml/2006/main">
                <a:ext uri="{FF2B5EF4-FFF2-40B4-BE49-F238E27FC236}">
                  <a16:creationId xmlns:a16="http://schemas.microsoft.com/office/drawing/2014/main" id="{6D8DB1D2-1D35-41C3-9708-4E9F636A71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86275" y="7781925"/>
              <a:ext cx="1552575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3" name="section03__461">
              <a:extLst xmlns:a="http://schemas.openxmlformats.org/drawingml/2006/main">
                <a:ext uri="{FF2B5EF4-FFF2-40B4-BE49-F238E27FC236}">
                  <a16:creationId xmlns:a16="http://schemas.microsoft.com/office/drawing/2014/main" id="{DA318D06-FFD5-4204-8BD5-B6BBF7B9C8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7858125"/>
              <a:ext cx="13811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요구사항 도출</a:t>
              </a:r>
            </a:p>
          </p:txBody>
        </p:sp>
        <p:sp>
          <p:nvSpPr>
            <p:cNvPr id="74" name="section03__462">
              <a:extLst xmlns:a="http://schemas.openxmlformats.org/drawingml/2006/main">
                <a:ext uri="{FF2B5EF4-FFF2-40B4-BE49-F238E27FC236}">
                  <a16:creationId xmlns:a16="http://schemas.microsoft.com/office/drawing/2014/main" id="{F116D076-53A1-4280-B760-24685FF5D8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950" y="79295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5" name="section03__463">
              <a:extLst xmlns:a="http://schemas.openxmlformats.org/drawingml/2006/main">
                <a:ext uri="{FF2B5EF4-FFF2-40B4-BE49-F238E27FC236}">
                  <a16:creationId xmlns:a16="http://schemas.microsoft.com/office/drawing/2014/main" id="{8FFF2280-A753-4C0B-A037-5FF1832AE7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0" y="7781925"/>
              <a:ext cx="1552575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6" name="section03__464">
              <a:extLst xmlns:a="http://schemas.openxmlformats.org/drawingml/2006/main">
                <a:ext uri="{FF2B5EF4-FFF2-40B4-BE49-F238E27FC236}">
                  <a16:creationId xmlns:a16="http://schemas.microsoft.com/office/drawing/2014/main" id="{60EC6BA2-EF05-479D-BB1F-CDB7D98823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72225" y="7858125"/>
              <a:ext cx="13811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기능·분석 개선</a:t>
              </a:r>
            </a:p>
          </p:txBody>
        </p:sp>
        <p:sp>
          <p:nvSpPr>
            <p:cNvPr id="77" name="section03__465">
              <a:extLst xmlns:a="http://schemas.openxmlformats.org/drawingml/2006/main">
                <a:ext uri="{FF2B5EF4-FFF2-40B4-BE49-F238E27FC236}">
                  <a16:creationId xmlns:a16="http://schemas.microsoft.com/office/drawing/2014/main" id="{0C9404C8-26A9-4298-9F92-50732300E6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77175" y="79295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8" name="section03__466">
              <a:extLst xmlns:a="http://schemas.openxmlformats.org/drawingml/2006/main">
                <a:ext uri="{FF2B5EF4-FFF2-40B4-BE49-F238E27FC236}">
                  <a16:creationId xmlns:a16="http://schemas.microsoft.com/office/drawing/2014/main" id="{5576B1F2-EFF9-4171-9704-196C3F2A11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86725" y="7781925"/>
              <a:ext cx="1552575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9" name="section03__467">
              <a:extLst xmlns:a="http://schemas.openxmlformats.org/drawingml/2006/main">
                <a:ext uri="{FF2B5EF4-FFF2-40B4-BE49-F238E27FC236}">
                  <a16:creationId xmlns:a16="http://schemas.microsoft.com/office/drawing/2014/main" id="{CE3E0D86-98DB-47A3-8CF9-B15CA75B4B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7858125"/>
              <a:ext cx="13811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검증</a:t>
              </a:r>
            </a:p>
          </p:txBody>
        </p:sp>
        <p:sp>
          <p:nvSpPr>
            <p:cNvPr id="80" name="section03__468">
              <a:extLst xmlns:a="http://schemas.openxmlformats.org/drawingml/2006/main">
                <a:ext uri="{FF2B5EF4-FFF2-40B4-BE49-F238E27FC236}">
                  <a16:creationId xmlns:a16="http://schemas.microsoft.com/office/drawing/2014/main" id="{9B0BC7B5-9D23-43BD-ABF6-F4D94ABE1B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8401050"/>
              <a:ext cx="686752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주요 개선 사례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2" name="section04__469">
              <a:extLst xmlns:a="http://schemas.openxmlformats.org/drawingml/2006/main">
                <a:ext uri="{FF2B5EF4-FFF2-40B4-BE49-F238E27FC236}">
                  <a16:creationId xmlns:a16="http://schemas.microsoft.com/office/drawing/2014/main" id="{D76F6517-9A10-4E00-9633-DEBEC8C7FB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0763250"/>
              <a:ext cx="9601200" cy="2028825"/>
            </a:xfrm>
            <a:prstGeom xmlns:a="http://schemas.openxmlformats.org/drawingml/2006/main" prst="roundRect">
              <a:avLst>
                <a:gd name="adj" fmla="val 375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3" name="section04__470">
              <a:extLst xmlns:a="http://schemas.openxmlformats.org/drawingml/2006/main">
                <a:ext uri="{FF2B5EF4-FFF2-40B4-BE49-F238E27FC236}">
                  <a16:creationId xmlns:a16="http://schemas.microsoft.com/office/drawing/2014/main" id="{A0D77DAD-AA4A-4F5A-9BC0-84A4D69B38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7727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4" name="section04__471">
              <a:extLst xmlns:a="http://schemas.openxmlformats.org/drawingml/2006/main">
                <a:ext uri="{FF2B5EF4-FFF2-40B4-BE49-F238E27FC236}">
                  <a16:creationId xmlns:a16="http://schemas.microsoft.com/office/drawing/2014/main" id="{B494A509-6A9C-4DAB-9E18-00F86DFC68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07727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85" name="section04__472">
              <a:extLst xmlns:a="http://schemas.openxmlformats.org/drawingml/2006/main">
                <a:ext uri="{FF2B5EF4-FFF2-40B4-BE49-F238E27FC236}">
                  <a16:creationId xmlns:a16="http://schemas.microsoft.com/office/drawing/2014/main" id="{C4D6861B-27D0-4F64-AA2B-1562ED566B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07632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86" name="section04__473">
              <a:extLst xmlns:a="http://schemas.openxmlformats.org/drawingml/2006/main">
                <a:ext uri="{FF2B5EF4-FFF2-40B4-BE49-F238E27FC236}">
                  <a16:creationId xmlns:a16="http://schemas.microsoft.com/office/drawing/2014/main" id="{9FAAC44E-FE6E-47B0-894A-0BF05D9175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07632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현업 Co-pilot 적용  ·  일부 수율팀 엔지니어 직접 사용</a:t>
              </a:r>
            </a:p>
          </p:txBody>
        </p:sp>
        <p:sp>
          <p:nvSpPr>
            <p:cNvPr id="87" name="section04__474">
              <a:extLst xmlns:a="http://schemas.openxmlformats.org/drawingml/2006/main">
                <a:ext uri="{FF2B5EF4-FFF2-40B4-BE49-F238E27FC236}">
                  <a16:creationId xmlns:a16="http://schemas.microsoft.com/office/drawing/2014/main" id="{11480B48-E9F6-4502-BCE5-D9BAB00BD0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1306175"/>
              <a:ext cx="2971800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88" name="section04__475">
              <a:extLst xmlns:a="http://schemas.openxmlformats.org/drawingml/2006/main">
                <a:ext uri="{FF2B5EF4-FFF2-40B4-BE49-F238E27FC236}">
                  <a16:creationId xmlns:a16="http://schemas.microsoft.com/office/drawing/2014/main" id="{F11A1DD6-F30F-4562-A639-10E2DBCC17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1420475"/>
              <a:ext cx="26860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현업 직접 사용</a:t>
              </a:r>
            </a:p>
          </p:txBody>
        </p:sp>
        <p:sp>
          <p:nvSpPr>
            <p:cNvPr id="89" name="section04__476">
              <a:extLst xmlns:a="http://schemas.openxmlformats.org/drawingml/2006/main">
                <a:ext uri="{FF2B5EF4-FFF2-40B4-BE49-F238E27FC236}">
                  <a16:creationId xmlns:a16="http://schemas.microsoft.com/office/drawing/2014/main" id="{7B50E762-C2D5-4EAE-87A7-A0C2C06052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11811000"/>
              <a:ext cx="26860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일부 수율팀 엔지니어가</a:t>
              </a:r>
            </a:p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Y-Agent를 직접 실행하며 활용</a:t>
              </a:r>
            </a:p>
          </p:txBody>
        </p:sp>
        <p:sp>
          <p:nvSpPr>
            <p:cNvPr id="90" name="section04__477">
              <a:extLst xmlns:a="http://schemas.openxmlformats.org/drawingml/2006/main">
                <a:ext uri="{FF2B5EF4-FFF2-40B4-BE49-F238E27FC236}">
                  <a16:creationId xmlns:a16="http://schemas.microsoft.com/office/drawing/2014/main" id="{257E7064-EED6-48A0-A0B3-C5182DD67D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11306175"/>
              <a:ext cx="2971800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1" name="section04__478">
              <a:extLst xmlns:a="http://schemas.openxmlformats.org/drawingml/2006/main">
                <a:ext uri="{FF2B5EF4-FFF2-40B4-BE49-F238E27FC236}">
                  <a16:creationId xmlns:a16="http://schemas.microsoft.com/office/drawing/2014/main" id="{AFABAC12-2857-4B59-8E4D-4B2CF628DA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11420475"/>
              <a:ext cx="26860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실제 수율 점검</a:t>
              </a:r>
            </a:p>
          </p:txBody>
        </p:sp>
        <p:sp>
          <p:nvSpPr>
            <p:cNvPr id="92" name="section04__479">
              <a:extLst xmlns:a="http://schemas.openxmlformats.org/drawingml/2006/main">
                <a:ext uri="{FF2B5EF4-FFF2-40B4-BE49-F238E27FC236}">
                  <a16:creationId xmlns:a16="http://schemas.microsoft.com/office/drawing/2014/main" id="{7B3BE25F-435A-4DA2-A8ED-0303D1ABA2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11811000"/>
              <a:ext cx="26860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실제 수율을 점검하고</a:t>
              </a:r>
            </a:p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관련 이슈 분석에 사용</a:t>
              </a:r>
            </a:p>
          </p:txBody>
        </p:sp>
        <p:sp>
          <p:nvSpPr>
            <p:cNvPr id="93" name="section04__480">
              <a:extLst xmlns:a="http://schemas.openxmlformats.org/drawingml/2006/main">
                <a:ext uri="{FF2B5EF4-FFF2-40B4-BE49-F238E27FC236}">
                  <a16:creationId xmlns:a16="http://schemas.microsoft.com/office/drawing/2014/main" id="{1E4D33A9-5265-4496-9FDB-B2C12366B4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00825" y="11306175"/>
              <a:ext cx="3028950" cy="1304925"/>
            </a:xfrm>
            <a:prstGeom xmlns:a="http://schemas.openxmlformats.org/drawingml/2006/main" prst="roundRect">
              <a:avLst>
                <a:gd name="adj" fmla="val 5839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94" name="section04__481">
              <a:extLst xmlns:a="http://schemas.openxmlformats.org/drawingml/2006/main">
                <a:ext uri="{FF2B5EF4-FFF2-40B4-BE49-F238E27FC236}">
                  <a16:creationId xmlns:a16="http://schemas.microsoft.com/office/drawing/2014/main" id="{50224941-59C7-4C2F-9D8D-3FA613103E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11420475"/>
              <a:ext cx="274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업무 지원</a:t>
              </a:r>
            </a:p>
          </p:txBody>
        </p:sp>
        <p:sp>
          <p:nvSpPr>
            <p:cNvPr id="95" name="section04__482">
              <a:extLst xmlns:a="http://schemas.openxmlformats.org/drawingml/2006/main">
                <a:ext uri="{FF2B5EF4-FFF2-40B4-BE49-F238E27FC236}">
                  <a16:creationId xmlns:a16="http://schemas.microsoft.com/office/drawing/2014/main" id="{E4D7AE8F-9AF2-43B2-88A0-DCF307245E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43700" y="11811000"/>
              <a:ext cx="27432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결과의 타당성을 확인하고</a:t>
              </a:r>
            </a:p>
            <a:p xmlns:a="http://schemas.openxmlformats.org/drawingml/2006/main">
              <a:pPr algn="l">
                <a:def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 분석 업무에 활용</a:t>
              </a:r>
            </a:p>
          </p:txBody>
        </p:sp>
      </p:grpSp>
      <p:grpSp>
        <p:nvGrpSpPr>
          <p:cNvPr id="10005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6" name="footer__483">
              <a:extLst xmlns:a="http://schemas.openxmlformats.org/drawingml/2006/main">
                <a:ext uri="{FF2B5EF4-FFF2-40B4-BE49-F238E27FC236}">
                  <a16:creationId xmlns:a16="http://schemas.microsoft.com/office/drawing/2014/main" id="{7710FBBC-5CEB-4E41-AE42-46BD5444B3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97" name="footer__484">
              <a:extLst xmlns:a="http://schemas.openxmlformats.org/drawingml/2006/main">
                <a:ext uri="{FF2B5EF4-FFF2-40B4-BE49-F238E27FC236}">
                  <a16:creationId xmlns:a16="http://schemas.microsoft.com/office/drawing/2014/main" id="{E82D73A6-4683-444F-B68C-93421FEA7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현업이 직접 사용하며 분석 역량을 검증·고도화하는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수율 분석 Co-pilot으로 적용</a:t>
              </a:r>
            </a:p>
          </p:txBody>
        </p:sp>
        <p:sp>
          <p:nvSpPr>
            <p:cNvPr id="98" name="footer__485">
              <a:extLst xmlns:a="http://schemas.openxmlformats.org/drawingml/2006/main">
                <a:ext uri="{FF2B5EF4-FFF2-40B4-BE49-F238E27FC236}">
                  <a16:creationId xmlns:a16="http://schemas.microsoft.com/office/drawing/2014/main" id="{61AC4666-0EE2-4A68-A266-2800EDF2E8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99" name="footer__486">
              <a:extLst xmlns:a="http://schemas.openxmlformats.org/drawingml/2006/main">
                <a:ext uri="{FF2B5EF4-FFF2-40B4-BE49-F238E27FC236}">
                  <a16:creationId xmlns:a16="http://schemas.microsoft.com/office/drawing/2014/main" id="{CDFC7B41-FE11-4A21-A661-2C9DE860A9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05</a:t>
              </a:r>
            </a:p>
          </p:txBody>
        </p:sp>
      </p:grpSp>
      <p:graphicFrame>
        <p:nvGraphicFramePr>
          <p:cNvPr id="180" name=""/>
          <p:cNvGraphicFramePr/>
          <p:nvPr/>
        </p:nvGraphicFramePr>
        <p:xfrm>
          <a:off xmlns:a="http://schemas.openxmlformats.org/drawingml/2006/main" x="2695575" y="8801100"/>
          <a:ext xmlns:a="http://schemas.openxmlformats.org/drawingml/2006/main" cx="6953250" cy="1609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7750"/>
                <a:gridCol w="2317750"/>
                <a:gridCol w="2317750"/>
              </a:tblGrid>
              <a:tr h="536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현업 요청·불편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개선·반영 내용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2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결과·상태</a:t>
                      </a:r>
                    </a:p>
                  </a:txBody>
                  <a:tcPr marL="91440" marR="91440" marT="45720" marB="45720" anchor="ctr">
                    <a:solidFill>
                      <a:srgbClr val="E5ECF1"/>
                    </a:solidFill>
                  </a:tcPr>
                </a:tc>
              </a:tr>
              <a:tr h="536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43576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[내용 입력]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929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00" name="제목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91" name="header__487">
              <a:extLst xmlns:a="http://schemas.openxmlformats.org/drawingml/2006/main">
                <a:ext uri="{FF2B5EF4-FFF2-40B4-BE49-F238E27FC236}">
                  <a16:creationId xmlns:a16="http://schemas.microsoft.com/office/drawing/2014/main" id="{4D72824B-75E6-494C-A380-9BA1F809F3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71450"/>
              <a:ext cx="11334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SK hynix</a:t>
              </a:r>
            </a:p>
          </p:txBody>
        </p:sp>
        <p:sp>
          <p:nvSpPr>
            <p:cNvPr id="2" name="header__488">
              <a:extLst xmlns:a="http://schemas.openxmlformats.org/drawingml/2006/main">
                <a:ext uri="{FF2B5EF4-FFF2-40B4-BE49-F238E27FC236}">
                  <a16:creationId xmlns:a16="http://schemas.microsoft.com/office/drawing/2014/main" id="{F05EF806-7EF1-4493-8F99-F707884FD2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71450"/>
              <a:ext cx="4762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공적 사례상세</a:t>
              </a:r>
            </a:p>
          </p:txBody>
        </p:sp>
        <p:sp>
          <p:nvSpPr>
            <p:cNvPr id="3" name="header__489">
              <a:extLst xmlns:a="http://schemas.openxmlformats.org/drawingml/2006/main">
                <a:ext uri="{FF2B5EF4-FFF2-40B4-BE49-F238E27FC236}">
                  <a16:creationId xmlns:a16="http://schemas.microsoft.com/office/drawing/2014/main" id="{B3B70786-9E04-4CEC-BD38-B20EAC64FE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72525" y="171450"/>
              <a:ext cx="86677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06 / 06</a:t>
              </a:r>
            </a:p>
          </p:txBody>
        </p:sp>
        <p:sp>
          <p:nvSpPr>
            <p:cNvPr id="4" name="header__490">
              <a:extLst xmlns:a="http://schemas.openxmlformats.org/drawingml/2006/main">
                <a:ext uri="{FF2B5EF4-FFF2-40B4-BE49-F238E27FC236}">
                  <a16:creationId xmlns:a16="http://schemas.microsoft.com/office/drawing/2014/main" id="{F1A4B4A7-8324-4291-A93B-0D9EEEB6F1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533400"/>
              <a:ext cx="93154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CBD6DF"/>
              </a:solidFill>
            </a:ln>
          </p:spPr>
        </p:sp>
        <p:sp>
          <p:nvSpPr>
            <p:cNvPr id="5" name="header__491">
              <a:extLst xmlns:a="http://schemas.openxmlformats.org/drawingml/2006/main">
                <a:ext uri="{FF2B5EF4-FFF2-40B4-BE49-F238E27FC236}">
                  <a16:creationId xmlns:a16="http://schemas.microsoft.com/office/drawing/2014/main" id="{BD487739-0267-4519-AD38-68BCA0CB85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742950"/>
              <a:ext cx="9286875" cy="1038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조직 지식화와</a:t>
              </a:r>
            </a:p>
            <a:p xmlns:a="http://schemas.openxmlformats.org/drawingml/2006/main">
              <a:pPr algn="l">
                <a:def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30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Autonomous Agent로의 발전</a:t>
              </a:r>
            </a:p>
          </p:txBody>
        </p:sp>
        <p:sp>
          <p:nvSpPr>
            <p:cNvPr id="6" name="header__492">
              <a:extLst xmlns:a="http://schemas.openxmlformats.org/drawingml/2006/main">
                <a:ext uri="{FF2B5EF4-FFF2-40B4-BE49-F238E27FC236}">
                  <a16:creationId xmlns:a16="http://schemas.microsoft.com/office/drawing/2014/main" id="{AFC3FA3F-D97A-40E6-BEB5-A259CD94C4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866900"/>
              <a:ext cx="9239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현업에서 만들어가는 분석 경험을 조직의 자산으로 축적하고 수율 혁신으로 확장</a:t>
              </a:r>
            </a:p>
          </p:txBody>
        </p:sp>
      </p:grpSp>
      <p:grpSp>
        <p:nvGrpSpPr>
          <p:cNvPr id="10001" name="1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" name="section01__493">
              <a:extLst xmlns:a="http://schemas.openxmlformats.org/drawingml/2006/main">
                <a:ext uri="{FF2B5EF4-FFF2-40B4-BE49-F238E27FC236}">
                  <a16:creationId xmlns:a16="http://schemas.microsoft.com/office/drawing/2014/main" id="{258CAE53-5767-4DA8-84ED-BB6108614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2390775"/>
              <a:ext cx="9601200" cy="2409825"/>
            </a:xfrm>
            <a:prstGeom xmlns:a="http://schemas.openxmlformats.org/drawingml/2006/main" prst="roundRect">
              <a:avLst>
                <a:gd name="adj" fmla="val 316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8" name="section01__494">
              <a:extLst xmlns:a="http://schemas.openxmlformats.org/drawingml/2006/main">
                <a:ext uri="{FF2B5EF4-FFF2-40B4-BE49-F238E27FC236}">
                  <a16:creationId xmlns:a16="http://schemas.microsoft.com/office/drawing/2014/main" id="{29A8A092-6019-476B-8CBE-15264A415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9" name="section01__495">
              <a:extLst xmlns:a="http://schemas.openxmlformats.org/drawingml/2006/main">
                <a:ext uri="{FF2B5EF4-FFF2-40B4-BE49-F238E27FC236}">
                  <a16:creationId xmlns:a16="http://schemas.microsoft.com/office/drawing/2014/main" id="{499D77C7-EF7D-4902-962A-2431C32623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24003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0" name="section01__496">
              <a:extLst xmlns:a="http://schemas.openxmlformats.org/drawingml/2006/main">
                <a:ext uri="{FF2B5EF4-FFF2-40B4-BE49-F238E27FC236}">
                  <a16:creationId xmlns:a16="http://schemas.microsoft.com/office/drawing/2014/main" id="{11D103DB-C556-43BD-988F-505CAAE9C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23907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  <p:sp>
          <p:nvSpPr>
            <p:cNvPr id="11" name="section01__497">
              <a:extLst xmlns:a="http://schemas.openxmlformats.org/drawingml/2006/main">
                <a:ext uri="{FF2B5EF4-FFF2-40B4-BE49-F238E27FC236}">
                  <a16:creationId xmlns:a16="http://schemas.microsoft.com/office/drawing/2014/main" id="{E384C6BD-D10F-4414-9ED9-0B22295243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3907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분석 Workflow 지식화  ·  LLM Wiki로 경험 축적·재사용</a:t>
              </a:r>
            </a:p>
          </p:txBody>
        </p:sp>
        <p:sp>
          <p:nvSpPr>
            <p:cNvPr id="12" name="section01__498">
              <a:extLst xmlns:a="http://schemas.openxmlformats.org/drawingml/2006/main">
                <a:ext uri="{FF2B5EF4-FFF2-40B4-BE49-F238E27FC236}">
                  <a16:creationId xmlns:a16="http://schemas.microsoft.com/office/drawing/2014/main" id="{5C0037BB-87C8-4474-869F-CBB8C653EE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2924175"/>
              <a:ext cx="2905125" cy="1219200"/>
            </a:xfrm>
            <a:prstGeom xmlns:a="http://schemas.openxmlformats.org/drawingml/2006/main" prst="roundRect">
              <a:avLst>
                <a:gd name="adj" fmla="val 625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3" name="section01__499">
              <a:extLst xmlns:a="http://schemas.openxmlformats.org/drawingml/2006/main">
                <a:ext uri="{FF2B5EF4-FFF2-40B4-BE49-F238E27FC236}">
                  <a16:creationId xmlns:a16="http://schemas.microsoft.com/office/drawing/2014/main" id="{B849A577-85FE-419D-B5CC-6201E096BE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5300" y="3000375"/>
              <a:ext cx="27336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경험 수집</a:t>
              </a:r>
            </a:p>
          </p:txBody>
        </p:sp>
        <p:sp>
          <p:nvSpPr>
            <p:cNvPr id="14" name="section01__500">
              <a:extLst xmlns:a="http://schemas.openxmlformats.org/drawingml/2006/main">
                <a:ext uri="{FF2B5EF4-FFF2-40B4-BE49-F238E27FC236}">
                  <a16:creationId xmlns:a16="http://schemas.microsoft.com/office/drawing/2014/main" id="{84AD8955-50DA-46F9-9C22-D1DCC39D1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3400425"/>
              <a:ext cx="2676525" cy="676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대상 Fail·Agent 시퀀스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조건·주요 결과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판단 포인트·Action·CumMap</a:t>
              </a:r>
            </a:p>
          </p:txBody>
        </p:sp>
        <p:sp>
          <p:nvSpPr>
            <p:cNvPr id="15" name="section01__501">
              <a:extLst xmlns:a="http://schemas.openxmlformats.org/drawingml/2006/main">
                <a:ext uri="{FF2B5EF4-FFF2-40B4-BE49-F238E27FC236}">
                  <a16:creationId xmlns:a16="http://schemas.microsoft.com/office/drawing/2014/main" id="{07A26A56-A1FB-4C53-B59E-5BCC2C49CC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345757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16" name="section01__502">
              <a:extLst xmlns:a="http://schemas.openxmlformats.org/drawingml/2006/main">
                <a:ext uri="{FF2B5EF4-FFF2-40B4-BE49-F238E27FC236}">
                  <a16:creationId xmlns:a16="http://schemas.microsoft.com/office/drawing/2014/main" id="{8EBE285B-6911-4773-BB3B-0E41D5D64E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2924175"/>
              <a:ext cx="2905125" cy="1219200"/>
            </a:xfrm>
            <a:prstGeom xmlns:a="http://schemas.openxmlformats.org/drawingml/2006/main" prst="roundRect">
              <a:avLst>
                <a:gd name="adj" fmla="val 625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17" name="section01__503">
              <a:extLst xmlns:a="http://schemas.openxmlformats.org/drawingml/2006/main">
                <a:ext uri="{FF2B5EF4-FFF2-40B4-BE49-F238E27FC236}">
                  <a16:creationId xmlns:a16="http://schemas.microsoft.com/office/drawing/2014/main" id="{A81CAC77-D72F-4ED9-B3CD-B021EEAEB8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48075" y="3000375"/>
              <a:ext cx="27336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LLM Wiki 등록</a:t>
              </a:r>
            </a:p>
          </p:txBody>
        </p:sp>
        <p:sp>
          <p:nvSpPr>
            <p:cNvPr id="18" name="section01__504">
              <a:extLst xmlns:a="http://schemas.openxmlformats.org/drawingml/2006/main">
                <a:ext uri="{FF2B5EF4-FFF2-40B4-BE49-F238E27FC236}">
                  <a16:creationId xmlns:a16="http://schemas.microsoft.com/office/drawing/2014/main" id="{F77982A3-718A-4A73-907A-CA7E0A30BB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6650" y="3400425"/>
              <a:ext cx="2676525" cy="676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구조화된 형태로 저장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사례 태깅·키워드 검색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Wafer CumMap 함께 저장</a:t>
              </a:r>
            </a:p>
          </p:txBody>
        </p:sp>
        <p:sp>
          <p:nvSpPr>
            <p:cNvPr id="19" name="section01__505">
              <a:extLst xmlns:a="http://schemas.openxmlformats.org/drawingml/2006/main">
                <a:ext uri="{FF2B5EF4-FFF2-40B4-BE49-F238E27FC236}">
                  <a16:creationId xmlns:a16="http://schemas.microsoft.com/office/drawing/2014/main" id="{EC90FB41-DEED-406B-8FEE-E318C7A0C7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05575" y="3457575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0" name="section01__506">
              <a:extLst xmlns:a="http://schemas.openxmlformats.org/drawingml/2006/main">
                <a:ext uri="{FF2B5EF4-FFF2-40B4-BE49-F238E27FC236}">
                  <a16:creationId xmlns:a16="http://schemas.microsoft.com/office/drawing/2014/main" id="{E90396A5-ABAB-4BDB-AEFA-7268577DEB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924175"/>
              <a:ext cx="2905125" cy="1219200"/>
            </a:xfrm>
            <a:prstGeom xmlns:a="http://schemas.openxmlformats.org/drawingml/2006/main" prst="roundRect">
              <a:avLst>
                <a:gd name="adj" fmla="val 6250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1" name="section01__507">
              <a:extLst xmlns:a="http://schemas.openxmlformats.org/drawingml/2006/main">
                <a:ext uri="{FF2B5EF4-FFF2-40B4-BE49-F238E27FC236}">
                  <a16:creationId xmlns:a16="http://schemas.microsoft.com/office/drawing/2014/main" id="{FE4C16C7-A4EC-4683-B36B-7A65CCAE92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0850" y="3000375"/>
              <a:ext cx="273367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지식 재사용</a:t>
              </a:r>
            </a:p>
          </p:txBody>
        </p:sp>
        <p:sp>
          <p:nvSpPr>
            <p:cNvPr id="22" name="section01__508">
              <a:extLst xmlns:a="http://schemas.openxmlformats.org/drawingml/2006/main">
                <a:ext uri="{FF2B5EF4-FFF2-40B4-BE49-F238E27FC236}">
                  <a16:creationId xmlns:a16="http://schemas.microsoft.com/office/drawing/2014/main" id="{91414F85-2810-4849-852E-0A32B2049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9425" y="3400425"/>
              <a:ext cx="2676525" cy="676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Fail 분석 시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검증된 Workflow 추천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과거 결과·Action 확인</a:t>
              </a:r>
            </a:p>
          </p:txBody>
        </p:sp>
        <p:sp>
          <p:nvSpPr>
            <p:cNvPr id="23" name="section01__509">
              <a:extLst xmlns:a="http://schemas.openxmlformats.org/drawingml/2006/main">
                <a:ext uri="{FF2B5EF4-FFF2-40B4-BE49-F238E27FC236}">
                  <a16:creationId xmlns:a16="http://schemas.microsoft.com/office/drawing/2014/main" id="{53EC7851-AD49-4FEF-9535-C53142530A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4276725"/>
              <a:ext cx="9191625" cy="361950"/>
            </a:xfrm>
            <a:prstGeom xmlns:a="http://schemas.openxmlformats.org/drawingml/2006/main" prst="roundRect">
              <a:avLst>
                <a:gd name="adj" fmla="val 21053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4" name="section01__510">
              <a:extLst xmlns:a="http://schemas.openxmlformats.org/drawingml/2006/main">
                <a:ext uri="{FF2B5EF4-FFF2-40B4-BE49-F238E27FC236}">
                  <a16:creationId xmlns:a16="http://schemas.microsoft.com/office/drawing/2014/main" id="{73FB4916-81C9-45FF-8783-05FBA79A94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" y="4276725"/>
              <a:ext cx="8943975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분석 순서와 판단·조치 이력까지 기록하여 조직이 다시 활용할 수 있는 지식으로 축적</a:t>
              </a:r>
            </a:p>
          </p:txBody>
        </p:sp>
      </p:grpSp>
      <p:grpSp>
        <p:nvGrpSpPr>
          <p:cNvPr id="10002" name="2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25" name="section02__511">
              <a:extLst xmlns:a="http://schemas.openxmlformats.org/drawingml/2006/main">
                <a:ext uri="{FF2B5EF4-FFF2-40B4-BE49-F238E27FC236}">
                  <a16:creationId xmlns:a16="http://schemas.microsoft.com/office/drawing/2014/main" id="{229A5411-371A-47F0-9BB1-77E4F64DD4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4953000"/>
              <a:ext cx="9601200" cy="1809750"/>
            </a:xfrm>
            <a:prstGeom xmlns:a="http://schemas.openxmlformats.org/drawingml/2006/main" prst="roundRect">
              <a:avLst>
                <a:gd name="adj" fmla="val 421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26" name="section02__512">
              <a:extLst xmlns:a="http://schemas.openxmlformats.org/drawingml/2006/main">
                <a:ext uri="{FF2B5EF4-FFF2-40B4-BE49-F238E27FC236}">
                  <a16:creationId xmlns:a16="http://schemas.microsoft.com/office/drawing/2014/main" id="{7C76C998-02BE-464C-9D54-4CFC17A869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96252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27" name="section02__513">
              <a:extLst xmlns:a="http://schemas.openxmlformats.org/drawingml/2006/main">
                <a:ext uri="{FF2B5EF4-FFF2-40B4-BE49-F238E27FC236}">
                  <a16:creationId xmlns:a16="http://schemas.microsoft.com/office/drawing/2014/main" id="{35570779-A570-4DCA-9B83-AAF10FE959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496252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28" name="section02__514">
              <a:extLst xmlns:a="http://schemas.openxmlformats.org/drawingml/2006/main">
                <a:ext uri="{FF2B5EF4-FFF2-40B4-BE49-F238E27FC236}">
                  <a16:creationId xmlns:a16="http://schemas.microsoft.com/office/drawing/2014/main" id="{503BC1C9-4C55-48AD-8FC2-8F37B6DBCE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495300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  <p:sp>
          <p:nvSpPr>
            <p:cNvPr id="29" name="section02__515">
              <a:extLst xmlns:a="http://schemas.openxmlformats.org/drawingml/2006/main">
                <a:ext uri="{FF2B5EF4-FFF2-40B4-BE49-F238E27FC236}">
                  <a16:creationId xmlns:a16="http://schemas.microsoft.com/office/drawing/2014/main" id="{FC5A091F-506C-4274-A079-05353DCE20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495300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현재와 앞으로의 변화  ·  보고서 출력에서 Workflow 지식화로</a:t>
              </a:r>
            </a:p>
          </p:txBody>
        </p:sp>
        <p:sp>
          <p:nvSpPr>
            <p:cNvPr id="30" name="section02__516">
              <a:extLst xmlns:a="http://schemas.openxmlformats.org/drawingml/2006/main">
                <a:ext uri="{FF2B5EF4-FFF2-40B4-BE49-F238E27FC236}">
                  <a16:creationId xmlns:a16="http://schemas.microsoft.com/office/drawing/2014/main" id="{D9AB41E8-E49D-4FF0-B211-2A70FC5E09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5476875"/>
              <a:ext cx="432435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31" name="section02__517">
              <a:extLst xmlns:a="http://schemas.openxmlformats.org/drawingml/2006/main">
                <a:ext uri="{FF2B5EF4-FFF2-40B4-BE49-F238E27FC236}">
                  <a16:creationId xmlns:a16="http://schemas.microsoft.com/office/drawing/2014/main" id="{2132271A-3720-4C97-B891-1581C51836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5591175"/>
              <a:ext cx="40386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 ·  BoI Wiki 하네스</a:t>
              </a:r>
            </a:p>
          </p:txBody>
        </p:sp>
        <p:sp>
          <p:nvSpPr>
            <p:cNvPr id="32" name="section02__518">
              <a:extLst xmlns:a="http://schemas.openxmlformats.org/drawingml/2006/main">
                <a:ext uri="{FF2B5EF4-FFF2-40B4-BE49-F238E27FC236}">
                  <a16:creationId xmlns:a16="http://schemas.microsoft.com/office/drawing/2014/main" id="{D411AB73-F25F-4D2F-8FE8-610300B4BF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" y="5981700"/>
              <a:ext cx="40386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정해진 형식의 보고서 출력 / 특정 분석에 활용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다른 엔지니어의 분석 과정과 경험 확인에 한계</a:t>
              </a:r>
            </a:p>
          </p:txBody>
        </p:sp>
        <p:sp>
          <p:nvSpPr>
            <p:cNvPr id="33" name="section02__519">
              <a:extLst xmlns:a="http://schemas.openxmlformats.org/drawingml/2006/main">
                <a:ext uri="{FF2B5EF4-FFF2-40B4-BE49-F238E27FC236}">
                  <a16:creationId xmlns:a16="http://schemas.microsoft.com/office/drawing/2014/main" id="{8ABC7417-670F-4C51-A025-DDE55CBC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67275" y="5905500"/>
              <a:ext cx="266700" cy="238125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34" name="section02__520">
              <a:extLst xmlns:a="http://schemas.openxmlformats.org/drawingml/2006/main">
                <a:ext uri="{FF2B5EF4-FFF2-40B4-BE49-F238E27FC236}">
                  <a16:creationId xmlns:a16="http://schemas.microsoft.com/office/drawing/2014/main" id="{772E3892-E1FF-449E-944F-E8B1E82319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67325" y="5476875"/>
              <a:ext cx="436245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0">
              <a:noFill/>
            </a:ln>
          </p:spPr>
        </p:sp>
        <p:sp>
          <p:nvSpPr>
            <p:cNvPr id="35" name="section02__521">
              <a:extLst xmlns:a="http://schemas.openxmlformats.org/drawingml/2006/main">
                <a:ext uri="{FF2B5EF4-FFF2-40B4-BE49-F238E27FC236}">
                  <a16:creationId xmlns:a16="http://schemas.microsoft.com/office/drawing/2014/main" id="{045A7689-C9AF-43F6-8EEA-69C22747C1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10200" y="5591175"/>
              <a:ext cx="40767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6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향후  ·  Workflow 지식화</a:t>
              </a:r>
            </a:p>
          </p:txBody>
        </p:sp>
        <p:sp>
          <p:nvSpPr>
            <p:cNvPr id="36" name="section02__522">
              <a:extLst xmlns:a="http://schemas.openxmlformats.org/drawingml/2006/main">
                <a:ext uri="{FF2B5EF4-FFF2-40B4-BE49-F238E27FC236}">
                  <a16:creationId xmlns:a16="http://schemas.microsoft.com/office/drawing/2014/main" id="{33B93EEA-CE94-4026-BA27-D59BA775EA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10200" y="5981700"/>
              <a:ext cx="40767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시퀀스와 액션 사항을 함께 축적</a:t>
              </a:r>
            </a:p>
            <a:p xmlns:a="http://schemas.openxmlformats.org/drawingml/2006/main">
              <a:pPr algn="l">
                <a:def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사례 검색·재사용이 가능한 조직의 분석 자산</a:t>
              </a:r>
            </a:p>
          </p:txBody>
        </p:sp>
      </p:grpSp>
      <p:grpSp>
        <p:nvGrpSpPr>
          <p:cNvPr id="10003" name="3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37" name="section03__523">
              <a:extLst xmlns:a="http://schemas.openxmlformats.org/drawingml/2006/main">
                <a:ext uri="{FF2B5EF4-FFF2-40B4-BE49-F238E27FC236}">
                  <a16:creationId xmlns:a16="http://schemas.microsoft.com/office/drawing/2014/main" id="{0EC30D94-9657-41FC-85D6-B5DF425D51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6915150"/>
              <a:ext cx="9601200" cy="2019300"/>
            </a:xfrm>
            <a:prstGeom xmlns:a="http://schemas.openxmlformats.org/drawingml/2006/main" prst="roundRect">
              <a:avLst>
                <a:gd name="adj" fmla="val 377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38" name="section03__524">
              <a:extLst xmlns:a="http://schemas.openxmlformats.org/drawingml/2006/main">
                <a:ext uri="{FF2B5EF4-FFF2-40B4-BE49-F238E27FC236}">
                  <a16:creationId xmlns:a16="http://schemas.microsoft.com/office/drawing/2014/main" id="{272AD552-B28C-44E6-90A6-EFDEA3F3B3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69246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39" name="section03__525">
              <a:extLst xmlns:a="http://schemas.openxmlformats.org/drawingml/2006/main">
                <a:ext uri="{FF2B5EF4-FFF2-40B4-BE49-F238E27FC236}">
                  <a16:creationId xmlns:a16="http://schemas.microsoft.com/office/drawing/2014/main" id="{8CF97D04-71BA-417E-9ED9-B0CCD6CFF9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69246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0" name="section03__526">
              <a:extLst xmlns:a="http://schemas.openxmlformats.org/drawingml/2006/main">
                <a:ext uri="{FF2B5EF4-FFF2-40B4-BE49-F238E27FC236}">
                  <a16:creationId xmlns:a16="http://schemas.microsoft.com/office/drawing/2014/main" id="{B8B74D05-CDB4-42B9-B493-4321D2D610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69151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  <p:sp>
          <p:nvSpPr>
            <p:cNvPr id="41" name="section03__527">
              <a:extLst xmlns:a="http://schemas.openxmlformats.org/drawingml/2006/main">
                <a:ext uri="{FF2B5EF4-FFF2-40B4-BE49-F238E27FC236}">
                  <a16:creationId xmlns:a16="http://schemas.microsoft.com/office/drawing/2014/main" id="{6037E627-DBA0-483A-966A-06295EBA57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69151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지식 기반 Autonomous Agent로의 발전</a:t>
              </a:r>
            </a:p>
          </p:txBody>
        </p:sp>
        <p:sp>
          <p:nvSpPr>
            <p:cNvPr id="42" name="section03__528">
              <a:extLst xmlns:a="http://schemas.openxmlformats.org/drawingml/2006/main">
                <a:ext uri="{FF2B5EF4-FFF2-40B4-BE49-F238E27FC236}">
                  <a16:creationId xmlns:a16="http://schemas.microsoft.com/office/drawing/2014/main" id="{46F2007D-EA52-4A99-981E-88B83DD69B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7439025"/>
              <a:ext cx="2898775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3" name="section03__529">
              <a:extLst xmlns:a="http://schemas.openxmlformats.org/drawingml/2006/main">
                <a:ext uri="{FF2B5EF4-FFF2-40B4-BE49-F238E27FC236}">
                  <a16:creationId xmlns:a16="http://schemas.microsoft.com/office/drawing/2014/main" id="{681D2084-184F-485F-A722-8FBFB3AD63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75152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현재 · 규칙 기반 추천</a:t>
              </a:r>
            </a:p>
          </p:txBody>
        </p:sp>
        <p:sp>
          <p:nvSpPr>
            <p:cNvPr id="44" name="section03__530">
              <a:extLst xmlns:a="http://schemas.openxmlformats.org/drawingml/2006/main">
                <a:ext uri="{FF2B5EF4-FFF2-40B4-BE49-F238E27FC236}">
                  <a16:creationId xmlns:a16="http://schemas.microsoft.com/office/drawing/2014/main" id="{40D1AD83-2FB8-4D3D-A0CD-0DF7D35E3A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7915275"/>
              <a:ext cx="2670175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엔지니어가 분석 대상과 Agent 선택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기본 Workflow 및 자유 분석 활용</a:t>
              </a:r>
            </a:p>
          </p:txBody>
        </p:sp>
        <p:sp>
          <p:nvSpPr>
            <p:cNvPr id="45" name="section03__531">
              <a:extLst xmlns:a="http://schemas.openxmlformats.org/drawingml/2006/main">
                <a:ext uri="{FF2B5EF4-FFF2-40B4-BE49-F238E27FC236}">
                  <a16:creationId xmlns:a16="http://schemas.microsoft.com/office/drawing/2014/main" id="{7D51573E-5DB3-4067-8FB6-B929B97AB7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5975" y="78533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46" name="section03__532">
              <a:extLst xmlns:a="http://schemas.openxmlformats.org/drawingml/2006/main">
                <a:ext uri="{FF2B5EF4-FFF2-40B4-BE49-F238E27FC236}">
                  <a16:creationId xmlns:a16="http://schemas.microsoft.com/office/drawing/2014/main" id="{5C1C45BE-FCEC-490F-AF2A-2D2034AB30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5525" y="7439025"/>
              <a:ext cx="2898775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47" name="section03__533">
              <a:extLst xmlns:a="http://schemas.openxmlformats.org/drawingml/2006/main">
                <a:ext uri="{FF2B5EF4-FFF2-40B4-BE49-F238E27FC236}">
                  <a16:creationId xmlns:a16="http://schemas.microsoft.com/office/drawing/2014/main" id="{8BAADF82-DF28-4429-B853-B02CD5C972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1250" y="75152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지식 기반 단계</a:t>
              </a:r>
            </a:p>
          </p:txBody>
        </p:sp>
        <p:sp>
          <p:nvSpPr>
            <p:cNvPr id="48" name="section03__534">
              <a:extLst xmlns:a="http://schemas.openxmlformats.org/drawingml/2006/main">
                <a:ext uri="{FF2B5EF4-FFF2-40B4-BE49-F238E27FC236}">
                  <a16:creationId xmlns:a16="http://schemas.microsoft.com/office/drawing/2014/main" id="{7FA78446-2EF9-4DCF-80D6-9836D236BC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9825" y="7915275"/>
              <a:ext cx="2670175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유사 과거 사례 검색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분석 방법과 액션 제안</a:t>
              </a:r>
            </a:p>
          </p:txBody>
        </p:sp>
        <p:sp>
          <p:nvSpPr>
            <p:cNvPr id="49" name="section03__535">
              <a:extLst xmlns:a="http://schemas.openxmlformats.org/drawingml/2006/main">
                <a:ext uri="{FF2B5EF4-FFF2-40B4-BE49-F238E27FC236}">
                  <a16:creationId xmlns:a16="http://schemas.microsoft.com/office/drawing/2014/main" id="{94D53DB0-519F-4B18-A39C-EE11A49B67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02400" y="78533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0" name="section03__536">
              <a:extLst xmlns:a="http://schemas.openxmlformats.org/drawingml/2006/main">
                <a:ext uri="{FF2B5EF4-FFF2-40B4-BE49-F238E27FC236}">
                  <a16:creationId xmlns:a16="http://schemas.microsoft.com/office/drawing/2014/main" id="{D6A32363-646E-4BB6-B8B0-68E0C76B9D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1950" y="7439025"/>
              <a:ext cx="2898775" cy="981075"/>
            </a:xfrm>
            <a:prstGeom xmlns:a="http://schemas.openxmlformats.org/drawingml/2006/main" prst="roundRect">
              <a:avLst>
                <a:gd name="adj" fmla="val 776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1" name="section03__537">
              <a:extLst xmlns:a="http://schemas.openxmlformats.org/drawingml/2006/main">
                <a:ext uri="{FF2B5EF4-FFF2-40B4-BE49-F238E27FC236}">
                  <a16:creationId xmlns:a16="http://schemas.microsoft.com/office/drawing/2014/main" id="{E52DD9D9-602B-4E54-AADD-74CA86A265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7675" y="75152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0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자율 분석 단계</a:t>
              </a:r>
            </a:p>
          </p:txBody>
        </p:sp>
        <p:sp>
          <p:nvSpPr>
            <p:cNvPr id="52" name="section03__538">
              <a:extLst xmlns:a="http://schemas.openxmlformats.org/drawingml/2006/main">
                <a:ext uri="{FF2B5EF4-FFF2-40B4-BE49-F238E27FC236}">
                  <a16:creationId xmlns:a16="http://schemas.microsoft.com/office/drawing/2014/main" id="{B78C2DDF-50DA-473C-817B-A48A9AD553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6250" y="7915275"/>
              <a:ext cx="2670175" cy="438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Fail 열화 감지부터 분석 수행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결과 해석 및 액션 추천까지</a:t>
              </a:r>
            </a:p>
          </p:txBody>
        </p:sp>
        <p:sp>
          <p:nvSpPr>
            <p:cNvPr id="53" name="section03__539">
              <a:extLst xmlns:a="http://schemas.openxmlformats.org/drawingml/2006/main">
                <a:ext uri="{FF2B5EF4-FFF2-40B4-BE49-F238E27FC236}">
                  <a16:creationId xmlns:a16="http://schemas.microsoft.com/office/drawing/2014/main" id="{0E1DE376-9678-4F76-A7A6-6FE7E83085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8562975"/>
              <a:ext cx="9191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350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축적된 지식을 바탕으로 분석·추천의 자율성 확대  ·  필요한 시점에는 엔지니어 판단 결합</a:t>
              </a:r>
            </a:p>
          </p:txBody>
        </p:sp>
      </p:grpSp>
      <p:grpSp>
        <p:nvGrpSpPr>
          <p:cNvPr id="10004" name="4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54" name="section04__540">
              <a:extLst xmlns:a="http://schemas.openxmlformats.org/drawingml/2006/main">
                <a:ext uri="{FF2B5EF4-FFF2-40B4-BE49-F238E27FC236}">
                  <a16:creationId xmlns:a16="http://schemas.microsoft.com/office/drawing/2014/main" id="{B38DBB0B-7694-489F-A333-9A126F2731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9086850"/>
              <a:ext cx="9601200" cy="1762125"/>
            </a:xfrm>
            <a:prstGeom xmlns:a="http://schemas.openxmlformats.org/drawingml/2006/main" prst="roundRect">
              <a:avLst>
                <a:gd name="adj" fmla="val 432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55" name="section04__541">
              <a:extLst xmlns:a="http://schemas.openxmlformats.org/drawingml/2006/main">
                <a:ext uri="{FF2B5EF4-FFF2-40B4-BE49-F238E27FC236}">
                  <a16:creationId xmlns:a16="http://schemas.microsoft.com/office/drawing/2014/main" id="{4BDB84CD-15B5-4D4C-B0A7-23ABDFBDDC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096375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56" name="section04__542">
              <a:extLst xmlns:a="http://schemas.openxmlformats.org/drawingml/2006/main">
                <a:ext uri="{FF2B5EF4-FFF2-40B4-BE49-F238E27FC236}">
                  <a16:creationId xmlns:a16="http://schemas.microsoft.com/office/drawing/2014/main" id="{6730DA5A-7F12-4537-9346-1B3A07D36B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9096375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57" name="section04__543">
              <a:extLst xmlns:a="http://schemas.openxmlformats.org/drawingml/2006/main">
                <a:ext uri="{FF2B5EF4-FFF2-40B4-BE49-F238E27FC236}">
                  <a16:creationId xmlns:a16="http://schemas.microsoft.com/office/drawing/2014/main" id="{7352FD5B-3F03-4A63-B2E5-A87190531D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9086850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</a:t>
              </a:r>
            </a:p>
          </p:txBody>
        </p:sp>
        <p:sp>
          <p:nvSpPr>
            <p:cNvPr id="58" name="section04__544">
              <a:extLst xmlns:a="http://schemas.openxmlformats.org/drawingml/2006/main">
                <a:ext uri="{FF2B5EF4-FFF2-40B4-BE49-F238E27FC236}">
                  <a16:creationId xmlns:a16="http://schemas.microsoft.com/office/drawing/2014/main" id="{803D1F8A-46B2-4329-A182-27FB36B25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9086850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확산 전략  ·  그룹 내 적용을 시작으로 전사 확산</a:t>
              </a:r>
            </a:p>
          </p:txBody>
        </p:sp>
        <p:sp>
          <p:nvSpPr>
            <p:cNvPr id="59" name="section04__545">
              <a:extLst xmlns:a="http://schemas.openxmlformats.org/drawingml/2006/main">
                <a:ext uri="{FF2B5EF4-FFF2-40B4-BE49-F238E27FC236}">
                  <a16:creationId xmlns:a16="http://schemas.microsoft.com/office/drawing/2014/main" id="{08FC8711-A9F7-49A2-B532-271539BE9B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9610725"/>
              <a:ext cx="2898775" cy="1057275"/>
            </a:xfrm>
            <a:prstGeom xmlns:a="http://schemas.openxmlformats.org/drawingml/2006/main" prst="roundRect">
              <a:avLst>
                <a:gd name="adj" fmla="val 72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0" name="section04__546">
              <a:extLst xmlns:a="http://schemas.openxmlformats.org/drawingml/2006/main">
                <a:ext uri="{FF2B5EF4-FFF2-40B4-BE49-F238E27FC236}">
                  <a16:creationId xmlns:a16="http://schemas.microsoft.com/office/drawing/2014/main" id="{DA166C8C-E186-4341-B585-00113526D5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" y="96869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그룹 내 우선 적용</a:t>
              </a:r>
            </a:p>
          </p:txBody>
        </p:sp>
        <p:sp>
          <p:nvSpPr>
            <p:cNvPr id="61" name="section04__547">
              <a:extLst xmlns:a="http://schemas.openxmlformats.org/drawingml/2006/main">
                <a:ext uri="{FF2B5EF4-FFF2-40B4-BE49-F238E27FC236}">
                  <a16:creationId xmlns:a16="http://schemas.microsoft.com/office/drawing/2014/main" id="{281CB521-A0F9-4798-8B72-1BD1B25513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" y="10086975"/>
              <a:ext cx="267017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수율팀 사용자 확대·피드백 반영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다른 제품군으로 적용 범위 확대</a:t>
              </a:r>
            </a:p>
          </p:txBody>
        </p:sp>
        <p:sp>
          <p:nvSpPr>
            <p:cNvPr id="62" name="section04__548">
              <a:extLst xmlns:a="http://schemas.openxmlformats.org/drawingml/2006/main">
                <a:ext uri="{FF2B5EF4-FFF2-40B4-BE49-F238E27FC236}">
                  <a16:creationId xmlns:a16="http://schemas.microsoft.com/office/drawing/2014/main" id="{FA1EC016-E30D-4B88-8275-4340B6DF1C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5975" y="100631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3" name="section04__549">
              <a:extLst xmlns:a="http://schemas.openxmlformats.org/drawingml/2006/main">
                <a:ext uri="{FF2B5EF4-FFF2-40B4-BE49-F238E27FC236}">
                  <a16:creationId xmlns:a16="http://schemas.microsoft.com/office/drawing/2014/main" id="{19CEB580-5E13-4ABD-9534-50FDECABE3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5525" y="9610725"/>
              <a:ext cx="2898775" cy="1057275"/>
            </a:xfrm>
            <a:prstGeom xmlns:a="http://schemas.openxmlformats.org/drawingml/2006/main" prst="roundRect">
              <a:avLst>
                <a:gd name="adj" fmla="val 72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4" name="section04__550">
              <a:extLst xmlns:a="http://schemas.openxmlformats.org/drawingml/2006/main">
                <a:ext uri="{FF2B5EF4-FFF2-40B4-BE49-F238E27FC236}">
                  <a16:creationId xmlns:a16="http://schemas.microsoft.com/office/drawing/2014/main" id="{B06862F9-B0AE-463D-8F0D-FFC242623B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51250" y="96869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사내 MCP Market 등록</a:t>
              </a:r>
            </a:p>
          </p:txBody>
        </p:sp>
        <p:sp>
          <p:nvSpPr>
            <p:cNvPr id="65" name="section04__551">
              <a:extLst xmlns:a="http://schemas.openxmlformats.org/drawingml/2006/main">
                <a:ext uri="{FF2B5EF4-FFF2-40B4-BE49-F238E27FC236}">
                  <a16:creationId xmlns:a16="http://schemas.microsoft.com/office/drawing/2014/main" id="{6C5DA422-0887-44AA-B92B-C0CC2C4033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79825" y="10086975"/>
              <a:ext cx="267017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핵심 분석 기능을 MCP로 표준화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다른 사내 Agent에서도 호출</a:t>
              </a:r>
            </a:p>
          </p:txBody>
        </p:sp>
        <p:sp>
          <p:nvSpPr>
            <p:cNvPr id="66" name="section04__552">
              <a:extLst xmlns:a="http://schemas.openxmlformats.org/drawingml/2006/main">
                <a:ext uri="{FF2B5EF4-FFF2-40B4-BE49-F238E27FC236}">
                  <a16:creationId xmlns:a16="http://schemas.microsoft.com/office/drawing/2014/main" id="{00755007-503E-44EA-8F0A-D7256CF315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02400" y="10063163"/>
              <a:ext cx="171450" cy="152400"/>
            </a:xfrm>
            <a:prstGeom xmlns:a="http://schemas.openxmlformats.org/drawingml/2006/main" prst="rightArrow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67" name="section04__553">
              <a:extLst xmlns:a="http://schemas.openxmlformats.org/drawingml/2006/main">
                <a:ext uri="{FF2B5EF4-FFF2-40B4-BE49-F238E27FC236}">
                  <a16:creationId xmlns:a16="http://schemas.microsoft.com/office/drawing/2014/main" id="{34681611-7D28-41D0-9701-1C992B9199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1950" y="9610725"/>
              <a:ext cx="2898775" cy="1057275"/>
            </a:xfrm>
            <a:prstGeom xmlns:a="http://schemas.openxmlformats.org/drawingml/2006/main" prst="roundRect">
              <a:avLst>
                <a:gd name="adj" fmla="val 7207"/>
              </a:avLst>
            </a:prstGeom>
            <a:solidFill xmlns:a="http://schemas.openxmlformats.org/drawingml/2006/main">
              <a:srgbClr val="F6F8FA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68" name="section04__554">
              <a:extLst xmlns:a="http://schemas.openxmlformats.org/drawingml/2006/main">
                <a:ext uri="{FF2B5EF4-FFF2-40B4-BE49-F238E27FC236}">
                  <a16:creationId xmlns:a16="http://schemas.microsoft.com/office/drawing/2014/main" id="{74208769-0A14-4FF1-B22B-6164A9E42D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97675" y="9686925"/>
              <a:ext cx="27273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전사 확산</a:t>
              </a:r>
            </a:p>
          </p:txBody>
        </p:sp>
        <p:sp>
          <p:nvSpPr>
            <p:cNvPr id="69" name="section04__555">
              <a:extLst xmlns:a="http://schemas.openxmlformats.org/drawingml/2006/main">
                <a:ext uri="{FF2B5EF4-FFF2-40B4-BE49-F238E27FC236}">
                  <a16:creationId xmlns:a16="http://schemas.microsoft.com/office/drawing/2014/main" id="{00F8E8E4-CD2C-4CF9-AA04-8D1BF7D6BD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6250" y="10086975"/>
              <a:ext cx="2670175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수율·PI·개발 조직과 연계</a:t>
              </a:r>
            </a:p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다양한 사내 업무에 활용</a:t>
              </a:r>
            </a:p>
          </p:txBody>
        </p:sp>
      </p:grpSp>
      <p:grpSp>
        <p:nvGrpSpPr>
          <p:cNvPr id="10005" name="5 내용 블록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70" name="section05__556">
              <a:extLst xmlns:a="http://schemas.openxmlformats.org/drawingml/2006/main">
                <a:ext uri="{FF2B5EF4-FFF2-40B4-BE49-F238E27FC236}">
                  <a16:creationId xmlns:a16="http://schemas.microsoft.com/office/drawing/2014/main" id="{BCE025ED-42EB-4DF5-8619-D7DF20A382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" y="11001375"/>
              <a:ext cx="9601200" cy="1790700"/>
            </a:xfrm>
            <a:prstGeom xmlns:a="http://schemas.openxmlformats.org/drawingml/2006/main" prst="roundRect">
              <a:avLst>
                <a:gd name="adj" fmla="val 425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CBD6DF"/>
              </a:solidFill>
            </a:ln>
          </p:spPr>
        </p:sp>
        <p:sp>
          <p:nvSpPr>
            <p:cNvPr id="71" name="section05__557">
              <a:extLst xmlns:a="http://schemas.openxmlformats.org/drawingml/2006/main">
                <a:ext uri="{FF2B5EF4-FFF2-40B4-BE49-F238E27FC236}">
                  <a16:creationId xmlns:a16="http://schemas.microsoft.com/office/drawing/2014/main" id="{FD1ED06D-1F65-4EE6-BB05-F1D33D0ABA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1010900"/>
              <a:ext cx="9563100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2" name="section05__558">
              <a:extLst xmlns:a="http://schemas.openxmlformats.org/drawingml/2006/main">
                <a:ext uri="{FF2B5EF4-FFF2-40B4-BE49-F238E27FC236}">
                  <a16:creationId xmlns:a16="http://schemas.microsoft.com/office/drawing/2014/main" id="{FB1FA522-D3F4-47BE-827E-2D109F11F8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8125" y="11010900"/>
              <a:ext cx="5619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7778C"/>
            </a:solidFill>
            <a:ln xmlns:a="http://schemas.openxmlformats.org/drawingml/2006/main" w="0">
              <a:noFill/>
            </a:ln>
          </p:spPr>
        </p:sp>
        <p:sp>
          <p:nvSpPr>
            <p:cNvPr id="73" name="section05__559">
              <a:extLst xmlns:a="http://schemas.openxmlformats.org/drawingml/2006/main">
                <a:ext uri="{FF2B5EF4-FFF2-40B4-BE49-F238E27FC236}">
                  <a16:creationId xmlns:a16="http://schemas.microsoft.com/office/drawing/2014/main" id="{9B7C1011-90EA-471C-BD2E-4CE8F91C80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" y="11001375"/>
              <a:ext cx="4953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20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05</a:t>
              </a:r>
            </a:p>
          </p:txBody>
        </p:sp>
        <p:sp>
          <p:nvSpPr>
            <p:cNvPr id="74" name="section05__560">
              <a:extLst xmlns:a="http://schemas.openxmlformats.org/drawingml/2006/main">
                <a:ext uri="{FF2B5EF4-FFF2-40B4-BE49-F238E27FC236}">
                  <a16:creationId xmlns:a16="http://schemas.microsoft.com/office/drawing/2014/main" id="{B68AF363-E15C-4CC2-8932-F32E8C1608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1001375"/>
              <a:ext cx="86868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00" b="1">
                  <a:solidFill>
                    <a:srgbClr val="223342"/>
                  </a:solidFill>
                  <a:latin typeface="Malgun Gothic"/>
                  <a:ea typeface="Malgun Gothic"/>
                  <a:cs typeface="Malgun Gothic"/>
                </a:rPr>
                <a:t>향후 추진 계획과 조직에 남길 변화</a:t>
              </a:r>
            </a:p>
          </p:txBody>
        </p:sp>
        <p:sp>
          <p:nvSpPr>
            <p:cNvPr id="75" name="section05__561">
              <a:extLst xmlns:a="http://schemas.openxmlformats.org/drawingml/2006/main">
                <a:ext uri="{FF2B5EF4-FFF2-40B4-BE49-F238E27FC236}">
                  <a16:creationId xmlns:a16="http://schemas.microsoft.com/office/drawing/2014/main" id="{60CB4EAA-F66D-4A2D-8647-8F54548FC0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1515725"/>
              <a:ext cx="29718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6" name="section05__562">
              <a:extLst xmlns:a="http://schemas.openxmlformats.org/drawingml/2006/main">
                <a:ext uri="{FF2B5EF4-FFF2-40B4-BE49-F238E27FC236}">
                  <a16:creationId xmlns:a16="http://schemas.microsoft.com/office/drawing/2014/main" id="{F3F422F3-71A0-463E-ACBB-C05FC63DCC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11515725"/>
              <a:ext cx="2876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단기 · 현업 적용</a:t>
              </a:r>
            </a:p>
          </p:txBody>
        </p:sp>
        <p:sp>
          <p:nvSpPr>
            <p:cNvPr id="77" name="section05__563">
              <a:extLst xmlns:a="http://schemas.openxmlformats.org/drawingml/2006/main">
                <a:ext uri="{FF2B5EF4-FFF2-40B4-BE49-F238E27FC236}">
                  <a16:creationId xmlns:a16="http://schemas.microsoft.com/office/drawing/2014/main" id="{905ACC37-BB7B-49CA-BAE4-91A0673FA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" y="11896725"/>
              <a:ext cx="28765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사용자 확대·미구현 분석 추가</a:t>
              </a:r>
            </a:p>
          </p:txBody>
        </p:sp>
        <p:sp>
          <p:nvSpPr>
            <p:cNvPr id="78" name="section05__564">
              <a:extLst xmlns:a="http://schemas.openxmlformats.org/drawingml/2006/main">
                <a:ext uri="{FF2B5EF4-FFF2-40B4-BE49-F238E27FC236}">
                  <a16:creationId xmlns:a16="http://schemas.microsoft.com/office/drawing/2014/main" id="{AC3AFA97-3F17-4C1E-A954-16F3A1CE40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5200" y="11515725"/>
              <a:ext cx="29718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79" name="section05__565">
              <a:extLst xmlns:a="http://schemas.openxmlformats.org/drawingml/2006/main">
                <a:ext uri="{FF2B5EF4-FFF2-40B4-BE49-F238E27FC236}">
                  <a16:creationId xmlns:a16="http://schemas.microsoft.com/office/drawing/2014/main" id="{CDD5D62E-BE5E-4B45-BF4A-4B7ED4D62D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52825" y="11515725"/>
              <a:ext cx="2876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중기 · 지식화·고도화</a:t>
              </a:r>
            </a:p>
          </p:txBody>
        </p:sp>
        <p:sp>
          <p:nvSpPr>
            <p:cNvPr id="80" name="section05__566">
              <a:extLst xmlns:a="http://schemas.openxmlformats.org/drawingml/2006/main">
                <a:ext uri="{FF2B5EF4-FFF2-40B4-BE49-F238E27FC236}">
                  <a16:creationId xmlns:a16="http://schemas.microsoft.com/office/drawing/2014/main" id="{C2944F22-021C-4452-B1CD-A9A6183625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52825" y="11896725"/>
              <a:ext cx="28765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Workflow 축적·분석 추천 고도화</a:t>
              </a:r>
            </a:p>
          </p:txBody>
        </p:sp>
        <p:sp>
          <p:nvSpPr>
            <p:cNvPr id="81" name="section05__567">
              <a:extLst xmlns:a="http://schemas.openxmlformats.org/drawingml/2006/main">
                <a:ext uri="{FF2B5EF4-FFF2-40B4-BE49-F238E27FC236}">
                  <a16:creationId xmlns:a16="http://schemas.microsoft.com/office/drawing/2014/main" id="{6866AC62-A25D-46C8-B1FC-A372826694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00825" y="11515725"/>
              <a:ext cx="29718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2" name="section05__568">
              <a:extLst xmlns:a="http://schemas.openxmlformats.org/drawingml/2006/main">
                <a:ext uri="{FF2B5EF4-FFF2-40B4-BE49-F238E27FC236}">
                  <a16:creationId xmlns:a16="http://schemas.microsoft.com/office/drawing/2014/main" id="{4843D225-6F04-4AA9-A86D-815C21E8BD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48450" y="11515725"/>
              <a:ext cx="2876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2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장기 · 전사 확산</a:t>
              </a:r>
            </a:p>
          </p:txBody>
        </p:sp>
        <p:sp>
          <p:nvSpPr>
            <p:cNvPr id="83" name="section05__569">
              <a:extLst xmlns:a="http://schemas.openxmlformats.org/drawingml/2006/main">
                <a:ext uri="{FF2B5EF4-FFF2-40B4-BE49-F238E27FC236}">
                  <a16:creationId xmlns:a16="http://schemas.microsoft.com/office/drawing/2014/main" id="{C31FFD56-EB7B-4732-B310-DDDA72521B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48450" y="11896725"/>
              <a:ext cx="28765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MCP Market 등록·조직 연계 강화</a:t>
              </a:r>
            </a:p>
          </p:txBody>
        </p:sp>
        <p:sp>
          <p:nvSpPr>
            <p:cNvPr id="84" name="section05__570">
              <a:extLst xmlns:a="http://schemas.openxmlformats.org/drawingml/2006/main">
                <a:ext uri="{FF2B5EF4-FFF2-40B4-BE49-F238E27FC236}">
                  <a16:creationId xmlns:a16="http://schemas.microsoft.com/office/drawing/2014/main" id="{5DF78462-91D1-48E1-AC7E-0FDA085D7C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" y="12211050"/>
              <a:ext cx="9229725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E5ECF1"/>
            </a:solidFill>
            <a:ln xmlns:a="http://schemas.openxmlformats.org/drawingml/2006/main" w="0">
              <a:noFill/>
            </a:ln>
          </p:spPr>
        </p:sp>
        <p:sp>
          <p:nvSpPr>
            <p:cNvPr id="85" name="section05__571">
              <a:extLst xmlns:a="http://schemas.openxmlformats.org/drawingml/2006/main">
                <a:ext uri="{FF2B5EF4-FFF2-40B4-BE49-F238E27FC236}">
                  <a16:creationId xmlns:a16="http://schemas.microsoft.com/office/drawing/2014/main" id="{28D98472-4E97-4221-BFDA-CCA001CC8B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12211050"/>
              <a:ext cx="9020175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275" b="1">
                  <a:solidFill>
                    <a:srgbClr val="57778C"/>
                  </a:solidFill>
                  <a:latin typeface="Malgun Gothic"/>
                  <a:ea typeface="Malgun Gothic"/>
                  <a:cs typeface="Malgun Gothic"/>
                </a:rPr>
                <a:t>전문 분석 접근성 확대  ·  숙련 지식 전수  ·  분석 표준화·효율화  ·  지속적인 도메인 내재화</a:t>
              </a:r>
            </a:p>
          </p:txBody>
        </p:sp>
        <p:sp>
          <p:nvSpPr>
            <p:cNvPr id="86" name="section05__572">
              <a:extLst xmlns:a="http://schemas.openxmlformats.org/drawingml/2006/main">
                <a:ext uri="{FF2B5EF4-FFF2-40B4-BE49-F238E27FC236}">
                  <a16:creationId xmlns:a16="http://schemas.microsoft.com/office/drawing/2014/main" id="{2ABF2FB2-9F1A-4217-8C0B-52FD63C93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12449175"/>
              <a:ext cx="90201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12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다음 단계 기준   전 제품 Co-pilot의 실질적 도움 / Workflow 지속 축적 / 지식 활용 분석 성공 사례 증가</a:t>
              </a:r>
            </a:p>
          </p:txBody>
        </p:sp>
      </p:grpSp>
      <p:grpSp>
        <p:nvGrpSpPr>
          <p:cNvPr id="10006" name="핵심 메시지"/>
          <p:cNvGrpSpPr/>
          <p:nvPr/>
        </p:nvGrpSpPr>
        <p:grpSpPr>
          <ns0:xfrm xmlns:ns0="http://schemas.openxmlformats.org/drawingml/2006/main">
            <ns0:off x="0" y="0"/>
            <ns0:ext cx="10039350" cy="14211300"/>
            <ns0:chOff x="0" y="0"/>
            <ns0:chExt cx="10039350" cy="14211300"/>
          </ns0:xfrm>
        </p:grpSpPr>
        <p:sp>
          <p:nvSpPr>
            <p:cNvPr id="87" name="footer__573">
              <a:extLst xmlns:a="http://schemas.openxmlformats.org/drawingml/2006/main">
                <a:ext uri="{FF2B5EF4-FFF2-40B4-BE49-F238E27FC236}">
                  <a16:creationId xmlns:a16="http://schemas.microsoft.com/office/drawing/2014/main" id="{8CC9DE24-D5E2-476A-9326-21F9B83EA5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8600" y="12963525"/>
              <a:ext cx="95821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2E404D"/>
            </a:solidFill>
            <a:ln xmlns:a="http://schemas.openxmlformats.org/drawingml/2006/main" w="0">
              <a:noFill/>
            </a:ln>
          </p:spPr>
        </p:sp>
        <p:sp>
          <p:nvSpPr>
            <p:cNvPr id="88" name="footer__574">
              <a:extLst xmlns:a="http://schemas.openxmlformats.org/drawingml/2006/main">
                <a:ext uri="{FF2B5EF4-FFF2-40B4-BE49-F238E27FC236}">
                  <a16:creationId xmlns:a16="http://schemas.microsoft.com/office/drawing/2014/main" id="{5ED7C1C8-001C-4E99-A065-1A7547870A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8625" y="13087350"/>
              <a:ext cx="9182100" cy="638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숙련자의 지식을 Agent에 담고, 현업에서 새롭게 만들어지는 경험까지</a:t>
              </a:r>
            </a:p>
            <a:p xmlns:a="http://schemas.openxmlformats.org/drawingml/2006/main">
              <a:pPr algn="ctr">
                <a:def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87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조직의 분석 역량으로 축적하여 수율 분석의 패러다임을 확장</a:t>
              </a:r>
            </a:p>
          </p:txBody>
        </p:sp>
        <p:sp>
          <p:nvSpPr>
            <p:cNvPr id="89" name="footer__575">
              <a:extLst xmlns:a="http://schemas.openxmlformats.org/drawingml/2006/main">
                <a:ext uri="{FF2B5EF4-FFF2-40B4-BE49-F238E27FC236}">
                  <a16:creationId xmlns:a16="http://schemas.microsoft.com/office/drawing/2014/main" id="{4DF82D90-E033-4BB1-A01F-F33309D09E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1475" y="13954125"/>
              <a:ext cx="82867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0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Y-Agent · 수율분석 혁신</a:t>
              </a:r>
            </a:p>
          </p:txBody>
        </p:sp>
        <p:sp>
          <p:nvSpPr>
            <p:cNvPr id="90" name="footer__576">
              <a:extLst xmlns:a="http://schemas.openxmlformats.org/drawingml/2006/main">
                <a:ext uri="{FF2B5EF4-FFF2-40B4-BE49-F238E27FC236}">
                  <a16:creationId xmlns:a16="http://schemas.microsoft.com/office/drawing/2014/main" id="{C3C053E9-70FC-4572-A03F-85A2B19FDF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53525" y="13954125"/>
              <a:ext cx="5143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975" b="1">
                  <a:solidFill>
                    <a:srgbClr val="43576A"/>
                  </a:solidFill>
                  <a:latin typeface="Malgun Gothic"/>
                  <a:ea typeface="Malgun Gothic"/>
                  <a:cs typeface="Malgun Gothic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579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2026-09-22T22:12:59.0540000Z</dcterms:created>
  <dcterms:modified xsi:type="dcterms:W3CDTF">2026-09-22T22:12:59.0540000Z</dcterms:modified>
</coreProperties>
</file>
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b123ea836b4f8c" /><Relationship Type="http://schemas.openxmlformats.org/officeDocument/2006/relationships/extended-properties" Target="/docProps/app.xml" Id="R5dd8c881a2064c38" /><Relationship Type="http://schemas.openxmlformats.org/officeDocument/2006/relationships/officeDocument" Target="/ppt/presentation.xml" Id="R69dbe603049f4f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5f82f1e5564887"/>
  </p:sldMasterIdLst>
  <p:notesMasterIdLst>
    <p:notesMasterId xmlns:r="http://schemas.openxmlformats.org/officeDocument/2006/relationships" r:id="R662acc3f4ddb4141"/>
  </p:notesMasterIdLst>
  <p:sldIdLst>
    <p:sldId xmlns:r="http://schemas.openxmlformats.org/officeDocument/2006/relationships" id="256" r:id="R7e72c69b2de040df"/>
    <p:sldId xmlns:r="http://schemas.openxmlformats.org/officeDocument/2006/relationships" id="257" r:id="R88cf5b23fc2847d9"/>
  </p:sldIdLst>
  <p:sldSz cx="8001000" cy="11315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cdd707a5214f00" /><Relationship Type="http://schemas.openxmlformats.org/officeDocument/2006/relationships/slideMaster" Target="/ppt/slideMasters/slideMaster1.xml" Id="Reb5f82f1e5564887" /><Relationship Type="http://schemas.openxmlformats.org/officeDocument/2006/relationships/notesMaster" Target="/ppt/notesMasters/notesMaster1.xml" Id="R662acc3f4ddb4141" /><Relationship Type="http://schemas.openxmlformats.org/officeDocument/2006/relationships/presProps" Target="/ppt/presProps.xml" Id="R596eb322126c4c4f" /><Relationship Type="http://schemas.openxmlformats.org/officeDocument/2006/relationships/tableStyles" Target="/ppt/tableStyles.xml" Id="Rb3db1ae735894b94" /><Relationship Type="http://schemas.openxmlformats.org/officeDocument/2006/relationships/slide" Target="/ppt/slides/slide1.xml" Id="R7e72c69b2de040df" /><Relationship Type="http://schemas.openxmlformats.org/officeDocument/2006/relationships/slide" Target="/ppt/slides/slide2.xml" Id="R88cf5b23fc2847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0f16ca16b45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6197d164a44a3b" /><Relationship Type="http://schemas.openxmlformats.org/officeDocument/2006/relationships/notesMaster" Target="/ppt/notesMasters/notesMaster1.xml" Id="Rfe0f0c91934f48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86c4860e147cd" /><Relationship Type="http://schemas.openxmlformats.org/officeDocument/2006/relationships/notesMaster" Target="/ppt/notesMasters/notesMaster1.xml" Id="R19973d67c7764d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b7afb1a204e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07ca352811484f" /><Relationship Type="http://schemas.openxmlformats.org/officeDocument/2006/relationships/slideLayout" Target="/ppt/slideLayouts/slideLayout1.xml" Id="R13e47479202840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e47479202840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2c078b0964405" /><Relationship Type="http://schemas.openxmlformats.org/officeDocument/2006/relationships/notesSlide" Target="/ppt/notesSlides/notesSlide1.xml" Id="Rcf9b279bb869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0f01dff974ced" /><Relationship Type="http://schemas.openxmlformats.org/officeDocument/2006/relationships/notesSlide" Target="/ppt/notesSlides/notesSlide2.xml" Id="R9756b9d4a3f248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423EEB4-E18F-4F8C-987F-AD79C319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사례 요약 01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4E07D-033D-451C-95DF-99B9A3B1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76275"/>
            <a:ext cx="712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숙련자의 분석 경험을</a:t>
            </a:r>
          </a:p>
          <a:p xmlns:a="http://schemas.openxmlformats.org/drawingml/2006/main">
            <a:pPr algn="l">
              <a:def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Agent의 실행 흐름으로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B0B57A-CB18-45E2-8EFA-3AD4AE33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712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수율 분석의 실제 업무를 재현하고, 판단 과정까지 구조화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CC42E-3FD2-4AC2-BF50-DE784F7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47875"/>
            <a:ext cx="712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90FCE6-01DE-475D-AABB-5D792017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0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기존 업무: 분산된 시스템을 엔지니어가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6F2E4-97A8-4799-9486-8F5867CF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600325"/>
            <a:ext cx="7124700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0FC81-9F78-4271-8746-776391A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600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CF94C-AF20-4BE7-B88F-58EBC8BB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79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SmartFactory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EDF44-5F39-4165-90A2-BED728C8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62300"/>
            <a:ext cx="1504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LOT·공정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2424D-C123-4C91-812D-F2408EA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1600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1A484-6B45-4D8D-A9E8-6EBF8FE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479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F4E2B-0E4B-4CBD-AEFD-1DB6305B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62300"/>
            <a:ext cx="1504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Trend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1EB42-9D5D-4F26-92FB-5BB5400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81300"/>
            <a:ext cx="1600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10EC79-08DA-4D20-9805-041003CB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8479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Spotfire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578F3-BD2D-4CA9-8FC5-4428D43F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162300"/>
            <a:ext cx="1504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Map·상관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54EC2-758B-4A9C-87CE-8801204A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81300"/>
            <a:ext cx="160020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FA5E8-AA50-4786-8BB9-A43326C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47975"/>
            <a:ext cx="1504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Excel·PPT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9A396-9266-4B45-A706-62F4EF5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62300"/>
            <a:ext cx="1504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77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정리·보고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9B2D7-E469-4612-A430-5D0A1F2E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조회 · 비교 · 해석 · 다음 분석 선택을 숙련자의 경험에 의존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64E812-F0AF-4153-9CED-582F45EF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095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4D046-AB12-4660-8E52-29FACD39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48175"/>
            <a:ext cx="7124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2B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4AE15-BBB1-4FDC-9570-54849F13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62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핵심 전환점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8487E-B64A-466F-A04C-16D5B730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48225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수율 SOP와 숙련자의 판단을 도식화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BDF498-96D9-41BF-831C-215103D1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162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업무 단계, 필요 데이터, 판단 기준, 사람의 개입 지점을 명시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9C974-C062-480E-9321-25690072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734050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업무 분해: 단계마다 데이터·판단·수행 주체를 정의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93B0A-E354-4E62-AC16-84298DB3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7695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0AE543-2321-468F-BEED-BEA01781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분석 단계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A1A423-8D1E-4A77-A477-4E39E01E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769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7D21D-348A-45A0-AA37-B69F0E49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1436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확인 데이터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27FE16-9E6F-4AAE-B325-8D6F34D2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076950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35D02A-DCB6-4D49-B1AA-4D1B8D74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61436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판단 기준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F3AB7-010B-4FB6-A4B1-6F251194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0769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4501C-F481-432E-9A8B-A69A8F49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1436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수행 주체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611E1A-9986-4FD2-8187-B43D0E9E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456FC0-9CC2-465B-928E-100EEE1F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6389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이상감지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A36D80-B366-49B6-A6E1-F87CC02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5722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63DB8F-A11A-44AF-BDE4-D809710E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66389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수율 Trend·Map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A8B891-70EF-4CF4-A938-6BD95A33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72250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99D42E-EEC0-4FD1-86C5-16AB3F57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66389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열화 및 패턴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80CDFC-BD3A-494A-B25A-AA3B6874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65722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BF6167-FCE4-451B-8C93-096FDA6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66389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Agent 탐색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5D5B3C-3200-4F0F-AC39-75E41332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06755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F7CBA9-1FD2-4903-AFB7-00642B8D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1342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불량 정의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824FB8-D4E9-4A78-AA61-5BA2D95A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0675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4CBAA2-4853-4175-BECC-833F441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1342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Fail·이력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DC86BD-AD22-4690-AECC-E94279E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067550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358BD0-15F8-4F62-9E68-B578D0F7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71342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분석 대상 선정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AFB396-9CA2-45AF-8654-84CFC66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0675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2F4A29-E1EA-4C03-9243-93EB39D8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1342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엔지니어 선택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C49627-5A47-40A7-AB58-FB409C42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562850"/>
            <a:ext cx="137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3F8FBD-C963-4499-9A52-29A5497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629525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원인 탐색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C8FFBE-2D58-43ED-A80C-037A21B6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56285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C44B5E-7B92-4112-9A3A-4730929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7629525"/>
            <a:ext cx="173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Inline·자재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04E82F-B514-432F-AA4B-7BE4FED7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562850"/>
            <a:ext cx="1885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24B97C-60D0-41C2-BECB-D0C234B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76295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연관성·혐의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DF6C44-3826-49A6-B8D5-16D1ABD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7562850"/>
            <a:ext cx="1962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134465-5E1D-463F-A6EC-C7ED9309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76295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Agent 분석 + 사람 판단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5344A7-5D5A-49A3-A1EC-4245DA98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286750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새로운 분석 Workflow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B4C828-FA51-41EC-B5FD-1BE5861D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6296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7D2483-35C9-4B43-AB08-AB190A99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전문 Agent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1297AA-F4E6-43A2-ACB7-666FB7EE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05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반복 조회·분석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42F840-D60E-4A03-8402-A5C02011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6296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F7AD91-C5A3-43B4-89F3-4D902C2C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76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Supervisor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A9EAA9-B681-4D15-B2EA-BB6F5FA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105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분석 경로 연결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9E28756-4509-43F7-B15D-82398B93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862965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065208-2661-490A-8F37-FBE4E98E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8763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엔지니어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6133F5-7557-4C50-9037-CB40DCA6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91059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선택·검토·조치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CA35CB-A8B5-403D-99FA-BA7F28B7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896475"/>
            <a:ext cx="712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5FB3C51-8719-4754-8351-DEE04EF1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10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개발 목적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EA7C6E-68A3-4345-9A5C-55E0F768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48900"/>
            <a:ext cx="6715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0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모든 엔지니어가 전문 분석을 활용하고,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사람은 핵심 판단과 개선 조치에 집중</a:t>
            </a:r>
          </a:p>
        </p:txBody>
      </p:sp>
    </p:spTree>
    <p:extLst>
      <p:ext uri="{BB962C8B-B14F-4D97-AF65-F5344CB8AC3E}">
        <p14:creationId xmlns:p14="http://schemas.microsoft.com/office/powerpoint/2010/main" val="541565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014AE7-38DF-474D-9078-209AAFD3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사례 요약 02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D8AFE-D46A-48C2-ABD0-45F139C3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76275"/>
            <a:ext cx="7124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재설계한 업무를 Y-Agent로 구현하고</a:t>
            </a:r>
          </a:p>
          <a:p xmlns:a="http://schemas.openxmlformats.org/drawingml/2006/main">
            <a:pPr algn="l">
              <a:def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실제 수율 이슈에 적용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FAB11-4661-48AA-B003-B1FE0A15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43050"/>
            <a:ext cx="712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현업 도메인 지식과 DT의 AI 설계·개발 역량을 결합한 6개월 협업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94E2F-CE7E-409E-9E25-340F3325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47875"/>
            <a:ext cx="712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0D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E98DD-35B8-4F68-BD69-01C1A203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0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현업 × DT 협업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ED8B7-2134-408F-9A12-D29E7B9A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590800"/>
            <a:ext cx="3371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5566E-F0E0-4171-AA4C-B1415765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33718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329C4-1491-428D-887B-02252143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현업 전문성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D028-9D48-41BE-933C-E381657D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수율 SOP · 분석 판단 · 검증 사례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FBA77-ED07-47DD-A629-DE7B5455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9557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55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DT 역량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65947-E1A6-4E7D-9ACE-B06C690C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76575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Agent 설계 · 데이터 연계 · 시스템 구현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71120-DDB3-4209-A458-0D570BE0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28925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17564-B888-4B56-B173-94C6D431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14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1D909-3FFF-4A34-BB0E-B7B0A34D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71950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Super Agent: 이상감지부터 원인 탐색까지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DEEB6-42E7-4441-AA29-0250CDF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16954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717CB-32F0-4D31-BDBA-51BF480A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667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72D92-36DA-42FB-9DC0-628E172E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95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B38BF-B1F7-4D60-B1F9-3BF11321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이상감지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971AD-2EBC-4351-94EB-E547F561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9592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Trend · 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E7226-9713-44D4-835E-DCE606FB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010150"/>
            <a:ext cx="12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FCB283-49AD-4E22-AFBD-ED0FF57B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52950"/>
            <a:ext cx="16954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54529-32EB-4CDA-9744-36E5529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667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DB12AA-E7F8-41EC-AA83-28A382AA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95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64336-E64A-4F05-9011-A61736DF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339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불량 정의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D6AAF-EC1D-460B-88D6-1D50AAD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9592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Fail · 이력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14854E-E64A-4281-971B-784F04A3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010150"/>
            <a:ext cx="12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1DF37-05F4-434E-A249-00A04DD9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16954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52CDB0-3890-48CA-9EAA-8355CFC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67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8A78D9-48F0-49BA-A1FF-58122D92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95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7B6F7-F50C-4221-8AF8-386CA545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339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연계 분석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CAEA89-A301-480D-B5BD-E9E520C4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9592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Inline × WT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E46FDA-0FD8-4160-95C6-A300A796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010150"/>
            <a:ext cx="123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73B43A-E509-4CBC-90E5-301D4107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16954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5BF2CB-9971-4754-A7F8-FF5828DA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667250"/>
            <a:ext cx="3714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B3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D46DB3-376C-4A0A-A2C8-79E5A54D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95825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F88AB1-49DB-4F3B-87AF-2735E1EF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33975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원인 탐색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C6D05-CEAD-42EF-AA2E-AEB07106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95925"/>
            <a:ext cx="1466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혐의 공정·자재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E59A30-34EE-4866-AF91-C5B6D50E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96000"/>
            <a:ext cx="7124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617C6F-82A1-4A0E-AD75-47D48461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200775"/>
            <a:ext cx="6915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엔지니어 개입: 분석 대상 선택  →  결과 검토  →  추가 분석 및 개선 판단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154E11-3576-4315-8611-8AFB426A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943725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현업 검증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01DBE6-2CCD-4095-85BB-5A599D5E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296150"/>
            <a:ext cx="3371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BA6EC6-A3BF-42EC-8302-9B530EAB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296150"/>
            <a:ext cx="3371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0A1A6C-55CC-482B-882A-FF71C63B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362825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F2DD6F-FA80-48BA-9D65-83DAAA08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79057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실제 수율 이슈 검출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2AED88-EAFF-4602-81E3-2B72F4A4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362825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81건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3E818E-6D42-40F2-B3B8-AB5C1BE3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9057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현업 협업 Action Item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12553D-743A-435A-BDD4-60038FF8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620125"/>
            <a:ext cx="712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업무 변화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E3A2E9-B578-4535-8249-159CE826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0"/>
            <a:ext cx="1419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27E31A-47FA-4A64-ACBC-2B04039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00112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구분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64326D6-6E07-4A89-BF4D-FE07C82A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953500"/>
            <a:ext cx="2695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4026FE-6F86-46C0-A8AD-D8ECFF6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011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2B348C-437D-4576-89EA-8CD5C394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953500"/>
            <a:ext cx="3009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EDAD9E-7476-496E-81EF-B0CFDE18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900112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Y-Agent 적용 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2CA6B4-3A97-4D7B-A1F8-A0304343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363075"/>
            <a:ext cx="1419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62565F6-83A6-4C2B-A8E0-5C7FDD7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410700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분석 역량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ACD4BF-6BA2-467D-8CE2-89955C4D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9363075"/>
            <a:ext cx="2695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6F898D-73E1-45F7-A886-BB43B8F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41070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숙련자 개인의 경험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39E49B-E0CA-44C8-BD1C-6312794B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363075"/>
            <a:ext cx="3009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58D797-8FBA-43D7-9813-0C40287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941070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조직이 활용하는 실행 체계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7D9422-5461-4BF9-BCB7-FA4D452D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772650"/>
            <a:ext cx="1419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25D4E4-5C19-4011-803D-579C073E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20275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업무 방식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353AC3-2EDE-4D24-BFC4-17B6212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9772650"/>
            <a:ext cx="2695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13B389-52A6-49EE-AF16-5965FD78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82027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시스템별 조회·수작업 연결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BE9609-98F4-4965-B94C-5D6D7FB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772650"/>
            <a:ext cx="3009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3F492F-249A-4529-9EC4-19C5391E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98202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목표 중심 Agent 분석 연계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23AF19-C71B-4C91-A934-D384DA3E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182225"/>
            <a:ext cx="14192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8C0E34A-10FC-43F0-B9E1-1D45A6B8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229850"/>
            <a:ext cx="124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엔지니어 역할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D73161-68E8-417B-8071-5DC71C3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182225"/>
            <a:ext cx="26955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3C5E52B-F4E1-4A30-9BAD-83E5314E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0229850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탐색·정리까지 직접 수행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04AB46-4419-425E-B0BC-2E357C1A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182225"/>
            <a:ext cx="3009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6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19D491-7511-4AF6-AFEB-41E2C789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02298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판단·검증·개선 조치에 집중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07859A7-3D59-47E8-8F5E-B5A9FDED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6870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SUPEX 추구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0E536A-D787-442D-AC5B-48E3BE0F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068705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전문 분석 역량의 조직 확장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6BE185-8C12-4B6B-9F23-131E38E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0687050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252B32"/>
                </a:solidFill>
                <a:latin typeface="Noto Sans KR"/>
                <a:ea typeface="Noto Sans KR"/>
                <a:cs typeface="Noto Sans KR"/>
              </a:rPr>
              <a:t>패기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53CF0C-ACA9-4E1C-9916-EAC663E7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0687050"/>
            <a:ext cx="25050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17D"/>
                </a:solidFill>
                <a:latin typeface="Noto Sans KR"/>
                <a:ea typeface="Noto Sans KR"/>
                <a:cs typeface="Noto Sans KR"/>
              </a:rPr>
              <a:t>업무 정의부터 현업 검증까지 주도</a:t>
            </a:r>
          </a:p>
        </p:txBody>
      </p:sp>
    </p:spTree>
    <p:extLst>
      <p:ext uri="{BB962C8B-B14F-4D97-AF65-F5344CB8AC3E}">
        <p14:creationId xmlns:p14="http://schemas.microsoft.com/office/powerpoint/2010/main" val="214366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2026-09-22T23:43:41.1590000Z</dcterms:created>
  <dcterms:modified xsi:type="dcterms:W3CDTF">2026-09-22T23:43:41.1590000Z</dcterms:modified>
</coreProperties>
</file>
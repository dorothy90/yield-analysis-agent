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3383280" cy="6492240"/>
          </a:xfrm>
          <a:prstGeom prst="arc">
            <a:avLst/>
          </a:prstGeom>
          <a:solidFill>
            <a:srgbClr val="FFFFFF">
              <a:alpha val="0"/>
            </a:srgbClr>
          </a:solidFill>
          <a:ln w="203200">
            <a:solidFill>
              <a:srgbClr val="EAF3FF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0">
            <a:off x="8961120" y="0"/>
            <a:ext cx="2926080" cy="6766560"/>
          </a:xfrm>
          <a:prstGeom prst="arc">
            <a:avLst/>
          </a:prstGeom>
          <a:solidFill>
            <a:srgbClr val="FFFFFF">
              <a:alpha val="0"/>
            </a:srgbClr>
          </a:solidFill>
          <a:ln w="203200">
            <a:solidFill>
              <a:srgbClr val="EDEBFF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20116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ORCHESTRATES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EXPERTISE AT SCALE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966960" y="228600"/>
            <a:ext cx="9144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4E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0" y="210312"/>
            <a:ext cx="0" cy="429768"/>
          </a:xfrm>
          <a:prstGeom prst="line">
            <a:avLst/>
          </a:prstGeom>
          <a:noFill/>
          <a:ln w="15240">
            <a:solidFill>
              <a:srgbClr val="C5D8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45952" y="173736"/>
            <a:ext cx="914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SMARTER DATA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 DECISIONS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HIGHER YIELD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7472" y="658368"/>
            <a:ext cx="3017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Analysis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154680" y="658368"/>
            <a:ext cx="3291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 Agent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365760" y="1152144"/>
            <a:ext cx="42976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From Data to Higher Yield, Together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20040" y="1490472"/>
            <a:ext cx="18745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1490472"/>
            <a:ext cx="385876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1490472"/>
            <a:ext cx="2240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IN THE LOOP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006840" y="1490472"/>
            <a:ext cx="2834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OUTCOME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691640"/>
            <a:ext cx="1874520" cy="3977640"/>
          </a:xfrm>
          <a:prstGeom prst="roundRect">
            <a:avLst>
              <a:gd name="adj" fmla="val 6341"/>
            </a:avLst>
          </a:prstGeom>
          <a:solidFill>
            <a:srgbClr val="F7FAFF"/>
          </a:solidFill>
          <a:ln w="12700">
            <a:solidFill>
              <a:srgbClr val="E1EBF8"/>
            </a:solidFill>
            <a:prstDash val="solid"/>
          </a:ln>
          <a:effectLst>
            <a:outerShdw sx="100000" sy="100000" kx="0" ky="0" algn="bl" rotWithShape="0" blurRad="12700" dist="50800" dir="2700000">
              <a:srgbClr val="D5E2F5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691640"/>
            <a:ext cx="3858768" cy="3977640"/>
          </a:xfrm>
          <a:prstGeom prst="roundRect">
            <a:avLst>
              <a:gd name="adj" fmla="val 3081"/>
            </a:avLst>
          </a:prstGeom>
          <a:solidFill>
            <a:srgbClr val="F1F7FF"/>
          </a:solidFill>
          <a:ln w="12700">
            <a:solidFill>
              <a:srgbClr val="D9E6F8"/>
            </a:solidFill>
            <a:prstDash val="solid"/>
          </a:ln>
          <a:effectLst>
            <a:outerShdw sx="100000" sy="100000" kx="0" ky="0" algn="bl" rotWithShape="0" blurRad="12700" dist="50800" dir="2700000">
              <a:srgbClr val="D5E2F5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37960" y="1691640"/>
            <a:ext cx="2240280" cy="3977640"/>
          </a:xfrm>
          <a:prstGeom prst="roundRect">
            <a:avLst>
              <a:gd name="adj" fmla="val 5306"/>
            </a:avLst>
          </a:prstGeom>
          <a:solidFill>
            <a:srgbClr val="F8FAFE"/>
          </a:solidFill>
          <a:ln w="12700">
            <a:solidFill>
              <a:srgbClr val="E1EBF8"/>
            </a:solidFill>
            <a:prstDash val="solid"/>
          </a:ln>
          <a:effectLst>
            <a:outerShdw sx="100000" sy="100000" kx="0" ky="0" algn="bl" rotWithShape="0" blurRad="12700" dist="50800" dir="2700000">
              <a:srgbClr val="D5E2F5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06840" y="1691640"/>
            <a:ext cx="2834640" cy="3977640"/>
          </a:xfrm>
          <a:prstGeom prst="roundRect">
            <a:avLst>
              <a:gd name="adj" fmla="val 4194"/>
            </a:avLst>
          </a:prstGeom>
          <a:solidFill>
            <a:srgbClr val="F8FAFE"/>
          </a:solidFill>
          <a:ln w="12700">
            <a:solidFill>
              <a:srgbClr val="E1EBF8"/>
            </a:solidFill>
            <a:prstDash val="solid"/>
          </a:ln>
          <a:effectLst>
            <a:outerShdw sx="100000" sy="100000" kx="0" ky="0" algn="bl" rotWithShape="0" blurRad="12700" dist="50800" dir="2700000">
              <a:srgbClr val="D5E2F5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57400" y="2057400"/>
            <a:ext cx="347472" cy="3017520"/>
          </a:xfrm>
          <a:prstGeom prst="chevron">
            <a:avLst/>
          </a:prstGeom>
          <a:solidFill>
            <a:srgbClr val="D8EBFF">
              <a:alpha val="82000"/>
            </a:srgbClr>
          </a:solidFill>
          <a:ln w="12700">
            <a:solidFill>
              <a:srgbClr val="D8EB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2057400"/>
            <a:ext cx="347472" cy="3017520"/>
          </a:xfrm>
          <a:prstGeom prst="chevron">
            <a:avLst/>
          </a:prstGeom>
          <a:solidFill>
            <a:srgbClr val="D8EBFF">
              <a:alpha val="82000"/>
            </a:srgbClr>
          </a:solidFill>
          <a:ln w="12700">
            <a:solidFill>
              <a:srgbClr val="D8EB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05672" y="2057400"/>
            <a:ext cx="347472" cy="3017520"/>
          </a:xfrm>
          <a:prstGeom prst="chevron">
            <a:avLst/>
          </a:prstGeom>
          <a:solidFill>
            <a:srgbClr val="D8EBFF">
              <a:alpha val="82000"/>
            </a:srgbClr>
          </a:solidFill>
          <a:ln w="12700">
            <a:solidFill>
              <a:srgbClr val="D8EB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1993392"/>
            <a:ext cx="457200" cy="457200"/>
          </a:xfrm>
          <a:prstGeom prst="ellipse">
            <a:avLst/>
          </a:prstGeom>
          <a:solidFill>
            <a:srgbClr val="DDF1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" y="2048256"/>
            <a:ext cx="438912" cy="438912"/>
          </a:xfrm>
          <a:prstGeom prst="ellipse">
            <a:avLst/>
          </a:prstGeom>
          <a:solidFill>
            <a:srgbClr val="BFE7EC"/>
          </a:solidFill>
          <a:ln w="12700">
            <a:solidFill>
              <a:srgbClr val="07183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4228" y="219419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4228" y="223259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4228" y="227100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633" y="215578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633" y="219419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2633" y="223259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2633" y="227100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633" y="230940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633" y="2347813"/>
            <a:ext cx="34564" cy="34564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1037" y="2117385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1037" y="215578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1037" y="219419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1037" y="223259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1037" y="227100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1037" y="230940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037" y="2347813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037" y="2386218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442" y="2078980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442" y="2117385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442" y="215578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442" y="219419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442" y="223259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442" y="227100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442" y="230940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9442" y="2347813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442" y="2386218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7847" y="2078980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7847" y="2117385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7847" y="215578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7847" y="219419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87847" y="223259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7847" y="227100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7847" y="230940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7847" y="2347813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7847" y="2386218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7847" y="2424623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6252" y="2078980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6252" y="2117385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6252" y="215578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6252" y="2194194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6252" y="2232599"/>
            <a:ext cx="34564" cy="34564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6252" y="227100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6252" y="230940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26252" y="2347813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6252" y="2386218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26252" y="2424623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64657" y="2117385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4657" y="215578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64657" y="2194194"/>
            <a:ext cx="34564" cy="34564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64657" y="2232599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64657" y="227100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64657" y="230940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4657" y="2347813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64657" y="2386218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3061" y="2117385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3061" y="215578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3061" y="219419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03061" y="223259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03061" y="227100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03061" y="2309409"/>
            <a:ext cx="34564" cy="34564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03061" y="2347813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03061" y="2386218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941466" y="215578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941466" y="219419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1466" y="2232599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41466" y="2271004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1466" y="2309409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1466" y="2347813"/>
            <a:ext cx="34564" cy="34564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79871" y="2232599"/>
            <a:ext cx="34564" cy="34564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79871" y="2271004"/>
            <a:ext cx="34564" cy="34564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170432" y="2066544"/>
            <a:ext cx="8229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Inline / Process</a:t>
            </a:r>
            <a:endParaRPr lang="en-US" sz="870" dirty="0"/>
          </a:p>
        </p:txBody>
      </p:sp>
      <p:sp>
        <p:nvSpPr>
          <p:cNvPr id="95" name="Text 93"/>
          <p:cNvSpPr/>
          <p:nvPr/>
        </p:nvSpPr>
        <p:spPr>
          <a:xfrm>
            <a:off x="1170432" y="2249424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Real-time data</a:t>
            </a:r>
            <a:endParaRPr lang="en-US" sz="720" dirty="0"/>
          </a:p>
        </p:txBody>
      </p:sp>
      <p:sp>
        <p:nvSpPr>
          <p:cNvPr id="96" name="Shape 94"/>
          <p:cNvSpPr/>
          <p:nvPr/>
        </p:nvSpPr>
        <p:spPr>
          <a:xfrm>
            <a:off x="502920" y="2688336"/>
            <a:ext cx="1508760" cy="0"/>
          </a:xfrm>
          <a:prstGeom prst="line">
            <a:avLst/>
          </a:prstGeom>
          <a:noFill/>
          <a:ln w="12700">
            <a:solidFill>
              <a:srgbClr val="D9E5F5">
                <a:alpha val="8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594360" y="2852928"/>
            <a:ext cx="457200" cy="457200"/>
          </a:xfrm>
          <a:prstGeom prst="ellipse">
            <a:avLst/>
          </a:prstGeom>
          <a:solidFill>
            <a:srgbClr val="F1F4FA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98" name="Shape 96"/>
          <p:cNvSpPr/>
          <p:nvPr/>
        </p:nvSpPr>
        <p:spPr>
          <a:xfrm>
            <a:off x="685800" y="2962656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85800" y="3006547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85800" y="3050438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85800" y="3094330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85800" y="3138221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5800" y="3182112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29691" y="2962656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9691" y="3006547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29691" y="3050438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9691" y="3094330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29691" y="3138221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9691" y="3182112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73582" y="2962656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73582" y="3006547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73582" y="3050438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73582" y="3094330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73582" y="3138221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73582" y="3182112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817474" y="2962656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817474" y="3006547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17474" y="3050438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7474" y="3094330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17474" y="3138221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17474" y="3182112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61365" y="2962656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61365" y="3006547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61365" y="3050438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61365" y="3094330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861365" y="3138221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861365" y="3182112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905256" y="2962656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905256" y="3006547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5256" y="3050438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905256" y="3094330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905256" y="3138221"/>
            <a:ext cx="34747" cy="34747"/>
          </a:xfrm>
          <a:prstGeom prst="rect">
            <a:avLst/>
          </a:prstGeom>
          <a:solidFill>
            <a:srgbClr val="9DA7B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05256" y="3182112"/>
            <a:ext cx="34747" cy="34747"/>
          </a:xfrm>
          <a:prstGeom prst="rect">
            <a:avLst/>
          </a:prstGeom>
          <a:solidFill>
            <a:srgbClr val="5B657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1170432" y="2926080"/>
            <a:ext cx="8229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Test</a:t>
            </a:r>
            <a:endParaRPr lang="en-US" sz="870" dirty="0"/>
          </a:p>
        </p:txBody>
      </p:sp>
      <p:sp>
        <p:nvSpPr>
          <p:cNvPr id="135" name="Text 133"/>
          <p:cNvSpPr/>
          <p:nvPr/>
        </p:nvSpPr>
        <p:spPr>
          <a:xfrm>
            <a:off x="1170432" y="3108960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Electrical data</a:t>
            </a:r>
            <a:endParaRPr lang="en-US" sz="720" dirty="0"/>
          </a:p>
        </p:txBody>
      </p:sp>
      <p:sp>
        <p:nvSpPr>
          <p:cNvPr id="136" name="Shape 134"/>
          <p:cNvSpPr/>
          <p:nvPr/>
        </p:nvSpPr>
        <p:spPr>
          <a:xfrm>
            <a:off x="502920" y="3538728"/>
            <a:ext cx="1508760" cy="0"/>
          </a:xfrm>
          <a:prstGeom prst="line">
            <a:avLst/>
          </a:prstGeom>
          <a:noFill/>
          <a:ln w="12700">
            <a:solidFill>
              <a:srgbClr val="D9E5F5">
                <a:alpha val="8500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94360" y="3721608"/>
            <a:ext cx="457200" cy="457200"/>
          </a:xfrm>
          <a:prstGeom prst="ellipse">
            <a:avLst/>
          </a:prstGeom>
          <a:solidFill>
            <a:srgbClr val="EBF2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38" name="Text 136"/>
          <p:cNvSpPr/>
          <p:nvPr/>
        </p:nvSpPr>
        <p:spPr>
          <a:xfrm>
            <a:off x="576072" y="3813048"/>
            <a:ext cx="51206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▤</a:t>
            </a:r>
            <a:endParaRPr lang="en-US" sz="1500" dirty="0"/>
          </a:p>
        </p:txBody>
      </p:sp>
      <p:sp>
        <p:nvSpPr>
          <p:cNvPr id="139" name="Text 137"/>
          <p:cNvSpPr/>
          <p:nvPr/>
        </p:nvSpPr>
        <p:spPr>
          <a:xfrm>
            <a:off x="1170432" y="3776472"/>
            <a:ext cx="86868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/ Equipment</a:t>
            </a:r>
            <a:endParaRPr lang="en-US" sz="830" dirty="0"/>
          </a:p>
        </p:txBody>
      </p:sp>
      <p:sp>
        <p:nvSpPr>
          <p:cNvPr id="140" name="Text 138"/>
          <p:cNvSpPr/>
          <p:nvPr/>
        </p:nvSpPr>
        <p:spPr>
          <a:xfrm>
            <a:off x="1170432" y="3959352"/>
            <a:ext cx="7132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 &amp; context</a:t>
            </a:r>
            <a:endParaRPr lang="en-US" sz="720" dirty="0"/>
          </a:p>
        </p:txBody>
      </p:sp>
      <p:sp>
        <p:nvSpPr>
          <p:cNvPr id="141" name="Shape 139"/>
          <p:cNvSpPr/>
          <p:nvPr/>
        </p:nvSpPr>
        <p:spPr>
          <a:xfrm>
            <a:off x="502920" y="4434840"/>
            <a:ext cx="1508760" cy="0"/>
          </a:xfrm>
          <a:prstGeom prst="line">
            <a:avLst/>
          </a:prstGeom>
          <a:noFill/>
          <a:ln w="12700">
            <a:solidFill>
              <a:srgbClr val="D9E5F5">
                <a:alpha val="85000"/>
              </a:srgbClr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85800" y="4974336"/>
            <a:ext cx="123444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All Relevant Data,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Connected</a:t>
            </a:r>
            <a:endParaRPr lang="en-US" sz="1000" dirty="0"/>
          </a:p>
        </p:txBody>
      </p:sp>
      <p:sp>
        <p:nvSpPr>
          <p:cNvPr id="143" name="Text 141"/>
          <p:cNvSpPr/>
          <p:nvPr/>
        </p:nvSpPr>
        <p:spPr>
          <a:xfrm>
            <a:off x="3017520" y="2011680"/>
            <a:ext cx="27889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Analysis Super Agent</a:t>
            </a:r>
            <a:endParaRPr lang="en-US" sz="1700" dirty="0"/>
          </a:p>
        </p:txBody>
      </p:sp>
      <p:sp>
        <p:nvSpPr>
          <p:cNvPr id="144" name="Text 142"/>
          <p:cNvSpPr/>
          <p:nvPr/>
        </p:nvSpPr>
        <p:spPr>
          <a:xfrm>
            <a:off x="3136392" y="2295144"/>
            <a:ext cx="2542032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  ·  ANALYZE  ·  ORCHESTRATE</a:t>
            </a:r>
            <a:endParaRPr lang="en-US" sz="780" dirty="0"/>
          </a:p>
        </p:txBody>
      </p:sp>
      <p:sp>
        <p:nvSpPr>
          <p:cNvPr id="145" name="Shape 143"/>
          <p:cNvSpPr/>
          <p:nvPr/>
        </p:nvSpPr>
        <p:spPr>
          <a:xfrm>
            <a:off x="3986784" y="2971800"/>
            <a:ext cx="1097280" cy="1097280"/>
          </a:xfrm>
          <a:prstGeom prst="ellipse">
            <a:avLst/>
          </a:prstGeom>
          <a:solidFill>
            <a:srgbClr val="CFE7FF">
              <a:alpha val="6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142232" y="3108960"/>
            <a:ext cx="749808" cy="749808"/>
          </a:xfrm>
          <a:prstGeom prst="ellipse">
            <a:avLst/>
          </a:prstGeom>
          <a:solidFill>
            <a:srgbClr val="E5F2FF">
              <a:alpha val="90000"/>
            </a:srgbClr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47" name="Shape 145"/>
          <p:cNvSpPr/>
          <p:nvPr/>
        </p:nvSpPr>
        <p:spPr>
          <a:xfrm>
            <a:off x="4352544" y="3310128"/>
            <a:ext cx="384048" cy="384048"/>
          </a:xfrm>
          <a:prstGeom prst="ellipse">
            <a:avLst/>
          </a:prstGeom>
          <a:solidFill>
            <a:srgbClr val="07183F"/>
          </a:solidFill>
          <a:ln w="12700">
            <a:solidFill>
              <a:srgbClr val="07183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4352544" y="3346704"/>
            <a:ext cx="3840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</a:t>
            </a:r>
            <a:endParaRPr lang="en-US" sz="1200" dirty="0"/>
          </a:p>
        </p:txBody>
      </p:sp>
      <p:sp>
        <p:nvSpPr>
          <p:cNvPr id="149" name="Shape 147"/>
          <p:cNvSpPr/>
          <p:nvPr/>
        </p:nvSpPr>
        <p:spPr>
          <a:xfrm>
            <a:off x="3072384" y="2633472"/>
            <a:ext cx="786384" cy="786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CFA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3282696" y="2752344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1800" dirty="0"/>
          </a:p>
        </p:txBody>
      </p:sp>
      <p:sp>
        <p:nvSpPr>
          <p:cNvPr id="151" name="Text 149"/>
          <p:cNvSpPr/>
          <p:nvPr/>
        </p:nvSpPr>
        <p:spPr>
          <a:xfrm>
            <a:off x="3136392" y="3099816"/>
            <a:ext cx="6583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Trend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3465576" y="3026664"/>
            <a:ext cx="1069848" cy="466344"/>
          </a:xfrm>
          <a:prstGeom prst="line">
            <a:avLst/>
          </a:prstGeom>
          <a:noFill/>
          <a:ln w="12700">
            <a:solidFill>
              <a:srgbClr val="B7CFF0">
                <a:alpha val="7000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148072" y="2633472"/>
            <a:ext cx="786384" cy="786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CFA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5358384" y="2752344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</a:t>
            </a:r>
            <a:endParaRPr lang="en-US" sz="1800" dirty="0"/>
          </a:p>
        </p:txBody>
      </p:sp>
      <p:sp>
        <p:nvSpPr>
          <p:cNvPr id="155" name="Text 153"/>
          <p:cNvSpPr/>
          <p:nvPr/>
        </p:nvSpPr>
        <p:spPr>
          <a:xfrm>
            <a:off x="5212080" y="3099816"/>
            <a:ext cx="6583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5541264" y="3026664"/>
            <a:ext cx="-1005840" cy="466344"/>
          </a:xfrm>
          <a:prstGeom prst="line">
            <a:avLst/>
          </a:prstGeom>
          <a:noFill/>
          <a:ln w="12700">
            <a:solidFill>
              <a:srgbClr val="B7CFF0">
                <a:alpha val="7000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072384" y="4087368"/>
            <a:ext cx="786384" cy="786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CFA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58" name="Text 156"/>
          <p:cNvSpPr/>
          <p:nvPr/>
        </p:nvSpPr>
        <p:spPr>
          <a:xfrm>
            <a:off x="3282696" y="420624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▤</a:t>
            </a:r>
            <a:endParaRPr lang="en-US" sz="1800" dirty="0"/>
          </a:p>
        </p:txBody>
      </p:sp>
      <p:sp>
        <p:nvSpPr>
          <p:cNvPr id="159" name="Text 157"/>
          <p:cNvSpPr/>
          <p:nvPr/>
        </p:nvSpPr>
        <p:spPr>
          <a:xfrm>
            <a:off x="3136392" y="4553712"/>
            <a:ext cx="6583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750" dirty="0"/>
          </a:p>
        </p:txBody>
      </p:sp>
      <p:sp>
        <p:nvSpPr>
          <p:cNvPr id="160" name="Shape 158"/>
          <p:cNvSpPr/>
          <p:nvPr/>
        </p:nvSpPr>
        <p:spPr>
          <a:xfrm>
            <a:off x="3465576" y="4480560"/>
            <a:ext cx="1069848" cy="-987552"/>
          </a:xfrm>
          <a:prstGeom prst="line">
            <a:avLst/>
          </a:prstGeom>
          <a:noFill/>
          <a:ln w="12700">
            <a:solidFill>
              <a:srgbClr val="B7CFF0">
                <a:alpha val="7000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148072" y="4087368"/>
            <a:ext cx="786384" cy="7863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CFA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5358384" y="420624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</a:t>
            </a:r>
            <a:endParaRPr lang="en-US" sz="1800" dirty="0"/>
          </a:p>
        </p:txBody>
      </p:sp>
      <p:sp>
        <p:nvSpPr>
          <p:cNvPr id="163" name="Text 161"/>
          <p:cNvSpPr/>
          <p:nvPr/>
        </p:nvSpPr>
        <p:spPr>
          <a:xfrm>
            <a:off x="5212080" y="4553712"/>
            <a:ext cx="658368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Response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5541264" y="4480560"/>
            <a:ext cx="-1005840" cy="-987552"/>
          </a:xfrm>
          <a:prstGeom prst="line">
            <a:avLst/>
          </a:prstGeom>
          <a:noFill/>
          <a:ln w="12700">
            <a:solidFill>
              <a:srgbClr val="B7CFF0">
                <a:alpha val="7000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017520" y="2487168"/>
            <a:ext cx="2633472" cy="246888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BFD6F6">
                <a:alpha val="6500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834640" y="2304288"/>
            <a:ext cx="2971800" cy="2834640"/>
          </a:xfrm>
          <a:prstGeom prst="arc">
            <a:avLst/>
          </a:prstGeom>
          <a:solidFill>
            <a:srgbClr val="FFFFFF">
              <a:alpha val="0"/>
            </a:srgbClr>
          </a:solidFill>
          <a:ln w="12700">
            <a:solidFill>
              <a:srgbClr val="BFD6F6">
                <a:alpha val="4000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328416" y="5093208"/>
            <a:ext cx="2084832" cy="347472"/>
          </a:xfrm>
          <a:prstGeom prst="roundRect">
            <a:avLst>
              <a:gd name="adj" fmla="val 47368"/>
            </a:avLst>
          </a:prstGeom>
          <a:solidFill>
            <a:srgbClr val="EAF4FF"/>
          </a:solidFill>
          <a:ln w="12700">
            <a:solidFill>
              <a:srgbClr val="D2E4FA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3328416" y="5102352"/>
            <a:ext cx="208483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One Agent, End-to-End</a:t>
            </a:r>
            <a:endParaRPr lang="en-US" sz="960" dirty="0"/>
          </a:p>
        </p:txBody>
      </p:sp>
      <p:sp>
        <p:nvSpPr>
          <p:cNvPr id="169" name="Shape 167"/>
          <p:cNvSpPr/>
          <p:nvPr/>
        </p:nvSpPr>
        <p:spPr>
          <a:xfrm>
            <a:off x="6720840" y="1901952"/>
            <a:ext cx="1901952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6876288" y="2103120"/>
            <a:ext cx="1554480" cy="621792"/>
          </a:xfrm>
          <a:prstGeom prst="roundRect">
            <a:avLst>
              <a:gd name="adj" fmla="val 7353"/>
            </a:avLst>
          </a:prstGeom>
          <a:solidFill>
            <a:srgbClr val="EAF3FE"/>
          </a:solidFill>
          <a:ln w="12700">
            <a:solidFill>
              <a:srgbClr val="D7E6F7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7068312" y="2185416"/>
            <a:ext cx="493776" cy="493776"/>
          </a:xfrm>
          <a:prstGeom prst="ellipse">
            <a:avLst/>
          </a:prstGeom>
          <a:solidFill>
            <a:srgbClr val="BFE7EC"/>
          </a:solidFill>
          <a:ln w="12700">
            <a:solidFill>
              <a:srgbClr val="07183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172" name="Shape 170"/>
          <p:cNvSpPr/>
          <p:nvPr/>
        </p:nvSpPr>
        <p:spPr>
          <a:xfrm>
            <a:off x="7102876" y="234959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02876" y="2392802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102876" y="243600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146082" y="2306391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7146082" y="234959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7146082" y="2392802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7146082" y="243600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7146082" y="2479213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7146082" y="2522418"/>
            <a:ext cx="38885" cy="38885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7189287" y="2263186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189287" y="2306391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189287" y="234959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7189287" y="2392802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7189287" y="243600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7189287" y="2479213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7189287" y="2522418"/>
            <a:ext cx="38885" cy="38885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7189287" y="2565624"/>
            <a:ext cx="38885" cy="38885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232493" y="2219980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232493" y="2263186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232493" y="2306391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7232493" y="234959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7232493" y="2392802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7232493" y="243600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232493" y="2479213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232493" y="2522418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7232493" y="2565624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275698" y="2219980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7275698" y="2263186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7275698" y="2306391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7275698" y="234959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7275698" y="2392802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7275698" y="243600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7275698" y="2479213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7275698" y="2522418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7275698" y="2565624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7275698" y="2608829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7318903" y="2219980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18903" y="2263186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318903" y="2306391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18903" y="2349597"/>
            <a:ext cx="38885" cy="38885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318903" y="2392802"/>
            <a:ext cx="38885" cy="38885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18903" y="243600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318903" y="2479213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7318903" y="2522418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318903" y="2565624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318903" y="2608829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362109" y="2263186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7362109" y="2306391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7362109" y="2349597"/>
            <a:ext cx="38885" cy="38885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362109" y="2392802"/>
            <a:ext cx="38885" cy="38885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7362109" y="243600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7362109" y="2479213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7362109" y="2522418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362109" y="2565624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7405314" y="2263186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7405314" y="2306391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7405314" y="234959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405314" y="2392802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7405314" y="243600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7405314" y="2479213"/>
            <a:ext cx="38885" cy="38885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7405314" y="2522418"/>
            <a:ext cx="38885" cy="38885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7405314" y="2565624"/>
            <a:ext cx="38885" cy="38885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448520" y="2306391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7448520" y="234959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7448520" y="2392802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448520" y="2436007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448520" y="2479213"/>
            <a:ext cx="38885" cy="38885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448520" y="2522418"/>
            <a:ext cx="38885" cy="38885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491725" y="2392802"/>
            <a:ext cx="38885" cy="38885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7491725" y="2436007"/>
            <a:ext cx="38885" cy="38885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7376922" y="2476744"/>
            <a:ext cx="128382" cy="88880"/>
          </a:xfrm>
          <a:prstGeom prst="roundRect">
            <a:avLst>
              <a:gd name="adj" fmla="val 20576"/>
            </a:avLst>
          </a:prstGeom>
          <a:solidFill>
            <a:srgbClr val="FFFFFF">
              <a:alpha val="0"/>
            </a:srgbClr>
          </a:solidFill>
          <a:ln w="25400">
            <a:solidFill>
              <a:srgbClr val="F04E2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7607808" y="2504359"/>
            <a:ext cx="115214" cy="-55596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7723022" y="2448763"/>
            <a:ext cx="102413" cy="-48646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7825435" y="2400117"/>
            <a:ext cx="102413" cy="-41697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7927848" y="2358420"/>
            <a:ext cx="115214" cy="27798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8043062" y="2386218"/>
            <a:ext cx="115214" cy="-83393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7575804" y="2472355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7691018" y="2416759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7793431" y="2368113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895844" y="2326416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8011058" y="2354214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8126273" y="2270821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7498080" y="1847088"/>
            <a:ext cx="804672" cy="274320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7498080" y="1847088"/>
            <a:ext cx="8046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 &amp; Select</a:t>
            </a:r>
            <a:endParaRPr lang="en-US" sz="830" dirty="0"/>
          </a:p>
        </p:txBody>
      </p:sp>
      <p:sp>
        <p:nvSpPr>
          <p:cNvPr id="256" name="Text 254"/>
          <p:cNvSpPr/>
          <p:nvPr/>
        </p:nvSpPr>
        <p:spPr>
          <a:xfrm>
            <a:off x="7040880" y="2798064"/>
            <a:ext cx="11887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Engineer’s Insight</a:t>
            </a:r>
            <a:endParaRPr lang="en-US" sz="950" dirty="0"/>
          </a:p>
        </p:txBody>
      </p:sp>
      <p:sp>
        <p:nvSpPr>
          <p:cNvPr id="257" name="Text 255"/>
          <p:cNvSpPr/>
          <p:nvPr/>
        </p:nvSpPr>
        <p:spPr>
          <a:xfrm>
            <a:off x="6995160" y="2971800"/>
            <a:ext cx="12344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Validate · Refine · Guide</a:t>
            </a:r>
            <a:endParaRPr lang="en-US" sz="750" dirty="0"/>
          </a:p>
        </p:txBody>
      </p:sp>
      <p:sp>
        <p:nvSpPr>
          <p:cNvPr id="258" name="Text 256"/>
          <p:cNvSpPr/>
          <p:nvPr/>
        </p:nvSpPr>
        <p:spPr>
          <a:xfrm>
            <a:off x="7095744" y="3355848"/>
            <a:ext cx="107899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Collaborate</a:t>
            </a:r>
            <a:endParaRPr lang="en-US" sz="830" dirty="0"/>
          </a:p>
          <a:p>
            <a:pPr algn="ctr" indent="0" marL="0">
              <a:buNone/>
            </a:pPr>
            <a:r>
              <a:rPr lang="en-US" sz="830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 Better Answers</a:t>
            </a:r>
            <a:endParaRPr lang="en-US" sz="830" dirty="0"/>
          </a:p>
        </p:txBody>
      </p:sp>
      <p:sp>
        <p:nvSpPr>
          <p:cNvPr id="259" name="Shape 257"/>
          <p:cNvSpPr/>
          <p:nvPr/>
        </p:nvSpPr>
        <p:spPr>
          <a:xfrm>
            <a:off x="6858000" y="3163824"/>
            <a:ext cx="694944" cy="566928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1769F5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260" name="Shape 258"/>
          <p:cNvSpPr/>
          <p:nvPr/>
        </p:nvSpPr>
        <p:spPr>
          <a:xfrm rot="10800000">
            <a:off x="8046720" y="3163824"/>
            <a:ext cx="694944" cy="566928"/>
          </a:xfrm>
          <a:prstGeom prst="arc">
            <a:avLst/>
          </a:prstGeom>
          <a:solidFill>
            <a:srgbClr val="FFFFFF">
              <a:alpha val="0"/>
            </a:srgbClr>
          </a:solidFill>
          <a:ln w="16510">
            <a:solidFill>
              <a:srgbClr val="1769F5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261" name="Shape 259"/>
          <p:cNvSpPr/>
          <p:nvPr/>
        </p:nvSpPr>
        <p:spPr>
          <a:xfrm>
            <a:off x="6720840" y="3931920"/>
            <a:ext cx="1901952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876288" y="4114800"/>
            <a:ext cx="1554480" cy="621792"/>
          </a:xfrm>
          <a:prstGeom prst="roundRect">
            <a:avLst>
              <a:gd name="adj" fmla="val 7353"/>
            </a:avLst>
          </a:prstGeom>
          <a:solidFill>
            <a:srgbClr val="EAF3FE"/>
          </a:solidFill>
          <a:ln w="12700">
            <a:solidFill>
              <a:srgbClr val="D7E6F7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7004304" y="4497019"/>
            <a:ext cx="106985" cy="-43891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7111289" y="4453128"/>
            <a:ext cx="95098" cy="-38405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7206386" y="4414723"/>
            <a:ext cx="95098" cy="-32918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7301484" y="4381805"/>
            <a:ext cx="106985" cy="21946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7408469" y="4403750"/>
            <a:ext cx="106985" cy="-65837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6972300" y="4465015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7079285" y="4421124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7174382" y="4382719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7269480" y="4349801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7376465" y="4371746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7483450" y="4305910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7772400" y="4261104"/>
            <a:ext cx="274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▤</a:t>
            </a:r>
            <a:endParaRPr lang="en-US" sz="1300" dirty="0"/>
          </a:p>
        </p:txBody>
      </p:sp>
      <p:sp>
        <p:nvSpPr>
          <p:cNvPr id="275" name="Shape 273"/>
          <p:cNvSpPr/>
          <p:nvPr/>
        </p:nvSpPr>
        <p:spPr>
          <a:xfrm>
            <a:off x="7242048" y="3877056"/>
            <a:ext cx="749808" cy="274320"/>
          </a:xfrm>
          <a:prstGeom prst="roundRect">
            <a:avLst>
              <a:gd name="adj" fmla="val 8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7242048" y="3877056"/>
            <a:ext cx="74980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Deep Dive</a:t>
            </a:r>
            <a:endParaRPr lang="en-US" sz="840" dirty="0"/>
          </a:p>
        </p:txBody>
      </p:sp>
      <p:sp>
        <p:nvSpPr>
          <p:cNvPr id="277" name="Text 275"/>
          <p:cNvSpPr/>
          <p:nvPr/>
        </p:nvSpPr>
        <p:spPr>
          <a:xfrm>
            <a:off x="7077456" y="4791456"/>
            <a:ext cx="118872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Specify target &amp; mine more</a:t>
            </a:r>
            <a:endParaRPr lang="en-US" sz="820" dirty="0"/>
          </a:p>
        </p:txBody>
      </p:sp>
      <p:sp>
        <p:nvSpPr>
          <p:cNvPr id="278" name="Text 276"/>
          <p:cNvSpPr/>
          <p:nvPr/>
        </p:nvSpPr>
        <p:spPr>
          <a:xfrm>
            <a:off x="7031736" y="5001768"/>
            <a:ext cx="1298448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On-demand Analysis</a:t>
            </a:r>
            <a:endParaRPr lang="en-US" sz="920" dirty="0"/>
          </a:p>
        </p:txBody>
      </p:sp>
      <p:sp>
        <p:nvSpPr>
          <p:cNvPr id="279" name="Shape 277"/>
          <p:cNvSpPr/>
          <p:nvPr/>
        </p:nvSpPr>
        <p:spPr>
          <a:xfrm>
            <a:off x="9208008" y="1874520"/>
            <a:ext cx="233172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9381744" y="2011680"/>
            <a:ext cx="868680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281" name="Shape 279"/>
          <p:cNvSpPr/>
          <p:nvPr/>
        </p:nvSpPr>
        <p:spPr>
          <a:xfrm>
            <a:off x="10652760" y="2011680"/>
            <a:ext cx="713232" cy="228600"/>
          </a:xfrm>
          <a:prstGeom prst="roundRect">
            <a:avLst>
              <a:gd name="adj" fmla="val 100000"/>
            </a:avLst>
          </a:prstGeom>
          <a:solidFill>
            <a:srgbClr val="FFE8ED"/>
          </a:solidFill>
          <a:ln w="12700">
            <a:solidFill>
              <a:srgbClr val="FFE8ED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10652760" y="2011680"/>
            <a:ext cx="7132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04E2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 Issue</a:t>
            </a:r>
            <a:endParaRPr lang="en-US" sz="730" dirty="0"/>
          </a:p>
        </p:txBody>
      </p:sp>
      <p:sp>
        <p:nvSpPr>
          <p:cNvPr id="283" name="Shape 281"/>
          <p:cNvSpPr/>
          <p:nvPr/>
        </p:nvSpPr>
        <p:spPr>
          <a:xfrm>
            <a:off x="9518904" y="2194560"/>
            <a:ext cx="621792" cy="621792"/>
          </a:xfrm>
          <a:prstGeom prst="ellipse">
            <a:avLst/>
          </a:prstGeom>
          <a:solidFill>
            <a:srgbClr val="BFE7EC"/>
          </a:solidFill>
          <a:ln w="12700">
            <a:solidFill>
              <a:srgbClr val="07183F"/>
            </a:solidFill>
            <a:prstDash val="solid"/>
          </a:ln>
          <a:effectLst>
            <a:outerShdw sx="100000" sy="100000" kx="0" ky="0" algn="bl" rotWithShape="0" blurRad="12700" dist="50800" dir="2700000">
              <a:srgbClr val="BCD1EF">
                <a:alpha val="30000"/>
              </a:srgbClr>
            </a:outerShdw>
          </a:effectLst>
        </p:spPr>
      </p:sp>
      <p:sp>
        <p:nvSpPr>
          <p:cNvPr id="284" name="Shape 282"/>
          <p:cNvSpPr/>
          <p:nvPr/>
        </p:nvSpPr>
        <p:spPr>
          <a:xfrm>
            <a:off x="9562429" y="240130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9562429" y="2455713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9562429" y="251011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9616836" y="234689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9616836" y="2401306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9616836" y="2455713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616836" y="251011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616836" y="256452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9616836" y="2618933"/>
            <a:ext cx="48966" cy="48966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9671243" y="2292492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9671243" y="234689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9671243" y="240130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9671243" y="2455713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9671243" y="251011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9671243" y="2564526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9671243" y="2618933"/>
            <a:ext cx="48966" cy="48966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9671243" y="2673340"/>
            <a:ext cx="48966" cy="48966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9725650" y="2238085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9725650" y="2292492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9725650" y="234689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725650" y="2401306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9725650" y="2455713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725650" y="251011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9725650" y="256452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9725650" y="2618933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9725650" y="2673340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9780057" y="2238085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9780057" y="2292492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9780057" y="234689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9780057" y="240130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780057" y="2455713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780057" y="251011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780057" y="2564526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9780057" y="2618933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9780057" y="2673340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9780057" y="2727747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9834463" y="2238085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9834463" y="2292492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9834463" y="234689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9834463" y="2401306"/>
            <a:ext cx="48966" cy="48966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9834463" y="2455713"/>
            <a:ext cx="48966" cy="48966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9834463" y="251011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9834463" y="256452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9834463" y="2618933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9834463" y="2673340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9834463" y="2727747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9888870" y="2292492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9888870" y="234689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9888870" y="2401306"/>
            <a:ext cx="48966" cy="48966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9888870" y="2455713"/>
            <a:ext cx="48966" cy="48966"/>
          </a:xfrm>
          <a:prstGeom prst="rect">
            <a:avLst/>
          </a:prstGeom>
          <a:solidFill>
            <a:srgbClr val="FFB143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9888870" y="251011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9888870" y="2564526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9888870" y="2618933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9888870" y="2673340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9943277" y="2292492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9943277" y="234689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9943277" y="2401306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9943277" y="2455713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9943277" y="251011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9943277" y="2564526"/>
            <a:ext cx="48966" cy="48966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9943277" y="2618933"/>
            <a:ext cx="48966" cy="48966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9943277" y="2673340"/>
            <a:ext cx="48966" cy="48966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9997684" y="234689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9997684" y="2401306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9997684" y="2455713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9997684" y="2510119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9997684" y="2564526"/>
            <a:ext cx="48966" cy="48966"/>
          </a:xfrm>
          <a:prstGeom prst="rect">
            <a:avLst/>
          </a:prstGeom>
          <a:solidFill>
            <a:srgbClr val="FFD657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9997684" y="2618933"/>
            <a:ext cx="48966" cy="48966"/>
          </a:xfrm>
          <a:prstGeom prst="rect">
            <a:avLst/>
          </a:prstGeom>
          <a:solidFill>
            <a:srgbClr val="F2643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10052091" y="2455713"/>
            <a:ext cx="48966" cy="48966"/>
          </a:xfrm>
          <a:prstGeom prst="rect">
            <a:avLst/>
          </a:prstGeom>
          <a:solidFill>
            <a:srgbClr val="69CFD9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10052091" y="2510119"/>
            <a:ext cx="48966" cy="48966"/>
          </a:xfrm>
          <a:prstGeom prst="rect">
            <a:avLst/>
          </a:prstGeom>
          <a:solidFill>
            <a:srgbClr val="74D6B8">
              <a:alpha val="95000"/>
            </a:srgbClr>
          </a:solidFill>
          <a:ln w="3810">
            <a:solidFill>
              <a:srgbClr val="61AFC7">
                <a:alpha val="65000"/>
              </a:srgbClr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9907524" y="2561417"/>
            <a:ext cx="161666" cy="111923"/>
          </a:xfrm>
          <a:prstGeom prst="roundRect">
            <a:avLst>
              <a:gd name="adj" fmla="val 16340"/>
            </a:avLst>
          </a:prstGeom>
          <a:solidFill>
            <a:srgbClr val="FFFFFF">
              <a:alpha val="0"/>
            </a:srgbClr>
          </a:solidFill>
          <a:ln w="25400">
            <a:solidFill>
              <a:srgbClr val="F04E2F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10515600" y="2286000"/>
            <a:ext cx="2011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</a:t>
            </a:r>
            <a:endParaRPr lang="en-US" sz="1000" dirty="0"/>
          </a:p>
        </p:txBody>
      </p:sp>
      <p:sp>
        <p:nvSpPr>
          <p:cNvPr id="356" name="Shape 354"/>
          <p:cNvSpPr/>
          <p:nvPr/>
        </p:nvSpPr>
        <p:spPr>
          <a:xfrm>
            <a:off x="10771632" y="2331720"/>
            <a:ext cx="548640" cy="64008"/>
          </a:xfrm>
          <a:prstGeom prst="roundRect">
            <a:avLst>
              <a:gd name="adj" fmla="val 42857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10515600" y="2542032"/>
            <a:ext cx="2011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</a:t>
            </a:r>
            <a:endParaRPr lang="en-US" sz="1000" dirty="0"/>
          </a:p>
        </p:txBody>
      </p:sp>
      <p:sp>
        <p:nvSpPr>
          <p:cNvPr id="358" name="Shape 356"/>
          <p:cNvSpPr/>
          <p:nvPr/>
        </p:nvSpPr>
        <p:spPr>
          <a:xfrm>
            <a:off x="10771632" y="2587752"/>
            <a:ext cx="548640" cy="64008"/>
          </a:xfrm>
          <a:prstGeom prst="roundRect">
            <a:avLst>
              <a:gd name="adj" fmla="val 42857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59" name="Text 357"/>
          <p:cNvSpPr/>
          <p:nvPr/>
        </p:nvSpPr>
        <p:spPr>
          <a:xfrm>
            <a:off x="10515600" y="2798064"/>
            <a:ext cx="20116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▦</a:t>
            </a:r>
            <a:endParaRPr lang="en-US" sz="1000" dirty="0"/>
          </a:p>
        </p:txBody>
      </p:sp>
      <p:sp>
        <p:nvSpPr>
          <p:cNvPr id="360" name="Shape 358"/>
          <p:cNvSpPr/>
          <p:nvPr/>
        </p:nvSpPr>
        <p:spPr>
          <a:xfrm>
            <a:off x="10771632" y="2843784"/>
            <a:ext cx="548640" cy="64008"/>
          </a:xfrm>
          <a:prstGeom prst="roundRect">
            <a:avLst>
              <a:gd name="adj" fmla="val 42857"/>
            </a:avLst>
          </a:prstGeom>
          <a:solidFill>
            <a:srgbClr val="DDEAFF"/>
          </a:solidFill>
          <a:ln w="12700">
            <a:solidFill>
              <a:srgbClr val="DDEAFF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9208008" y="3246120"/>
            <a:ext cx="233172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9381744" y="3401568"/>
            <a:ext cx="15544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Recommendation</a:t>
            </a:r>
            <a:endParaRPr lang="en-US" sz="1050" dirty="0"/>
          </a:p>
        </p:txBody>
      </p:sp>
      <p:sp>
        <p:nvSpPr>
          <p:cNvPr id="363" name="Shape 361"/>
          <p:cNvSpPr/>
          <p:nvPr/>
        </p:nvSpPr>
        <p:spPr>
          <a:xfrm>
            <a:off x="9400032" y="3694176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769F5"/>
          </a:solidFill>
          <a:ln w="12700">
            <a:solidFill>
              <a:srgbClr val="1769F5"/>
            </a:solidFill>
            <a:prstDash val="solid"/>
          </a:ln>
        </p:spPr>
      </p:sp>
      <p:sp>
        <p:nvSpPr>
          <p:cNvPr id="364" name="Text 362"/>
          <p:cNvSpPr/>
          <p:nvPr/>
        </p:nvSpPr>
        <p:spPr>
          <a:xfrm>
            <a:off x="9418320" y="3685032"/>
            <a:ext cx="128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00" dirty="0"/>
          </a:p>
        </p:txBody>
      </p:sp>
      <p:sp>
        <p:nvSpPr>
          <p:cNvPr id="365" name="Text 363"/>
          <p:cNvSpPr/>
          <p:nvPr/>
        </p:nvSpPr>
        <p:spPr>
          <a:xfrm>
            <a:off x="9656064" y="3685032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adjustment</a:t>
            </a:r>
            <a:endParaRPr lang="en-US" sz="840" dirty="0"/>
          </a:p>
        </p:txBody>
      </p:sp>
      <p:sp>
        <p:nvSpPr>
          <p:cNvPr id="366" name="Shape 364"/>
          <p:cNvSpPr/>
          <p:nvPr/>
        </p:nvSpPr>
        <p:spPr>
          <a:xfrm>
            <a:off x="9400032" y="3931920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769F5"/>
          </a:solidFill>
          <a:ln w="12700">
            <a:solidFill>
              <a:srgbClr val="1769F5"/>
            </a:solidFill>
            <a:prstDash val="solid"/>
          </a:ln>
        </p:spPr>
      </p:sp>
      <p:sp>
        <p:nvSpPr>
          <p:cNvPr id="367" name="Text 365"/>
          <p:cNvSpPr/>
          <p:nvPr/>
        </p:nvSpPr>
        <p:spPr>
          <a:xfrm>
            <a:off x="9418320" y="3922776"/>
            <a:ext cx="128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00" dirty="0"/>
          </a:p>
        </p:txBody>
      </p:sp>
      <p:sp>
        <p:nvSpPr>
          <p:cNvPr id="368" name="Text 366"/>
          <p:cNvSpPr/>
          <p:nvPr/>
        </p:nvSpPr>
        <p:spPr>
          <a:xfrm>
            <a:off x="9656064" y="3922776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Material check</a:t>
            </a:r>
            <a:endParaRPr lang="en-US" sz="840" dirty="0"/>
          </a:p>
        </p:txBody>
      </p:sp>
      <p:sp>
        <p:nvSpPr>
          <p:cNvPr id="369" name="Shape 367"/>
          <p:cNvSpPr/>
          <p:nvPr/>
        </p:nvSpPr>
        <p:spPr>
          <a:xfrm>
            <a:off x="9400032" y="4169664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769F5"/>
          </a:solidFill>
          <a:ln w="12700">
            <a:solidFill>
              <a:srgbClr val="1769F5"/>
            </a:solidFill>
            <a:prstDash val="solid"/>
          </a:ln>
        </p:spPr>
      </p:sp>
      <p:sp>
        <p:nvSpPr>
          <p:cNvPr id="370" name="Text 368"/>
          <p:cNvSpPr/>
          <p:nvPr/>
        </p:nvSpPr>
        <p:spPr>
          <a:xfrm>
            <a:off x="9418320" y="4160520"/>
            <a:ext cx="1280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800" dirty="0"/>
          </a:p>
        </p:txBody>
      </p:sp>
      <p:sp>
        <p:nvSpPr>
          <p:cNvPr id="371" name="Text 369"/>
          <p:cNvSpPr/>
          <p:nvPr/>
        </p:nvSpPr>
        <p:spPr>
          <a:xfrm>
            <a:off x="9656064" y="4160520"/>
            <a:ext cx="114300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B2B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 PM</a:t>
            </a:r>
            <a:endParaRPr lang="en-US" sz="840" dirty="0"/>
          </a:p>
        </p:txBody>
      </p:sp>
      <p:sp>
        <p:nvSpPr>
          <p:cNvPr id="372" name="Shape 370"/>
          <p:cNvSpPr/>
          <p:nvPr/>
        </p:nvSpPr>
        <p:spPr>
          <a:xfrm>
            <a:off x="11000232" y="3803904"/>
            <a:ext cx="402336" cy="402336"/>
          </a:xfrm>
          <a:prstGeom prst="ellipse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73" name="Text 371"/>
          <p:cNvSpPr/>
          <p:nvPr/>
        </p:nvSpPr>
        <p:spPr>
          <a:xfrm>
            <a:off x="11091672" y="3886200"/>
            <a:ext cx="228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↗</a:t>
            </a:r>
            <a:endParaRPr lang="en-US" sz="1600" dirty="0"/>
          </a:p>
        </p:txBody>
      </p:sp>
      <p:sp>
        <p:nvSpPr>
          <p:cNvPr id="374" name="Shape 372"/>
          <p:cNvSpPr/>
          <p:nvPr/>
        </p:nvSpPr>
        <p:spPr>
          <a:xfrm>
            <a:off x="9208008" y="4608576"/>
            <a:ext cx="2331720" cy="850392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 w="12700">
            <a:solidFill>
              <a:srgbClr val="D9E5F5"/>
            </a:solidFill>
            <a:prstDash val="solid"/>
          </a:ln>
        </p:spPr>
      </p:sp>
      <p:sp>
        <p:nvSpPr>
          <p:cNvPr id="375" name="Text 373"/>
          <p:cNvSpPr/>
          <p:nvPr/>
        </p:nvSpPr>
        <p:spPr>
          <a:xfrm>
            <a:off x="9381744" y="4736592"/>
            <a:ext cx="12344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Improvement</a:t>
            </a:r>
            <a:endParaRPr lang="en-US" sz="1050" dirty="0"/>
          </a:p>
        </p:txBody>
      </p:sp>
      <p:sp>
        <p:nvSpPr>
          <p:cNvPr id="376" name="Shape 374"/>
          <p:cNvSpPr/>
          <p:nvPr/>
        </p:nvSpPr>
        <p:spPr>
          <a:xfrm>
            <a:off x="9464040" y="5223784"/>
            <a:ext cx="158008" cy="-40965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9622048" y="5182819"/>
            <a:ext cx="140452" cy="-35844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9762500" y="5146975"/>
            <a:ext cx="140452" cy="-30724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9902952" y="5116251"/>
            <a:ext cx="158008" cy="20483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10060960" y="5136733"/>
            <a:ext cx="158008" cy="-61448"/>
          </a:xfrm>
          <a:prstGeom prst="line">
            <a:avLst/>
          </a:prstGeom>
          <a:noFill/>
          <a:ln w="25400">
            <a:solidFill>
              <a:srgbClr val="1769F5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9432036" y="5191780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9590044" y="5150815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9730496" y="5114971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9870948" y="5084247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10028956" y="5104729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10186965" y="5043282"/>
            <a:ext cx="64008" cy="64008"/>
          </a:xfrm>
          <a:prstGeom prst="ellipse">
            <a:avLst/>
          </a:prstGeom>
          <a:solidFill>
            <a:srgbClr val="1769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10561320" y="4956048"/>
            <a:ext cx="640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+X%</a:t>
            </a:r>
            <a:endParaRPr lang="en-US" sz="1900" dirty="0"/>
          </a:p>
        </p:txBody>
      </p:sp>
      <p:sp>
        <p:nvSpPr>
          <p:cNvPr id="388" name="Text 386"/>
          <p:cNvSpPr/>
          <p:nvPr/>
        </p:nvSpPr>
        <p:spPr>
          <a:xfrm>
            <a:off x="10607040" y="5193792"/>
            <a:ext cx="566928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Higher Yield</a:t>
            </a:r>
            <a:endParaRPr lang="en-US" sz="730" dirty="0"/>
          </a:p>
        </p:txBody>
      </p:sp>
      <p:sp>
        <p:nvSpPr>
          <p:cNvPr id="389" name="Shape 387"/>
          <p:cNvSpPr/>
          <p:nvPr/>
        </p:nvSpPr>
        <p:spPr>
          <a:xfrm>
            <a:off x="320040" y="5998464"/>
            <a:ext cx="11521440" cy="566928"/>
          </a:xfrm>
          <a:prstGeom prst="roundRect">
            <a:avLst>
              <a:gd name="adj" fmla="val 29032"/>
            </a:avLst>
          </a:prstGeom>
          <a:solidFill>
            <a:srgbClr val="FFFFFF"/>
          </a:solidFill>
          <a:ln w="12700">
            <a:solidFill>
              <a:srgbClr val="E5EDF8"/>
            </a:solidFill>
            <a:prstDash val="solid"/>
          </a:ln>
          <a:effectLst>
            <a:outerShdw sx="100000" sy="100000" kx="0" ky="0" algn="bl" rotWithShape="0" blurRad="12700" dist="50800" dir="2700000">
              <a:srgbClr val="D5E2F5">
                <a:alpha val="22000"/>
              </a:srgbClr>
            </a:outerShdw>
          </a:effectLst>
        </p:spPr>
      </p:sp>
      <p:sp>
        <p:nvSpPr>
          <p:cNvPr id="390" name="Text 388"/>
          <p:cNvSpPr/>
          <p:nvPr/>
        </p:nvSpPr>
        <p:spPr>
          <a:xfrm>
            <a:off x="640080" y="6126480"/>
            <a:ext cx="3291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◷</a:t>
            </a:r>
            <a:endParaRPr lang="en-US" sz="1600" dirty="0"/>
          </a:p>
        </p:txBody>
      </p:sp>
      <p:sp>
        <p:nvSpPr>
          <p:cNvPr id="391" name="Text 389"/>
          <p:cNvSpPr/>
          <p:nvPr/>
        </p:nvSpPr>
        <p:spPr>
          <a:xfrm>
            <a:off x="1024128" y="6126480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 Resolution</a:t>
            </a:r>
            <a:endParaRPr lang="en-US" sz="1020" dirty="0"/>
          </a:p>
        </p:txBody>
      </p:sp>
      <p:sp>
        <p:nvSpPr>
          <p:cNvPr id="392" name="Shape 390"/>
          <p:cNvSpPr/>
          <p:nvPr/>
        </p:nvSpPr>
        <p:spPr>
          <a:xfrm>
            <a:off x="2880360" y="6099048"/>
            <a:ext cx="0" cy="365760"/>
          </a:xfrm>
          <a:prstGeom prst="line">
            <a:avLst/>
          </a:prstGeom>
          <a:noFill/>
          <a:ln w="12700">
            <a:solidFill>
              <a:srgbClr val="C5D8F2"/>
            </a:solidFill>
            <a:prstDash val="solid"/>
          </a:ln>
        </p:spPr>
      </p:sp>
      <p:sp>
        <p:nvSpPr>
          <p:cNvPr id="393" name="Text 391"/>
          <p:cNvSpPr/>
          <p:nvPr/>
        </p:nvSpPr>
        <p:spPr>
          <a:xfrm>
            <a:off x="2971800" y="6126480"/>
            <a:ext cx="3291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▥</a:t>
            </a:r>
            <a:endParaRPr lang="en-US" sz="1600" dirty="0"/>
          </a:p>
        </p:txBody>
      </p:sp>
      <p:sp>
        <p:nvSpPr>
          <p:cNvPr id="394" name="Text 392"/>
          <p:cNvSpPr/>
          <p:nvPr/>
        </p:nvSpPr>
        <p:spPr>
          <a:xfrm>
            <a:off x="3355848" y="6126480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Data-Driven Decisions</a:t>
            </a:r>
            <a:endParaRPr lang="en-US" sz="1020" dirty="0"/>
          </a:p>
        </p:txBody>
      </p:sp>
      <p:sp>
        <p:nvSpPr>
          <p:cNvPr id="395" name="Shape 393"/>
          <p:cNvSpPr/>
          <p:nvPr/>
        </p:nvSpPr>
        <p:spPr>
          <a:xfrm>
            <a:off x="5212080" y="6099048"/>
            <a:ext cx="0" cy="365760"/>
          </a:xfrm>
          <a:prstGeom prst="line">
            <a:avLst/>
          </a:prstGeom>
          <a:noFill/>
          <a:ln w="12700">
            <a:solidFill>
              <a:srgbClr val="C5D8F2"/>
            </a:solidFill>
            <a:prstDash val="solid"/>
          </a:ln>
        </p:spPr>
      </p:sp>
      <p:sp>
        <p:nvSpPr>
          <p:cNvPr id="396" name="Text 394"/>
          <p:cNvSpPr/>
          <p:nvPr/>
        </p:nvSpPr>
        <p:spPr>
          <a:xfrm>
            <a:off x="5623560" y="6126480"/>
            <a:ext cx="3291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●●●</a:t>
            </a:r>
            <a:endParaRPr lang="en-US" sz="1600" dirty="0"/>
          </a:p>
        </p:txBody>
      </p:sp>
      <p:sp>
        <p:nvSpPr>
          <p:cNvPr id="397" name="Text 395"/>
          <p:cNvSpPr/>
          <p:nvPr/>
        </p:nvSpPr>
        <p:spPr>
          <a:xfrm>
            <a:off x="6007608" y="6126480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+ AI</a:t>
            </a:r>
            <a:endParaRPr lang="en-US" sz="1020" dirty="0"/>
          </a:p>
        </p:txBody>
      </p:sp>
      <p:sp>
        <p:nvSpPr>
          <p:cNvPr id="398" name="Shape 396"/>
          <p:cNvSpPr/>
          <p:nvPr/>
        </p:nvSpPr>
        <p:spPr>
          <a:xfrm>
            <a:off x="7863840" y="6099048"/>
            <a:ext cx="0" cy="365760"/>
          </a:xfrm>
          <a:prstGeom prst="line">
            <a:avLst/>
          </a:prstGeom>
          <a:noFill/>
          <a:ln w="12700">
            <a:solidFill>
              <a:srgbClr val="C5D8F2"/>
            </a:solidFill>
            <a:prstDash val="solid"/>
          </a:ln>
        </p:spPr>
      </p:sp>
      <p:sp>
        <p:nvSpPr>
          <p:cNvPr id="399" name="Text 397"/>
          <p:cNvSpPr/>
          <p:nvPr/>
        </p:nvSpPr>
        <p:spPr>
          <a:xfrm>
            <a:off x="8823960" y="6126480"/>
            <a:ext cx="3291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69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∞</a:t>
            </a:r>
            <a:endParaRPr lang="en-US" sz="1600" dirty="0"/>
          </a:p>
        </p:txBody>
      </p:sp>
      <p:sp>
        <p:nvSpPr>
          <p:cNvPr id="400" name="Text 398"/>
          <p:cNvSpPr/>
          <p:nvPr/>
        </p:nvSpPr>
        <p:spPr>
          <a:xfrm>
            <a:off x="9208008" y="6126480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718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Continuous Learning</a:t>
            </a:r>
            <a:endParaRPr lang="en-US" sz="1020" dirty="0"/>
          </a:p>
        </p:txBody>
      </p:sp>
      <p:sp>
        <p:nvSpPr>
          <p:cNvPr id="401" name="Text 399"/>
          <p:cNvSpPr/>
          <p:nvPr/>
        </p:nvSpPr>
        <p:spPr>
          <a:xfrm>
            <a:off x="320040" y="6629400"/>
            <a:ext cx="24231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hynix  |  Yield Analysis Super Agent</a:t>
            </a:r>
            <a:endParaRPr lang="en-US" sz="750" dirty="0"/>
          </a:p>
        </p:txBody>
      </p:sp>
      <p:sp>
        <p:nvSpPr>
          <p:cNvPr id="402" name="Text 400"/>
          <p:cNvSpPr/>
          <p:nvPr/>
        </p:nvSpPr>
        <p:spPr>
          <a:xfrm>
            <a:off x="10131552" y="6629400"/>
            <a:ext cx="16459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E7E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for a Better Tomorrow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SK hynix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Yield Analysis Super Agent</dc:title>
  <dc:subject>Yield Analysis Super Agent editable infographic</dc:subject>
  <dc:creator>OpenAI</dc:creator>
  <cp:lastModifiedBy>OpenAI</cp:lastModifiedBy>
  <cp:revision>1</cp:revision>
  <dcterms:created xsi:type="dcterms:W3CDTF">2026-09-09T23:35:57Z</dcterms:created>
  <dcterms:modified xsi:type="dcterms:W3CDTF">2026-09-09T23:35:57Z</dcterms:modified>
</cp:coreProperties>
</file>
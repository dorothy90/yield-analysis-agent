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81277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46304"/>
            <a:ext cx="438912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20" b="0">
                <a:solidFill>
                  <a:srgbClr val="5F6F89"/>
                </a:solidFill>
                <a:latin typeface="Aptos"/>
              </a:rPr>
              <a:t>S E M I C O N D U C T O R   ·   D A T A   ·   A I   ·   B E T T E R   Y I E L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384048"/>
            <a:ext cx="754380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2200" b="1">
                <a:solidFill>
                  <a:srgbClr val="132546"/>
                </a:solidFill>
                <a:latin typeface="Aptos"/>
              </a:rPr>
              <a:t>데이터와 경험을 연결하는 수율분석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0672" y="795528"/>
            <a:ext cx="598932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50" b="0">
                <a:solidFill>
                  <a:srgbClr val="5F6F89"/>
                </a:solidFill>
                <a:latin typeface="Aptos"/>
              </a:rPr>
              <a:t>반복적인 분석 업무를 AI와 함께, 더 빠르고 정확한 수율 개선으로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1097280"/>
            <a:ext cx="1993392" cy="5175504"/>
          </a:xfrm>
          <a:prstGeom prst="roundRect">
            <a:avLst/>
          </a:prstGeom>
          <a:solidFill>
            <a:srgbClr val="EFF4FA"/>
          </a:solidFill>
          <a:ln w="7620"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12848" y="1097280"/>
            <a:ext cx="7260336" cy="3593592"/>
          </a:xfrm>
          <a:prstGeom prst="roundRect">
            <a:avLst/>
          </a:prstGeom>
          <a:solidFill>
            <a:srgbClr val="EAF2FC"/>
          </a:solidFill>
          <a:ln w="7620">
            <a:solidFill>
              <a:srgbClr val="EA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92056" y="1097280"/>
            <a:ext cx="2487168" cy="5175504"/>
          </a:xfrm>
          <a:prstGeom prst="roundRect">
            <a:avLst/>
          </a:prstGeom>
          <a:solidFill>
            <a:srgbClr val="3A5E8F"/>
          </a:solidFill>
          <a:ln w="7620">
            <a:solidFill>
              <a:srgbClr val="3A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252728"/>
            <a:ext cx="1627632" cy="23774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200" b="1">
                <a:solidFill>
                  <a:srgbClr val="132546"/>
                </a:solidFill>
                <a:latin typeface="Aptos"/>
              </a:rPr>
              <a:t>현재의 수율 분석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" y="1527048"/>
            <a:ext cx="1627632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0">
                <a:solidFill>
                  <a:srgbClr val="5F6F89"/>
                </a:solidFill>
                <a:latin typeface="Aptos"/>
              </a:rPr>
              <a:t>전문가의 경험과 많은 시간에 의존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47088"/>
            <a:ext cx="1664208" cy="713232"/>
          </a:xfrm>
          <a:prstGeom prst="roundRect">
            <a:avLst/>
          </a:prstGeom>
          <a:solidFill>
            <a:srgbClr val="E7EEF8"/>
          </a:solidFill>
          <a:ln w="762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" y="2029968"/>
            <a:ext cx="274320" cy="274320"/>
          </a:xfrm>
          <a:prstGeom prst="ellipse">
            <a:avLst/>
          </a:prstGeom>
          <a:solidFill>
            <a:srgbClr val="5A6F8F"/>
          </a:solidFill>
          <a:ln w="7620">
            <a:solidFill>
              <a:srgbClr val="5A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29968"/>
            <a:ext cx="27432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9384"/>
            <a:ext cx="1060704" cy="2560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90" b="1">
                <a:solidFill>
                  <a:srgbClr val="132546"/>
                </a:solidFill>
                <a:latin typeface="Aptos"/>
              </a:rPr>
              <a:t>다양한 시스템의
분산된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03704"/>
            <a:ext cx="1078992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10" b="0">
                <a:solidFill>
                  <a:srgbClr val="5F6F89"/>
                </a:solidFill>
                <a:latin typeface="Aptos"/>
              </a:rPr>
              <a:t>Inline, WT, 공정, 자재 등
여러 시스템에서 수동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642616"/>
            <a:ext cx="1664208" cy="713232"/>
          </a:xfrm>
          <a:prstGeom prst="roundRect">
            <a:avLst/>
          </a:prstGeom>
          <a:solidFill>
            <a:srgbClr val="E7EEF8"/>
          </a:solidFill>
          <a:ln w="762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" y="2825496"/>
            <a:ext cx="274320" cy="274320"/>
          </a:xfrm>
          <a:prstGeom prst="ellipse">
            <a:avLst/>
          </a:prstGeom>
          <a:solidFill>
            <a:srgbClr val="5A6F8F"/>
          </a:solidFill>
          <a:ln w="7620">
            <a:solidFill>
              <a:srgbClr val="5A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25496"/>
            <a:ext cx="27432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24912"/>
            <a:ext cx="1060704" cy="2560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90" b="1">
                <a:solidFill>
                  <a:srgbClr val="132546"/>
                </a:solidFill>
                <a:latin typeface="Aptos"/>
              </a:rPr>
              <a:t>많은 분석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99232"/>
            <a:ext cx="1078992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10" b="0">
                <a:solidFill>
                  <a:srgbClr val="5F6F89"/>
                </a:solidFill>
                <a:latin typeface="Aptos"/>
              </a:rPr>
              <a:t>데이터 취합, 트렌드 확인,
맵 분석 등 반복 작업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438144"/>
            <a:ext cx="1664208" cy="713232"/>
          </a:xfrm>
          <a:prstGeom prst="roundRect">
            <a:avLst/>
          </a:prstGeom>
          <a:solidFill>
            <a:srgbClr val="E7EEF8"/>
          </a:solidFill>
          <a:ln w="762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3621024"/>
            <a:ext cx="274320" cy="274320"/>
          </a:xfrm>
          <a:prstGeom prst="ellipse">
            <a:avLst/>
          </a:prstGeom>
          <a:solidFill>
            <a:srgbClr val="5A6F8F"/>
          </a:solidFill>
          <a:ln w="7620">
            <a:solidFill>
              <a:srgbClr val="5A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621024"/>
            <a:ext cx="27432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20440"/>
            <a:ext cx="1060704" cy="2560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90" b="1">
                <a:solidFill>
                  <a:srgbClr val="132546"/>
                </a:solidFill>
                <a:latin typeface="Aptos"/>
              </a:rPr>
              <a:t>경험 의존성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1078992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10" b="0">
                <a:solidFill>
                  <a:srgbClr val="5F6F89"/>
                </a:solidFill>
                <a:latin typeface="Aptos"/>
              </a:rPr>
              <a:t>담당자의 경험과 노하우에
크게 의존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233672"/>
            <a:ext cx="1664208" cy="713232"/>
          </a:xfrm>
          <a:prstGeom prst="roundRect">
            <a:avLst/>
          </a:prstGeom>
          <a:solidFill>
            <a:srgbClr val="E7EEF8"/>
          </a:solidFill>
          <a:ln w="762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16552"/>
            <a:ext cx="274320" cy="274320"/>
          </a:xfrm>
          <a:prstGeom prst="ellipse">
            <a:avLst/>
          </a:prstGeom>
          <a:solidFill>
            <a:srgbClr val="5A6F8F"/>
          </a:solidFill>
          <a:ln w="7620">
            <a:solidFill>
              <a:srgbClr val="5A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416552"/>
            <a:ext cx="27432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15968"/>
            <a:ext cx="1060704" cy="2560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90" b="1">
                <a:solidFill>
                  <a:srgbClr val="132546"/>
                </a:solidFill>
                <a:latin typeface="Aptos"/>
              </a:rPr>
              <a:t>원인 분석의 복잡성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90288"/>
            <a:ext cx="1078992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10" b="0">
                <a:solidFill>
                  <a:srgbClr val="5F6F89"/>
                </a:solidFill>
                <a:latin typeface="Aptos"/>
              </a:rPr>
              <a:t>다양한 변수로 인해 참원인
도출까지 많은 시간 소요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074920"/>
            <a:ext cx="1307592" cy="43891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0">
                <a:solidFill>
                  <a:srgbClr val="5F6F89"/>
                </a:solidFill>
                <a:latin typeface="Aptos"/>
              </a:rPr>
              <a:t>“데이터는 많은데,
어디서부터 봐야 하지?”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" y="5605272"/>
            <a:ext cx="237744" cy="237744"/>
          </a:xfrm>
          <a:prstGeom prst="ellipse">
            <a:avLst/>
          </a:prstGeom>
          <a:solidFill>
            <a:srgbClr val="475B79"/>
          </a:solidFill>
          <a:ln w="7620">
            <a:solidFill>
              <a:srgbClr val="475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" y="5852160"/>
            <a:ext cx="329184" cy="320040"/>
          </a:xfrm>
          <a:prstGeom prst="roundRect">
            <a:avLst/>
          </a:prstGeom>
          <a:solidFill>
            <a:srgbClr val="485C7A"/>
          </a:solidFill>
          <a:ln w="7620">
            <a:solidFill>
              <a:srgbClr val="48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" y="5824728"/>
            <a:ext cx="384048" cy="256032"/>
          </a:xfrm>
          <a:prstGeom prst="rect">
            <a:avLst/>
          </a:prstGeom>
          <a:solidFill>
            <a:srgbClr val="7D91AE"/>
          </a:solidFill>
          <a:ln w="7620">
            <a:solidFill>
              <a:srgbClr val="7D9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" y="5824728"/>
            <a:ext cx="384048" cy="256032"/>
          </a:xfrm>
          <a:prstGeom prst="rect">
            <a:avLst/>
          </a:prstGeom>
          <a:solidFill>
            <a:srgbClr val="7D91AE"/>
          </a:solidFill>
          <a:ln w="7620">
            <a:solidFill>
              <a:srgbClr val="7D9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0" y="5824728"/>
            <a:ext cx="384048" cy="256032"/>
          </a:xfrm>
          <a:prstGeom prst="rect">
            <a:avLst/>
          </a:prstGeom>
          <a:solidFill>
            <a:srgbClr val="7D91AE"/>
          </a:solidFill>
          <a:ln w="7620">
            <a:solidFill>
              <a:srgbClr val="7D9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32304" y="1243584"/>
            <a:ext cx="1828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250" b="1">
                <a:solidFill>
                  <a:srgbClr val="132546"/>
                </a:solidFill>
                <a:latin typeface="Aptos"/>
              </a:rPr>
              <a:t>수율 분석 SOP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2304" y="1508760"/>
            <a:ext cx="32004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20" b="0">
                <a:solidFill>
                  <a:srgbClr val="5F6F89"/>
                </a:solidFill>
                <a:latin typeface="Aptos"/>
              </a:rPr>
              <a:t>수율 문제 해결을 위한 4가지 핵심 분석 프로세스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1728216"/>
            <a:ext cx="1627632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23160" y="1810512"/>
            <a:ext cx="310896" cy="310896"/>
          </a:xfrm>
          <a:prstGeom prst="ellipse">
            <a:avLst/>
          </a:prstGeom>
          <a:solidFill>
            <a:srgbClr val="3474CD"/>
          </a:solidFill>
          <a:ln w="7620">
            <a:solidFill>
              <a:srgbClr val="347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1810512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9776" y="1810512"/>
            <a:ext cx="1078992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70" b="1">
                <a:solidFill>
                  <a:srgbClr val="3474CD"/>
                </a:solidFill>
                <a:latin typeface="Aptos"/>
              </a:rPr>
              <a:t>수율 이상 감지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1" y="2359152"/>
            <a:ext cx="1389888" cy="603504"/>
          </a:xfrm>
          <a:prstGeom prst="roundRect">
            <a:avLst/>
          </a:prstGeom>
          <a:solidFill>
            <a:srgbClr val="F7F9FD"/>
          </a:solidFill>
          <a:ln w="7620">
            <a:solidFill>
              <a:srgbClr val="F7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2532888" y="2587752"/>
            <a:ext cx="192024" cy="228600"/>
          </a:xfrm>
          <a:prstGeom prst="line">
            <a:avLst/>
          </a:prstGeom>
          <a:ln w="1270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24912" y="2587752"/>
            <a:ext cx="201167" cy="155448"/>
          </a:xfrm>
          <a:prstGeom prst="line">
            <a:avLst/>
          </a:prstGeom>
          <a:ln w="1270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926079" y="2468880"/>
            <a:ext cx="210312" cy="274320"/>
          </a:xfrm>
          <a:prstGeom prst="line">
            <a:avLst/>
          </a:prstGeom>
          <a:ln w="1270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36391" y="2468880"/>
            <a:ext cx="201169" cy="219456"/>
          </a:xfrm>
          <a:prstGeom prst="line">
            <a:avLst/>
          </a:prstGeom>
          <a:ln w="1270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37560" y="2532888"/>
            <a:ext cx="237744" cy="155448"/>
          </a:xfrm>
          <a:prstGeom prst="line">
            <a:avLst/>
          </a:prstGeom>
          <a:ln w="1270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593591" y="2432304"/>
            <a:ext cx="164592" cy="164592"/>
          </a:xfrm>
          <a:prstGeom prst="ellipse">
            <a:avLst/>
          </a:prstGeom>
          <a:solidFill>
            <a:srgbClr val="D7464F"/>
          </a:solidFill>
          <a:ln w="7620">
            <a:solidFill>
              <a:srgbClr val="D74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1" y="2432304"/>
            <a:ext cx="164592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50591" y="3063240"/>
            <a:ext cx="1389888" cy="548640"/>
          </a:xfrm>
          <a:prstGeom prst="roundRect">
            <a:avLst/>
          </a:prstGeom>
          <a:solidFill>
            <a:srgbClr val="F9FBFE"/>
          </a:solidFill>
          <a:ln w="7620">
            <a:solidFill>
              <a:srgbClr val="F9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514600" y="3108960"/>
            <a:ext cx="438912" cy="438912"/>
          </a:xfrm>
          <a:prstGeom prst="ellipse">
            <a:avLst/>
          </a:prstGeom>
          <a:solidFill>
            <a:srgbClr val="5BB1C6"/>
          </a:solidFill>
          <a:ln w="7620">
            <a:solidFill>
              <a:srgbClr val="5BB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54679" y="3410712"/>
            <a:ext cx="64008" cy="128016"/>
          </a:xfrm>
          <a:prstGeom prst="rect">
            <a:avLst/>
          </a:prstGeom>
          <a:solidFill>
            <a:srgbClr val="7F9ECF"/>
          </a:solidFill>
          <a:ln w="7620">
            <a:solidFill>
              <a:srgbClr val="7F9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55263" y="3282696"/>
            <a:ext cx="64008" cy="256032"/>
          </a:xfrm>
          <a:prstGeom prst="rect">
            <a:avLst/>
          </a:prstGeom>
          <a:solidFill>
            <a:srgbClr val="7F9ECF"/>
          </a:solidFill>
          <a:ln w="7620">
            <a:solidFill>
              <a:srgbClr val="7F9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55848" y="3355848"/>
            <a:ext cx="64008" cy="182880"/>
          </a:xfrm>
          <a:prstGeom prst="rect">
            <a:avLst/>
          </a:prstGeom>
          <a:solidFill>
            <a:srgbClr val="7F9ECF"/>
          </a:solidFill>
          <a:ln w="7620">
            <a:solidFill>
              <a:srgbClr val="7F9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6432" y="3200400"/>
            <a:ext cx="64008" cy="338328"/>
          </a:xfrm>
          <a:prstGeom prst="rect">
            <a:avLst/>
          </a:prstGeom>
          <a:solidFill>
            <a:srgbClr val="7F9ECF"/>
          </a:solidFill>
          <a:ln w="7620">
            <a:solidFill>
              <a:srgbClr val="7F9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57015" y="3300984"/>
            <a:ext cx="64008" cy="237744"/>
          </a:xfrm>
          <a:prstGeom prst="rect">
            <a:avLst/>
          </a:prstGeom>
          <a:solidFill>
            <a:srgbClr val="7F9ECF"/>
          </a:solidFill>
          <a:ln w="7620">
            <a:solidFill>
              <a:srgbClr val="7F9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59736" y="372160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3474CD"/>
                </a:solidFill>
                <a:latin typeface="Apto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372160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제품별 수율 점검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59736" y="390448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3474CD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320" y="390448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웨이퍼 테스트 트렌드 이상감지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59736" y="408736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3474CD"/>
                </a:solidFill>
                <a:latin typeface="Aptos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0" y="408736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맵 분석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23944" y="1728216"/>
            <a:ext cx="1627632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15383" y="1810512"/>
            <a:ext cx="310896" cy="310896"/>
          </a:xfrm>
          <a:prstGeom prst="ellipse">
            <a:avLst/>
          </a:prstGeom>
          <a:solidFill>
            <a:srgbClr val="6449BE"/>
          </a:solidFill>
          <a:ln w="7620">
            <a:solidFill>
              <a:srgbClr val="644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15383" y="1810512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1810512"/>
            <a:ext cx="1078992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70" b="1">
                <a:solidFill>
                  <a:srgbClr val="6449BE"/>
                </a:solidFill>
                <a:latin typeface="Aptos"/>
              </a:rPr>
              <a:t>WT 불량 Define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42816" y="2359152"/>
            <a:ext cx="1389888" cy="603504"/>
          </a:xfrm>
          <a:prstGeom prst="roundRect">
            <a:avLst/>
          </a:prstGeom>
          <a:solidFill>
            <a:srgbClr val="F7F9FD"/>
          </a:solidFill>
          <a:ln w="7620">
            <a:solidFill>
              <a:srgbClr val="F7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34256" y="2468880"/>
            <a:ext cx="566928" cy="41148"/>
          </a:xfrm>
          <a:prstGeom prst="rect">
            <a:avLst/>
          </a:prstGeom>
          <a:solidFill>
            <a:srgbClr val="C8D3E6"/>
          </a:solidFill>
          <a:ln w="762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0056" y="2423160"/>
            <a:ext cx="34747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1">
                <a:solidFill>
                  <a:srgbClr val="D3414C"/>
                </a:solidFill>
                <a:latin typeface="Aptos"/>
              </a:rPr>
              <a:t>FAIL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34256" y="2587752"/>
            <a:ext cx="566928" cy="41148"/>
          </a:xfrm>
          <a:prstGeom prst="rect">
            <a:avLst/>
          </a:prstGeom>
          <a:solidFill>
            <a:srgbClr val="C8D3E6"/>
          </a:solidFill>
          <a:ln w="762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0056" y="2542032"/>
            <a:ext cx="34747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1">
                <a:solidFill>
                  <a:srgbClr val="D3414C"/>
                </a:solidFill>
                <a:latin typeface="Aptos"/>
              </a:rPr>
              <a:t>FAIL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34256" y="2706624"/>
            <a:ext cx="566928" cy="41148"/>
          </a:xfrm>
          <a:prstGeom prst="rect">
            <a:avLst/>
          </a:prstGeom>
          <a:solidFill>
            <a:srgbClr val="C8D3E6"/>
          </a:solidFill>
          <a:ln w="762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0056" y="2660904"/>
            <a:ext cx="34747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1">
                <a:solidFill>
                  <a:srgbClr val="D3414C"/>
                </a:solidFill>
                <a:latin typeface="Aptos"/>
              </a:rPr>
              <a:t>FAIL</a:t>
            </a:r>
          </a:p>
        </p:txBody>
      </p:sp>
      <p:sp>
        <p:nvSpPr>
          <p:cNvPr id="74" name="Oval 73"/>
          <p:cNvSpPr/>
          <p:nvPr/>
        </p:nvSpPr>
        <p:spPr>
          <a:xfrm>
            <a:off x="5266944" y="2660904"/>
            <a:ext cx="173736" cy="173736"/>
          </a:xfrm>
          <a:prstGeom prst="ellipse">
            <a:avLst/>
          </a:prstGeom>
          <a:solidFill>
            <a:srgbClr val="E0E7F2"/>
          </a:solidFill>
          <a:ln w="7620"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385816" y="2798064"/>
            <a:ext cx="128015" cy="109728"/>
          </a:xfrm>
          <a:prstGeom prst="line">
            <a:avLst/>
          </a:prstGeom>
          <a:ln w="20320">
            <a:solidFill>
              <a:srgbClr val="132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42816" y="3063240"/>
            <a:ext cx="1389888" cy="548640"/>
          </a:xfrm>
          <a:prstGeom prst="roundRect">
            <a:avLst/>
          </a:prstGeom>
          <a:solidFill>
            <a:srgbClr val="F9FBFE"/>
          </a:solidFill>
          <a:ln w="7620">
            <a:solidFill>
              <a:srgbClr val="F9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16552" y="3099816"/>
            <a:ext cx="98755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00" b="0">
                <a:solidFill>
                  <a:srgbClr val="5F6F89"/>
                </a:solidFill>
                <a:latin typeface="Aptos"/>
              </a:rPr>
              <a:t>Defect Mechanism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52544" y="3355848"/>
            <a:ext cx="283464" cy="91440"/>
          </a:xfrm>
          <a:prstGeom prst="rect">
            <a:avLst/>
          </a:prstGeom>
          <a:solidFill>
            <a:srgbClr val="ACBCD6"/>
          </a:solidFill>
          <a:ln w="7620">
            <a:solidFill>
              <a:srgbClr val="91A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45736" y="3355848"/>
            <a:ext cx="283464" cy="91440"/>
          </a:xfrm>
          <a:prstGeom prst="rect">
            <a:avLst/>
          </a:prstGeom>
          <a:solidFill>
            <a:srgbClr val="ACBCD6"/>
          </a:solidFill>
          <a:ln w="7620">
            <a:solidFill>
              <a:srgbClr val="91A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38928" y="3355848"/>
            <a:ext cx="283464" cy="91440"/>
          </a:xfrm>
          <a:prstGeom prst="rect">
            <a:avLst/>
          </a:prstGeom>
          <a:solidFill>
            <a:srgbClr val="ACBCD6"/>
          </a:solidFill>
          <a:ln w="7620">
            <a:solidFill>
              <a:srgbClr val="91A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51959" y="372160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6449BE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52544" y="372160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불량 개선 history 분석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59" y="390448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6449BE"/>
                </a:solidFill>
                <a:latin typeface="Apto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52544" y="390448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불량 메커니즘 분석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1959" y="408736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6449BE"/>
                </a:solidFill>
                <a:latin typeface="Apto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52544" y="408736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유사 사례 기반 가설 수립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916168" y="1728216"/>
            <a:ext cx="1627632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007607" y="1810512"/>
            <a:ext cx="310896" cy="310896"/>
          </a:xfrm>
          <a:prstGeom prst="ellipse">
            <a:avLst/>
          </a:prstGeom>
          <a:solidFill>
            <a:srgbClr val="2E9E9B"/>
          </a:solidFill>
          <a:ln w="7620">
            <a:solidFill>
              <a:srgbClr val="2E9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07607" y="1810512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64224" y="1810512"/>
            <a:ext cx="1078992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70" b="1">
                <a:solidFill>
                  <a:srgbClr val="2E9E9B"/>
                </a:solidFill>
                <a:latin typeface="Aptos"/>
              </a:rPr>
              <a:t>Inline - WT 연계 분석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35040" y="2359152"/>
            <a:ext cx="1389888" cy="603504"/>
          </a:xfrm>
          <a:prstGeom prst="roundRect">
            <a:avLst/>
          </a:prstGeom>
          <a:solidFill>
            <a:srgbClr val="F7F9FD"/>
          </a:solidFill>
          <a:ln w="7620">
            <a:solidFill>
              <a:srgbClr val="F7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80759" y="2414016"/>
            <a:ext cx="53035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00" b="0">
                <a:solidFill>
                  <a:srgbClr val="5F6F89"/>
                </a:solidFill>
                <a:latin typeface="Aptos"/>
              </a:rPr>
              <a:t>Inline Data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39128" y="2414016"/>
            <a:ext cx="530352" cy="11887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00" b="0">
                <a:solidFill>
                  <a:srgbClr val="5F6F89"/>
                </a:solidFill>
                <a:latin typeface="Aptos"/>
              </a:rPr>
              <a:t>WT Data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592824" y="2688336"/>
            <a:ext cx="164592" cy="0"/>
          </a:xfrm>
          <a:prstGeom prst="line">
            <a:avLst/>
          </a:prstGeom>
          <a:ln w="22860">
            <a:solidFill>
              <a:srgbClr val="2E9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6812279" y="2715768"/>
            <a:ext cx="54864" cy="128016"/>
          </a:xfrm>
          <a:prstGeom prst="rect">
            <a:avLst/>
          </a:prstGeom>
          <a:solidFill>
            <a:srgbClr val="80A9DC"/>
          </a:solidFill>
          <a:ln w="7620">
            <a:solidFill>
              <a:srgbClr val="80A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903719" y="2596896"/>
            <a:ext cx="54864" cy="246888"/>
          </a:xfrm>
          <a:prstGeom prst="rect">
            <a:avLst/>
          </a:prstGeom>
          <a:solidFill>
            <a:srgbClr val="80A9DC"/>
          </a:solidFill>
          <a:ln w="7620">
            <a:solidFill>
              <a:srgbClr val="80A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995159" y="2670048"/>
            <a:ext cx="54864" cy="173736"/>
          </a:xfrm>
          <a:prstGeom prst="rect">
            <a:avLst/>
          </a:prstGeom>
          <a:solidFill>
            <a:srgbClr val="80A9DC"/>
          </a:solidFill>
          <a:ln w="7620">
            <a:solidFill>
              <a:srgbClr val="80A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86599" y="2532888"/>
            <a:ext cx="54864" cy="310896"/>
          </a:xfrm>
          <a:prstGeom prst="rect">
            <a:avLst/>
          </a:prstGeom>
          <a:solidFill>
            <a:srgbClr val="80A9DC"/>
          </a:solidFill>
          <a:ln w="7620">
            <a:solidFill>
              <a:srgbClr val="80A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178040" y="2615184"/>
            <a:ext cx="54864" cy="228600"/>
          </a:xfrm>
          <a:prstGeom prst="rect">
            <a:avLst/>
          </a:prstGeom>
          <a:solidFill>
            <a:srgbClr val="80A9DC"/>
          </a:solidFill>
          <a:ln w="7620">
            <a:solidFill>
              <a:srgbClr val="80A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035040" y="3063240"/>
            <a:ext cx="1389888" cy="548640"/>
          </a:xfrm>
          <a:prstGeom prst="roundRect">
            <a:avLst/>
          </a:prstGeom>
          <a:solidFill>
            <a:srgbClr val="F9FBFE"/>
          </a:solidFill>
          <a:ln w="7620">
            <a:solidFill>
              <a:srgbClr val="F9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099048" y="3127248"/>
            <a:ext cx="384048" cy="384048"/>
          </a:xfrm>
          <a:prstGeom prst="ellipse">
            <a:avLst/>
          </a:prstGeom>
          <a:solidFill>
            <a:srgbClr val="7897C1"/>
          </a:solidFill>
          <a:ln w="7620">
            <a:solidFill>
              <a:srgbClr val="789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44768" y="3172968"/>
            <a:ext cx="292608" cy="292608"/>
          </a:xfrm>
          <a:prstGeom prst="ellipse">
            <a:avLst/>
          </a:prstGeom>
          <a:solidFill>
            <a:srgbClr val="95B1D2"/>
          </a:solidFill>
          <a:ln w="7620">
            <a:solidFill>
              <a:srgbClr val="95B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84264" y="3127248"/>
            <a:ext cx="50292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132546"/>
                </a:solidFill>
                <a:latin typeface="Aptos"/>
              </a:rPr>
              <a:t>Lot
→ Wafer
→ Site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44183" y="372160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2E9E9B"/>
                </a:solidFill>
                <a:latin typeface="Aptos"/>
              </a:rPr>
              <a:t>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44768" y="372160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Inline - WT 연계분석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44183" y="390448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2E9E9B"/>
                </a:solidFill>
                <a:latin typeface="Aptos"/>
              </a:rPr>
              <a:t>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44768" y="390448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Lot / Wafer / Site 연계분석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44183" y="408736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2E9E9B"/>
                </a:solidFill>
                <a:latin typeface="Aptos"/>
              </a:rP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44768" y="408736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공정 간 상관관계 도출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08392" y="1728216"/>
            <a:ext cx="1627632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799831" y="1810512"/>
            <a:ext cx="310896" cy="310896"/>
          </a:xfrm>
          <a:prstGeom prst="ellipse">
            <a:avLst/>
          </a:prstGeom>
          <a:solidFill>
            <a:srgbClr val="E67028"/>
          </a:solidFill>
          <a:ln w="7620">
            <a:solidFill>
              <a:srgbClr val="E67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99831" y="1810512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56448" y="1810512"/>
            <a:ext cx="1078992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70" b="1">
                <a:solidFill>
                  <a:srgbClr val="E67028"/>
                </a:solidFill>
                <a:latin typeface="Aptos"/>
              </a:rPr>
              <a:t>불량 참원인 도출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827264" y="2359152"/>
            <a:ext cx="1389888" cy="603504"/>
          </a:xfrm>
          <a:prstGeom prst="roundRect">
            <a:avLst/>
          </a:prstGeom>
          <a:solidFill>
            <a:srgbClr val="F7F9FD"/>
          </a:solidFill>
          <a:ln w="7620">
            <a:solidFill>
              <a:srgbClr val="F7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872983" y="2569464"/>
            <a:ext cx="164592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96A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8037575" y="2651760"/>
            <a:ext cx="64008" cy="0"/>
          </a:xfrm>
          <a:prstGeom prst="line">
            <a:avLst/>
          </a:prstGeom>
          <a:ln w="10160">
            <a:solidFill>
              <a:srgbClr val="5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8119871" y="2569464"/>
            <a:ext cx="164592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96A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8284463" y="2651760"/>
            <a:ext cx="64008" cy="0"/>
          </a:xfrm>
          <a:prstGeom prst="line">
            <a:avLst/>
          </a:prstGeom>
          <a:ln w="10160">
            <a:solidFill>
              <a:srgbClr val="5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8366759" y="2569464"/>
            <a:ext cx="164592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96A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8531351" y="2651760"/>
            <a:ext cx="64008" cy="0"/>
          </a:xfrm>
          <a:prstGeom prst="line">
            <a:avLst/>
          </a:prstGeom>
          <a:ln w="10160">
            <a:solidFill>
              <a:srgbClr val="5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8613648" y="2569464"/>
            <a:ext cx="164592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96A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8778240" y="2651760"/>
            <a:ext cx="64008" cy="0"/>
          </a:xfrm>
          <a:prstGeom prst="line">
            <a:avLst/>
          </a:prstGeom>
          <a:ln w="10160">
            <a:solidFill>
              <a:srgbClr val="5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8860536" y="2569464"/>
            <a:ext cx="164592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96A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8686800" y="2743200"/>
            <a:ext cx="0" cy="155448"/>
          </a:xfrm>
          <a:prstGeom prst="line">
            <a:avLst/>
          </a:prstGeom>
          <a:ln w="15240">
            <a:solidFill>
              <a:srgbClr val="E67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7827264" y="3063240"/>
            <a:ext cx="1389888" cy="548640"/>
          </a:xfrm>
          <a:prstGeom prst="roundRect">
            <a:avLst/>
          </a:prstGeom>
          <a:solidFill>
            <a:srgbClr val="F9FBFE"/>
          </a:solidFill>
          <a:ln w="7620">
            <a:solidFill>
              <a:srgbClr val="F9F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891271" y="3118104"/>
            <a:ext cx="320040" cy="320040"/>
          </a:xfrm>
          <a:prstGeom prst="ellipse">
            <a:avLst/>
          </a:prstGeom>
          <a:solidFill>
            <a:srgbClr val="97AECE"/>
          </a:solidFill>
          <a:ln w="7620">
            <a:solidFill>
              <a:srgbClr val="97A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891271" y="3209544"/>
            <a:ext cx="297179" cy="297179"/>
          </a:xfrm>
          <a:prstGeom prst="ellipse">
            <a:avLst/>
          </a:prstGeom>
          <a:solidFill>
            <a:srgbClr val="97AECE"/>
          </a:solidFill>
          <a:ln w="7620">
            <a:solidFill>
              <a:srgbClr val="97A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891271" y="3300984"/>
            <a:ext cx="274320" cy="274320"/>
          </a:xfrm>
          <a:prstGeom prst="ellipse">
            <a:avLst/>
          </a:prstGeom>
          <a:solidFill>
            <a:srgbClr val="97AECE"/>
          </a:solidFill>
          <a:ln w="7620">
            <a:solidFill>
              <a:srgbClr val="97A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891271" y="3392424"/>
            <a:ext cx="251459" cy="251459"/>
          </a:xfrm>
          <a:prstGeom prst="ellipse">
            <a:avLst/>
          </a:prstGeom>
          <a:solidFill>
            <a:srgbClr val="97AECE"/>
          </a:solidFill>
          <a:ln w="7620">
            <a:solidFill>
              <a:srgbClr val="97A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421624" y="3127248"/>
            <a:ext cx="621792" cy="3840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476488" y="3154680"/>
            <a:ext cx="512064" cy="10972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459" b="0">
                <a:solidFill>
                  <a:srgbClr val="5F6F89"/>
                </a:solidFill>
                <a:latin typeface="Aptos"/>
              </a:rPr>
              <a:t>Material Check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76488" y="3300984"/>
            <a:ext cx="512064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50" b="0">
                <a:solidFill>
                  <a:srgbClr val="3474CD"/>
                </a:solidFill>
                <a:latin typeface="Aptos"/>
              </a:rPr>
              <a:t>☑ ───
☑ ───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36408" y="372160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E67028"/>
                </a:solidFill>
                <a:latin typeface="Aptos"/>
              </a:rPr>
              <a:t>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36992" y="372160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Inline 협의 공정 도출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36408" y="390448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E67028"/>
                </a:solidFill>
                <a:latin typeface="Aptos"/>
              </a:rP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390448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저수율 자재 특이이력 점검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36408" y="4087368"/>
            <a:ext cx="91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E67028"/>
                </a:solidFill>
                <a:latin typeface="Aptos"/>
              </a:rPr>
              <a:t>•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936992" y="4087368"/>
            <a:ext cx="12344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70" b="0">
                <a:solidFill>
                  <a:srgbClr val="132546"/>
                </a:solidFill>
                <a:latin typeface="Aptos"/>
              </a:rPr>
              <a:t>최종 원인 검증 및 개선 방향 제안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86784" y="2871216"/>
            <a:ext cx="118872" cy="29260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2200" b="1">
                <a:solidFill>
                  <a:srgbClr val="6449BE"/>
                </a:solidFill>
                <a:latin typeface="Aptos"/>
              </a:rPr>
              <a:t>›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79008" y="2871216"/>
            <a:ext cx="118872" cy="29260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2200" b="1">
                <a:solidFill>
                  <a:srgbClr val="3474CD"/>
                </a:solidFill>
                <a:latin typeface="Aptos"/>
              </a:rPr>
              <a:t>›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71231" y="2871216"/>
            <a:ext cx="118872" cy="29260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2200" b="1">
                <a:solidFill>
                  <a:srgbClr val="2E9E9B"/>
                </a:solidFill>
                <a:latin typeface="Aptos"/>
              </a:rPr>
              <a:t>›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838944" y="1271016"/>
            <a:ext cx="731520" cy="25603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목표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838944" y="1581912"/>
            <a:ext cx="1691640" cy="3657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840" b="0">
                <a:solidFill>
                  <a:srgbClr val="FFFFFF"/>
                </a:solidFill>
                <a:latin typeface="Aptos"/>
              </a:rPr>
              <a:t>더 빠른 수율 개선,
더 큰 비즈니스 가치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784080" y="2011680"/>
            <a:ext cx="2084831" cy="512064"/>
          </a:xfrm>
          <a:prstGeom prst="roundRect">
            <a:avLst/>
          </a:prstGeom>
          <a:solidFill>
            <a:srgbClr val="4870A3"/>
          </a:solidFill>
          <a:ln w="7620">
            <a:solidFill>
              <a:srgbClr val="4E7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893808" y="2103120"/>
            <a:ext cx="310896" cy="310896"/>
          </a:xfrm>
          <a:prstGeom prst="ellipse">
            <a:avLst/>
          </a:prstGeom>
          <a:solidFill>
            <a:srgbClr val="376094"/>
          </a:solidFill>
          <a:ln w="7620">
            <a:solidFill>
              <a:srgbClr val="37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893808" y="210312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▥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05288" y="2057400"/>
            <a:ext cx="13533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ptos"/>
              </a:rPr>
              <a:t>수율 조기 회복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305288" y="2286000"/>
            <a:ext cx="13533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Aptos"/>
              </a:rPr>
              <a:t>생산 손실 최소화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784080" y="2596896"/>
            <a:ext cx="2084831" cy="512064"/>
          </a:xfrm>
          <a:prstGeom prst="roundRect">
            <a:avLst/>
          </a:prstGeom>
          <a:solidFill>
            <a:srgbClr val="4870A3"/>
          </a:solidFill>
          <a:ln w="7620">
            <a:solidFill>
              <a:srgbClr val="4E7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893808" y="2688336"/>
            <a:ext cx="310896" cy="310896"/>
          </a:xfrm>
          <a:prstGeom prst="ellipse">
            <a:avLst/>
          </a:prstGeom>
          <a:solidFill>
            <a:srgbClr val="376094"/>
          </a:solidFill>
          <a:ln w="7620">
            <a:solidFill>
              <a:srgbClr val="37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893808" y="2688336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305288" y="2642616"/>
            <a:ext cx="13533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ptos"/>
              </a:rPr>
              <a:t>데이터 기반
의사결정 강화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784080" y="3182112"/>
            <a:ext cx="2084831" cy="512064"/>
          </a:xfrm>
          <a:prstGeom prst="roundRect">
            <a:avLst/>
          </a:prstGeom>
          <a:solidFill>
            <a:srgbClr val="4870A3"/>
          </a:solidFill>
          <a:ln w="7620">
            <a:solidFill>
              <a:srgbClr val="4E7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893808" y="3273552"/>
            <a:ext cx="310896" cy="310896"/>
          </a:xfrm>
          <a:prstGeom prst="ellipse">
            <a:avLst/>
          </a:prstGeom>
          <a:solidFill>
            <a:srgbClr val="376094"/>
          </a:solidFill>
          <a:ln w="7620">
            <a:solidFill>
              <a:srgbClr val="37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893808" y="3273552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05288" y="3227832"/>
            <a:ext cx="13533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ptos"/>
              </a:rPr>
              <a:t>분석 업무 효율화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305288" y="3456432"/>
            <a:ext cx="13533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Aptos"/>
              </a:rPr>
              <a:t>전문가의 전략적 업무 집중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784080" y="3767328"/>
            <a:ext cx="2084831" cy="512064"/>
          </a:xfrm>
          <a:prstGeom prst="roundRect">
            <a:avLst/>
          </a:prstGeom>
          <a:solidFill>
            <a:srgbClr val="4870A3"/>
          </a:solidFill>
          <a:ln w="7620">
            <a:solidFill>
              <a:srgbClr val="4E7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893808" y="3858768"/>
            <a:ext cx="310896" cy="310896"/>
          </a:xfrm>
          <a:prstGeom prst="ellipse">
            <a:avLst/>
          </a:prstGeom>
          <a:solidFill>
            <a:srgbClr val="376094"/>
          </a:solidFill>
          <a:ln w="7620">
            <a:solidFill>
              <a:srgbClr val="37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893808" y="3858768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305288" y="3813048"/>
            <a:ext cx="13533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ptos"/>
              </a:rPr>
              <a:t>지속적인 수율 경쟁력 확보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22992" y="4590288"/>
            <a:ext cx="1298448" cy="4114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930" b="0">
                <a:solidFill>
                  <a:srgbClr val="FFFFFF"/>
                </a:solidFill>
                <a:latin typeface="Aptos"/>
              </a:rPr>
              <a:t>Higher Yield
Brighter Tomorrow</a:t>
            </a:r>
          </a:p>
        </p:txBody>
      </p:sp>
      <p:sp>
        <p:nvSpPr>
          <p:cNvPr id="163" name="Oval 162"/>
          <p:cNvSpPr/>
          <p:nvPr/>
        </p:nvSpPr>
        <p:spPr>
          <a:xfrm>
            <a:off x="9957816" y="5157216"/>
            <a:ext cx="1737360" cy="1737360"/>
          </a:xfrm>
          <a:prstGeom prst="ellipse">
            <a:avLst/>
          </a:prstGeom>
          <a:solidFill>
            <a:srgbClr val="B3D0DC"/>
          </a:solidFill>
          <a:ln w="7620">
            <a:solidFill>
              <a:srgbClr val="B3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 flipH="1">
            <a:off x="9902952" y="5285232"/>
            <a:ext cx="192024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10104120" y="5285232"/>
            <a:ext cx="192024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10305288" y="5285232"/>
            <a:ext cx="192023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10506456" y="5285232"/>
            <a:ext cx="192024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10707624" y="5285232"/>
            <a:ext cx="192024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10908792" y="5285232"/>
            <a:ext cx="192023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1109960" y="5285232"/>
            <a:ext cx="192024" cy="1033272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003536" y="5340096"/>
            <a:ext cx="158191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003536" y="5541264"/>
            <a:ext cx="158191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003536" y="5742432"/>
            <a:ext cx="158191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003536" y="5943600"/>
            <a:ext cx="158191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003536" y="6144768"/>
            <a:ext cx="1581912" cy="0"/>
          </a:xfrm>
          <a:prstGeom prst="line">
            <a:avLst/>
          </a:prstGeom>
          <a:ln w="444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145536" y="4526280"/>
            <a:ext cx="0" cy="301752"/>
          </a:xfrm>
          <a:prstGeom prst="line">
            <a:avLst/>
          </a:prstGeom>
          <a:ln w="13970">
            <a:solidFill>
              <a:srgbClr val="84A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928616" y="4526280"/>
            <a:ext cx="0" cy="301752"/>
          </a:xfrm>
          <a:prstGeom prst="line">
            <a:avLst/>
          </a:prstGeom>
          <a:ln w="13970">
            <a:solidFill>
              <a:srgbClr val="84A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720840" y="4526280"/>
            <a:ext cx="0" cy="301752"/>
          </a:xfrm>
          <a:prstGeom prst="line">
            <a:avLst/>
          </a:prstGeom>
          <a:ln w="13970">
            <a:solidFill>
              <a:srgbClr val="84A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513064" y="4526280"/>
            <a:ext cx="0" cy="301752"/>
          </a:xfrm>
          <a:prstGeom prst="line">
            <a:avLst/>
          </a:prstGeom>
          <a:ln w="13970">
            <a:solidFill>
              <a:srgbClr val="84A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3959352" y="4965192"/>
            <a:ext cx="3703320" cy="612648"/>
          </a:xfrm>
          <a:prstGeom prst="roundRect">
            <a:avLst/>
          </a:prstGeom>
          <a:solidFill>
            <a:srgbClr val="F0E8FD"/>
          </a:solidFill>
          <a:ln w="7620">
            <a:solidFill>
              <a:srgbClr val="CDB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681728" y="5074920"/>
            <a:ext cx="292608" cy="292608"/>
          </a:xfrm>
          <a:prstGeom prst="ellipse">
            <a:avLst/>
          </a:prstGeom>
          <a:solidFill>
            <a:srgbClr val="6449BE"/>
          </a:solidFill>
          <a:ln w="7620">
            <a:solidFill>
              <a:srgbClr val="644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681728" y="5074920"/>
            <a:ext cx="292608" cy="29260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93208" y="5029200"/>
            <a:ext cx="2103120" cy="24688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300" b="1">
                <a:solidFill>
                  <a:srgbClr val="6449BE"/>
                </a:solidFill>
                <a:latin typeface="Aptos"/>
              </a:rPr>
              <a:t>수율분석 Agent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25112" y="5321808"/>
            <a:ext cx="29718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90" b="0">
                <a:solidFill>
                  <a:srgbClr val="132546"/>
                </a:solidFill>
                <a:latin typeface="Aptos"/>
              </a:rPr>
              <a:t>데이터를 연결하고, 인사이트를 찾아, 해결책을 제안하는 AI 파트너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699248" y="5266944"/>
            <a:ext cx="301752" cy="0"/>
          </a:xfrm>
          <a:prstGeom prst="line">
            <a:avLst/>
          </a:prstGeom>
          <a:ln w="22860">
            <a:solidFill>
              <a:srgbClr val="644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8083296" y="5010912"/>
            <a:ext cx="1389888" cy="219456"/>
          </a:xfrm>
          <a:prstGeom prst="roundRect">
            <a:avLst/>
          </a:prstGeom>
          <a:solidFill>
            <a:srgbClr val="EFE6FC"/>
          </a:solidFill>
          <a:ln w="7620">
            <a:solidFill>
              <a:srgbClr val="EF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147304" y="5010912"/>
            <a:ext cx="126187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6449BE"/>
                </a:solidFill>
                <a:latin typeface="Aptos"/>
              </a:rPr>
              <a:t>✓ 자동 데이터 수집·분석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8083296" y="5266944"/>
            <a:ext cx="1389888" cy="219456"/>
          </a:xfrm>
          <a:prstGeom prst="roundRect">
            <a:avLst/>
          </a:prstGeom>
          <a:solidFill>
            <a:srgbClr val="EFE6FC"/>
          </a:solidFill>
          <a:ln w="7620">
            <a:solidFill>
              <a:srgbClr val="EF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147304" y="5266944"/>
            <a:ext cx="126187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6449BE"/>
                </a:solidFill>
                <a:latin typeface="Aptos"/>
              </a:rPr>
              <a:t>✓ 이상 패턴 탐지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083296" y="5522976"/>
            <a:ext cx="1389888" cy="219456"/>
          </a:xfrm>
          <a:prstGeom prst="roundRect">
            <a:avLst/>
          </a:prstGeom>
          <a:solidFill>
            <a:srgbClr val="EFE6FC"/>
          </a:solidFill>
          <a:ln w="7620">
            <a:solidFill>
              <a:srgbClr val="EF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147304" y="5522976"/>
            <a:ext cx="126187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6449BE"/>
                </a:solidFill>
                <a:latin typeface="Aptos"/>
              </a:rPr>
              <a:t>✓ 지식 기반 원인 추론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083296" y="5779008"/>
            <a:ext cx="1389888" cy="219456"/>
          </a:xfrm>
          <a:prstGeom prst="roundRect">
            <a:avLst/>
          </a:prstGeom>
          <a:solidFill>
            <a:srgbClr val="EFE6FC"/>
          </a:solidFill>
          <a:ln w="7620">
            <a:solidFill>
              <a:srgbClr val="EFE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147304" y="5779008"/>
            <a:ext cx="126187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6449BE"/>
                </a:solidFill>
                <a:latin typeface="Aptos"/>
              </a:rPr>
              <a:t>✓ 개선 방향 제안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2523744" y="5824728"/>
            <a:ext cx="6071616" cy="484632"/>
          </a:xfrm>
          <a:prstGeom prst="roundRect">
            <a:avLst/>
          </a:prstGeom>
          <a:solidFill>
            <a:srgbClr val="E7F0FA"/>
          </a:solidFill>
          <a:ln w="762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136392" y="5888736"/>
            <a:ext cx="292608" cy="1920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3474CD"/>
                </a:solidFill>
                <a:latin typeface="Aptos"/>
              </a:rPr>
              <a:t>▥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916936" y="6108192"/>
            <a:ext cx="73152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20" b="0">
                <a:solidFill>
                  <a:srgbClr val="132546"/>
                </a:solidFill>
                <a:latin typeface="Aptos"/>
              </a:rPr>
              <a:t>Inline Data</a:t>
            </a:r>
          </a:p>
        </p:txBody>
      </p:sp>
      <p:cxnSp>
        <p:nvCxnSpPr>
          <p:cNvPr id="197" name="Connector 196"/>
          <p:cNvCxnSpPr/>
          <p:nvPr/>
        </p:nvCxnSpPr>
        <p:spPr>
          <a:xfrm flipV="1">
            <a:off x="3282696" y="5650992"/>
            <a:ext cx="0" cy="164592"/>
          </a:xfrm>
          <a:prstGeom prst="line">
            <a:avLst/>
          </a:prstGeom>
          <a:ln w="1016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4123944" y="5888736"/>
            <a:ext cx="292608" cy="1920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3474CD"/>
                </a:solidFill>
                <a:latin typeface="Aptos"/>
              </a:rPr>
              <a:t>▦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904487" y="6108192"/>
            <a:ext cx="73152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20" b="0">
                <a:solidFill>
                  <a:srgbClr val="132546"/>
                </a:solidFill>
                <a:latin typeface="Aptos"/>
              </a:rPr>
              <a:t>Wafer Test Data</a:t>
            </a:r>
          </a:p>
        </p:txBody>
      </p:sp>
      <p:cxnSp>
        <p:nvCxnSpPr>
          <p:cNvPr id="200" name="Connector 199"/>
          <p:cNvCxnSpPr/>
          <p:nvPr/>
        </p:nvCxnSpPr>
        <p:spPr>
          <a:xfrm flipV="1">
            <a:off x="4270248" y="5650992"/>
            <a:ext cx="0" cy="164592"/>
          </a:xfrm>
          <a:prstGeom prst="line">
            <a:avLst/>
          </a:prstGeom>
          <a:ln w="1016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5111496" y="5888736"/>
            <a:ext cx="292608" cy="1920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3474CD"/>
                </a:solidFill>
                <a:latin typeface="Aptos"/>
              </a:rPr>
              <a:t>▣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892040" y="6108192"/>
            <a:ext cx="73152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20" b="0">
                <a:solidFill>
                  <a:srgbClr val="132546"/>
                </a:solidFill>
                <a:latin typeface="Aptos"/>
              </a:rPr>
              <a:t>Process Data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5257800" y="5650992"/>
            <a:ext cx="0" cy="164592"/>
          </a:xfrm>
          <a:prstGeom prst="line">
            <a:avLst/>
          </a:prstGeom>
          <a:ln w="1016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6099048" y="5888736"/>
            <a:ext cx="292608" cy="1920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3474CD"/>
                </a:solidFill>
                <a:latin typeface="Aptos"/>
              </a:rPr>
              <a:t>●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879592" y="6108192"/>
            <a:ext cx="73152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20" b="0">
                <a:solidFill>
                  <a:srgbClr val="132546"/>
                </a:solidFill>
                <a:latin typeface="Aptos"/>
              </a:rPr>
              <a:t>Material Data</a:t>
            </a:r>
          </a:p>
        </p:txBody>
      </p:sp>
      <p:cxnSp>
        <p:nvCxnSpPr>
          <p:cNvPr id="206" name="Connector 205"/>
          <p:cNvCxnSpPr/>
          <p:nvPr/>
        </p:nvCxnSpPr>
        <p:spPr>
          <a:xfrm flipV="1">
            <a:off x="6245352" y="5650992"/>
            <a:ext cx="0" cy="164592"/>
          </a:xfrm>
          <a:prstGeom prst="line">
            <a:avLst/>
          </a:prstGeom>
          <a:ln w="1016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7086600" y="5888736"/>
            <a:ext cx="292608" cy="19202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3474CD"/>
                </a:solidFill>
                <a:latin typeface="Aptos"/>
              </a:rPr>
              <a:t>▤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867144" y="6108192"/>
            <a:ext cx="73152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20" b="0">
                <a:solidFill>
                  <a:srgbClr val="132546"/>
                </a:solidFill>
                <a:latin typeface="Aptos"/>
              </a:rPr>
              <a:t>Historical Cases</a:t>
            </a:r>
          </a:p>
        </p:txBody>
      </p:sp>
      <p:cxnSp>
        <p:nvCxnSpPr>
          <p:cNvPr id="209" name="Connector 208"/>
          <p:cNvCxnSpPr/>
          <p:nvPr/>
        </p:nvCxnSpPr>
        <p:spPr>
          <a:xfrm flipV="1">
            <a:off x="7232904" y="5650992"/>
            <a:ext cx="0" cy="164592"/>
          </a:xfrm>
          <a:prstGeom prst="line">
            <a:avLst/>
          </a:prstGeom>
          <a:ln w="10160">
            <a:solidFill>
              <a:srgbClr val="3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64592" y="6419088"/>
            <a:ext cx="11832336" cy="0"/>
          </a:xfrm>
          <a:prstGeom prst="line">
            <a:avLst/>
          </a:prstGeom>
          <a:ln w="6350">
            <a:solidFill>
              <a:srgbClr val="D8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237744" y="6473952"/>
            <a:ext cx="96012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700" b="1">
                <a:solidFill>
                  <a:srgbClr val="5F6F89"/>
                </a:solidFill>
                <a:latin typeface="Aptos"/>
              </a:rPr>
              <a:t>SK hynix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60120" y="6473952"/>
            <a:ext cx="114300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40" b="0">
                <a:solidFill>
                  <a:srgbClr val="5F6F89"/>
                </a:solidFill>
                <a:latin typeface="Aptos"/>
              </a:rPr>
              <a:t>Yield Analysis Agent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343400" y="6473952"/>
            <a:ext cx="338328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450" b="0">
                <a:solidFill>
                  <a:srgbClr val="5F6F89"/>
                </a:solidFill>
                <a:latin typeface="Aptos"/>
              </a:rPr>
              <a:t>S M A R T E R   A N A L Y S I S   ·   H I G H E R   Y I E L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
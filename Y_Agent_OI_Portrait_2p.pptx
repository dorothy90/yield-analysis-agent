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9b55518274bce" /><Relationship Type="http://schemas.openxmlformats.org/officeDocument/2006/relationships/extended-properties" Target="/docProps/app.xml" Id="Rda9ee26822144dbf" /><Relationship Type="http://schemas.openxmlformats.org/officeDocument/2006/relationships/officeDocument" Target="/ppt/presentation.xml" Id="R4ec6c413574643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4299721974836"/>
  </p:sldMasterIdLst>
  <p:notesMasterIdLst>
    <p:notesMasterId xmlns:r="http://schemas.openxmlformats.org/officeDocument/2006/relationships" r:id="Ra60e67775fb14636"/>
  </p:notesMasterIdLst>
  <p:sldIdLst>
    <p:sldId xmlns:r="http://schemas.openxmlformats.org/officeDocument/2006/relationships" id="256" r:id="Ra6fb58d32e1a4f4e"/>
    <p:sldId xmlns:r="http://schemas.openxmlformats.org/officeDocument/2006/relationships" id="257" r:id="R9c8c52dc7c8142d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cbd9edb5a94982" /><Relationship Type="http://schemas.openxmlformats.org/officeDocument/2006/relationships/slideMaster" Target="/ppt/slideMasters/slideMaster1.xml" Id="Rf594299721974836" /><Relationship Type="http://schemas.openxmlformats.org/officeDocument/2006/relationships/notesMaster" Target="/ppt/notesMasters/notesMaster1.xml" Id="Ra60e67775fb14636" /><Relationship Type="http://schemas.openxmlformats.org/officeDocument/2006/relationships/presProps" Target="/ppt/presProps.xml" Id="Ra74b00a2ea404d5f" /><Relationship Type="http://schemas.openxmlformats.org/officeDocument/2006/relationships/tableStyles" Target="/ppt/tableStyles.xml" Id="R9a99b8c673684a19" /><Relationship Type="http://schemas.openxmlformats.org/officeDocument/2006/relationships/slide" Target="/ppt/slides/slide1.xml" Id="Ra6fb58d32e1a4f4e" /><Relationship Type="http://schemas.openxmlformats.org/officeDocument/2006/relationships/slide" Target="/ppt/slides/slide2.xml" Id="R9c8c52dc7c81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709f833872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abcf753fd04e48" /><Relationship Type="http://schemas.openxmlformats.org/officeDocument/2006/relationships/notesMaster" Target="/ppt/notesMasters/notesMaster1.xml" Id="R747170b1ca9045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985838aaed47a5" /><Relationship Type="http://schemas.openxmlformats.org/officeDocument/2006/relationships/notesMaster" Target="/ppt/notesMasters/notesMaster1.xml" Id="R324dcc12ffe540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대화 「수율 분석 혁신 검토」의 OI 스토리 및 레이아웃. 상세 근거: Y_Agent_Detail_6pages_Editable.pptx 1~3페이지. Mining 3종 비교의 정량 성능 수치는 제공되지 않아 표시하지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대화 「수율 분석 혁신 검토」의 최신 OI 구성. Y_Agent_Detail_6pages_Editable.pptx 2~6페이지. 81개는 도출된 개선 과제 수로 완료 건수를 의미하지 않음. 실제 이슈 7건 중 5건 검출, 2건은 미구현 분석 방법 필요. MCP/BoI Wiki 정형 보고서 배치 작성은 현재 구현, Workflow 지식화와 자율 분석은 향후 계획.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55220bc0d46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cb79e2158409b" /><Relationship Type="http://schemas.openxmlformats.org/officeDocument/2006/relationships/slideLayout" Target="/ppt/slideLayouts/slideLayout1.xml" Id="R254fa07be9cf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fa07be9cf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47b2b9501429e" /><Relationship Type="http://schemas.openxmlformats.org/officeDocument/2006/relationships/notesSlide" Target="/ppt/notesSlides/notesSlide1.xml" Id="R542e73343bd043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bec6bf0444fd7" /><Relationship Type="http://schemas.openxmlformats.org/officeDocument/2006/relationships/notesSlide" Target="/ppt/notesSlides/notesSlide2.xml" Id="R1a0a41a397134f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8D5400-48CC-4B84-9041-CDB5BB60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소구 포인트  /  OI 측면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532B8-DEAA-4A66-8C18-0A47CFAD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도메인 지식의 내재화를 통한</a:t>
            </a:r>
          </a:p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수율 분석의 본원적 경쟁력 강화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6EF08-9D95-4C5A-9849-BA01D435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숙련자의 판단 기준과 분석 방법을 Agent가 실행할 수 있는 로직으로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6B139-0B05-45B4-813B-6C5754A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3F8E3-EDC9-4B0A-904E-8115EED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8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Y-Agent  ·  수율분석 혁신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26F0E-E479-4A47-A885-5D5524F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3536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83EA6-C84C-47D1-9F1D-F7AF394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82ADB-3284-4B74-9AC9-07B37007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본원적 경쟁력의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CAB69-8262-4ACA-8660-ACEA628A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6762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23E13-5A9B-413A-89F0-117255F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574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열화를 파악하고 원인 후보를 좁혀, 후속 판단으로 연결하는 역량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FFB81-8E68-4394-974C-1915E221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99C92-A979-4529-9596-E69A52CE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열화 파악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9E362-C23B-4949-AA94-06AA9C1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대상과 이상 징후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FFB35-E0C0-4DB9-AF11-9D43C93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241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15D22-4EE8-4C9A-A3F9-03ED85F3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90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원인 후보 축소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84BC-8CC0-49D5-B201-3099CD99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670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공정·자재·Map 연계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27A1E-6FAA-469D-9D5E-44C784A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635C4-0EC6-4E4F-9798-CE8B7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후속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6D713-6B76-42BF-A0CA-623AC938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670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결과 해석과 추가 분석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7F76E-C108-45A8-8873-D69F2103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16765-BB45-4F16-AB38-EA02241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숙련자의 판단을 실행 로직으로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F2652-6C47-4FE6-80BF-B769315C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022AD5-1AD1-4EBF-84A1-DBDE3155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숙련자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7F344-E9A8-4830-A4D4-2E46749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OPLS SOP 검토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현업 인터뷰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84A71-F427-4F23-A36A-91222C4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07166-B7A5-45EB-9293-6D19321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로직화·비교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FACA7-BB21-4DA4-B6B1-732853C6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순서·입력 정의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해석 기준 비교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6A3A9-F89F-4EBE-971F-0B0E5B8A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8852E-7915-40A3-979D-0364E20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Agent 구현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3F52A-E1BD-49DA-9BBC-841F55E9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전문 Agent 분석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Workflow 연결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D7C91-FEB1-4456-8FEE-8C0BF57C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24350"/>
            <a:ext cx="15049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F3E38-C3D9-463C-A62F-3A797639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38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E926F-204D-431E-AAE2-540FF6D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52975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실제 결과 비교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보완 사항 반영</a:t>
            </a:r>
          </a:p>
        </p:txBody>
      </p:sp>
      <p:cxnSp>
        <p:nvCxnSpPr>
          <p:cNvPr id="99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905000" y="48434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657600" y="48434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410200" y="48434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DE22F-869B-4AFD-99CB-1B8B9065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676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무엇을 확인할지, 어떻게 해석할지, 다음에 무엇을 분석할지까지 구조화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030196-2ABC-4F66-B2C7-877843A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0D8379-B040-456D-8713-7633D71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지식을 내재화한 대표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CE33B-64EA-4A46-9503-3D75C10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26707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873EC-718C-4F38-83EE-E419ECE6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457950"/>
            <a:ext cx="326707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6FC3D8-6E07-46D1-85C0-B780325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열화감지 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F7218E-DA97-45C5-ADC2-7C7D6988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4372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현업의 열화감지 로직을 구현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057ADC-D9F9-435C-B336-A65E749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723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14ABDF-FB03-40FA-BBE6-64AEE15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39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수율 데이터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1F0BE7-F371-4C7C-A348-F107F0CF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제품·기간·공정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D6A317-FE74-4AF7-B4B3-8A9E51E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372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E3628E-4CAD-468F-872E-6A6FDB7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4390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열화 내용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350769-A648-4097-A213-98079205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71525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보고서 함께 확인</a:t>
            </a:r>
          </a:p>
        </p:txBody>
      </p:sp>
      <p:cxnSp>
        <p:nvCxnSpPr>
          <p:cNvPr id="115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828800" y="77152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8B1E3F-1697-40B7-997C-4BE6C687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01025"/>
            <a:ext cx="291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기간별 수율 확인과 분석 대상 검토를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한 환경에서 수행하고 후속 분석에 활용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19A45A-2027-4FEB-9F20-939BA47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5722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Mining 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B90B1B-B6D8-45B8-A82F-A2E85F6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94372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분류 머신러닝과 Wafer Map 결합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ED06BA-8203-4904-906B-F8E5814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73723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4EEF3E-BC64-40A6-8D73-C08CCFD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4390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Fail Map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ED1CAD-598B-406D-A2E1-AB85DFF6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771525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분포 양상 확인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516580-D463-4EDC-A00E-0A083A5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372350"/>
            <a:ext cx="1304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87AC4C-D7F5-4642-AB8B-798FA961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439025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원인 후보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7DC541-1FE8-4D7C-BE14-470B800D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715250"/>
            <a:ext cx="1076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유사 양상 추출</a:t>
            </a:r>
          </a:p>
        </p:txBody>
      </p:sp>
      <p:cxnSp>
        <p:nvCxnSpPr>
          <p:cNvPr id="125" name="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324475" y="7715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72E103-5743-468B-AE24-DFA3E24E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820102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Fail Map과 유사한 원인 후보를 추출하여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불량 원인 추적과 후속 분석을 지원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0A5411-8717-4BAF-9BCB-8F52A488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24925"/>
            <a:ext cx="676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857498-5534-499E-B63E-357075CB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비교 검증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0E0D6F-8C0C-4DE0-9B99-49FCCDAF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9001125"/>
            <a:ext cx="5191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3가지 Mining 결과 비교에서</a:t>
            </a:r>
          </a:p>
          <a:p xmlns:a="http://schemas.openxmlformats.org/drawingml/2006/main">
            <a:pPr algn="l">
              <a:def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도메인 지식 기반 방식의 우수성 확인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DBA214-A5BF-4879-8B2F-ADB16D11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0"/>
            <a:ext cx="676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숙련자의 전문성을 반복 활용 가능한 분석 역량으로 내재화</a:t>
            </a:r>
          </a:p>
        </p:txBody>
      </p:sp>
    </p:spTree>
    <p:extLst>
      <p:ext uri="{BB962C8B-B14F-4D97-AF65-F5344CB8AC3E}">
        <p14:creationId xmlns:p14="http://schemas.microsoft.com/office/powerpoint/2010/main" val="1311092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F8CC21-ABCF-4654-95E9-CC1A651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소구 포인트  /  OI 측면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60A83-79F8-4D41-9DCA-9327941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분석 전 과정의 재설계와</a:t>
            </a:r>
          </a:p>
          <a:p xmlns:a="http://schemas.openxmlformats.org/drawingml/2006/main">
            <a:pPr algn="l">
              <a:def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검증 기반 지속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C417-C21E-429E-A2A8-5B208F3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업무 연결 구조를 개선하고, 실제 사용에서 나온 요구를 고도화에 반영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CD1B6-EC03-434A-9808-CCC20AD0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5CD21-18B4-4364-806A-13F6A3B1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822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Y-Agent  ·  수율분석 혁신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25F23-43C7-474D-A600-1CB2167C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3536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8FC35-67C9-443E-85D5-DEF2B11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E0758-E718-437C-A297-CBE1A81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분석 프로세스의 개선 전후</a:t>
            </a:r>
          </a:p>
        </p:txBody>
      </p:sp>
      <p:graphicFrame>
        <p:nvGraphicFramePr>
          <p:cNvPr id="55" name=""/>
          <p:cNvGraphicFramePr/>
          <p:nvPr/>
        </p:nvGraphicFramePr>
        <p:xfrm>
          <a:off xmlns:a="http://schemas.openxmlformats.org/drawingml/2006/main" x="400050" y="2343150"/>
          <a:ext xmlns:a="http://schemas.openxmlformats.org/drawingml/2006/main" cx="67627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495550"/>
                <a:gridCol w="3219450"/>
              </a:tblGrid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33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업무 방식</a:t>
                      </a:r>
                    </a:p>
                  </a:txBody>
                  <a:tcPr marL="91440" marR="91440" marT="45720" marB="45720">
                    <a:solidFill>
                      <a:srgbClr val="233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Y-Agent 기반 개선</a:t>
                      </a:r>
                    </a:p>
                  </a:txBody>
                  <a:tcPr marL="91440" marR="91440" marT="45720" marB="45720">
                    <a:solidFill>
                      <a:srgbClr val="23313D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분석마다 조회·추출·정리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전처리·DB 적재로 분석 속도 개선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 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여러 시스템과 도구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단일 환경에서 자연어 분석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 경험으로 다음 분석 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규칙 기반 추천과 엔지니어 선택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도구 연계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분석 화면을 별도로 조회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SmartFactory 동일 Trend 연계</a:t>
                      </a:r>
                    </a:p>
                  </a:txBody>
                  <a:tcPr marL="91440" marR="91440" marT="45720" marB="45720">
                    <a:solidFill>
                      <a:srgbClr val="E9EFF3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D009A-296D-44B7-8144-3C6A611E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FEEDD-E1DB-4206-B67E-BB297CA6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현업 사용과 검증을 통한 개선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6C6B8-2ACD-493D-8E53-1549FF9A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60C75-9EF6-4831-9809-32A3A281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실제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4D2D9-F685-425A-A49F-79DDEA53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엔지니어 직접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6441A-1C0D-4BF9-8F2E-582902C1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E7A91-2B27-454F-9505-7E509DFC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Daily 검토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B5A40-9EE9-4A12-8D5D-FB5DFD3C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결과·불편 사항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8C7EA-C414-4D05-8050-A61B2D5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65A1A-8277-45FE-A001-F995BB6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개선 반영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D68B2-3424-4FE6-ABDC-B713985C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기능·분석 로직 보완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31155-8A1B-484B-A150-9DFD76F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673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BDA0D-A289-4686-99C8-368549B8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81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재검증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28E1E-C2D8-44F7-92FD-6B48BC1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959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실제 이슈로 확인</a:t>
            </a:r>
          </a:p>
        </p:txBody>
      </p: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905000" y="5476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57600" y="5476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410200" y="5476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1" idx="2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>
            <a:off x="1152525" y="5886450"/>
            <a:ext cx="5257800" cy="2286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B1F422-377F-413C-ABE7-854ADE2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57925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8C9E7-73C4-4C9C-B935-7693EDBA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57925"/>
            <a:ext cx="3257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B4ADA-F615-4DFB-8418-D87542E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81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81개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1C566-649C-4500-BF7F-CA1238C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4484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개선 과제 도출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FC8C1-052E-459B-A3AB-A74599CB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43725"/>
            <a:ext cx="289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현업 요구와 사용 피드백을</a:t>
            </a:r>
          </a:p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Y-Agent 고도화 과제로 구체화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574FF-B2A6-4B99-B057-7120758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343650"/>
            <a:ext cx="157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5 / 7건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05156-D30A-4CAE-ADA2-86F6166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448425"/>
            <a:ext cx="1400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실제 이슈 검출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56A4DC-5AA1-4F7A-8CD9-4D82D617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943725"/>
            <a:ext cx="2905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나머지 2건은 현재 미구현된</a:t>
            </a:r>
          </a:p>
          <a:p xmlns:a="http://schemas.openxmlformats.org/drawingml/2006/main">
            <a:pPr algn="l">
              <a:def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방법이 필요한 사례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CDAF3-EADB-47EB-A56D-F6A56BE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009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08818A-1D2E-4D7C-91F5-A74DAA6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009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구현 경험을 바탕으로 지식화 확장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51B9D8-D99B-4BA9-A5D8-4A2225C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220075"/>
            <a:ext cx="316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0E7F5-72EA-4C9D-8849-9AB33EC5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34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현재 구현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6C74C-4B42-4D8F-920F-2886112A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487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MCP × BoI Wiki 하네스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반복 호출로 정형 분석보고서 배치 작성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807DCE-FC9F-4758-A9ED-8B9D7E97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220075"/>
            <a:ext cx="316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2723CE-5BB0-48D3-94CA-CDB234A5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3343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향후 고도화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48EB2B-AA5A-4806-81EF-3AA9A513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6487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분석 Sequence·Action·CumMap 축적</a:t>
            </a:r>
          </a:p>
          <a:p xmlns:a="http://schemas.openxmlformats.org/drawingml/2006/main">
            <a:pPr algn="l">
              <a:def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582"/>
                </a:solidFill>
                <a:latin typeface="Noto Sans KR"/>
                <a:ea typeface="Noto Sans KR"/>
                <a:cs typeface="Noto Sans KR"/>
              </a:rPr>
              <a:t>Workflow 검색·재사용과 분석 추천</a:t>
            </a:r>
          </a:p>
        </p:txBody>
      </p:sp>
      <p:cxnSp>
        <p:nvCxnSpPr>
          <p:cNvPr id="90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562350" y="8763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748A"/>
            </a:solidFill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CC7045-3A2F-4A1D-A784-6CE24DC9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4678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5748A"/>
                </a:solidFill>
                <a:latin typeface="Noto Sans KR"/>
                <a:ea typeface="Noto Sans KR"/>
                <a:cs typeface="Noto Sans KR"/>
              </a:rPr>
              <a:t>현업의 분석 과정과 판단 이력을 조직의 지식으로 축적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A0AC82-CF12-4BE6-8EFF-2D189E5E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39325"/>
            <a:ext cx="676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3313D"/>
                </a:solidFill>
                <a:latin typeface="Noto Sans KR"/>
                <a:ea typeface="Noto Sans KR"/>
                <a:cs typeface="Noto Sans KR"/>
              </a:rPr>
              <a:t>프로세스 개선과 검증의 반복으로 수율분석 역량을 지속 고도화</a:t>
            </a:r>
          </a:p>
        </p:txBody>
      </p:sp>
    </p:spTree>
    <p:extLst>
      <p:ext uri="{BB962C8B-B14F-4D97-AF65-F5344CB8AC3E}">
        <p14:creationId xmlns:p14="http://schemas.microsoft.com/office/powerpoint/2010/main" val="911619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2026-09-22T22:28:24.2360000Z</dcterms:created>
  <dcterms:modified xsi:type="dcterms:W3CDTF">2026-09-22T22:28:24.2360000Z</dcterms:modified>
</coreProperties>
</file>
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52efac73cb4d3e" /><Relationship Type="http://schemas.openxmlformats.org/officeDocument/2006/relationships/extended-properties" Target="/docProps/app.xml" Id="R78f63a2885ff4626" /><Relationship Type="http://schemas.openxmlformats.org/officeDocument/2006/relationships/officeDocument" Target="/ppt/presentation.xml" Id="R7a0505ddb437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4bb26127c4028"/>
  </p:sldMasterIdLst>
  <p:notesMasterIdLst>
    <p:notesMasterId xmlns:r="http://schemas.openxmlformats.org/officeDocument/2006/relationships" r:id="Rd7acffbe1fc046ba"/>
  </p:notesMasterIdLst>
  <p:sldIdLst>
    <p:sldId xmlns:r="http://schemas.openxmlformats.org/officeDocument/2006/relationships" id="256" r:id="R3871c98db2e14486"/>
    <p:sldId xmlns:r="http://schemas.openxmlformats.org/officeDocument/2006/relationships" id="257" r:id="R6fdc00a626134baf"/>
  </p:sldIdLst>
  <p:sldSz cx="10039350" cy="14211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56cb1b07ea40d3" /><Relationship Type="http://schemas.openxmlformats.org/officeDocument/2006/relationships/slideMaster" Target="/ppt/slideMasters/slideMaster1.xml" Id="R6244bb26127c4028" /><Relationship Type="http://schemas.openxmlformats.org/officeDocument/2006/relationships/notesMaster" Target="/ppt/notesMasters/notesMaster1.xml" Id="Rd7acffbe1fc046ba" /><Relationship Type="http://schemas.openxmlformats.org/officeDocument/2006/relationships/presProps" Target="/ppt/presProps.xml" Id="Rf95a303522314fd5" /><Relationship Type="http://schemas.openxmlformats.org/officeDocument/2006/relationships/tableStyles" Target="/ppt/tableStyles.xml" Id="Re98c20102edc4209" /><Relationship Type="http://schemas.openxmlformats.org/officeDocument/2006/relationships/slide" Target="/ppt/slides/slide1.xml" Id="R3871c98db2e14486" /><Relationship Type="http://schemas.openxmlformats.org/officeDocument/2006/relationships/slide" Target="/ppt/slides/slide2.xml" Id="R6fdc00a626134b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f1140e75cf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0feb2b86c42b5" /><Relationship Type="http://schemas.openxmlformats.org/officeDocument/2006/relationships/notesMaster" Target="/ppt/notesMasters/notesMaster1.xml" Id="R274bc2ac166c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47211a608848bc" /><Relationship Type="http://schemas.openxmlformats.org/officeDocument/2006/relationships/notesMaster" Target="/ppt/notesMasters/notesMaster1.xml" Id="Rba8f31229efa40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승인한 사례요약 인포그래픽 1장을 바탕으로 구성. 본문과 흐름도는 네이티브 개체. 인물·웨이퍼 일러스트는 원본 생성 이미지에서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승인한 사례요약 인포그래픽 2장 기반. 5/7은 해당 실제 수율 이슈 검증 사례의 결과이며 일반 정확도 아님. 81건은 협업 Action Item. 조직 지식화와 자율 분석은 향후 방향.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01dcdb37040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939ffd6cf04709" /><Relationship Type="http://schemas.openxmlformats.org/officeDocument/2006/relationships/slideLayout" Target="/ppt/slideLayouts/slideLayout1.xml" Id="R744ad4c4cb9a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4ad4c4cb9a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0b67dc84b4faf" /><Relationship Type="http://schemas.openxmlformats.org/officeDocument/2006/relationships/image" Target="/ppt/media/image.png" Id="R125099d5c900447a" /><Relationship Type="http://schemas.openxmlformats.org/officeDocument/2006/relationships/image" Target="/ppt/media/image2.png" Id="R3f1c9a8f31fc4c4e" /><Relationship Type="http://schemas.openxmlformats.org/officeDocument/2006/relationships/image" Target="/ppt/media/image3.png" Id="Rdbec5885ff524171" /><Relationship Type="http://schemas.openxmlformats.org/officeDocument/2006/relationships/image" Target="/ppt/media/image4.png" Id="R36f70e7dfd824771" /><Relationship Type="http://schemas.openxmlformats.org/officeDocument/2006/relationships/notesSlide" Target="/ppt/notesSlides/notesSlide1.xml" Id="R753677d33118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6edaeed24276" /><Relationship Type="http://schemas.openxmlformats.org/officeDocument/2006/relationships/image" Target="/ppt/media/image5.png" Id="R2fe7a1382868491c" /><Relationship Type="http://schemas.openxmlformats.org/officeDocument/2006/relationships/image" Target="/ppt/media/image6.png" Id="Rf47bfa716a214ed6" /><Relationship Type="http://schemas.openxmlformats.org/officeDocument/2006/relationships/image" Target="/ppt/media/image7.png" Id="Rae34e968dbbb4464" /><Relationship Type="http://schemas.openxmlformats.org/officeDocument/2006/relationships/image" Target="/ppt/media/image8.png" Id="R531769ce03934060" /><Relationship Type="http://schemas.openxmlformats.org/officeDocument/2006/relationships/image" Target="/ppt/media/image9.png" Id="Rda41893760b5461b" /><Relationship Type="http://schemas.openxmlformats.org/officeDocument/2006/relationships/image" Target="/ppt/media/image10.png" Id="R4db316ed13a342d2" /><Relationship Type="http://schemas.openxmlformats.org/officeDocument/2006/relationships/notesSlide" Target="/ppt/notesSlides/notesSlide2.xml" Id="Rd65ab94734834e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23" name="header__1">
              <a:extLst xmlns:a="http://schemas.openxmlformats.org/drawingml/2006/main">
                <a:ext uri="{FF2B5EF4-FFF2-40B4-BE49-F238E27FC236}">
                  <a16:creationId xmlns:a16="http://schemas.microsoft.com/office/drawing/2014/main" id="{F617EB00-FA35-4F55-AC34-EA14A8A8C5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152400"/>
              <a:ext cx="1000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2">
              <a:extLst xmlns:a="http://schemas.openxmlformats.org/drawingml/2006/main">
                <a:ext uri="{FF2B5EF4-FFF2-40B4-BE49-F238E27FC236}">
                  <a16:creationId xmlns:a16="http://schemas.microsoft.com/office/drawing/2014/main" id="{5D0E571B-B127-49AC-A43A-1ED0012F8E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2100" y="152400"/>
              <a:ext cx="3143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사례요약</a:t>
              </a:r>
            </a:p>
          </p:txBody>
        </p:sp>
        <p:sp>
          <p:nvSpPr>
            <p:cNvPr id="3" name="header__3">
              <a:extLst xmlns:a="http://schemas.openxmlformats.org/drawingml/2006/main">
                <a:ext uri="{FF2B5EF4-FFF2-40B4-BE49-F238E27FC236}">
                  <a16:creationId xmlns:a16="http://schemas.microsoft.com/office/drawing/2014/main" id="{B38643A2-631E-4680-B3A7-325991CBAA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00025"/>
              <a:ext cx="0" cy="1619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4" name="header__4">
              <a:extLst xmlns:a="http://schemas.openxmlformats.org/drawingml/2006/main">
                <a:ext uri="{FF2B5EF4-FFF2-40B4-BE49-F238E27FC236}">
                  <a16:creationId xmlns:a16="http://schemas.microsoft.com/office/drawing/2014/main" id="{231DB31E-91DB-4F92-A08F-5AE8974279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20150" y="152400"/>
              <a:ext cx="8191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01 / 02</a:t>
              </a:r>
            </a:p>
          </p:txBody>
        </p:sp>
        <p:sp>
          <p:nvSpPr>
            <p:cNvPr id="5" name="header__5">
              <a:extLst xmlns:a="http://schemas.openxmlformats.org/drawingml/2006/main">
                <a:ext uri="{FF2B5EF4-FFF2-40B4-BE49-F238E27FC236}">
                  <a16:creationId xmlns:a16="http://schemas.microsoft.com/office/drawing/2014/main" id="{C199AAC0-99BB-4199-A99E-E46F1AF6CC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" y="447675"/>
              <a:ext cx="9334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6" name="header__6">
              <a:extLst xmlns:a="http://schemas.openxmlformats.org/drawingml/2006/main">
                <a:ext uri="{FF2B5EF4-FFF2-40B4-BE49-F238E27FC236}">
                  <a16:creationId xmlns:a16="http://schemas.microsoft.com/office/drawing/2014/main" id="{D7FD5A82-21AB-4AB8-A238-F5100F81C5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600075"/>
              <a:ext cx="9334500" cy="1085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수율분석의 구조적 한계 극복을 위한</a:t>
              </a:r>
            </a:p>
            <a:p xmlns:a="http://schemas.openxmlformats.org/drawingml/2006/main">
              <a:pPr algn="l">
                <a:def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도메인 지식 기반 업무 재설계</a:t>
              </a:r>
            </a:p>
          </p:txBody>
        </p:sp>
        <p:sp>
          <p:nvSpPr>
            <p:cNvPr id="7" name="header__7">
              <a:extLst xmlns:a="http://schemas.openxmlformats.org/drawingml/2006/main">
                <a:ext uri="{FF2B5EF4-FFF2-40B4-BE49-F238E27FC236}">
                  <a16:creationId xmlns:a16="http://schemas.microsoft.com/office/drawing/2014/main" id="{E8A2462C-6F39-4A39-A022-5DF5A7E3F8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695450"/>
              <a:ext cx="89535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현업의 분석 경험을 Agent가 실행하는 전문 분석 역량으로 전환</a:t>
              </a:r>
            </a:p>
          </p:txBody>
        </p:sp>
        <p:pic>
          <p:nvPicPr>
            <p:cNvPr id="130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25099d5c900447a"/>
            <a:stretch xmlns:a="http://schemas.openxmlformats.org/drawingml/2006/main"/>
          </p:blipFill>
          <p:spPr>
            <a:xfrm xmlns:a="http://schemas.openxmlformats.org/drawingml/2006/main">
              <a:off x="7743979" y="752475"/>
              <a:ext cx="1866593" cy="857250"/>
            </a:xfrm>
            <a:prstGeom xmlns:a="http://schemas.openxmlformats.org/drawingml/2006/main" prst="rect">
              <a:avLst/>
            </a:prstGeom>
          </p:spPr>
        </p:pic>
      </p:grpSp>
      <p:grpSp>
        <p:nvGrpSpPr>
          <p:cNvPr id="10001" name="01 핵심 내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" name="section01__8">
              <a:extLst xmlns:a="http://schemas.openxmlformats.org/drawingml/2006/main">
                <a:ext uri="{FF2B5EF4-FFF2-40B4-BE49-F238E27FC236}">
                  <a16:creationId xmlns:a16="http://schemas.microsoft.com/office/drawing/2014/main" id="{14ABD9FC-DBEA-445A-AAED-925C2250A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" y="2200275"/>
              <a:ext cx="9696450" cy="3838575"/>
            </a:xfrm>
            <a:prstGeom xmlns:a="http://schemas.openxmlformats.org/drawingml/2006/main" prst="roundRect">
              <a:avLst>
                <a:gd name="adj" fmla="val 198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0" name="section01__9">
              <a:extLst xmlns:a="http://schemas.openxmlformats.org/drawingml/2006/main">
                <a:ext uri="{FF2B5EF4-FFF2-40B4-BE49-F238E27FC236}">
                  <a16:creationId xmlns:a16="http://schemas.microsoft.com/office/drawing/2014/main" id="{7DA393B7-AC92-4AF2-AB16-46513B002D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2209800"/>
              <a:ext cx="96583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1" name="section01__10">
              <a:extLst xmlns:a="http://schemas.openxmlformats.org/drawingml/2006/main">
                <a:ext uri="{FF2B5EF4-FFF2-40B4-BE49-F238E27FC236}">
                  <a16:creationId xmlns:a16="http://schemas.microsoft.com/office/drawing/2014/main" id="{D1EC57B3-4417-4FFE-B9EF-1E9C943E2F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2209800"/>
              <a:ext cx="5905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2" name="section01__11">
              <a:extLst xmlns:a="http://schemas.openxmlformats.org/drawingml/2006/main">
                <a:ext uri="{FF2B5EF4-FFF2-40B4-BE49-F238E27FC236}">
                  <a16:creationId xmlns:a16="http://schemas.microsoft.com/office/drawing/2014/main" id="{39679EFF-272E-4C42-BEAA-9F43F67A21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" y="2200275"/>
              <a:ext cx="5429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3" name="section01__12">
              <a:extLst xmlns:a="http://schemas.openxmlformats.org/drawingml/2006/main">
                <a:ext uri="{FF2B5EF4-FFF2-40B4-BE49-F238E27FC236}">
                  <a16:creationId xmlns:a16="http://schemas.microsoft.com/office/drawing/2014/main" id="{A6B702D6-BE70-4850-9AAA-4BF5DC2255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2200275"/>
              <a:ext cx="8763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문제의식과 개발 목적</a:t>
              </a:r>
            </a:p>
          </p:txBody>
        </p:sp>
        <p:sp>
          <p:nvSpPr>
            <p:cNvPr id="14" name="section01__13">
              <a:extLst xmlns:a="http://schemas.openxmlformats.org/drawingml/2006/main">
                <a:ext uri="{FF2B5EF4-FFF2-40B4-BE49-F238E27FC236}">
                  <a16:creationId xmlns:a16="http://schemas.microsoft.com/office/drawing/2014/main" id="{EFBB3F8E-AA96-4A3D-9B90-ABBB862352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6225" y="2705100"/>
              <a:ext cx="4981575" cy="3200400"/>
            </a:xfrm>
            <a:prstGeom xmlns:a="http://schemas.openxmlformats.org/drawingml/2006/main" prst="roundRect">
              <a:avLst>
                <a:gd name="adj" fmla="val 238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5" name="section01__14">
              <a:extLst xmlns:a="http://schemas.openxmlformats.org/drawingml/2006/main">
                <a:ext uri="{FF2B5EF4-FFF2-40B4-BE49-F238E27FC236}">
                  <a16:creationId xmlns:a16="http://schemas.microsoft.com/office/drawing/2014/main" id="{A7F46153-BA8F-4011-BE98-CB670E2DCE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2575" y="2705100"/>
              <a:ext cx="4410075" cy="3200400"/>
            </a:xfrm>
            <a:prstGeom xmlns:a="http://schemas.openxmlformats.org/drawingml/2006/main" prst="roundRect">
              <a:avLst>
                <a:gd name="adj" fmla="val 238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6" name="section01__15">
              <a:extLst xmlns:a="http://schemas.openxmlformats.org/drawingml/2006/main">
                <a:ext uri="{FF2B5EF4-FFF2-40B4-BE49-F238E27FC236}">
                  <a16:creationId xmlns:a16="http://schemas.microsoft.com/office/drawing/2014/main" id="{89F7321D-620C-40A4-B99E-9ADCAF01C1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2800350"/>
              <a:ext cx="44767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기존 수율분석의 한계</a:t>
              </a:r>
            </a:p>
          </p:txBody>
        </p:sp>
        <p:sp>
          <p:nvSpPr>
            <p:cNvPr id="17" name="section01__16">
              <a:extLst xmlns:a="http://schemas.openxmlformats.org/drawingml/2006/main">
                <a:ext uri="{FF2B5EF4-FFF2-40B4-BE49-F238E27FC236}">
                  <a16:creationId xmlns:a16="http://schemas.microsoft.com/office/drawing/2014/main" id="{187D89FA-723C-4A2D-B07B-FE743F6DD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4975" y="2800350"/>
              <a:ext cx="40290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개발 목적</a:t>
              </a:r>
            </a:p>
          </p:txBody>
        </p:sp>
        <p:sp>
          <p:nvSpPr>
            <p:cNvPr id="18" name="section01__17">
              <a:extLst xmlns:a="http://schemas.openxmlformats.org/drawingml/2006/main">
                <a:ext uri="{FF2B5EF4-FFF2-40B4-BE49-F238E27FC236}">
                  <a16:creationId xmlns:a16="http://schemas.microsoft.com/office/drawing/2014/main" id="{90291EC5-EFF3-4D6F-8AB1-8906A55D89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3209925"/>
              <a:ext cx="4562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여러 시스템을 오가는 반복 탐색</a:t>
              </a:r>
            </a:p>
          </p:txBody>
        </p:sp>
        <p:pic>
          <p:nvPicPr>
            <p:cNvPr id="141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f1c9a8f31fc4c4e"/>
            <a:stretch xmlns:a="http://schemas.openxmlformats.org/drawingml/2006/main"/>
          </p:blipFill>
          <p:spPr>
            <a:xfrm xmlns:a="http://schemas.openxmlformats.org/drawingml/2006/main">
              <a:off x="1906473" y="3800475"/>
              <a:ext cx="1816328" cy="1857375"/>
            </a:xfrm>
            <a:prstGeom xmlns:a="http://schemas.openxmlformats.org/drawingml/2006/main" prst="rect">
              <a:avLst/>
            </a:prstGeom>
          </p:spPr>
        </p:pic>
        <p:sp>
          <p:nvSpPr>
            <p:cNvPr id="20" name="section01__18">
              <a:extLst xmlns:a="http://schemas.openxmlformats.org/drawingml/2006/main">
                <a:ext uri="{FF2B5EF4-FFF2-40B4-BE49-F238E27FC236}">
                  <a16:creationId xmlns:a16="http://schemas.microsoft.com/office/drawing/2014/main" id="{DF9908EA-8A40-4B06-A60E-B5B5A3CA77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3676650"/>
              <a:ext cx="1323975" cy="790575"/>
            </a:xfrm>
            <a:prstGeom xmlns:a="http://schemas.openxmlformats.org/drawingml/2006/main" prst="roundRect">
              <a:avLst>
                <a:gd name="adj" fmla="val 963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1" name="section01__19">
              <a:extLst xmlns:a="http://schemas.openxmlformats.org/drawingml/2006/main">
                <a:ext uri="{FF2B5EF4-FFF2-40B4-BE49-F238E27FC236}">
                  <a16:creationId xmlns:a16="http://schemas.microsoft.com/office/drawing/2014/main" id="{59C9047B-A59D-47EB-9D8B-11FC1201BF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3752850"/>
              <a:ext cx="12287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Trend</a:t>
              </a:r>
            </a:p>
          </p:txBody>
        </p:sp>
        <p:sp>
          <p:nvSpPr>
            <p:cNvPr id="22" name="section01__20">
              <a:extLst xmlns:a="http://schemas.openxmlformats.org/drawingml/2006/main">
                <a:ext uri="{FF2B5EF4-FFF2-40B4-BE49-F238E27FC236}">
                  <a16:creationId xmlns:a16="http://schemas.microsoft.com/office/drawing/2014/main" id="{60CD2462-0DBB-4F23-8848-9A51ADE596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4086225"/>
              <a:ext cx="12287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 추이</a:t>
              </a:r>
            </a:p>
          </p:txBody>
        </p:sp>
        <p:sp>
          <p:nvSpPr>
            <p:cNvPr id="23" name="section01__21">
              <a:extLst xmlns:a="http://schemas.openxmlformats.org/drawingml/2006/main">
                <a:ext uri="{FF2B5EF4-FFF2-40B4-BE49-F238E27FC236}">
                  <a16:creationId xmlns:a16="http://schemas.microsoft.com/office/drawing/2014/main" id="{CE6C94CF-9499-4B9A-A97A-EE83394F9F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4705350"/>
              <a:ext cx="1323975" cy="790575"/>
            </a:xfrm>
            <a:prstGeom xmlns:a="http://schemas.openxmlformats.org/drawingml/2006/main" prst="roundRect">
              <a:avLst>
                <a:gd name="adj" fmla="val 963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4" name="section01__22">
              <a:extLst xmlns:a="http://schemas.openxmlformats.org/drawingml/2006/main">
                <a:ext uri="{FF2B5EF4-FFF2-40B4-BE49-F238E27FC236}">
                  <a16:creationId xmlns:a16="http://schemas.microsoft.com/office/drawing/2014/main" id="{17B6002C-07BF-4827-9C85-9A3A29E4D2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4781550"/>
              <a:ext cx="12287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Map</a:t>
              </a:r>
            </a:p>
          </p:txBody>
        </p:sp>
        <p:sp>
          <p:nvSpPr>
            <p:cNvPr id="25" name="section01__23">
              <a:extLst xmlns:a="http://schemas.openxmlformats.org/drawingml/2006/main">
                <a:ext uri="{FF2B5EF4-FFF2-40B4-BE49-F238E27FC236}">
                  <a16:creationId xmlns:a16="http://schemas.microsoft.com/office/drawing/2014/main" id="{CB849E48-EDAA-4161-B7A7-968813F2EF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5114925"/>
              <a:ext cx="12287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불량 분포</a:t>
              </a:r>
            </a:p>
          </p:txBody>
        </p:sp>
        <p:sp>
          <p:nvSpPr>
            <p:cNvPr id="26" name="section01__24">
              <a:extLst xmlns:a="http://schemas.openxmlformats.org/drawingml/2006/main">
                <a:ext uri="{FF2B5EF4-FFF2-40B4-BE49-F238E27FC236}">
                  <a16:creationId xmlns:a16="http://schemas.microsoft.com/office/drawing/2014/main" id="{4517AFEF-2CDB-4FDA-A5F0-C30FF11A96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43325" y="3676650"/>
              <a:ext cx="1323975" cy="790575"/>
            </a:xfrm>
            <a:prstGeom xmlns:a="http://schemas.openxmlformats.org/drawingml/2006/main" prst="roundRect">
              <a:avLst>
                <a:gd name="adj" fmla="val 963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7" name="section01__25">
              <a:extLst xmlns:a="http://schemas.openxmlformats.org/drawingml/2006/main">
                <a:ext uri="{FF2B5EF4-FFF2-40B4-BE49-F238E27FC236}">
                  <a16:creationId xmlns:a16="http://schemas.microsoft.com/office/drawing/2014/main" id="{8231A002-37F8-43C8-977B-47A9A04AFA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90950" y="3752850"/>
              <a:ext cx="12287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공정·자재 이력</a:t>
              </a:r>
            </a:p>
          </p:txBody>
        </p:sp>
        <p:sp>
          <p:nvSpPr>
            <p:cNvPr id="28" name="section01__26">
              <a:extLst xmlns:a="http://schemas.openxmlformats.org/drawingml/2006/main">
                <a:ext uri="{FF2B5EF4-FFF2-40B4-BE49-F238E27FC236}">
                  <a16:creationId xmlns:a16="http://schemas.microsoft.com/office/drawing/2014/main" id="{31EB070B-CBC9-4344-B721-44F9E1E972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90950" y="4086225"/>
              <a:ext cx="12287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자재 이력</a:t>
              </a:r>
            </a:p>
          </p:txBody>
        </p:sp>
        <p:sp>
          <p:nvSpPr>
            <p:cNvPr id="29" name="section01__27">
              <a:extLst xmlns:a="http://schemas.openxmlformats.org/drawingml/2006/main">
                <a:ext uri="{FF2B5EF4-FFF2-40B4-BE49-F238E27FC236}">
                  <a16:creationId xmlns:a16="http://schemas.microsoft.com/office/drawing/2014/main" id="{96E86BD9-C927-4133-8763-D715F8FED4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43325" y="4705350"/>
              <a:ext cx="1323975" cy="790575"/>
            </a:xfrm>
            <a:prstGeom xmlns:a="http://schemas.openxmlformats.org/drawingml/2006/main" prst="roundRect">
              <a:avLst>
                <a:gd name="adj" fmla="val 963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0" name="section01__28">
              <a:extLst xmlns:a="http://schemas.openxmlformats.org/drawingml/2006/main">
                <a:ext uri="{FF2B5EF4-FFF2-40B4-BE49-F238E27FC236}">
                  <a16:creationId xmlns:a16="http://schemas.microsoft.com/office/drawing/2014/main" id="{FD326E5B-6638-4076-B231-9AB7510626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90950" y="4781550"/>
              <a:ext cx="12287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Inline</a:t>
              </a:r>
            </a:p>
          </p:txBody>
        </p:sp>
        <p:sp>
          <p:nvSpPr>
            <p:cNvPr id="31" name="section01__29">
              <a:extLst xmlns:a="http://schemas.openxmlformats.org/drawingml/2006/main">
                <a:ext uri="{FF2B5EF4-FFF2-40B4-BE49-F238E27FC236}">
                  <a16:creationId xmlns:a16="http://schemas.microsoft.com/office/drawing/2014/main" id="{6BEC1856-FC1D-4231-B027-60137734BD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90950" y="5114925"/>
              <a:ext cx="12287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공정 데이터</a:t>
              </a:r>
            </a:p>
          </p:txBody>
        </p:sp>
        <p:sp>
          <p:nvSpPr>
            <p:cNvPr id="32" name="section01__30">
              <a:extLst xmlns:a="http://schemas.openxmlformats.org/drawingml/2006/main">
                <a:ext uri="{FF2B5EF4-FFF2-40B4-BE49-F238E27FC236}">
                  <a16:creationId xmlns:a16="http://schemas.microsoft.com/office/drawing/2014/main" id="{8B38BE26-C47A-4F29-81B2-BC34C054C4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5591175"/>
              <a:ext cx="45148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순서와 해석의 개인 경험 의존</a:t>
              </a:r>
            </a:p>
          </p:txBody>
        </p:sp>
        <p:sp>
          <p:nvSpPr>
            <p:cNvPr id="33" name="section01__31">
              <a:extLst xmlns:a="http://schemas.openxmlformats.org/drawingml/2006/main">
                <a:ext uri="{FF2B5EF4-FFF2-40B4-BE49-F238E27FC236}">
                  <a16:creationId xmlns:a16="http://schemas.microsoft.com/office/drawing/2014/main" id="{B26086AF-B712-49CB-BABD-4AAFA39316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3550" y="3228975"/>
              <a:ext cx="40576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생산성 향상 · Know-how 표준화</a:t>
              </a:r>
            </a:p>
          </p:txBody>
        </p:sp>
        <p:sp>
          <p:nvSpPr>
            <p:cNvPr id="34" name="section01__32">
              <a:extLst xmlns:a="http://schemas.openxmlformats.org/drawingml/2006/main">
                <a:ext uri="{FF2B5EF4-FFF2-40B4-BE49-F238E27FC236}">
                  <a16:creationId xmlns:a16="http://schemas.microsoft.com/office/drawing/2014/main" id="{02037401-3F01-4B1C-830F-B1B6EBB940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3550" y="3629025"/>
              <a:ext cx="40481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자연어로 이상감지부터 원인 분석까지 연결</a:t>
              </a:r>
            </a:p>
          </p:txBody>
        </p:sp>
        <p:sp>
          <p:nvSpPr>
            <p:cNvPr id="35" name="section01__33">
              <a:extLst xmlns:a="http://schemas.openxmlformats.org/drawingml/2006/main">
                <a:ext uri="{FF2B5EF4-FFF2-40B4-BE49-F238E27FC236}">
                  <a16:creationId xmlns:a16="http://schemas.microsoft.com/office/drawing/2014/main" id="{501F63D0-EA3A-4D24-89A1-48666E5F0E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3550" y="3914775"/>
              <a:ext cx="40481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엔지니어는 핵심 판단과 개선 조치에 집중</a:t>
              </a:r>
            </a:p>
          </p:txBody>
        </p:sp>
        <p:pic>
          <p:nvPicPr>
            <p:cNvPr id="158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bec5885ff524171"/>
            <a:stretch xmlns:a="http://schemas.openxmlformats.org/drawingml/2006/main"/>
          </p:blipFill>
          <p:spPr>
            <a:xfrm xmlns:a="http://schemas.openxmlformats.org/drawingml/2006/main">
              <a:off x="5612281" y="4400550"/>
              <a:ext cx="2091388" cy="1333500"/>
            </a:xfrm>
            <a:prstGeom xmlns:a="http://schemas.openxmlformats.org/drawingml/2006/main" prst="rect">
              <a:avLst/>
            </a:prstGeom>
          </p:spPr>
        </p:pic>
        <p:sp>
          <p:nvSpPr>
            <p:cNvPr id="37" name="section01__34">
              <a:extLst xmlns:a="http://schemas.openxmlformats.org/drawingml/2006/main">
                <a:ext uri="{FF2B5EF4-FFF2-40B4-BE49-F238E27FC236}">
                  <a16:creationId xmlns:a16="http://schemas.microsoft.com/office/drawing/2014/main" id="{38AB24B0-8ACE-451C-B309-3A60D58167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29550" y="4400550"/>
              <a:ext cx="1762125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8" name="section01__35">
              <a:extLst xmlns:a="http://schemas.openxmlformats.org/drawingml/2006/main">
                <a:ext uri="{FF2B5EF4-FFF2-40B4-BE49-F238E27FC236}">
                  <a16:creationId xmlns:a16="http://schemas.microsoft.com/office/drawing/2014/main" id="{D807AC8B-E44A-43DB-A3A6-546055C82D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4419600"/>
              <a:ext cx="16287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연결</a:t>
              </a:r>
            </a:p>
          </p:txBody>
        </p:sp>
        <p:sp>
          <p:nvSpPr>
            <p:cNvPr id="39" name="section01__36">
              <a:extLst xmlns:a="http://schemas.openxmlformats.org/drawingml/2006/main">
                <a:ext uri="{FF2B5EF4-FFF2-40B4-BE49-F238E27FC236}">
                  <a16:creationId xmlns:a16="http://schemas.microsoft.com/office/drawing/2014/main" id="{5964B72B-D6F8-47ED-A7AB-01D080A57E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4619625"/>
              <a:ext cx="1628775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이상감지부터 원인 분석</a:t>
              </a:r>
            </a:p>
          </p:txBody>
        </p:sp>
        <p:sp>
          <p:nvSpPr>
            <p:cNvPr id="40" name="section01__37">
              <a:extLst xmlns:a="http://schemas.openxmlformats.org/drawingml/2006/main">
                <a:ext uri="{FF2B5EF4-FFF2-40B4-BE49-F238E27FC236}">
                  <a16:creationId xmlns:a16="http://schemas.microsoft.com/office/drawing/2014/main" id="{B7CA6C4D-DAF9-4AE8-8B25-E4EE65A12F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29550" y="4857750"/>
              <a:ext cx="1762125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1" name="section01__38">
              <a:extLst xmlns:a="http://schemas.openxmlformats.org/drawingml/2006/main">
                <a:ext uri="{FF2B5EF4-FFF2-40B4-BE49-F238E27FC236}">
                  <a16:creationId xmlns:a16="http://schemas.microsoft.com/office/drawing/2014/main" id="{A0A4EFE1-DE8D-4AD5-B79E-9006AB5810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4876800"/>
              <a:ext cx="16287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Know-how 표준화</a:t>
              </a:r>
            </a:p>
          </p:txBody>
        </p:sp>
        <p:sp>
          <p:nvSpPr>
            <p:cNvPr id="42" name="section01__39">
              <a:extLst xmlns:a="http://schemas.openxmlformats.org/drawingml/2006/main">
                <a:ext uri="{FF2B5EF4-FFF2-40B4-BE49-F238E27FC236}">
                  <a16:creationId xmlns:a16="http://schemas.microsoft.com/office/drawing/2014/main" id="{0E81D537-6EB5-4B43-8327-69A83C0248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5076825"/>
              <a:ext cx="1628775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현업의 분석 기준 활용</a:t>
              </a:r>
            </a:p>
          </p:txBody>
        </p:sp>
        <p:sp>
          <p:nvSpPr>
            <p:cNvPr id="43" name="section01__40">
              <a:extLst xmlns:a="http://schemas.openxmlformats.org/drawingml/2006/main">
                <a:ext uri="{FF2B5EF4-FFF2-40B4-BE49-F238E27FC236}">
                  <a16:creationId xmlns:a16="http://schemas.microsoft.com/office/drawing/2014/main" id="{0E92EBED-5EB1-4291-A073-221551E8B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29550" y="5314950"/>
              <a:ext cx="1762125" cy="409575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4" name="section01__41">
              <a:extLst xmlns:a="http://schemas.openxmlformats.org/drawingml/2006/main">
                <a:ext uri="{FF2B5EF4-FFF2-40B4-BE49-F238E27FC236}">
                  <a16:creationId xmlns:a16="http://schemas.microsoft.com/office/drawing/2014/main" id="{ACDF1699-D76D-496F-B82D-6A35591A6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5334000"/>
              <a:ext cx="16287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핵심 판단에 집중</a:t>
              </a:r>
            </a:p>
          </p:txBody>
        </p:sp>
        <p:sp>
          <p:nvSpPr>
            <p:cNvPr id="45" name="section01__42">
              <a:extLst xmlns:a="http://schemas.openxmlformats.org/drawingml/2006/main">
                <a:ext uri="{FF2B5EF4-FFF2-40B4-BE49-F238E27FC236}">
                  <a16:creationId xmlns:a16="http://schemas.microsoft.com/office/drawing/2014/main" id="{2FFB3720-A7E8-4041-8C92-EAB18BE232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5534025"/>
              <a:ext cx="1628775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반복 조회·정리 부담 완화</a:t>
              </a:r>
            </a:p>
          </p:txBody>
        </p:sp>
      </p:grpSp>
      <p:grpSp>
        <p:nvGrpSpPr>
          <p:cNvPr id="10002" name="02 핵심 내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46" name="section02__43">
              <a:extLst xmlns:a="http://schemas.openxmlformats.org/drawingml/2006/main">
                <a:ext uri="{FF2B5EF4-FFF2-40B4-BE49-F238E27FC236}">
                  <a16:creationId xmlns:a16="http://schemas.microsoft.com/office/drawing/2014/main" id="{093AFB07-1C0F-4E4C-9DA8-05DDEFDC2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" y="6191250"/>
              <a:ext cx="9696450" cy="4048125"/>
            </a:xfrm>
            <a:prstGeom xmlns:a="http://schemas.openxmlformats.org/drawingml/2006/main" prst="roundRect">
              <a:avLst>
                <a:gd name="adj" fmla="val 188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7" name="section02__44">
              <a:extLst xmlns:a="http://schemas.openxmlformats.org/drawingml/2006/main">
                <a:ext uri="{FF2B5EF4-FFF2-40B4-BE49-F238E27FC236}">
                  <a16:creationId xmlns:a16="http://schemas.microsoft.com/office/drawing/2014/main" id="{2A4D8FA2-FEBF-4162-B7C6-CB08BC902F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6200775"/>
              <a:ext cx="96583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8" name="section02__45">
              <a:extLst xmlns:a="http://schemas.openxmlformats.org/drawingml/2006/main">
                <a:ext uri="{FF2B5EF4-FFF2-40B4-BE49-F238E27FC236}">
                  <a16:creationId xmlns:a16="http://schemas.microsoft.com/office/drawing/2014/main" id="{BC151667-7981-43C8-BDB7-4DB50482C3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6200775"/>
              <a:ext cx="5905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9" name="section02__46">
              <a:extLst xmlns:a="http://schemas.openxmlformats.org/drawingml/2006/main">
                <a:ext uri="{FF2B5EF4-FFF2-40B4-BE49-F238E27FC236}">
                  <a16:creationId xmlns:a16="http://schemas.microsoft.com/office/drawing/2014/main" id="{1B2BA107-2E45-456A-A675-224309ED0F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" y="6191250"/>
              <a:ext cx="5429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50" name="section02__47">
              <a:extLst xmlns:a="http://schemas.openxmlformats.org/drawingml/2006/main">
                <a:ext uri="{FF2B5EF4-FFF2-40B4-BE49-F238E27FC236}">
                  <a16:creationId xmlns:a16="http://schemas.microsoft.com/office/drawing/2014/main" id="{C3B81C8D-A967-4050-A5AA-FC4498DADB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191250"/>
              <a:ext cx="8763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SOP 기반 업무 재설계</a:t>
              </a:r>
            </a:p>
          </p:txBody>
        </p:sp>
        <p:sp>
          <p:nvSpPr>
            <p:cNvPr id="51" name="section02__48">
              <a:extLst xmlns:a="http://schemas.openxmlformats.org/drawingml/2006/main">
                <a:ext uri="{FF2B5EF4-FFF2-40B4-BE49-F238E27FC236}">
                  <a16:creationId xmlns:a16="http://schemas.microsoft.com/office/drawing/2014/main" id="{0E9287D8-A05B-4B76-9793-503D330E39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6705600"/>
              <a:ext cx="2962275" cy="1247775"/>
            </a:xfrm>
            <a:prstGeom xmlns:a="http://schemas.openxmlformats.org/drawingml/2006/main" prst="roundRect">
              <a:avLst>
                <a:gd name="adj" fmla="val 61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52" name="section02__49">
              <a:extLst xmlns:a="http://schemas.openxmlformats.org/drawingml/2006/main">
                <a:ext uri="{FF2B5EF4-FFF2-40B4-BE49-F238E27FC236}">
                  <a16:creationId xmlns:a16="http://schemas.microsoft.com/office/drawing/2014/main" id="{19BB9C3E-E402-44DA-A67A-6907790B36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6819900"/>
              <a:ext cx="27146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업무 파악</a:t>
              </a:r>
            </a:p>
          </p:txBody>
        </p:sp>
        <p:sp>
          <p:nvSpPr>
            <p:cNvPr id="53" name="section02__50">
              <a:extLst xmlns:a="http://schemas.openxmlformats.org/drawingml/2006/main">
                <a:ext uri="{FF2B5EF4-FFF2-40B4-BE49-F238E27FC236}">
                  <a16:creationId xmlns:a16="http://schemas.microsoft.com/office/drawing/2014/main" id="{CD556882-4256-4A5A-B5FB-F403405200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7315200"/>
              <a:ext cx="27146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OPLS SOP 분석</a:t>
              </a:r>
            </a:p>
          </p:txBody>
        </p:sp>
        <p:sp>
          <p:nvSpPr>
            <p:cNvPr id="54" name="section02__51">
              <a:extLst xmlns:a="http://schemas.openxmlformats.org/drawingml/2006/main">
                <a:ext uri="{FF2B5EF4-FFF2-40B4-BE49-F238E27FC236}">
                  <a16:creationId xmlns:a16="http://schemas.microsoft.com/office/drawing/2014/main" id="{7B8349D5-C274-4FA3-B9C0-C99DC93245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7600950"/>
              <a:ext cx="27146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수율·PI·개발 엔지니어 인터뷰</a:t>
              </a:r>
            </a:p>
          </p:txBody>
        </p:sp>
        <p:sp>
          <p:nvSpPr>
            <p:cNvPr id="55" name="section02__52">
              <a:extLst xmlns:a="http://schemas.openxmlformats.org/drawingml/2006/main">
                <a:ext uri="{FF2B5EF4-FFF2-40B4-BE49-F238E27FC236}">
                  <a16:creationId xmlns:a16="http://schemas.microsoft.com/office/drawing/2014/main" id="{9C944ECB-1236-4A45-9941-BB74F5F8AD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05175" y="7239000"/>
              <a:ext cx="171450" cy="2286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6" name="section02__53">
              <a:extLst xmlns:a="http://schemas.openxmlformats.org/drawingml/2006/main">
                <a:ext uri="{FF2B5EF4-FFF2-40B4-BE49-F238E27FC236}">
                  <a16:creationId xmlns:a16="http://schemas.microsoft.com/office/drawing/2014/main" id="{491DA7A8-D98F-4ACF-B95E-0204DACBC5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33775" y="6705600"/>
              <a:ext cx="2962275" cy="1247775"/>
            </a:xfrm>
            <a:prstGeom xmlns:a="http://schemas.openxmlformats.org/drawingml/2006/main" prst="roundRect">
              <a:avLst>
                <a:gd name="adj" fmla="val 61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57" name="section02__54">
              <a:extLst xmlns:a="http://schemas.openxmlformats.org/drawingml/2006/main">
                <a:ext uri="{FF2B5EF4-FFF2-40B4-BE49-F238E27FC236}">
                  <a16:creationId xmlns:a16="http://schemas.microsoft.com/office/drawing/2014/main" id="{FE849B57-D03E-49C3-B569-002D1CB3A3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6819900"/>
              <a:ext cx="27146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과정 구조화</a:t>
              </a:r>
            </a:p>
          </p:txBody>
        </p:sp>
        <p:sp>
          <p:nvSpPr>
            <p:cNvPr id="58" name="section02__55">
              <a:extLst xmlns:a="http://schemas.openxmlformats.org/drawingml/2006/main">
                <a:ext uri="{FF2B5EF4-FFF2-40B4-BE49-F238E27FC236}">
                  <a16:creationId xmlns:a16="http://schemas.microsoft.com/office/drawing/2014/main" id="{CC1A8590-DBEF-40F1-885B-52EDB5FA1B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7315200"/>
              <a:ext cx="27146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업무 단계와 판단 기준 도식화</a:t>
              </a:r>
            </a:p>
          </p:txBody>
        </p:sp>
        <p:sp>
          <p:nvSpPr>
            <p:cNvPr id="59" name="section02__56">
              <a:extLst xmlns:a="http://schemas.openxmlformats.org/drawingml/2006/main">
                <a:ext uri="{FF2B5EF4-FFF2-40B4-BE49-F238E27FC236}">
                  <a16:creationId xmlns:a16="http://schemas.microsoft.com/office/drawing/2014/main" id="{E11D39A0-C2B9-48DA-A6D3-A46C9083DA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7600950"/>
              <a:ext cx="27146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Human·Agent 역할 구분</a:t>
              </a:r>
            </a:p>
          </p:txBody>
        </p:sp>
        <p:sp>
          <p:nvSpPr>
            <p:cNvPr id="60" name="section02__57">
              <a:extLst xmlns:a="http://schemas.openxmlformats.org/drawingml/2006/main">
                <a:ext uri="{FF2B5EF4-FFF2-40B4-BE49-F238E27FC236}">
                  <a16:creationId xmlns:a16="http://schemas.microsoft.com/office/drawing/2014/main" id="{59CCC462-E22E-4A3D-8D89-9CB35A72C7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34150" y="7239000"/>
              <a:ext cx="171450" cy="2286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2__58">
              <a:extLst xmlns:a="http://schemas.openxmlformats.org/drawingml/2006/main">
                <a:ext uri="{FF2B5EF4-FFF2-40B4-BE49-F238E27FC236}">
                  <a16:creationId xmlns:a16="http://schemas.microsoft.com/office/drawing/2014/main" id="{79533726-4376-4899-B156-4A2CE51060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6705600"/>
              <a:ext cx="2962275" cy="1247775"/>
            </a:xfrm>
            <a:prstGeom xmlns:a="http://schemas.openxmlformats.org/drawingml/2006/main" prst="roundRect">
              <a:avLst>
                <a:gd name="adj" fmla="val 61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2" name="section02__59">
              <a:extLst xmlns:a="http://schemas.openxmlformats.org/drawingml/2006/main">
                <a:ext uri="{FF2B5EF4-FFF2-40B4-BE49-F238E27FC236}">
                  <a16:creationId xmlns:a16="http://schemas.microsoft.com/office/drawing/2014/main" id="{12A7BD41-9928-4442-93B4-17AB6DADE2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96100" y="6819900"/>
              <a:ext cx="27146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Agent Workflow 재설계</a:t>
              </a:r>
            </a:p>
          </p:txBody>
        </p:sp>
        <p:sp>
          <p:nvSpPr>
            <p:cNvPr id="63" name="section02__60">
              <a:extLst xmlns:a="http://schemas.openxmlformats.org/drawingml/2006/main">
                <a:ext uri="{FF2B5EF4-FFF2-40B4-BE49-F238E27FC236}">
                  <a16:creationId xmlns:a16="http://schemas.microsoft.com/office/drawing/2014/main" id="{D107A832-8AE2-4AFD-ADFE-9D7820125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96100" y="7315200"/>
              <a:ext cx="27146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목적별 Agent·Tool 연결</a:t>
              </a:r>
            </a:p>
          </p:txBody>
        </p:sp>
        <p:sp>
          <p:nvSpPr>
            <p:cNvPr id="64" name="section02__61">
              <a:extLst xmlns:a="http://schemas.openxmlformats.org/drawingml/2006/main">
                <a:ext uri="{FF2B5EF4-FFF2-40B4-BE49-F238E27FC236}">
                  <a16:creationId xmlns:a16="http://schemas.microsoft.com/office/drawing/2014/main" id="{61871C98-2DED-46E4-BF6F-3DDC88CC7A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96100" y="7600950"/>
              <a:ext cx="271462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엔지니어 판단과 후속 분석 연계</a:t>
              </a:r>
            </a:p>
          </p:txBody>
        </p:sp>
        <p:sp>
          <p:nvSpPr>
            <p:cNvPr id="65" name="section02__62">
              <a:extLst xmlns:a="http://schemas.openxmlformats.org/drawingml/2006/main">
                <a:ext uri="{FF2B5EF4-FFF2-40B4-BE49-F238E27FC236}">
                  <a16:creationId xmlns:a16="http://schemas.microsoft.com/office/drawing/2014/main" id="{C498AFD3-F84D-4AD2-891F-607D13CC03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8086725"/>
              <a:ext cx="4524375" cy="2019300"/>
            </a:xfrm>
            <a:prstGeom xmlns:a="http://schemas.openxmlformats.org/drawingml/2006/main" prst="roundRect">
              <a:avLst>
                <a:gd name="adj" fmla="val 3774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6" name="section02__63">
              <a:extLst xmlns:a="http://schemas.openxmlformats.org/drawingml/2006/main">
                <a:ext uri="{FF2B5EF4-FFF2-40B4-BE49-F238E27FC236}">
                  <a16:creationId xmlns:a16="http://schemas.microsoft.com/office/drawing/2014/main" id="{EBAF66A1-B961-4348-8CDC-DCAC2A585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9700" y="8086725"/>
              <a:ext cx="4533900" cy="2019300"/>
            </a:xfrm>
            <a:prstGeom xmlns:a="http://schemas.openxmlformats.org/drawingml/2006/main" prst="roundRect">
              <a:avLst>
                <a:gd name="adj" fmla="val 377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7" name="section02__64">
              <a:extLst xmlns:a="http://schemas.openxmlformats.org/drawingml/2006/main">
                <a:ext uri="{FF2B5EF4-FFF2-40B4-BE49-F238E27FC236}">
                  <a16:creationId xmlns:a16="http://schemas.microsoft.com/office/drawing/2014/main" id="{CDB485F5-60DB-498A-BA69-6EBD44910C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8181975"/>
              <a:ext cx="5905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기존</a:t>
              </a:r>
            </a:p>
          </p:txBody>
        </p:sp>
        <p:sp>
          <p:nvSpPr>
            <p:cNvPr id="68" name="section02__65">
              <a:extLst xmlns:a="http://schemas.openxmlformats.org/drawingml/2006/main">
                <a:ext uri="{FF2B5EF4-FFF2-40B4-BE49-F238E27FC236}">
                  <a16:creationId xmlns:a16="http://schemas.microsoft.com/office/drawing/2014/main" id="{CBA4D62F-3BD3-4C16-96F6-9EEF3E311F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7275" y="8210550"/>
              <a:ext cx="35909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여러 시스템을 직접 조회하며 개별적으로 분석</a:t>
              </a:r>
            </a:p>
          </p:txBody>
        </p:sp>
        <p:sp>
          <p:nvSpPr>
            <p:cNvPr id="69" name="section02__66">
              <a:extLst xmlns:a="http://schemas.openxmlformats.org/drawingml/2006/main">
                <a:ext uri="{FF2B5EF4-FFF2-40B4-BE49-F238E27FC236}">
                  <a16:creationId xmlns:a16="http://schemas.microsoft.com/office/drawing/2014/main" id="{D61F8106-B87E-4AC8-933C-F0A57A1C62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8686800"/>
              <a:ext cx="1190625" cy="809625"/>
            </a:xfrm>
            <a:prstGeom xmlns:a="http://schemas.openxmlformats.org/drawingml/2006/main" prst="roundRect">
              <a:avLst>
                <a:gd name="adj" fmla="val 94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0" name="section02__67">
              <a:extLst xmlns:a="http://schemas.openxmlformats.org/drawingml/2006/main">
                <a:ext uri="{FF2B5EF4-FFF2-40B4-BE49-F238E27FC236}">
                  <a16:creationId xmlns:a16="http://schemas.microsoft.com/office/drawing/2014/main" id="{B3FB6CCA-C796-4956-8502-FC66A28D9C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8801100"/>
              <a:ext cx="11334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수율일보</a:t>
              </a:r>
            </a:p>
          </p:txBody>
        </p:sp>
        <p:sp>
          <p:nvSpPr>
            <p:cNvPr id="71" name="section02__68">
              <a:extLst xmlns:a="http://schemas.openxmlformats.org/drawingml/2006/main">
                <a:ext uri="{FF2B5EF4-FFF2-40B4-BE49-F238E27FC236}">
                  <a16:creationId xmlns:a16="http://schemas.microsoft.com/office/drawing/2014/main" id="{656C0F76-7E8B-41FC-9AC9-FD2ABD7BD1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9191625"/>
              <a:ext cx="11334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일일 점검</a:t>
              </a:r>
            </a:p>
          </p:txBody>
        </p:sp>
        <p:sp>
          <p:nvSpPr>
            <p:cNvPr id="72" name="section02__69">
              <a:extLst xmlns:a="http://schemas.openxmlformats.org/drawingml/2006/main">
                <a:ext uri="{FF2B5EF4-FFF2-40B4-BE49-F238E27FC236}">
                  <a16:creationId xmlns:a16="http://schemas.microsoft.com/office/drawing/2014/main" id="{D2EDD460-E834-46C1-9179-35607AFBF6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85925" y="8982075"/>
              <a:ext cx="190500" cy="1809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3" name="section02__70">
              <a:extLst xmlns:a="http://schemas.openxmlformats.org/drawingml/2006/main">
                <a:ext uri="{FF2B5EF4-FFF2-40B4-BE49-F238E27FC236}">
                  <a16:creationId xmlns:a16="http://schemas.microsoft.com/office/drawing/2014/main" id="{D090D683-FEDE-4DC3-A445-B4D1774531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5475" y="8686800"/>
              <a:ext cx="1190625" cy="809625"/>
            </a:xfrm>
            <a:prstGeom xmlns:a="http://schemas.openxmlformats.org/drawingml/2006/main" prst="roundRect">
              <a:avLst>
                <a:gd name="adj" fmla="val 94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4" name="section02__71">
              <a:extLst xmlns:a="http://schemas.openxmlformats.org/drawingml/2006/main">
                <a:ext uri="{FF2B5EF4-FFF2-40B4-BE49-F238E27FC236}">
                  <a16:creationId xmlns:a16="http://schemas.microsoft.com/office/drawing/2014/main" id="{BA90FF1E-0C2E-437D-B9E2-664F221FB1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4050" y="8801100"/>
              <a:ext cx="11334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75" name="section02__72">
              <a:extLst xmlns:a="http://schemas.openxmlformats.org/drawingml/2006/main">
                <a:ext uri="{FF2B5EF4-FFF2-40B4-BE49-F238E27FC236}">
                  <a16:creationId xmlns:a16="http://schemas.microsoft.com/office/drawing/2014/main" id="{911B19F1-324C-4444-9D3D-B6AFCD136B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4050" y="9191625"/>
              <a:ext cx="11334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이력 확인</a:t>
              </a:r>
            </a:p>
          </p:txBody>
        </p:sp>
        <p:sp>
          <p:nvSpPr>
            <p:cNvPr id="76" name="section02__73">
              <a:extLst xmlns:a="http://schemas.openxmlformats.org/drawingml/2006/main">
                <a:ext uri="{FF2B5EF4-FFF2-40B4-BE49-F238E27FC236}">
                  <a16:creationId xmlns:a16="http://schemas.microsoft.com/office/drawing/2014/main" id="{6468E7CA-39DE-4CBD-93A4-D43210BF48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14675" y="8982075"/>
              <a:ext cx="190500" cy="1809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7" name="section02__74">
              <a:extLst xmlns:a="http://schemas.openxmlformats.org/drawingml/2006/main">
                <a:ext uri="{FF2B5EF4-FFF2-40B4-BE49-F238E27FC236}">
                  <a16:creationId xmlns:a16="http://schemas.microsoft.com/office/drawing/2014/main" id="{400F9FB8-A03D-4F71-84FE-CAD3D4BE98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24225" y="8686800"/>
              <a:ext cx="1190625" cy="809625"/>
            </a:xfrm>
            <a:prstGeom xmlns:a="http://schemas.openxmlformats.org/drawingml/2006/main" prst="roundRect">
              <a:avLst>
                <a:gd name="adj" fmla="val 94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8" name="section02__75">
              <a:extLst xmlns:a="http://schemas.openxmlformats.org/drawingml/2006/main">
                <a:ext uri="{FF2B5EF4-FFF2-40B4-BE49-F238E27FC236}">
                  <a16:creationId xmlns:a16="http://schemas.microsoft.com/office/drawing/2014/main" id="{C3C4F2B1-337F-49C5-AC59-ACEAA09C55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8801100"/>
              <a:ext cx="11334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Raw Data 분석</a:t>
              </a:r>
            </a:p>
          </p:txBody>
        </p:sp>
        <p:sp>
          <p:nvSpPr>
            <p:cNvPr id="79" name="section02__76">
              <a:extLst xmlns:a="http://schemas.openxmlformats.org/drawingml/2006/main">
                <a:ext uri="{FF2B5EF4-FFF2-40B4-BE49-F238E27FC236}">
                  <a16:creationId xmlns:a16="http://schemas.microsoft.com/office/drawing/2014/main" id="{DA36129E-970C-40AE-9F7F-A7624BB709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9191625"/>
              <a:ext cx="11334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상세 분석</a:t>
              </a:r>
            </a:p>
          </p:txBody>
        </p:sp>
        <p:sp>
          <p:nvSpPr>
            <p:cNvPr id="80" name="section02__77">
              <a:extLst xmlns:a="http://schemas.openxmlformats.org/drawingml/2006/main">
                <a:ext uri="{FF2B5EF4-FFF2-40B4-BE49-F238E27FC236}">
                  <a16:creationId xmlns:a16="http://schemas.microsoft.com/office/drawing/2014/main" id="{DD617BC8-9B76-45E4-AEA1-883D52EEDF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9734550"/>
              <a:ext cx="41719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엔지니어가 직접 조회·연결</a:t>
              </a:r>
            </a:p>
          </p:txBody>
        </p:sp>
        <p:sp>
          <p:nvSpPr>
            <p:cNvPr id="81" name="section02__78">
              <a:extLst xmlns:a="http://schemas.openxmlformats.org/drawingml/2006/main">
                <a:ext uri="{FF2B5EF4-FFF2-40B4-BE49-F238E27FC236}">
                  <a16:creationId xmlns:a16="http://schemas.microsoft.com/office/drawing/2014/main" id="{014D26F7-B9BF-422A-B5F3-251F53D3DC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86325" y="8991600"/>
              <a:ext cx="266700" cy="2571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2" name="section02__79">
              <a:extLst xmlns:a="http://schemas.openxmlformats.org/drawingml/2006/main">
                <a:ext uri="{FF2B5EF4-FFF2-40B4-BE49-F238E27FC236}">
                  <a16:creationId xmlns:a16="http://schemas.microsoft.com/office/drawing/2014/main" id="{D1156764-77CA-46AA-908E-3A2572FE50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8181975"/>
              <a:ext cx="857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재설계</a:t>
              </a:r>
            </a:p>
          </p:txBody>
        </p:sp>
        <p:sp>
          <p:nvSpPr>
            <p:cNvPr id="83" name="section02__80">
              <a:extLst xmlns:a="http://schemas.openxmlformats.org/drawingml/2006/main">
                <a:ext uri="{FF2B5EF4-FFF2-40B4-BE49-F238E27FC236}">
                  <a16:creationId xmlns:a16="http://schemas.microsoft.com/office/drawing/2014/main" id="{B06E7A81-CFBF-4A0F-A6E1-0703420617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0" y="8210550"/>
              <a:ext cx="33337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자연어로 요청하면 Agent가 분석을 통합 수행</a:t>
              </a:r>
            </a:p>
          </p:txBody>
        </p:sp>
        <p:sp>
          <p:nvSpPr>
            <p:cNvPr id="84" name="section02__81">
              <a:extLst xmlns:a="http://schemas.openxmlformats.org/drawingml/2006/main">
                <a:ext uri="{FF2B5EF4-FFF2-40B4-BE49-F238E27FC236}">
                  <a16:creationId xmlns:a16="http://schemas.microsoft.com/office/drawing/2014/main" id="{15FEBEED-6440-4BAD-BE20-F761A3EBE2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91150" y="8572500"/>
              <a:ext cx="4181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자연어 통합 분석</a:t>
              </a:r>
            </a:p>
          </p:txBody>
        </p:sp>
        <p:sp>
          <p:nvSpPr>
            <p:cNvPr id="85" name="section02__82">
              <a:extLst xmlns:a="http://schemas.openxmlformats.org/drawingml/2006/main">
                <a:ext uri="{FF2B5EF4-FFF2-40B4-BE49-F238E27FC236}">
                  <a16:creationId xmlns:a16="http://schemas.microsoft.com/office/drawing/2014/main" id="{A52047E3-1076-4C92-A567-4E588595E4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72100" y="9020175"/>
              <a:ext cx="962025" cy="514350"/>
            </a:xfrm>
            <a:prstGeom xmlns:a="http://schemas.openxmlformats.org/drawingml/2006/main" prst="roundRect">
              <a:avLst>
                <a:gd name="adj" fmla="val 1481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86" name="section02__83">
              <a:extLst xmlns:a="http://schemas.openxmlformats.org/drawingml/2006/main">
                <a:ext uri="{FF2B5EF4-FFF2-40B4-BE49-F238E27FC236}">
                  <a16:creationId xmlns:a16="http://schemas.microsoft.com/office/drawing/2014/main" id="{C339FCFB-56F3-4030-8566-87B39B3C49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72100" y="9020175"/>
              <a:ext cx="96202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이상감지</a:t>
              </a:r>
            </a:p>
          </p:txBody>
        </p:sp>
        <p:sp>
          <p:nvSpPr>
            <p:cNvPr id="87" name="section02__84">
              <a:extLst xmlns:a="http://schemas.openxmlformats.org/drawingml/2006/main">
                <a:ext uri="{FF2B5EF4-FFF2-40B4-BE49-F238E27FC236}">
                  <a16:creationId xmlns:a16="http://schemas.microsoft.com/office/drawing/2014/main" id="{B8E7BEE9-A7E0-46B1-8B96-6815439C75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43650" y="9210675"/>
              <a:ext cx="95250" cy="1238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8" name="section02__85">
              <a:extLst xmlns:a="http://schemas.openxmlformats.org/drawingml/2006/main">
                <a:ext uri="{FF2B5EF4-FFF2-40B4-BE49-F238E27FC236}">
                  <a16:creationId xmlns:a16="http://schemas.microsoft.com/office/drawing/2014/main" id="{E72686DF-8924-4B0D-A80B-50DA540AAE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38900" y="9020175"/>
              <a:ext cx="962025" cy="514350"/>
            </a:xfrm>
            <a:prstGeom xmlns:a="http://schemas.openxmlformats.org/drawingml/2006/main" prst="roundRect">
              <a:avLst>
                <a:gd name="adj" fmla="val 1481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89" name="section02__86">
              <a:extLst xmlns:a="http://schemas.openxmlformats.org/drawingml/2006/main">
                <a:ext uri="{FF2B5EF4-FFF2-40B4-BE49-F238E27FC236}">
                  <a16:creationId xmlns:a16="http://schemas.microsoft.com/office/drawing/2014/main" id="{632FEA2F-235A-4D48-8C67-DEE183E4A5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38900" y="9020175"/>
              <a:ext cx="96202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불량 정의</a:t>
              </a:r>
            </a:p>
          </p:txBody>
        </p:sp>
        <p:sp>
          <p:nvSpPr>
            <p:cNvPr id="90" name="section02__87">
              <a:extLst xmlns:a="http://schemas.openxmlformats.org/drawingml/2006/main">
                <a:ext uri="{FF2B5EF4-FFF2-40B4-BE49-F238E27FC236}">
                  <a16:creationId xmlns:a16="http://schemas.microsoft.com/office/drawing/2014/main" id="{97EE04F2-9505-437A-BCD3-FD0F4F079A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0450" y="9210675"/>
              <a:ext cx="95250" cy="1238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1" name="section02__88">
              <a:extLst xmlns:a="http://schemas.openxmlformats.org/drawingml/2006/main">
                <a:ext uri="{FF2B5EF4-FFF2-40B4-BE49-F238E27FC236}">
                  <a16:creationId xmlns:a16="http://schemas.microsoft.com/office/drawing/2014/main" id="{71B276FF-E9B9-4348-970A-75614C6763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5700" y="9020175"/>
              <a:ext cx="962025" cy="514350"/>
            </a:xfrm>
            <a:prstGeom xmlns:a="http://schemas.openxmlformats.org/drawingml/2006/main" prst="roundRect">
              <a:avLst>
                <a:gd name="adj" fmla="val 1481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92" name="section02__89">
              <a:extLst xmlns:a="http://schemas.openxmlformats.org/drawingml/2006/main">
                <a:ext uri="{FF2B5EF4-FFF2-40B4-BE49-F238E27FC236}">
                  <a16:creationId xmlns:a16="http://schemas.microsoft.com/office/drawing/2014/main" id="{803A8F68-872C-484B-9F5A-DF8101C26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5700" y="9020175"/>
              <a:ext cx="96202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연계 분석</a:t>
              </a:r>
            </a:p>
          </p:txBody>
        </p:sp>
        <p:sp>
          <p:nvSpPr>
            <p:cNvPr id="93" name="section02__90">
              <a:extLst xmlns:a="http://schemas.openxmlformats.org/drawingml/2006/main">
                <a:ext uri="{FF2B5EF4-FFF2-40B4-BE49-F238E27FC236}">
                  <a16:creationId xmlns:a16="http://schemas.microsoft.com/office/drawing/2014/main" id="{5DF73D3F-7FD8-4639-80A5-9184EC5579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77250" y="9210675"/>
              <a:ext cx="95250" cy="1238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4" name="section02__91">
              <a:extLst xmlns:a="http://schemas.openxmlformats.org/drawingml/2006/main">
                <a:ext uri="{FF2B5EF4-FFF2-40B4-BE49-F238E27FC236}">
                  <a16:creationId xmlns:a16="http://schemas.microsoft.com/office/drawing/2014/main" id="{B9F18306-E0FA-4961-90F1-295B9080A9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0" y="9020175"/>
              <a:ext cx="962025" cy="514350"/>
            </a:xfrm>
            <a:prstGeom xmlns:a="http://schemas.openxmlformats.org/drawingml/2006/main" prst="roundRect">
              <a:avLst>
                <a:gd name="adj" fmla="val 1481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95" name="section02__92">
              <a:extLst xmlns:a="http://schemas.openxmlformats.org/drawingml/2006/main">
                <a:ext uri="{FF2B5EF4-FFF2-40B4-BE49-F238E27FC236}">
                  <a16:creationId xmlns:a16="http://schemas.microsoft.com/office/drawing/2014/main" id="{32217889-F0EE-42CF-B8EE-1280BD3195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0" y="9020175"/>
              <a:ext cx="96202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원인 탐색</a:t>
              </a:r>
            </a:p>
          </p:txBody>
        </p:sp>
        <p:sp>
          <p:nvSpPr>
            <p:cNvPr id="96" name="section02__93">
              <a:extLst xmlns:a="http://schemas.openxmlformats.org/drawingml/2006/main">
                <a:ext uri="{FF2B5EF4-FFF2-40B4-BE49-F238E27FC236}">
                  <a16:creationId xmlns:a16="http://schemas.microsoft.com/office/drawing/2014/main" id="{9F5018D5-81C7-46EB-9562-771BAB3AB1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9734550"/>
              <a:ext cx="421957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Agent가 분석을 연결하고 엔지니어가 판단·조정</a:t>
              </a:r>
            </a:p>
          </p:txBody>
        </p:sp>
      </p:grpSp>
      <p:grpSp>
        <p:nvGrpSpPr>
          <p:cNvPr id="10003" name="03 핵심 내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7" name="section03__94">
              <a:extLst xmlns:a="http://schemas.openxmlformats.org/drawingml/2006/main">
                <a:ext uri="{FF2B5EF4-FFF2-40B4-BE49-F238E27FC236}">
                  <a16:creationId xmlns:a16="http://schemas.microsoft.com/office/drawing/2014/main" id="{C36936F5-DCB4-4AAC-913C-1860F061AF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" y="10420350"/>
              <a:ext cx="9696450" cy="2181225"/>
            </a:xfrm>
            <a:prstGeom xmlns:a="http://schemas.openxmlformats.org/drawingml/2006/main" prst="roundRect">
              <a:avLst>
                <a:gd name="adj" fmla="val 349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98" name="section03__95">
              <a:extLst xmlns:a="http://schemas.openxmlformats.org/drawingml/2006/main">
                <a:ext uri="{FF2B5EF4-FFF2-40B4-BE49-F238E27FC236}">
                  <a16:creationId xmlns:a16="http://schemas.microsoft.com/office/drawing/2014/main" id="{6BEF97E9-B78C-47E3-BE39-474F58E2E1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10429875"/>
              <a:ext cx="96583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9" name="section03__96">
              <a:extLst xmlns:a="http://schemas.openxmlformats.org/drawingml/2006/main">
                <a:ext uri="{FF2B5EF4-FFF2-40B4-BE49-F238E27FC236}">
                  <a16:creationId xmlns:a16="http://schemas.microsoft.com/office/drawing/2014/main" id="{F43D0BA9-D23B-423C-8CE9-9F22AFDFAD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10429875"/>
              <a:ext cx="5905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0" name="section03__97">
              <a:extLst xmlns:a="http://schemas.openxmlformats.org/drawingml/2006/main">
                <a:ext uri="{FF2B5EF4-FFF2-40B4-BE49-F238E27FC236}">
                  <a16:creationId xmlns:a16="http://schemas.microsoft.com/office/drawing/2014/main" id="{CEFEE9F0-F593-4A65-B0B3-B59748CC60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" y="10420350"/>
              <a:ext cx="5429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101" name="section03__98">
              <a:extLst xmlns:a="http://schemas.openxmlformats.org/drawingml/2006/main">
                <a:ext uri="{FF2B5EF4-FFF2-40B4-BE49-F238E27FC236}">
                  <a16:creationId xmlns:a16="http://schemas.microsoft.com/office/drawing/2014/main" id="{1CC33C45-D795-4A57-AA8F-6220E48566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10420350"/>
              <a:ext cx="8763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도메인 지식의 Agent 내재화</a:t>
              </a:r>
            </a:p>
          </p:txBody>
        </p:sp>
        <p:sp>
          <p:nvSpPr>
            <p:cNvPr id="102" name="section03__99">
              <a:extLst xmlns:a="http://schemas.openxmlformats.org/drawingml/2006/main">
                <a:ext uri="{FF2B5EF4-FFF2-40B4-BE49-F238E27FC236}">
                  <a16:creationId xmlns:a16="http://schemas.microsoft.com/office/drawing/2014/main" id="{77F6FD8E-A7E3-42BC-B632-6B329D12A5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10877550"/>
              <a:ext cx="9144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현업의 판단 기준을 개별 Agent의 실질적인 분석 능력으로 구현</a:t>
              </a:r>
            </a:p>
          </p:txBody>
        </p:sp>
        <p:pic>
          <p:nvPicPr>
            <p:cNvPr id="225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6f70e7dfd824771"/>
            <a:stretch xmlns:a="http://schemas.openxmlformats.org/drawingml/2006/main"/>
          </p:blipFill>
          <p:spPr>
            <a:xfrm xmlns:a="http://schemas.openxmlformats.org/drawingml/2006/main">
              <a:off x="400050" y="11288765"/>
              <a:ext cx="2095500" cy="815871"/>
            </a:xfrm>
            <a:prstGeom xmlns:a="http://schemas.openxmlformats.org/drawingml/2006/main" prst="rect">
              <a:avLst/>
            </a:prstGeom>
          </p:spPr>
        </p:pic>
        <p:sp>
          <p:nvSpPr>
            <p:cNvPr id="104" name="section03__100">
              <a:extLst xmlns:a="http://schemas.openxmlformats.org/drawingml/2006/main">
                <a:ext uri="{FF2B5EF4-FFF2-40B4-BE49-F238E27FC236}">
                  <a16:creationId xmlns:a16="http://schemas.microsoft.com/office/drawing/2014/main" id="{1A0A79EC-449C-4A5C-B6EF-C346525D8E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12192000"/>
              <a:ext cx="19621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숙련자의 Know-how</a:t>
              </a:r>
            </a:p>
          </p:txBody>
        </p:sp>
        <p:sp>
          <p:nvSpPr>
            <p:cNvPr id="105" name="section03__101">
              <a:extLst xmlns:a="http://schemas.openxmlformats.org/drawingml/2006/main">
                <a:ext uri="{FF2B5EF4-FFF2-40B4-BE49-F238E27FC236}">
                  <a16:creationId xmlns:a16="http://schemas.microsoft.com/office/drawing/2014/main" id="{DC9ECE88-0C38-42C7-A374-86B696C803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11610975"/>
              <a:ext cx="238125" cy="2381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6" name="section03__102">
              <a:extLst xmlns:a="http://schemas.openxmlformats.org/drawingml/2006/main">
                <a:ext uri="{FF2B5EF4-FFF2-40B4-BE49-F238E27FC236}">
                  <a16:creationId xmlns:a16="http://schemas.microsoft.com/office/drawing/2014/main" id="{D8B060ED-9E0B-48BC-A460-92969C812A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95600" y="11258550"/>
              <a:ext cx="1371600" cy="1162050"/>
            </a:xfrm>
            <a:prstGeom xmlns:a="http://schemas.openxmlformats.org/drawingml/2006/main" prst="roundRect">
              <a:avLst>
                <a:gd name="adj" fmla="val 655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07" name="section03__103">
              <a:extLst xmlns:a="http://schemas.openxmlformats.org/drawingml/2006/main">
                <a:ext uri="{FF2B5EF4-FFF2-40B4-BE49-F238E27FC236}">
                  <a16:creationId xmlns:a16="http://schemas.microsoft.com/office/drawing/2014/main" id="{3F346FB6-C6FE-47B5-95EB-F89E64AB2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43225" y="11363325"/>
              <a:ext cx="1276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무엇을 확인할지</a:t>
              </a:r>
            </a:p>
          </p:txBody>
        </p:sp>
        <p:sp>
          <p:nvSpPr>
            <p:cNvPr id="108" name="section03__104">
              <a:extLst xmlns:a="http://schemas.openxmlformats.org/drawingml/2006/main">
                <a:ext uri="{FF2B5EF4-FFF2-40B4-BE49-F238E27FC236}">
                  <a16:creationId xmlns:a16="http://schemas.microsoft.com/office/drawing/2014/main" id="{E7F7A463-A3E9-43A3-8556-E3F3D89AF5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71800" y="11791950"/>
              <a:ext cx="121920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어떤 데이터를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어디서 확인할지</a:t>
              </a:r>
            </a:p>
          </p:txBody>
        </p:sp>
        <p:sp>
          <p:nvSpPr>
            <p:cNvPr id="109" name="section03__105">
              <a:extLst xmlns:a="http://schemas.openxmlformats.org/drawingml/2006/main">
                <a:ext uri="{FF2B5EF4-FFF2-40B4-BE49-F238E27FC236}">
                  <a16:creationId xmlns:a16="http://schemas.microsoft.com/office/drawing/2014/main" id="{9C6A3EA3-3D4A-4A6F-BD03-72F7E79F2F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2925" y="11258550"/>
              <a:ext cx="1371600" cy="1162050"/>
            </a:xfrm>
            <a:prstGeom xmlns:a="http://schemas.openxmlformats.org/drawingml/2006/main" prst="roundRect">
              <a:avLst>
                <a:gd name="adj" fmla="val 655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10" name="section03__106">
              <a:extLst xmlns:a="http://schemas.openxmlformats.org/drawingml/2006/main">
                <a:ext uri="{FF2B5EF4-FFF2-40B4-BE49-F238E27FC236}">
                  <a16:creationId xmlns:a16="http://schemas.microsoft.com/office/drawing/2014/main" id="{131B0201-A201-4B36-8B0C-260180FD7C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00550" y="11363325"/>
              <a:ext cx="1276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어떻게 해석할지</a:t>
              </a:r>
            </a:p>
          </p:txBody>
        </p:sp>
        <p:sp>
          <p:nvSpPr>
            <p:cNvPr id="111" name="section03__107">
              <a:extLst xmlns:a="http://schemas.openxmlformats.org/drawingml/2006/main">
                <a:ext uri="{FF2B5EF4-FFF2-40B4-BE49-F238E27FC236}">
                  <a16:creationId xmlns:a16="http://schemas.microsoft.com/office/drawing/2014/main" id="{80072686-2392-41C7-833E-37D5A689F4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1791950"/>
              <a:ext cx="121920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어떤 패턴을 보고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어떻게 해석할지</a:t>
              </a:r>
            </a:p>
          </p:txBody>
        </p:sp>
        <p:sp>
          <p:nvSpPr>
            <p:cNvPr id="112" name="section03__108">
              <a:extLst xmlns:a="http://schemas.openxmlformats.org/drawingml/2006/main">
                <a:ext uri="{FF2B5EF4-FFF2-40B4-BE49-F238E27FC236}">
                  <a16:creationId xmlns:a16="http://schemas.microsoft.com/office/drawing/2014/main" id="{0DAC9120-97C1-4649-A54B-42BAE3B93C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0" y="11258550"/>
              <a:ext cx="1371600" cy="1162050"/>
            </a:xfrm>
            <a:prstGeom xmlns:a="http://schemas.openxmlformats.org/drawingml/2006/main" prst="roundRect">
              <a:avLst>
                <a:gd name="adj" fmla="val 655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13" name="section03__109">
              <a:extLst xmlns:a="http://schemas.openxmlformats.org/drawingml/2006/main">
                <a:ext uri="{FF2B5EF4-FFF2-40B4-BE49-F238E27FC236}">
                  <a16:creationId xmlns:a16="http://schemas.microsoft.com/office/drawing/2014/main" id="{A4A6CE53-FB3C-4BC1-9627-AF5986798E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11363325"/>
              <a:ext cx="1276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다음 분석은 무엇인지</a:t>
              </a:r>
            </a:p>
          </p:txBody>
        </p:sp>
        <p:sp>
          <p:nvSpPr>
            <p:cNvPr id="114" name="section03__110">
              <a:extLst xmlns:a="http://schemas.openxmlformats.org/drawingml/2006/main">
                <a:ext uri="{FF2B5EF4-FFF2-40B4-BE49-F238E27FC236}">
                  <a16:creationId xmlns:a16="http://schemas.microsoft.com/office/drawing/2014/main" id="{0D9CB610-9169-4C81-9657-5A0AB74099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86450" y="11791950"/>
              <a:ext cx="121920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다음에 무엇을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분석할지</a:t>
              </a:r>
            </a:p>
          </p:txBody>
        </p:sp>
        <p:sp>
          <p:nvSpPr>
            <p:cNvPr id="115" name="section03__111">
              <a:extLst xmlns:a="http://schemas.openxmlformats.org/drawingml/2006/main">
                <a:ext uri="{FF2B5EF4-FFF2-40B4-BE49-F238E27FC236}">
                  <a16:creationId xmlns:a16="http://schemas.microsoft.com/office/drawing/2014/main" id="{55458BD7-0B87-4B77-8C56-6E4F0CB0F4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6625" y="11668125"/>
              <a:ext cx="209550" cy="2286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16" name="section03__112">
              <a:extLst xmlns:a="http://schemas.openxmlformats.org/drawingml/2006/main">
                <a:ext uri="{FF2B5EF4-FFF2-40B4-BE49-F238E27FC236}">
                  <a16:creationId xmlns:a16="http://schemas.microsoft.com/office/drawing/2014/main" id="{03FFDFD5-8E09-4C8E-ACA9-D41DFE0F89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10475" y="11258550"/>
              <a:ext cx="2028825" cy="1162050"/>
            </a:xfrm>
            <a:prstGeom xmlns:a="http://schemas.openxmlformats.org/drawingml/2006/main" prst="roundRect">
              <a:avLst>
                <a:gd name="adj" fmla="val 655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17" name="section03__113">
              <a:extLst xmlns:a="http://schemas.openxmlformats.org/drawingml/2006/main">
                <a:ext uri="{FF2B5EF4-FFF2-40B4-BE49-F238E27FC236}">
                  <a16:creationId xmlns:a16="http://schemas.microsoft.com/office/drawing/2014/main" id="{889A380B-7816-421F-B850-2B95681A6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0" y="11363325"/>
              <a:ext cx="18192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분석 로직</a:t>
              </a:r>
            </a:p>
          </p:txBody>
        </p:sp>
        <p:sp>
          <p:nvSpPr>
            <p:cNvPr id="118" name="section03__114">
              <a:extLst xmlns:a="http://schemas.openxmlformats.org/drawingml/2006/main">
                <a:ext uri="{FF2B5EF4-FFF2-40B4-BE49-F238E27FC236}">
                  <a16:creationId xmlns:a16="http://schemas.microsoft.com/office/drawing/2014/main" id="{9120298F-432D-451B-98A5-59752554C6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0" y="11811000"/>
              <a:ext cx="18192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도메인 지식 기반 판단</a:t>
              </a:r>
            </a:p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업무 맥락에 맞는 분석 수행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19" name="footer__115">
              <a:extLst xmlns:a="http://schemas.openxmlformats.org/drawingml/2006/main">
                <a:ext uri="{FF2B5EF4-FFF2-40B4-BE49-F238E27FC236}">
                  <a16:creationId xmlns:a16="http://schemas.microsoft.com/office/drawing/2014/main" id="{9DBDFDA3-3ECA-46C1-AEB9-38BDD59348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0" y="12792075"/>
              <a:ext cx="10039350" cy="14192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120" name="footer__116">
              <a:extLst xmlns:a="http://schemas.openxmlformats.org/drawingml/2006/main">
                <a:ext uri="{FF2B5EF4-FFF2-40B4-BE49-F238E27FC236}">
                  <a16:creationId xmlns:a16="http://schemas.microsoft.com/office/drawing/2014/main" id="{B2373634-BD62-4528-84F2-14D6A93001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2954000"/>
              <a:ext cx="1333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SUPEX 추구</a:t>
              </a:r>
            </a:p>
          </p:txBody>
        </p:sp>
        <p:sp>
          <p:nvSpPr>
            <p:cNvPr id="121" name="footer__117">
              <a:extLst xmlns:a="http://schemas.openxmlformats.org/drawingml/2006/main">
                <a:ext uri="{FF2B5EF4-FFF2-40B4-BE49-F238E27FC236}">
                  <a16:creationId xmlns:a16="http://schemas.microsoft.com/office/drawing/2014/main" id="{C26B29DC-90AA-4E2D-B4A0-0E8C4FD3A2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6400" y="13077825"/>
              <a:ext cx="5810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677985"/>
              </a:solidFill>
            </a:ln>
          </p:spPr>
        </p:sp>
        <p:sp>
          <p:nvSpPr>
            <p:cNvPr id="122" name="footer__118">
              <a:extLst xmlns:a="http://schemas.openxmlformats.org/drawingml/2006/main">
                <a:ext uri="{FF2B5EF4-FFF2-40B4-BE49-F238E27FC236}">
                  <a16:creationId xmlns:a16="http://schemas.microsoft.com/office/drawing/2014/main" id="{4F17D0FB-34F6-4430-A440-15272DF678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3277850"/>
              <a:ext cx="87630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숙련자의 전문 분석 역량을 조직 전체가 활용하는</a:t>
              </a:r>
            </a:p>
            <a:p xmlns:a="http://schemas.openxmlformats.org/drawingml/2006/main">
              <a:pPr algn="l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수율분석 업무체계 혁신을 추구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1174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14" name="header__119">
              <a:extLst xmlns:a="http://schemas.openxmlformats.org/drawingml/2006/main">
                <a:ext uri="{FF2B5EF4-FFF2-40B4-BE49-F238E27FC236}">
                  <a16:creationId xmlns:a16="http://schemas.microsoft.com/office/drawing/2014/main" id="{872844A5-5F44-411A-914B-88E40A4DA2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152400"/>
              <a:ext cx="1000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120">
              <a:extLst xmlns:a="http://schemas.openxmlformats.org/drawingml/2006/main">
                <a:ext uri="{FF2B5EF4-FFF2-40B4-BE49-F238E27FC236}">
                  <a16:creationId xmlns:a16="http://schemas.microsoft.com/office/drawing/2014/main" id="{C15C62BA-7EC5-49F1-94FC-AF361050A4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2100" y="152400"/>
              <a:ext cx="3143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사례요약</a:t>
              </a:r>
            </a:p>
          </p:txBody>
        </p:sp>
        <p:sp>
          <p:nvSpPr>
            <p:cNvPr id="3" name="header__121">
              <a:extLst xmlns:a="http://schemas.openxmlformats.org/drawingml/2006/main">
                <a:ext uri="{FF2B5EF4-FFF2-40B4-BE49-F238E27FC236}">
                  <a16:creationId xmlns:a16="http://schemas.microsoft.com/office/drawing/2014/main" id="{B3AE68A2-BCE5-42DB-9972-C0BC436ED3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00025"/>
              <a:ext cx="0" cy="1619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4" name="header__122">
              <a:extLst xmlns:a="http://schemas.openxmlformats.org/drawingml/2006/main">
                <a:ext uri="{FF2B5EF4-FFF2-40B4-BE49-F238E27FC236}">
                  <a16:creationId xmlns:a16="http://schemas.microsoft.com/office/drawing/2014/main" id="{4D8F57EA-854C-41C2-A9A5-012806E2EC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20150" y="152400"/>
              <a:ext cx="8191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02 / 02</a:t>
              </a:r>
            </a:p>
          </p:txBody>
        </p:sp>
        <p:sp>
          <p:nvSpPr>
            <p:cNvPr id="5" name="header__123">
              <a:extLst xmlns:a="http://schemas.openxmlformats.org/drawingml/2006/main">
                <a:ext uri="{FF2B5EF4-FFF2-40B4-BE49-F238E27FC236}">
                  <a16:creationId xmlns:a16="http://schemas.microsoft.com/office/drawing/2014/main" id="{7D0B233A-6715-44FB-BA96-287D494C3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" y="447675"/>
              <a:ext cx="9334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6" name="header__124">
              <a:extLst xmlns:a="http://schemas.openxmlformats.org/drawingml/2006/main">
                <a:ext uri="{FF2B5EF4-FFF2-40B4-BE49-F238E27FC236}">
                  <a16:creationId xmlns:a16="http://schemas.microsoft.com/office/drawing/2014/main" id="{ACF7B770-5402-446D-BE3F-93C12CBEA5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600075"/>
              <a:ext cx="9334500" cy="1085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현업·DT 협업을 통한 Y-Agent 구현 및</a:t>
              </a:r>
            </a:p>
            <a:p xmlns:a="http://schemas.openxmlformats.org/drawingml/2006/main">
              <a:pPr algn="l">
                <a:def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수율분석 실효성 검증</a:t>
              </a:r>
            </a:p>
          </p:txBody>
        </p:sp>
        <p:sp>
          <p:nvSpPr>
            <p:cNvPr id="7" name="header__125">
              <a:extLst xmlns:a="http://schemas.openxmlformats.org/drawingml/2006/main">
                <a:ext uri="{FF2B5EF4-FFF2-40B4-BE49-F238E27FC236}">
                  <a16:creationId xmlns:a16="http://schemas.microsoft.com/office/drawing/2014/main" id="{6AD2C5E4-B5A8-48DF-84A2-65737B9CB1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695450"/>
              <a:ext cx="89535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업무 재설계를 실제 서비스로 구현하고 현업 이슈로 검증</a:t>
              </a:r>
            </a:p>
          </p:txBody>
        </p:sp>
        <p:pic>
          <p:nvPicPr>
            <p:cNvPr id="121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2fe7a1382868491c"/>
            <a:stretch xmlns:a="http://schemas.openxmlformats.org/drawingml/2006/main"/>
          </p:blipFill>
          <p:spPr>
            <a:xfrm xmlns:a="http://schemas.openxmlformats.org/drawingml/2006/main">
              <a:off x="7800975" y="688181"/>
              <a:ext cx="1781175" cy="890588"/>
            </a:xfrm>
            <a:prstGeom xmlns:a="http://schemas.openxmlformats.org/drawingml/2006/main" prst="rect">
              <a:avLst/>
            </a:prstGeom>
          </p:spPr>
        </p:pic>
      </p:grpSp>
      <p:grpSp>
        <p:nvGrpSpPr>
          <p:cNvPr id="10001" name="01 핵심 내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" name="section01__126">
              <a:extLst xmlns:a="http://schemas.openxmlformats.org/drawingml/2006/main">
                <a:ext uri="{FF2B5EF4-FFF2-40B4-BE49-F238E27FC236}">
                  <a16:creationId xmlns:a16="http://schemas.microsoft.com/office/drawing/2014/main" id="{49882EDE-F6E1-4E76-B783-04E55217C0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" y="2200275"/>
              <a:ext cx="9696450" cy="3429000"/>
            </a:xfrm>
            <a:prstGeom xmlns:a="http://schemas.openxmlformats.org/drawingml/2006/main" prst="roundRect">
              <a:avLst>
                <a:gd name="adj" fmla="val 222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0" name="section01__127">
              <a:extLst xmlns:a="http://schemas.openxmlformats.org/drawingml/2006/main">
                <a:ext uri="{FF2B5EF4-FFF2-40B4-BE49-F238E27FC236}">
                  <a16:creationId xmlns:a16="http://schemas.microsoft.com/office/drawing/2014/main" id="{4A21C647-1EF7-48CA-AD6E-8424D82A47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2209800"/>
              <a:ext cx="96583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1" name="section01__128">
              <a:extLst xmlns:a="http://schemas.openxmlformats.org/drawingml/2006/main">
                <a:ext uri="{FF2B5EF4-FFF2-40B4-BE49-F238E27FC236}">
                  <a16:creationId xmlns:a16="http://schemas.microsoft.com/office/drawing/2014/main" id="{5E145582-ED8A-44D7-807F-262C58A0A1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2209800"/>
              <a:ext cx="5905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2" name="section01__129">
              <a:extLst xmlns:a="http://schemas.openxmlformats.org/drawingml/2006/main">
                <a:ext uri="{FF2B5EF4-FFF2-40B4-BE49-F238E27FC236}">
                  <a16:creationId xmlns:a16="http://schemas.microsoft.com/office/drawing/2014/main" id="{DFD68044-42AB-48B4-A905-56BB6C704F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" y="2200275"/>
              <a:ext cx="5429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3" name="section01__130">
              <a:extLst xmlns:a="http://schemas.openxmlformats.org/drawingml/2006/main">
                <a:ext uri="{FF2B5EF4-FFF2-40B4-BE49-F238E27FC236}">
                  <a16:creationId xmlns:a16="http://schemas.microsoft.com/office/drawing/2014/main" id="{7D9CAECB-A486-40A2-8C75-D52878757A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2200275"/>
              <a:ext cx="8763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전문성과 DT 역량을 결합한 구현</a:t>
              </a:r>
            </a:p>
          </p:txBody>
        </p:sp>
        <p:sp>
          <p:nvSpPr>
            <p:cNvPr id="14" name="section01__131">
              <a:extLst xmlns:a="http://schemas.openxmlformats.org/drawingml/2006/main">
                <a:ext uri="{FF2B5EF4-FFF2-40B4-BE49-F238E27FC236}">
                  <a16:creationId xmlns:a16="http://schemas.microsoft.com/office/drawing/2014/main" id="{632BBC32-7F39-48DD-9B3D-8DC38B04D5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6525" y="2266950"/>
              <a:ext cx="3086100" cy="276225"/>
            </a:xfrm>
            <a:prstGeom xmlns:a="http://schemas.openxmlformats.org/drawingml/2006/main" prst="roundRect">
              <a:avLst>
                <a:gd name="adj" fmla="val 275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sp>
          <p:nvSpPr>
            <p:cNvPr id="15" name="section01__132">
              <a:extLst xmlns:a="http://schemas.openxmlformats.org/drawingml/2006/main">
                <a:ext uri="{FF2B5EF4-FFF2-40B4-BE49-F238E27FC236}">
                  <a16:creationId xmlns:a16="http://schemas.microsoft.com/office/drawing/2014/main" id="{5AB73F7D-9714-4B2B-9EF2-DDE40B2AE7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43675" y="2276475"/>
              <a:ext cx="29718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SYLD 6개월 파견 · 몰입 개발</a:t>
              </a:r>
            </a:p>
          </p:txBody>
        </p:sp>
        <p:sp>
          <p:nvSpPr>
            <p:cNvPr id="16" name="section01__133">
              <a:extLst xmlns:a="http://schemas.openxmlformats.org/drawingml/2006/main">
                <a:ext uri="{FF2B5EF4-FFF2-40B4-BE49-F238E27FC236}">
                  <a16:creationId xmlns:a16="http://schemas.microsoft.com/office/drawing/2014/main" id="{1552EEAD-A389-4CE2-895E-2111B64BFE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" y="2695575"/>
              <a:ext cx="3000375" cy="1866900"/>
            </a:xfrm>
            <a:prstGeom xmlns:a="http://schemas.openxmlformats.org/drawingml/2006/main" prst="roundRect">
              <a:avLst>
                <a:gd name="adj" fmla="val 4082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7" name="section01__134">
              <a:extLst xmlns:a="http://schemas.openxmlformats.org/drawingml/2006/main">
                <a:ext uri="{FF2B5EF4-FFF2-40B4-BE49-F238E27FC236}">
                  <a16:creationId xmlns:a16="http://schemas.microsoft.com/office/drawing/2014/main" id="{995DEDD0-E649-49B7-885C-37AD66D2C3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2695575"/>
              <a:ext cx="3105150" cy="1866900"/>
            </a:xfrm>
            <a:prstGeom xmlns:a="http://schemas.openxmlformats.org/drawingml/2006/main" prst="roundRect">
              <a:avLst>
                <a:gd name="adj" fmla="val 4082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8" name="section01__135">
              <a:extLst xmlns:a="http://schemas.openxmlformats.org/drawingml/2006/main">
                <a:ext uri="{FF2B5EF4-FFF2-40B4-BE49-F238E27FC236}">
                  <a16:creationId xmlns:a16="http://schemas.microsoft.com/office/drawing/2014/main" id="{C2C6A108-C4A1-4E82-A3C8-64B2CED678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2800350"/>
              <a:ext cx="27432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도메인 지식</a:t>
              </a:r>
            </a:p>
          </p:txBody>
        </p:sp>
        <p:sp>
          <p:nvSpPr>
            <p:cNvPr id="19" name="section01__136">
              <a:extLst xmlns:a="http://schemas.openxmlformats.org/drawingml/2006/main">
                <a:ext uri="{FF2B5EF4-FFF2-40B4-BE49-F238E27FC236}">
                  <a16:creationId xmlns:a16="http://schemas.microsoft.com/office/drawing/2014/main" id="{668AD4EF-1018-4044-89DF-8840E676DF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2800350"/>
              <a:ext cx="27813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DT AI 설계·개발 역량</a:t>
              </a:r>
            </a:p>
          </p:txBody>
        </p:sp>
        <p:pic>
          <p:nvPicPr>
            <p:cNvPr id="133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f47bfa716a214ed6"/>
            <a:stretch xmlns:a="http://schemas.openxmlformats.org/drawingml/2006/main"/>
          </p:blipFill>
          <p:spPr>
            <a:xfrm xmlns:a="http://schemas.openxmlformats.org/drawingml/2006/main">
              <a:off x="457200" y="3219450"/>
              <a:ext cx="1143000" cy="11430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4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e34e968dbbb4464"/>
            <a:stretch xmlns:a="http://schemas.openxmlformats.org/drawingml/2006/main"/>
          </p:blipFill>
          <p:spPr>
            <a:xfrm xmlns:a="http://schemas.openxmlformats.org/drawingml/2006/main">
              <a:off x="6705600" y="3220667"/>
              <a:ext cx="1143000" cy="1092942"/>
            </a:xfrm>
            <a:prstGeom xmlns:a="http://schemas.openxmlformats.org/drawingml/2006/main" prst="rect">
              <a:avLst/>
            </a:prstGeom>
          </p:spPr>
        </p:pic>
        <p:sp>
          <p:nvSpPr>
            <p:cNvPr id="22" name="section01__137">
              <a:extLst xmlns:a="http://schemas.openxmlformats.org/drawingml/2006/main">
                <a:ext uri="{FF2B5EF4-FFF2-40B4-BE49-F238E27FC236}">
                  <a16:creationId xmlns:a16="http://schemas.microsoft.com/office/drawing/2014/main" id="{3DFC2958-B0C6-4428-98C7-5FA5C319D6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85925" y="3238500"/>
              <a:ext cx="1562100" cy="1114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 이슈 경험과 노하우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공정·자재에 대한 이해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현업 문제 정의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관점 및 가설 제시</a:t>
              </a:r>
            </a:p>
          </p:txBody>
        </p:sp>
        <p:sp>
          <p:nvSpPr>
            <p:cNvPr id="23" name="section01__138">
              <a:extLst xmlns:a="http://schemas.openxmlformats.org/drawingml/2006/main">
                <a:ext uri="{FF2B5EF4-FFF2-40B4-BE49-F238E27FC236}">
                  <a16:creationId xmlns:a16="http://schemas.microsoft.com/office/drawing/2014/main" id="{9612E840-3B2A-4D34-99F3-9027757C99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96225" y="3238500"/>
              <a:ext cx="1724025" cy="1114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Agent 아키텍처 설계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 처리·분석 로직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서비스 구현·성능 최적화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맞춤형 사용성 설계</a:t>
              </a:r>
            </a:p>
          </p:txBody>
        </p:sp>
        <p:sp>
          <p:nvSpPr>
            <p:cNvPr id="24" name="section01__139">
              <a:extLst xmlns:a="http://schemas.openxmlformats.org/drawingml/2006/main">
                <a:ext uri="{FF2B5EF4-FFF2-40B4-BE49-F238E27FC236}">
                  <a16:creationId xmlns:a16="http://schemas.microsoft.com/office/drawing/2014/main" id="{43288B58-67C1-4B55-B41F-A9976C1261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00425" y="3467100"/>
              <a:ext cx="333375" cy="2857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5" name="section01__140">
              <a:extLst xmlns:a="http://schemas.openxmlformats.org/drawingml/2006/main">
                <a:ext uri="{FF2B5EF4-FFF2-40B4-BE49-F238E27FC236}">
                  <a16:creationId xmlns:a16="http://schemas.microsoft.com/office/drawing/2014/main" id="{C4D4DAAD-BC9F-4089-B2DD-87799AB188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76675" y="2714625"/>
              <a:ext cx="2324100" cy="17240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6" name="section01__141">
              <a:extLst xmlns:a="http://schemas.openxmlformats.org/drawingml/2006/main">
                <a:ext uri="{FF2B5EF4-FFF2-40B4-BE49-F238E27FC236}">
                  <a16:creationId xmlns:a16="http://schemas.microsoft.com/office/drawing/2014/main" id="{D3D6C2DF-33E8-4C60-AF52-F6AAE681C1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38600" y="2971800"/>
              <a:ext cx="2000250" cy="923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5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5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  <a:p xmlns:a="http://schemas.openxmlformats.org/drawingml/2006/main">
              <a:pPr algn="ctr">
                <a:defRPr sz="25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5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구현</a:t>
              </a:r>
            </a:p>
          </p:txBody>
        </p:sp>
        <p:sp>
          <p:nvSpPr>
            <p:cNvPr id="27" name="section01__142">
              <a:extLst xmlns:a="http://schemas.openxmlformats.org/drawingml/2006/main">
                <a:ext uri="{FF2B5EF4-FFF2-40B4-BE49-F238E27FC236}">
                  <a16:creationId xmlns:a16="http://schemas.microsoft.com/office/drawing/2014/main" id="{37906CDF-839F-4915-8475-0E4422EDF1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10800000">
              <a:off x="6229350" y="3467100"/>
              <a:ext cx="304800" cy="2857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1__143">
              <a:extLst xmlns:a="http://schemas.openxmlformats.org/drawingml/2006/main">
                <a:ext uri="{FF2B5EF4-FFF2-40B4-BE49-F238E27FC236}">
                  <a16:creationId xmlns:a16="http://schemas.microsoft.com/office/drawing/2014/main" id="{75FC70C1-0578-4BD0-9D97-F9DAF568B8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9550" y="4286250"/>
              <a:ext cx="2038350" cy="371475"/>
            </a:xfrm>
            <a:prstGeom xmlns:a="http://schemas.openxmlformats.org/drawingml/2006/main" prst="roundRect">
              <a:avLst>
                <a:gd name="adj" fmla="val 20513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9" name="section01__144">
              <a:extLst xmlns:a="http://schemas.openxmlformats.org/drawingml/2006/main">
                <a:ext uri="{FF2B5EF4-FFF2-40B4-BE49-F238E27FC236}">
                  <a16:creationId xmlns:a16="http://schemas.microsoft.com/office/drawing/2014/main" id="{C177F489-9FA2-4078-A09C-49D6F78F3C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57650" y="4286250"/>
              <a:ext cx="1962150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Super Agent</a:t>
              </a:r>
            </a:p>
          </p:txBody>
        </p:sp>
        <p:sp>
          <p:nvSpPr>
            <p:cNvPr id="30" name="section01__145">
              <a:extLst xmlns:a="http://schemas.openxmlformats.org/drawingml/2006/main">
                <a:ext uri="{FF2B5EF4-FFF2-40B4-BE49-F238E27FC236}">
                  <a16:creationId xmlns:a16="http://schemas.microsoft.com/office/drawing/2014/main" id="{7B6A640B-986B-4544-A13B-1297C6202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4676775"/>
              <a:ext cx="3381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목적에 맞는 Agent·Tool 연결</a:t>
              </a:r>
            </a:p>
          </p:txBody>
        </p:sp>
        <p:sp>
          <p:nvSpPr>
            <p:cNvPr id="31" name="section01__146">
              <a:extLst xmlns:a="http://schemas.openxmlformats.org/drawingml/2006/main">
                <a:ext uri="{FF2B5EF4-FFF2-40B4-BE49-F238E27FC236}">
                  <a16:creationId xmlns:a16="http://schemas.microsoft.com/office/drawing/2014/main" id="{50FA5F1D-16A4-4D5F-90BE-C6BBF48B40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086350"/>
              <a:ext cx="143827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2" name="section01__147">
              <a:extLst xmlns:a="http://schemas.openxmlformats.org/drawingml/2006/main">
                <a:ext uri="{FF2B5EF4-FFF2-40B4-BE49-F238E27FC236}">
                  <a16:creationId xmlns:a16="http://schemas.microsoft.com/office/drawing/2014/main" id="{5686E857-D337-444D-BF79-948894ECBE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086350"/>
              <a:ext cx="143827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이상감지</a:t>
              </a:r>
            </a:p>
          </p:txBody>
        </p:sp>
        <p:sp>
          <p:nvSpPr>
            <p:cNvPr id="33" name="section01__148">
              <a:extLst xmlns:a="http://schemas.openxmlformats.org/drawingml/2006/main">
                <a:ext uri="{FF2B5EF4-FFF2-40B4-BE49-F238E27FC236}">
                  <a16:creationId xmlns:a16="http://schemas.microsoft.com/office/drawing/2014/main" id="{B8328B23-161A-4EAE-B7B0-4ED8179E25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9775" y="5086350"/>
              <a:ext cx="143827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4" name="section01__149">
              <a:extLst xmlns:a="http://schemas.openxmlformats.org/drawingml/2006/main">
                <a:ext uri="{FF2B5EF4-FFF2-40B4-BE49-F238E27FC236}">
                  <a16:creationId xmlns:a16="http://schemas.microsoft.com/office/drawing/2014/main" id="{9992AE96-E404-4DA8-8027-BA65A4CF9C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9775" y="5086350"/>
              <a:ext cx="143827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Map 분석</a:t>
              </a:r>
            </a:p>
          </p:txBody>
        </p:sp>
        <p:sp>
          <p:nvSpPr>
            <p:cNvPr id="35" name="section01__150">
              <a:extLst xmlns:a="http://schemas.openxmlformats.org/drawingml/2006/main">
                <a:ext uri="{FF2B5EF4-FFF2-40B4-BE49-F238E27FC236}">
                  <a16:creationId xmlns:a16="http://schemas.microsoft.com/office/drawing/2014/main" id="{D0835FC8-AD19-4388-8B60-626BA619E6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81400" y="5086350"/>
              <a:ext cx="143827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6" name="section01__151">
              <a:extLst xmlns:a="http://schemas.openxmlformats.org/drawingml/2006/main">
                <a:ext uri="{FF2B5EF4-FFF2-40B4-BE49-F238E27FC236}">
                  <a16:creationId xmlns:a16="http://schemas.microsoft.com/office/drawing/2014/main" id="{4E8621CB-AA17-4A38-9F0F-82A8D21AE6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81400" y="5086350"/>
              <a:ext cx="143827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자재·불량 이력</a:t>
              </a:r>
            </a:p>
          </p:txBody>
        </p:sp>
        <p:sp>
          <p:nvSpPr>
            <p:cNvPr id="37" name="section01__152">
              <a:extLst xmlns:a="http://schemas.openxmlformats.org/drawingml/2006/main">
                <a:ext uri="{FF2B5EF4-FFF2-40B4-BE49-F238E27FC236}">
                  <a16:creationId xmlns:a16="http://schemas.microsoft.com/office/drawing/2014/main" id="{36CAD0E5-5E73-4C7A-BB7D-0C2A43F886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53025" y="5086350"/>
              <a:ext cx="143827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1__153">
              <a:extLst xmlns:a="http://schemas.openxmlformats.org/drawingml/2006/main">
                <a:ext uri="{FF2B5EF4-FFF2-40B4-BE49-F238E27FC236}">
                  <a16:creationId xmlns:a16="http://schemas.microsoft.com/office/drawing/2014/main" id="{0872B254-306B-4A9A-BB6E-D5D1799CBC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53025" y="5086350"/>
              <a:ext cx="143827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Mining</a:t>
              </a:r>
            </a:p>
          </p:txBody>
        </p:sp>
        <p:sp>
          <p:nvSpPr>
            <p:cNvPr id="39" name="section01__154">
              <a:extLst xmlns:a="http://schemas.openxmlformats.org/drawingml/2006/main">
                <a:ext uri="{FF2B5EF4-FFF2-40B4-BE49-F238E27FC236}">
                  <a16:creationId xmlns:a16="http://schemas.microsoft.com/office/drawing/2014/main" id="{D012A2A7-D5BA-4C11-8509-42BD8E76FD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4857750"/>
              <a:ext cx="2743200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0" name="section01__155">
              <a:extLst xmlns:a="http://schemas.openxmlformats.org/drawingml/2006/main">
                <a:ext uri="{FF2B5EF4-FFF2-40B4-BE49-F238E27FC236}">
                  <a16:creationId xmlns:a16="http://schemas.microsoft.com/office/drawing/2014/main" id="{721EA49A-A252-4F82-A2B8-DE28CAE15E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77075" y="4895850"/>
              <a:ext cx="24955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엔지니어 판단·조정</a:t>
              </a:r>
            </a:p>
          </p:txBody>
        </p:sp>
        <p:sp>
          <p:nvSpPr>
            <p:cNvPr id="41" name="section01__156">
              <a:extLst xmlns:a="http://schemas.openxmlformats.org/drawingml/2006/main">
                <a:ext uri="{FF2B5EF4-FFF2-40B4-BE49-F238E27FC236}">
                  <a16:creationId xmlns:a16="http://schemas.microsoft.com/office/drawing/2014/main" id="{0BD5DE96-A0FC-4FDD-9B34-92AF586007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67550" y="5200650"/>
              <a:ext cx="25241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Fail·분석 자재 선택 / 추가 분석 요청</a:t>
              </a:r>
            </a:p>
          </p:txBody>
        </p:sp>
        <p:sp>
          <p:nvSpPr>
            <p:cNvPr id="42" name="section01__157">
              <a:extLst xmlns:a="http://schemas.openxmlformats.org/drawingml/2006/main">
                <a:ext uri="{FF2B5EF4-FFF2-40B4-BE49-F238E27FC236}">
                  <a16:creationId xmlns:a16="http://schemas.microsoft.com/office/drawing/2014/main" id="{F81BBE8D-AB55-492D-B5D0-E7F4D00976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0150" y="4933950"/>
              <a:ext cx="0" cy="95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  <p:sp>
          <p:nvSpPr>
            <p:cNvPr id="43" name="section01__158">
              <a:extLst xmlns:a="http://schemas.openxmlformats.org/drawingml/2006/main">
                <a:ext uri="{FF2B5EF4-FFF2-40B4-BE49-F238E27FC236}">
                  <a16:creationId xmlns:a16="http://schemas.microsoft.com/office/drawing/2014/main" id="{B9D9084A-2957-4792-95DD-F86905A932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" y="5029200"/>
              <a:ext cx="47148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  <p:sp>
          <p:nvSpPr>
            <p:cNvPr id="44" name="section01__159">
              <a:extLst xmlns:a="http://schemas.openxmlformats.org/drawingml/2006/main">
                <a:ext uri="{FF2B5EF4-FFF2-40B4-BE49-F238E27FC236}">
                  <a16:creationId xmlns:a16="http://schemas.microsoft.com/office/drawing/2014/main" id="{17D7EB2B-F318-4469-AC1C-1A716B6950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" y="5029200"/>
              <a:ext cx="0" cy="57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  <p:sp>
          <p:nvSpPr>
            <p:cNvPr id="45" name="section01__160">
              <a:extLst xmlns:a="http://schemas.openxmlformats.org/drawingml/2006/main">
                <a:ext uri="{FF2B5EF4-FFF2-40B4-BE49-F238E27FC236}">
                  <a16:creationId xmlns:a16="http://schemas.microsoft.com/office/drawing/2014/main" id="{3F7B10F5-3EE8-4A33-8DC6-5CCB037438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24150" y="5029200"/>
              <a:ext cx="0" cy="57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  <p:sp>
          <p:nvSpPr>
            <p:cNvPr id="46" name="section01__161">
              <a:extLst xmlns:a="http://schemas.openxmlformats.org/drawingml/2006/main">
                <a:ext uri="{FF2B5EF4-FFF2-40B4-BE49-F238E27FC236}">
                  <a16:creationId xmlns:a16="http://schemas.microsoft.com/office/drawing/2014/main" id="{53C448F0-85E4-4F61-9192-02B121450A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95775" y="5029200"/>
              <a:ext cx="0" cy="57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  <p:sp>
          <p:nvSpPr>
            <p:cNvPr id="47" name="section01__162">
              <a:extLst xmlns:a="http://schemas.openxmlformats.org/drawingml/2006/main">
                <a:ext uri="{FF2B5EF4-FFF2-40B4-BE49-F238E27FC236}">
                  <a16:creationId xmlns:a16="http://schemas.microsoft.com/office/drawing/2014/main" id="{64A5D422-D439-429D-8DCE-1049AEA162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67400" y="5029200"/>
              <a:ext cx="0" cy="57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</p:grpSp>
      <p:grpSp>
        <p:nvGrpSpPr>
          <p:cNvPr id="10002" name="02 핵심 내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48" name="section02__163">
              <a:extLst xmlns:a="http://schemas.openxmlformats.org/drawingml/2006/main">
                <a:ext uri="{FF2B5EF4-FFF2-40B4-BE49-F238E27FC236}">
                  <a16:creationId xmlns:a16="http://schemas.microsoft.com/office/drawing/2014/main" id="{D7C6E20C-2765-46F7-AA6E-DF619AF3DA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" y="5791200"/>
              <a:ext cx="9696450" cy="4933950"/>
            </a:xfrm>
            <a:prstGeom xmlns:a="http://schemas.openxmlformats.org/drawingml/2006/main" prst="roundRect">
              <a:avLst>
                <a:gd name="adj" fmla="val 154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9" name="section02__164">
              <a:extLst xmlns:a="http://schemas.openxmlformats.org/drawingml/2006/main">
                <a:ext uri="{FF2B5EF4-FFF2-40B4-BE49-F238E27FC236}">
                  <a16:creationId xmlns:a16="http://schemas.microsoft.com/office/drawing/2014/main" id="{85E2C980-0B1E-4712-8872-0BF7638F1E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5800725"/>
              <a:ext cx="96583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0" name="section02__165">
              <a:extLst xmlns:a="http://schemas.openxmlformats.org/drawingml/2006/main">
                <a:ext uri="{FF2B5EF4-FFF2-40B4-BE49-F238E27FC236}">
                  <a16:creationId xmlns:a16="http://schemas.microsoft.com/office/drawing/2014/main" id="{A6B4EB08-2355-478F-8073-70509DA4C0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5800725"/>
              <a:ext cx="5905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1" name="section02__166">
              <a:extLst xmlns:a="http://schemas.openxmlformats.org/drawingml/2006/main">
                <a:ext uri="{FF2B5EF4-FFF2-40B4-BE49-F238E27FC236}">
                  <a16:creationId xmlns:a16="http://schemas.microsoft.com/office/drawing/2014/main" id="{0E058DB4-3AF5-4861-A586-0D97147BFA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" y="5791200"/>
              <a:ext cx="5429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52" name="section02__167">
              <a:extLst xmlns:a="http://schemas.openxmlformats.org/drawingml/2006/main">
                <a:ext uri="{FF2B5EF4-FFF2-40B4-BE49-F238E27FC236}">
                  <a16:creationId xmlns:a16="http://schemas.microsoft.com/office/drawing/2014/main" id="{F738891D-DA79-46F4-A6E7-C2B9B5C43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791200"/>
              <a:ext cx="8763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실제 수율 이슈를 통한 현업 검증</a:t>
              </a:r>
            </a:p>
          </p:txBody>
        </p:sp>
        <p:sp>
          <p:nvSpPr>
            <p:cNvPr id="53" name="section02__168">
              <a:extLst xmlns:a="http://schemas.openxmlformats.org/drawingml/2006/main">
                <a:ext uri="{FF2B5EF4-FFF2-40B4-BE49-F238E27FC236}">
                  <a16:creationId xmlns:a16="http://schemas.microsoft.com/office/drawing/2014/main" id="{F61E49E1-BF89-478D-AB9F-27E59019BF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" y="6334125"/>
              <a:ext cx="4648200" cy="1057275"/>
            </a:xfrm>
            <a:prstGeom xmlns:a="http://schemas.openxmlformats.org/drawingml/2006/main" prst="roundRect">
              <a:avLst>
                <a:gd name="adj" fmla="val 72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4" name="section02__169">
              <a:extLst xmlns:a="http://schemas.openxmlformats.org/drawingml/2006/main">
                <a:ext uri="{FF2B5EF4-FFF2-40B4-BE49-F238E27FC236}">
                  <a16:creationId xmlns:a16="http://schemas.microsoft.com/office/drawing/2014/main" id="{1481372C-6A8B-41EC-8A39-75802283AD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6334125"/>
              <a:ext cx="4610100" cy="1057275"/>
            </a:xfrm>
            <a:prstGeom xmlns:a="http://schemas.openxmlformats.org/drawingml/2006/main" prst="roundRect">
              <a:avLst>
                <a:gd name="adj" fmla="val 72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5" name="section02__170">
              <a:extLst xmlns:a="http://schemas.openxmlformats.org/drawingml/2006/main">
                <a:ext uri="{FF2B5EF4-FFF2-40B4-BE49-F238E27FC236}">
                  <a16:creationId xmlns:a16="http://schemas.microsoft.com/office/drawing/2014/main" id="{F070885B-81D5-4B73-AEC3-C2D566619D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6429375"/>
              <a:ext cx="2105025" cy="838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4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4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5 / 7건</a:t>
              </a:r>
            </a:p>
          </p:txBody>
        </p:sp>
        <p:sp>
          <p:nvSpPr>
            <p:cNvPr id="56" name="section02__171">
              <a:extLst xmlns:a="http://schemas.openxmlformats.org/drawingml/2006/main">
                <a:ext uri="{FF2B5EF4-FFF2-40B4-BE49-F238E27FC236}">
                  <a16:creationId xmlns:a16="http://schemas.microsoft.com/office/drawing/2014/main" id="{DDDC060A-7EC8-45FE-9122-E45AFB7B3F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76525" y="6543675"/>
              <a:ext cx="21431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실제 수율 이슈 검출</a:t>
              </a:r>
            </a:p>
          </p:txBody>
        </p:sp>
        <p:sp>
          <p:nvSpPr>
            <p:cNvPr id="57" name="section02__172">
              <a:extLst xmlns:a="http://schemas.openxmlformats.org/drawingml/2006/main">
                <a:ext uri="{FF2B5EF4-FFF2-40B4-BE49-F238E27FC236}">
                  <a16:creationId xmlns:a16="http://schemas.microsoft.com/office/drawing/2014/main" id="{1397DAA3-66B8-41F2-A9E7-D314108803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0" y="6953250"/>
              <a:ext cx="21812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검출 5건 · 미검출 2건</a:t>
              </a:r>
            </a:p>
          </p:txBody>
        </p:sp>
        <p:sp>
          <p:nvSpPr>
            <p:cNvPr id="58" name="section02__173">
              <a:extLst xmlns:a="http://schemas.openxmlformats.org/drawingml/2006/main">
                <a:ext uri="{FF2B5EF4-FFF2-40B4-BE49-F238E27FC236}">
                  <a16:creationId xmlns:a16="http://schemas.microsoft.com/office/drawing/2014/main" id="{C1113DF6-D25E-4F2F-9EEF-739F4B3AFE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5425" y="6429375"/>
              <a:ext cx="1762125" cy="838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4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48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81건</a:t>
              </a:r>
            </a:p>
          </p:txBody>
        </p:sp>
        <p:sp>
          <p:nvSpPr>
            <p:cNvPr id="59" name="section02__174">
              <a:extLst xmlns:a="http://schemas.openxmlformats.org/drawingml/2006/main">
                <a:ext uri="{FF2B5EF4-FFF2-40B4-BE49-F238E27FC236}">
                  <a16:creationId xmlns:a16="http://schemas.microsoft.com/office/drawing/2014/main" id="{869FD647-8CC5-42B6-8495-D6E28EDE1D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53275" y="6543675"/>
              <a:ext cx="24193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협업 Action Item 도출</a:t>
              </a:r>
            </a:p>
          </p:txBody>
        </p:sp>
        <p:sp>
          <p:nvSpPr>
            <p:cNvPr id="60" name="section02__175">
              <a:extLst xmlns:a="http://schemas.openxmlformats.org/drawingml/2006/main">
                <a:ext uri="{FF2B5EF4-FFF2-40B4-BE49-F238E27FC236}">
                  <a16:creationId xmlns:a16="http://schemas.microsoft.com/office/drawing/2014/main" id="{A67F7E1D-4138-4F7E-B041-2FE1972780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53275" y="6953250"/>
              <a:ext cx="24193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로직·사용성 개선 과제</a:t>
              </a:r>
            </a:p>
          </p:txBody>
        </p:sp>
        <p:sp>
          <p:nvSpPr>
            <p:cNvPr id="61" name="section02__176">
              <a:extLst xmlns:a="http://schemas.openxmlformats.org/drawingml/2006/main">
                <a:ext uri="{FF2B5EF4-FFF2-40B4-BE49-F238E27FC236}">
                  <a16:creationId xmlns:a16="http://schemas.microsoft.com/office/drawing/2014/main" id="{1B501A96-4996-4919-8C21-5A1A871632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7467600"/>
              <a:ext cx="37147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※ 해당 검증 사례 기준</a:t>
              </a:r>
            </a:p>
          </p:txBody>
        </p:sp>
        <p:sp>
          <p:nvSpPr>
            <p:cNvPr id="62" name="section02__177">
              <a:extLst xmlns:a="http://schemas.openxmlformats.org/drawingml/2006/main">
                <a:ext uri="{FF2B5EF4-FFF2-40B4-BE49-F238E27FC236}">
                  <a16:creationId xmlns:a16="http://schemas.microsoft.com/office/drawing/2014/main" id="{37D338D7-C101-4A27-9F77-902394E84A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" y="7781925"/>
              <a:ext cx="9391650" cy="2771775"/>
            </a:xfrm>
            <a:prstGeom xmlns:a="http://schemas.openxmlformats.org/drawingml/2006/main" prst="roundRect">
              <a:avLst>
                <a:gd name="adj" fmla="val 274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3" name="section02__178">
              <a:extLst xmlns:a="http://schemas.openxmlformats.org/drawingml/2006/main">
                <a:ext uri="{FF2B5EF4-FFF2-40B4-BE49-F238E27FC236}">
                  <a16:creationId xmlns:a16="http://schemas.microsoft.com/office/drawing/2014/main" id="{75FE6735-2520-4A6E-8539-4068A26A7F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7877175"/>
              <a:ext cx="19145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대표 분석 흐름</a:t>
              </a:r>
            </a:p>
          </p:txBody>
        </p:sp>
        <p:sp>
          <p:nvSpPr>
            <p:cNvPr id="64" name="section02__179">
              <a:extLst xmlns:a="http://schemas.openxmlformats.org/drawingml/2006/main">
                <a:ext uri="{FF2B5EF4-FFF2-40B4-BE49-F238E27FC236}">
                  <a16:creationId xmlns:a16="http://schemas.microsoft.com/office/drawing/2014/main" id="{2FCAD508-9845-4361-96B8-007D632BAF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66975" y="7924800"/>
              <a:ext cx="68675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엔지니어 분석 결과와 비교하며 정합성과 활용성 점검</a:t>
              </a:r>
            </a:p>
          </p:txBody>
        </p:sp>
        <p:sp>
          <p:nvSpPr>
            <p:cNvPr id="65" name="section02__180">
              <a:extLst xmlns:a="http://schemas.openxmlformats.org/drawingml/2006/main">
                <a:ext uri="{FF2B5EF4-FFF2-40B4-BE49-F238E27FC236}">
                  <a16:creationId xmlns:a16="http://schemas.microsoft.com/office/drawing/2014/main" id="{40EED28F-83D6-41B1-B94F-A9B64650A4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8305800"/>
              <a:ext cx="2924175" cy="1695450"/>
            </a:xfrm>
            <a:prstGeom xmlns:a="http://schemas.openxmlformats.org/drawingml/2006/main" prst="roundRect">
              <a:avLst>
                <a:gd name="adj" fmla="val 449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6" name="section02__181">
              <a:extLst xmlns:a="http://schemas.openxmlformats.org/drawingml/2006/main">
                <a:ext uri="{FF2B5EF4-FFF2-40B4-BE49-F238E27FC236}">
                  <a16:creationId xmlns:a16="http://schemas.microsoft.com/office/drawing/2014/main" id="{32F91CAE-C1F8-4238-8740-56052F1AE4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" y="8382000"/>
              <a:ext cx="1466850" cy="285750"/>
            </a:xfrm>
            <a:prstGeom xmlns:a="http://schemas.openxmlformats.org/drawingml/2006/main" prst="roundRect">
              <a:avLst>
                <a:gd name="adj" fmla="val 26667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7" name="section02__182">
              <a:extLst xmlns:a="http://schemas.openxmlformats.org/drawingml/2006/main">
                <a:ext uri="{FF2B5EF4-FFF2-40B4-BE49-F238E27FC236}">
                  <a16:creationId xmlns:a16="http://schemas.microsoft.com/office/drawing/2014/main" id="{A7F397FC-7131-42FC-A169-5633B6188F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" y="8382000"/>
              <a:ext cx="1390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불량 자재</a:t>
              </a:r>
            </a:p>
          </p:txBody>
        </p:sp>
        <p:pic>
          <p:nvPicPr>
            <p:cNvPr id="181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31769ce03934060"/>
            <a:stretch xmlns:a="http://schemas.openxmlformats.org/drawingml/2006/main"/>
          </p:blipFill>
          <p:spPr>
            <a:xfrm xmlns:a="http://schemas.openxmlformats.org/drawingml/2006/main">
              <a:off x="940934" y="8743950"/>
              <a:ext cx="1975757" cy="742950"/>
            </a:xfrm>
            <a:prstGeom xmlns:a="http://schemas.openxmlformats.org/drawingml/2006/main" prst="rect">
              <a:avLst/>
            </a:prstGeom>
          </p:spPr>
        </p:pic>
        <p:sp>
          <p:nvSpPr>
            <p:cNvPr id="69" name="section02__183">
              <a:extLst xmlns:a="http://schemas.openxmlformats.org/drawingml/2006/main">
                <a:ext uri="{FF2B5EF4-FFF2-40B4-BE49-F238E27FC236}">
                  <a16:creationId xmlns:a16="http://schemas.microsoft.com/office/drawing/2014/main" id="{219DFE36-AC7A-44E8-9406-10E352C9D3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9544050"/>
              <a:ext cx="2695575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 저하가 발생한 불량 자재 선별</a:t>
              </a:r>
            </a:p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관련 이력 및 특성 확인</a:t>
              </a:r>
            </a:p>
          </p:txBody>
        </p:sp>
        <p:sp>
          <p:nvSpPr>
            <p:cNvPr id="70" name="section02__184">
              <a:extLst xmlns:a="http://schemas.openxmlformats.org/drawingml/2006/main">
                <a:ext uri="{FF2B5EF4-FFF2-40B4-BE49-F238E27FC236}">
                  <a16:creationId xmlns:a16="http://schemas.microsoft.com/office/drawing/2014/main" id="{2CEB3C80-9F4C-4468-A8D4-DAD7D294BC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9058275"/>
              <a:ext cx="104775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1" name="section02__185">
              <a:extLst xmlns:a="http://schemas.openxmlformats.org/drawingml/2006/main">
                <a:ext uri="{FF2B5EF4-FFF2-40B4-BE49-F238E27FC236}">
                  <a16:creationId xmlns:a16="http://schemas.microsoft.com/office/drawing/2014/main" id="{479645D5-0891-4ACB-B6A5-5B6768DC65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52825" y="8305800"/>
              <a:ext cx="2924175" cy="1695450"/>
            </a:xfrm>
            <a:prstGeom xmlns:a="http://schemas.openxmlformats.org/drawingml/2006/main" prst="roundRect">
              <a:avLst>
                <a:gd name="adj" fmla="val 449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2" name="section02__186">
              <a:extLst xmlns:a="http://schemas.openxmlformats.org/drawingml/2006/main">
                <a:ext uri="{FF2B5EF4-FFF2-40B4-BE49-F238E27FC236}">
                  <a16:creationId xmlns:a16="http://schemas.microsoft.com/office/drawing/2014/main" id="{14826E61-397A-4C90-8117-2B9F4A1358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6650" y="8382000"/>
              <a:ext cx="1466850" cy="285750"/>
            </a:xfrm>
            <a:prstGeom xmlns:a="http://schemas.openxmlformats.org/drawingml/2006/main" prst="roundRect">
              <a:avLst>
                <a:gd name="adj" fmla="val 26667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3" name="section02__187">
              <a:extLst xmlns:a="http://schemas.openxmlformats.org/drawingml/2006/main">
                <a:ext uri="{FF2B5EF4-FFF2-40B4-BE49-F238E27FC236}">
                  <a16:creationId xmlns:a16="http://schemas.microsoft.com/office/drawing/2014/main" id="{595FADBE-CCBA-447A-8E5F-907C7C2E0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0" y="8382000"/>
              <a:ext cx="1390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열화 파라미터</a:t>
              </a:r>
            </a:p>
          </p:txBody>
        </p:sp>
        <p:pic>
          <p:nvPicPr>
            <p:cNvPr id="187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a41893760b5461b"/>
            <a:stretch xmlns:a="http://schemas.openxmlformats.org/drawingml/2006/main"/>
          </p:blipFill>
          <p:spPr>
            <a:xfrm xmlns:a="http://schemas.openxmlformats.org/drawingml/2006/main">
              <a:off x="3871270" y="8743950"/>
              <a:ext cx="2287284" cy="742950"/>
            </a:xfrm>
            <a:prstGeom xmlns:a="http://schemas.openxmlformats.org/drawingml/2006/main" prst="rect">
              <a:avLst/>
            </a:prstGeom>
          </p:spPr>
        </p:pic>
        <p:sp>
          <p:nvSpPr>
            <p:cNvPr id="75" name="section02__188">
              <a:extLst xmlns:a="http://schemas.openxmlformats.org/drawingml/2006/main">
                <a:ext uri="{FF2B5EF4-FFF2-40B4-BE49-F238E27FC236}">
                  <a16:creationId xmlns:a16="http://schemas.microsoft.com/office/drawing/2014/main" id="{A552FD53-4418-4521-99C1-AFB1F0CF54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9544050"/>
              <a:ext cx="2695575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공정·전기적 파라미터 분석</a:t>
              </a:r>
            </a:p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이상 패턴 및 영향 요인 도출</a:t>
              </a:r>
            </a:p>
          </p:txBody>
        </p:sp>
        <p:sp>
          <p:nvSpPr>
            <p:cNvPr id="76" name="section02__189">
              <a:extLst xmlns:a="http://schemas.openxmlformats.org/drawingml/2006/main">
                <a:ext uri="{FF2B5EF4-FFF2-40B4-BE49-F238E27FC236}">
                  <a16:creationId xmlns:a16="http://schemas.microsoft.com/office/drawing/2014/main" id="{CF251018-0DFF-48CF-84BD-A1B557E6E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15100" y="9058275"/>
              <a:ext cx="104775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7" name="section02__190">
              <a:extLst xmlns:a="http://schemas.openxmlformats.org/drawingml/2006/main">
                <a:ext uri="{FF2B5EF4-FFF2-40B4-BE49-F238E27FC236}">
                  <a16:creationId xmlns:a16="http://schemas.microsoft.com/office/drawing/2014/main" id="{E37B96BF-D307-4578-8F2C-E801117BD3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8925" y="8305800"/>
              <a:ext cx="2924175" cy="1695450"/>
            </a:xfrm>
            <a:prstGeom xmlns:a="http://schemas.openxmlformats.org/drawingml/2006/main" prst="roundRect">
              <a:avLst>
                <a:gd name="adj" fmla="val 4494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8" name="section02__191">
              <a:extLst xmlns:a="http://schemas.openxmlformats.org/drawingml/2006/main">
                <a:ext uri="{FF2B5EF4-FFF2-40B4-BE49-F238E27FC236}">
                  <a16:creationId xmlns:a16="http://schemas.microsoft.com/office/drawing/2014/main" id="{B0B4300F-C7A9-469F-AB45-C2E1594BF6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62750" y="8382000"/>
              <a:ext cx="1466850" cy="285750"/>
            </a:xfrm>
            <a:prstGeom xmlns:a="http://schemas.openxmlformats.org/drawingml/2006/main" prst="roundRect">
              <a:avLst>
                <a:gd name="adj" fmla="val 26667"/>
              </a:avLst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9" name="section02__192">
              <a:extLst xmlns:a="http://schemas.openxmlformats.org/drawingml/2006/main">
                <a:ext uri="{FF2B5EF4-FFF2-40B4-BE49-F238E27FC236}">
                  <a16:creationId xmlns:a16="http://schemas.microsoft.com/office/drawing/2014/main" id="{7CC9DF3A-BB2F-49EC-B21B-03C175D3C5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0850" y="8382000"/>
              <a:ext cx="1390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원인 공정 도출</a:t>
              </a:r>
            </a:p>
          </p:txBody>
        </p:sp>
        <p:pic>
          <p:nvPicPr>
            <p:cNvPr id="193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4db316ed13a342d2"/>
            <a:stretch xmlns:a="http://schemas.openxmlformats.org/drawingml/2006/main"/>
          </p:blipFill>
          <p:spPr>
            <a:xfrm xmlns:a="http://schemas.openxmlformats.org/drawingml/2006/main">
              <a:off x="6791325" y="8817358"/>
              <a:ext cx="2619375" cy="596134"/>
            </a:xfrm>
            <a:prstGeom xmlns:a="http://schemas.openxmlformats.org/drawingml/2006/main" prst="rect">
              <a:avLst/>
            </a:prstGeom>
          </p:spPr>
        </p:pic>
        <p:sp>
          <p:nvSpPr>
            <p:cNvPr id="81" name="section02__193">
              <a:extLst xmlns:a="http://schemas.openxmlformats.org/drawingml/2006/main">
                <a:ext uri="{FF2B5EF4-FFF2-40B4-BE49-F238E27FC236}">
                  <a16:creationId xmlns:a16="http://schemas.microsoft.com/office/drawing/2014/main" id="{03C2E747-B4CE-40B4-88FE-23A1FDA218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3225" y="9544050"/>
              <a:ext cx="2695575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결과 기반 원인 공정 후보 도출</a:t>
              </a:r>
            </a:p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공정 흐름 내 영향 구간 특정</a:t>
              </a:r>
            </a:p>
          </p:txBody>
        </p:sp>
        <p:sp>
          <p:nvSpPr>
            <p:cNvPr id="82" name="section02__194">
              <a:extLst xmlns:a="http://schemas.openxmlformats.org/drawingml/2006/main">
                <a:ext uri="{FF2B5EF4-FFF2-40B4-BE49-F238E27FC236}">
                  <a16:creationId xmlns:a16="http://schemas.microsoft.com/office/drawing/2014/main" id="{C44004EF-72BF-4C0C-A8C3-20AADEF3B8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10134600"/>
              <a:ext cx="9105900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3" name="section02__195">
              <a:extLst xmlns:a="http://schemas.openxmlformats.org/drawingml/2006/main">
                <a:ext uri="{FF2B5EF4-FFF2-40B4-BE49-F238E27FC236}">
                  <a16:creationId xmlns:a16="http://schemas.microsoft.com/office/drawing/2014/main" id="{92E293C1-ACE4-41B5-B8B6-866A5D58D8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10144125"/>
              <a:ext cx="12477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피드백</a:t>
              </a:r>
            </a:p>
          </p:txBody>
        </p:sp>
        <p:sp>
          <p:nvSpPr>
            <p:cNvPr id="84" name="section02__196">
              <a:extLst xmlns:a="http://schemas.openxmlformats.org/drawingml/2006/main">
                <a:ext uri="{FF2B5EF4-FFF2-40B4-BE49-F238E27FC236}">
                  <a16:creationId xmlns:a16="http://schemas.microsoft.com/office/drawing/2014/main" id="{E453F201-52C6-4EBC-8890-C199BEF70F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10144125"/>
              <a:ext cx="16287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사용</a:t>
              </a:r>
            </a:p>
          </p:txBody>
        </p:sp>
        <p:sp>
          <p:nvSpPr>
            <p:cNvPr id="85" name="section02__197">
              <a:extLst xmlns:a="http://schemas.openxmlformats.org/drawingml/2006/main">
                <a:ext uri="{FF2B5EF4-FFF2-40B4-BE49-F238E27FC236}">
                  <a16:creationId xmlns:a16="http://schemas.microsoft.com/office/drawing/2014/main" id="{E2C7D517-6FC7-4588-8708-579F3C43B6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43325" y="10220325"/>
              <a:ext cx="161925" cy="1333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6" name="section02__198">
              <a:extLst xmlns:a="http://schemas.openxmlformats.org/drawingml/2006/main">
                <a:ext uri="{FF2B5EF4-FFF2-40B4-BE49-F238E27FC236}">
                  <a16:creationId xmlns:a16="http://schemas.microsoft.com/office/drawing/2014/main" id="{F08C1745-959D-4D83-B0F1-557EEBC86E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52875" y="10144125"/>
              <a:ext cx="16287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 비교</a:t>
              </a:r>
            </a:p>
          </p:txBody>
        </p:sp>
        <p:sp>
          <p:nvSpPr>
            <p:cNvPr id="87" name="section02__199">
              <a:extLst xmlns:a="http://schemas.openxmlformats.org/drawingml/2006/main">
                <a:ext uri="{FF2B5EF4-FFF2-40B4-BE49-F238E27FC236}">
                  <a16:creationId xmlns:a16="http://schemas.microsoft.com/office/drawing/2014/main" id="{97517A81-5EB4-498D-8803-2767EE0956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81650" y="10220325"/>
              <a:ext cx="161925" cy="1333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8" name="section02__200">
              <a:extLst xmlns:a="http://schemas.openxmlformats.org/drawingml/2006/main">
                <a:ext uri="{FF2B5EF4-FFF2-40B4-BE49-F238E27FC236}">
                  <a16:creationId xmlns:a16="http://schemas.microsoft.com/office/drawing/2014/main" id="{C75605CC-3131-4799-9BCD-AF851CAC85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1200" y="10144125"/>
              <a:ext cx="16287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보완 과제 도출</a:t>
              </a:r>
            </a:p>
          </p:txBody>
        </p:sp>
        <p:sp>
          <p:nvSpPr>
            <p:cNvPr id="89" name="section02__201">
              <a:extLst xmlns:a="http://schemas.openxmlformats.org/drawingml/2006/main">
                <a:ext uri="{FF2B5EF4-FFF2-40B4-BE49-F238E27FC236}">
                  <a16:creationId xmlns:a16="http://schemas.microsoft.com/office/drawing/2014/main" id="{EF123F3E-917D-46D8-8C78-514B2A401D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9975" y="10220325"/>
              <a:ext cx="161925" cy="1333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0" name="section02__202">
              <a:extLst xmlns:a="http://schemas.openxmlformats.org/drawingml/2006/main">
                <a:ext uri="{FF2B5EF4-FFF2-40B4-BE49-F238E27FC236}">
                  <a16:creationId xmlns:a16="http://schemas.microsoft.com/office/drawing/2014/main" id="{88537129-1B95-4A9B-B48E-1AB0E4CC11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9525" y="10144125"/>
              <a:ext cx="16287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로직 개선</a:t>
              </a:r>
            </a:p>
          </p:txBody>
        </p:sp>
      </p:grpSp>
      <p:grpSp>
        <p:nvGrpSpPr>
          <p:cNvPr id="10003" name="03 핵심 내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1" name="section03__203">
              <a:extLst xmlns:a="http://schemas.openxmlformats.org/drawingml/2006/main">
                <a:ext uri="{FF2B5EF4-FFF2-40B4-BE49-F238E27FC236}">
                  <a16:creationId xmlns:a16="http://schemas.microsoft.com/office/drawing/2014/main" id="{28E7F82D-F441-4EE7-85E9-8F78092E59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" y="10877550"/>
              <a:ext cx="9696450" cy="1724025"/>
            </a:xfrm>
            <a:prstGeom xmlns:a="http://schemas.openxmlformats.org/drawingml/2006/main" prst="roundRect">
              <a:avLst>
                <a:gd name="adj" fmla="val 442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92" name="section03__204">
              <a:extLst xmlns:a="http://schemas.openxmlformats.org/drawingml/2006/main">
                <a:ext uri="{FF2B5EF4-FFF2-40B4-BE49-F238E27FC236}">
                  <a16:creationId xmlns:a16="http://schemas.microsoft.com/office/drawing/2014/main" id="{3278748F-968E-4354-B5C4-2FB08D0114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10887075"/>
              <a:ext cx="96583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3" name="section03__205">
              <a:extLst xmlns:a="http://schemas.openxmlformats.org/drawingml/2006/main">
                <a:ext uri="{FF2B5EF4-FFF2-40B4-BE49-F238E27FC236}">
                  <a16:creationId xmlns:a16="http://schemas.microsoft.com/office/drawing/2014/main" id="{900AB544-42CC-4A15-B3A0-66B4FDAF30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10887075"/>
              <a:ext cx="59055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4" name="section03__206">
              <a:extLst xmlns:a="http://schemas.openxmlformats.org/drawingml/2006/main">
                <a:ext uri="{FF2B5EF4-FFF2-40B4-BE49-F238E27FC236}">
                  <a16:creationId xmlns:a16="http://schemas.microsoft.com/office/drawing/2014/main" id="{2108D75E-755E-456D-A40C-7AADF997F0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" y="10877550"/>
              <a:ext cx="5429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95" name="section03__207">
              <a:extLst xmlns:a="http://schemas.openxmlformats.org/drawingml/2006/main">
                <a:ext uri="{FF2B5EF4-FFF2-40B4-BE49-F238E27FC236}">
                  <a16:creationId xmlns:a16="http://schemas.microsoft.com/office/drawing/2014/main" id="{39BB956E-8A16-463E-B22F-CD4EE0D0CC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10877550"/>
              <a:ext cx="8763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조직 역량으로의 확장</a:t>
              </a:r>
            </a:p>
          </p:txBody>
        </p:sp>
        <p:sp>
          <p:nvSpPr>
            <p:cNvPr id="96" name="section03__208">
              <a:extLst xmlns:a="http://schemas.openxmlformats.org/drawingml/2006/main">
                <a:ext uri="{FF2B5EF4-FFF2-40B4-BE49-F238E27FC236}">
                  <a16:creationId xmlns:a16="http://schemas.microsoft.com/office/drawing/2014/main" id="{48E5D6C6-8717-4F25-9066-EF562267AD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05300" y="10934700"/>
              <a:ext cx="1847850" cy="276225"/>
            </a:xfrm>
            <a:prstGeom xmlns:a="http://schemas.openxmlformats.org/drawingml/2006/main" prst="roundRect">
              <a:avLst>
                <a:gd name="adj" fmla="val 275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sp>
          <p:nvSpPr>
            <p:cNvPr id="97" name="section03__209">
              <a:extLst xmlns:a="http://schemas.openxmlformats.org/drawingml/2006/main">
                <a:ext uri="{FF2B5EF4-FFF2-40B4-BE49-F238E27FC236}">
                  <a16:creationId xmlns:a16="http://schemas.microsoft.com/office/drawing/2014/main" id="{BBBD0899-CE41-433A-BAD0-C7A9E9E158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71975" y="10944225"/>
              <a:ext cx="17145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향후 추진 방향</a:t>
              </a:r>
            </a:p>
          </p:txBody>
        </p:sp>
        <p:sp>
          <p:nvSpPr>
            <p:cNvPr id="98" name="section03__210">
              <a:extLst xmlns:a="http://schemas.openxmlformats.org/drawingml/2006/main">
                <a:ext uri="{FF2B5EF4-FFF2-40B4-BE49-F238E27FC236}">
                  <a16:creationId xmlns:a16="http://schemas.microsoft.com/office/drawing/2014/main" id="{73C9EF19-5E37-4BC7-BC63-7F49AFF2C9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" y="11430000"/>
              <a:ext cx="3009900" cy="676275"/>
            </a:xfrm>
            <a:prstGeom xmlns:a="http://schemas.openxmlformats.org/drawingml/2006/main" prst="roundRect">
              <a:avLst>
                <a:gd name="adj" fmla="val 1126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99" name="section03__211">
              <a:extLst xmlns:a="http://schemas.openxmlformats.org/drawingml/2006/main">
                <a:ext uri="{FF2B5EF4-FFF2-40B4-BE49-F238E27FC236}">
                  <a16:creationId xmlns:a16="http://schemas.microsoft.com/office/drawing/2014/main" id="{0F7AAE40-0497-4758-8059-DD67FDECA4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1477625"/>
              <a:ext cx="28194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 제품 Co-pilot 적용 확대</a:t>
              </a:r>
            </a:p>
          </p:txBody>
        </p:sp>
        <p:sp>
          <p:nvSpPr>
            <p:cNvPr id="100" name="section03__212">
              <a:extLst xmlns:a="http://schemas.openxmlformats.org/drawingml/2006/main">
                <a:ext uri="{FF2B5EF4-FFF2-40B4-BE49-F238E27FC236}">
                  <a16:creationId xmlns:a16="http://schemas.microsoft.com/office/drawing/2014/main" id="{7ADF6DCB-884C-4CD2-95D4-8C6EB96C90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1820525"/>
              <a:ext cx="28194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활용과 피드백 축적</a:t>
              </a:r>
            </a:p>
          </p:txBody>
        </p:sp>
        <p:sp>
          <p:nvSpPr>
            <p:cNvPr id="101" name="section03__213">
              <a:extLst xmlns:a="http://schemas.openxmlformats.org/drawingml/2006/main">
                <a:ext uri="{FF2B5EF4-FFF2-40B4-BE49-F238E27FC236}">
                  <a16:creationId xmlns:a16="http://schemas.microsoft.com/office/drawing/2014/main" id="{C73E001F-C756-4070-A80F-948FA445E1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43275" y="11677650"/>
              <a:ext cx="123825" cy="1905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2" name="section03__214">
              <a:extLst xmlns:a="http://schemas.openxmlformats.org/drawingml/2006/main">
                <a:ext uri="{FF2B5EF4-FFF2-40B4-BE49-F238E27FC236}">
                  <a16:creationId xmlns:a16="http://schemas.microsoft.com/office/drawing/2014/main" id="{013530A9-3CCF-456D-BF1C-9A40084FB5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86150" y="11430000"/>
              <a:ext cx="3009900" cy="676275"/>
            </a:xfrm>
            <a:prstGeom xmlns:a="http://schemas.openxmlformats.org/drawingml/2006/main" prst="roundRect">
              <a:avLst>
                <a:gd name="adj" fmla="val 1126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03" name="section03__215">
              <a:extLst xmlns:a="http://schemas.openxmlformats.org/drawingml/2006/main">
                <a:ext uri="{FF2B5EF4-FFF2-40B4-BE49-F238E27FC236}">
                  <a16:creationId xmlns:a16="http://schemas.microsoft.com/office/drawing/2014/main" id="{93C4525A-4B5C-4823-BDA5-F200D1F9B6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81400" y="11477625"/>
              <a:ext cx="28194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경험의 지식화</a:t>
              </a:r>
            </a:p>
          </p:txBody>
        </p:sp>
        <p:sp>
          <p:nvSpPr>
            <p:cNvPr id="104" name="section03__216">
              <a:extLst xmlns:a="http://schemas.openxmlformats.org/drawingml/2006/main">
                <a:ext uri="{FF2B5EF4-FFF2-40B4-BE49-F238E27FC236}">
                  <a16:creationId xmlns:a16="http://schemas.microsoft.com/office/drawing/2014/main" id="{96FA20BC-4CC1-4554-9558-9AC31F4807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81400" y="11820525"/>
              <a:ext cx="28194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Sequence·Action·CumMap 기록</a:t>
              </a:r>
            </a:p>
          </p:txBody>
        </p:sp>
        <p:sp>
          <p:nvSpPr>
            <p:cNvPr id="105" name="section03__217">
              <a:extLst xmlns:a="http://schemas.openxmlformats.org/drawingml/2006/main">
                <a:ext uri="{FF2B5EF4-FFF2-40B4-BE49-F238E27FC236}">
                  <a16:creationId xmlns:a16="http://schemas.microsoft.com/office/drawing/2014/main" id="{57715E6A-A9A4-4C90-B4FB-A05B669D10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15100" y="11677650"/>
              <a:ext cx="123825" cy="1905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6" name="section03__218">
              <a:extLst xmlns:a="http://schemas.openxmlformats.org/drawingml/2006/main">
                <a:ext uri="{FF2B5EF4-FFF2-40B4-BE49-F238E27FC236}">
                  <a16:creationId xmlns:a16="http://schemas.microsoft.com/office/drawing/2014/main" id="{203A2DC4-1223-45FE-AD9F-A2EA00294E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57975" y="11430000"/>
              <a:ext cx="3009900" cy="676275"/>
            </a:xfrm>
            <a:prstGeom xmlns:a="http://schemas.openxmlformats.org/drawingml/2006/main" prst="roundRect">
              <a:avLst>
                <a:gd name="adj" fmla="val 11268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07" name="section03__219">
              <a:extLst xmlns:a="http://schemas.openxmlformats.org/drawingml/2006/main">
                <a:ext uri="{FF2B5EF4-FFF2-40B4-BE49-F238E27FC236}">
                  <a16:creationId xmlns:a16="http://schemas.microsoft.com/office/drawing/2014/main" id="{EC62874D-D900-405A-882D-1A29A88046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3225" y="11477625"/>
              <a:ext cx="28194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지식 기반 자율 분석 고도화</a:t>
              </a:r>
            </a:p>
          </p:txBody>
        </p:sp>
        <p:sp>
          <p:nvSpPr>
            <p:cNvPr id="108" name="section03__220">
              <a:extLst xmlns:a="http://schemas.openxmlformats.org/drawingml/2006/main">
                <a:ext uri="{FF2B5EF4-FFF2-40B4-BE49-F238E27FC236}">
                  <a16:creationId xmlns:a16="http://schemas.microsoft.com/office/drawing/2014/main" id="{6348714C-CD26-481D-99B4-73641FF1A6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3225" y="11820525"/>
              <a:ext cx="28194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축적된 경험을 분석·추천에 재사용</a:t>
              </a:r>
            </a:p>
          </p:txBody>
        </p:sp>
        <p:sp>
          <p:nvSpPr>
            <p:cNvPr id="109" name="section03__221">
              <a:extLst xmlns:a="http://schemas.openxmlformats.org/drawingml/2006/main">
                <a:ext uri="{FF2B5EF4-FFF2-40B4-BE49-F238E27FC236}">
                  <a16:creationId xmlns:a16="http://schemas.microsoft.com/office/drawing/2014/main" id="{1DFC3C0D-3259-469D-AC53-B47E48E440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" y="12192000"/>
              <a:ext cx="90773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개인의 분석 경험을 조직이 공유·활용하는 역량으로 확대</a:t>
              </a:r>
            </a:p>
          </p:txBody>
        </p:sp>
      </p:grpSp>
      <p:grpSp>
        <p:nvGrpSpPr>
          <p:cNvPr id="10004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10" name="footer__222">
              <a:extLst xmlns:a="http://schemas.openxmlformats.org/drawingml/2006/main">
                <a:ext uri="{FF2B5EF4-FFF2-40B4-BE49-F238E27FC236}">
                  <a16:creationId xmlns:a16="http://schemas.microsoft.com/office/drawing/2014/main" id="{C63D54B1-BE33-4042-8F22-769013FAF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0" y="12792075"/>
              <a:ext cx="10039350" cy="14192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111" name="footer__223">
              <a:extLst xmlns:a="http://schemas.openxmlformats.org/drawingml/2006/main">
                <a:ext uri="{FF2B5EF4-FFF2-40B4-BE49-F238E27FC236}">
                  <a16:creationId xmlns:a16="http://schemas.microsoft.com/office/drawing/2014/main" id="{8867B993-2416-4141-853C-8A5BC1C9A6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2954000"/>
              <a:ext cx="1333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패기</a:t>
              </a:r>
            </a:p>
          </p:txBody>
        </p:sp>
        <p:sp>
          <p:nvSpPr>
            <p:cNvPr id="112" name="footer__224">
              <a:extLst xmlns:a="http://schemas.openxmlformats.org/drawingml/2006/main">
                <a:ext uri="{FF2B5EF4-FFF2-40B4-BE49-F238E27FC236}">
                  <a16:creationId xmlns:a16="http://schemas.microsoft.com/office/drawing/2014/main" id="{1BDDB3B8-A149-405E-8949-BDF85DF564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6400" y="13077825"/>
              <a:ext cx="5810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677985"/>
              </a:solidFill>
            </a:ln>
          </p:spPr>
        </p:sp>
        <p:sp>
          <p:nvSpPr>
            <p:cNvPr id="113" name="footer__225">
              <a:extLst xmlns:a="http://schemas.openxmlformats.org/drawingml/2006/main">
                <a:ext uri="{FF2B5EF4-FFF2-40B4-BE49-F238E27FC236}">
                  <a16:creationId xmlns:a16="http://schemas.microsoft.com/office/drawing/2014/main" id="{2BB31E77-FB6F-4B62-B2F0-C5919410EA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3277850"/>
              <a:ext cx="87630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현업의 문제의식에서 출발해 업무 재설계부터</a:t>
              </a:r>
            </a:p>
            <a:p xmlns:a="http://schemas.openxmlformats.org/drawingml/2006/main">
              <a:pPr algn="l">
                <a:def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1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Agent 구현·현업 검증까지 주도적으로 추진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855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2026-09-22T22:02:51.6980000Z</dcterms:created>
  <dcterms:modified xsi:type="dcterms:W3CDTF">2026-09-22T22:02:51.6980000Z</dcterms:modified>
</coreProperties>
</file>